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5" r:id="rId3"/>
    <p:sldId id="266" r:id="rId4"/>
    <p:sldId id="260" r:id="rId5"/>
    <p:sldId id="258" r:id="rId6"/>
    <p:sldId id="257" r:id="rId7"/>
    <p:sldId id="259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1" r:id="rId17"/>
    <p:sldId id="274" r:id="rId18"/>
    <p:sldId id="273" r:id="rId19"/>
    <p:sldId id="275" r:id="rId20"/>
    <p:sldId id="280" r:id="rId21"/>
    <p:sldId id="281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2E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78"/>
    <p:restoredTop sz="92563"/>
  </p:normalViewPr>
  <p:slideViewPr>
    <p:cSldViewPr snapToGrid="0" snapToObjects="1">
      <p:cViewPr>
        <p:scale>
          <a:sx n="106" d="100"/>
          <a:sy n="106" d="100"/>
        </p:scale>
        <p:origin x="1120" y="408"/>
      </p:cViewPr>
      <p:guideLst>
        <p:guide orient="horz" pos="1774"/>
        <p:guide pos="2880"/>
      </p:guideLst>
    </p:cSldViewPr>
  </p:slideViewPr>
  <p:notesTextViewPr>
    <p:cViewPr>
      <p:scale>
        <a:sx n="95" d="100"/>
        <a:sy n="9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05566-D045-2049-9E06-2C2A0C4BC1C2}" type="datetimeFigureOut">
              <a:t>2026/09/04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E57E5-AC2A-2244-A9BB-09846D5FB4E8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72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E57E5-AC2A-2244-A9BB-09846D5FB4E8}" type="slidenum"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31827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36AC-A67C-7859-20FD-F63DC7AC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F7058-752A-2478-F8C8-325842783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12152-FFAA-858E-5E91-1CFB388F3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D3EED-9ABD-2886-18A0-682C76D240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39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70550-38BC-5AEE-662F-FEA319EF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24B47-C261-92EB-18A6-DB8C06548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36812-FD80-1366-35AF-F02190CB7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807EF-AA92-4D0F-1ED5-84DD86301B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6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Agent運用時のガバナンス要件について説明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180F1-B262-B048-87E8-7A6F6EDA4334}" type="slidenum"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3873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413C2-EB8B-FE78-0166-825E97DE5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F09DB-3B15-9440-4A7D-5218F9FA3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F0CD4-75EC-94C4-E0FB-BB4B29D1C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JP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max_tokens</a:t>
            </a:r>
            <a:r>
              <a:rPr lang="en-JP"/>
              <a:t>は，</a:t>
            </a:r>
            <a:r>
              <a:rPr lang="en-JP" b="1"/>
              <a:t>1回のModel Callで生成できるOutput Token数の上限</a:t>
            </a:r>
            <a:r>
              <a:rPr lang="en-JP"/>
              <a:t>です．一方，</a:t>
            </a:r>
            <a:r>
              <a:rPr lang="en-JP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Run全体のTotal Token Budget</a:t>
            </a:r>
            <a:r>
              <a:rPr lang="en-JP"/>
              <a:t>は，</a:t>
            </a:r>
            <a:r>
              <a:rPr lang="en-JP" b="1"/>
              <a:t>1 Runの中で発生した複数のModel CallのToken数を累積して管理する上限</a:t>
            </a:r>
            <a:r>
              <a:rPr lang="en-JP"/>
              <a:t>です．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2FCE2-E680-52FD-A456-281AF65A0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E57E5-AC2A-2244-A9BB-09846D5FB4E8}" type="slidenum">
              <a:rPr lang="en-JP"/>
              <a:t>17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10015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JP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max_tokens</a:t>
            </a:r>
            <a:r>
              <a:rPr lang="en-JP"/>
              <a:t>は，</a:t>
            </a:r>
            <a:r>
              <a:rPr lang="en-JP" b="1"/>
              <a:t>1回のModel Callで生成できるOutput Token数の上限</a:t>
            </a:r>
            <a:r>
              <a:rPr lang="en-JP"/>
              <a:t>です．一方，</a:t>
            </a:r>
            <a:r>
              <a:rPr lang="en-JP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Run全体のTotal Token Budget</a:t>
            </a:r>
            <a:r>
              <a:rPr lang="en-JP"/>
              <a:t>は，</a:t>
            </a:r>
            <a:r>
              <a:rPr lang="en-JP" b="1"/>
              <a:t>1 Runの中で発生した複数のModel CallのToken数を累積して管理する上限</a:t>
            </a:r>
            <a:r>
              <a:rPr lang="en-JP"/>
              <a:t>です．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E57E5-AC2A-2244-A9BB-09846D5FB4E8}" type="slidenum">
              <a:rPr lang="en-JP"/>
              <a:t>18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10032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E57E5-AC2A-2244-A9BB-09846D5FB4E8}" type="slidenum">
              <a:rPr lang="en-JP"/>
              <a:t>21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97973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100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6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4593" y="204631"/>
            <a:ext cx="6915355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AI Agent の実運用でなぜガバナンスが必要か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26047" y="743375"/>
            <a:ext cx="11375311" cy="0"/>
          </a:xfrm>
          <a:prstGeom prst="line">
            <a:avLst/>
          </a:prstGeom>
          <a:ln w="19050">
            <a:solidFill>
              <a:srgbClr val="0A2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22928" y="969302"/>
            <a:ext cx="5447023" cy="386992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81416" y="969302"/>
            <a:ext cx="5425148" cy="386992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9415" y="1030206"/>
            <a:ext cx="3145092" cy="31547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AI Agent の特性とリスク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4181" y="1392006"/>
            <a:ext cx="5191809" cy="0"/>
          </a:xfrm>
          <a:prstGeom prst="line">
            <a:avLst/>
          </a:prstGeom>
          <a:ln w="12700">
            <a:solidFill>
              <a:srgbClr val="D3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75900" y="1034053"/>
            <a:ext cx="3658053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法規制等によるガバナンス要求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0794" y="1392006"/>
            <a:ext cx="5184516" cy="0"/>
          </a:xfrm>
          <a:prstGeom prst="line">
            <a:avLst/>
          </a:prstGeom>
          <a:ln w="12700">
            <a:solidFill>
              <a:srgbClr val="D3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7932" y="1592602"/>
            <a:ext cx="3324628" cy="269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ツール・社内データへアクセス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932" y="2000729"/>
            <a:ext cx="1978106" cy="269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実システムの操作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932" y="2416145"/>
            <a:ext cx="3093796" cy="269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複数ACTIONを自律的に実行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19" y="3041779"/>
            <a:ext cx="5232202" cy="25699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7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プロンプトだけでは実行時の振る舞いを保証できない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808" y="3556539"/>
            <a:ext cx="4980344" cy="845407"/>
          </a:xfrm>
          <a:prstGeom prst="roundRect">
            <a:avLst>
              <a:gd name="adj" fmla="val 1000"/>
            </a:avLst>
          </a:prstGeom>
          <a:noFill/>
          <a:ln w="12700">
            <a:solidFill>
              <a:srgbClr val="EE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80037" y="3651575"/>
            <a:ext cx="2452594" cy="3200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80" b="1">
                <a:solidFill>
                  <a:srgbClr val="EE3E3E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生じ得る主なリスク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03" y="4018413"/>
            <a:ext cx="4839466" cy="227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誤操作  /  権限逸脱  /  情報漏洩  /  Prompt Injection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794" y="1574206"/>
            <a:ext cx="2056306" cy="12025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14755" y="1668950"/>
            <a:ext cx="473971" cy="233215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75772" y="1653054"/>
            <a:ext cx="344646" cy="2431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例1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4989" y="2018339"/>
            <a:ext cx="2040623" cy="2923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California SB 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463" y="2306694"/>
            <a:ext cx="1822966" cy="3570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60" b="0">
                <a:solidFill>
                  <a:srgbClr val="565656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Transparency in Frontier
Artificial Intelligence 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478" y="1699294"/>
            <a:ext cx="323325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安全性フレームワークの策定・運用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478" y="2107421"/>
            <a:ext cx="284853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重大な安全インシデントの報告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478" y="2515549"/>
            <a:ext cx="2271456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透明性・説明責任の強化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39751" y="2937060"/>
            <a:ext cx="5235559" cy="0"/>
          </a:xfrm>
          <a:prstGeom prst="line">
            <a:avLst/>
          </a:prstGeom>
          <a:ln w="12700">
            <a:solidFill>
              <a:srgbClr val="D3D8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190794" y="3119260"/>
            <a:ext cx="2056306" cy="12025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14755" y="3214004"/>
            <a:ext cx="473971" cy="233215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75772" y="3198108"/>
            <a:ext cx="344646" cy="2431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例2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172" y="3606714"/>
            <a:ext cx="1275990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EU AI 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478" y="3222484"/>
            <a:ext cx="1117294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リスク管理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478" y="3528579"/>
            <a:ext cx="1309654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人による監督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6478" y="3834675"/>
            <a:ext cx="2656176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ログ記録・追跡可能性の確保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6478" y="4140771"/>
            <a:ext cx="2079095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• サイバーセキュリティ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3511" y="4530924"/>
            <a:ext cx="4533292" cy="1938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6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※求められる義務は，AIの分類や事業者の立場によって異なる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220" y="5111119"/>
            <a:ext cx="10191894" cy="3016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6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AI Agent のリスクと法規制等の要求を，実運用上のガバナンスへ落とし込むことが重要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435" y="5517009"/>
            <a:ext cx="5024095" cy="743375"/>
          </a:xfrm>
          <a:prstGeom prst="roundRect">
            <a:avLst>
              <a:gd name="adj" fmla="val 1000"/>
            </a:avLst>
          </a:prstGeom>
          <a:solidFill>
            <a:srgbClr val="F5F8FC"/>
          </a:solidFill>
          <a:ln w="12700">
            <a:solidFill>
              <a:srgbClr val="507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9630" y="5720959"/>
            <a:ext cx="839974" cy="335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61511" y="5677345"/>
            <a:ext cx="0" cy="429991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275062" y="5767894"/>
            <a:ext cx="3077766" cy="2416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7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ポリシーに基づく行動・権限制御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1416" y="5517009"/>
            <a:ext cx="5024095" cy="743375"/>
          </a:xfrm>
          <a:prstGeom prst="roundRect">
            <a:avLst>
              <a:gd name="adj" fmla="val 1000"/>
            </a:avLst>
          </a:prstGeom>
          <a:noFill/>
          <a:ln w="12700">
            <a:solidFill>
              <a:srgbClr val="7A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18106" y="5720959"/>
            <a:ext cx="766235" cy="3354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Audit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79368" y="5677345"/>
            <a:ext cx="0" cy="429991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692918" y="5767894"/>
            <a:ext cx="3077766" cy="2416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7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操作や判断の監査（記録・追跡）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88833" y="6477588"/>
            <a:ext cx="392735" cy="192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5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507AF-3974-DFDE-6DFC-11D662FCE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57EACF-7B10-7267-010C-077704B8AE91}"/>
              </a:ext>
            </a:extLst>
          </p:cNvPr>
          <p:cNvSpPr/>
          <p:nvPr/>
        </p:nvSpPr>
        <p:spPr>
          <a:xfrm>
            <a:off x="365760" y="174570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17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 Agent の実運用でなぜガバナンスが必要か</a:t>
            </a:r>
            <a:endParaRPr lang="en-US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D423A2-270F-6621-9DCA-5807C1FEA62F}"/>
              </a:ext>
            </a:extLst>
          </p:cNvPr>
          <p:cNvSpPr/>
          <p:nvPr/>
        </p:nvSpPr>
        <p:spPr>
          <a:xfrm>
            <a:off x="210312" y="713232"/>
            <a:ext cx="11740896" cy="0"/>
          </a:xfrm>
          <a:prstGeom prst="line">
            <a:avLst/>
          </a:prstGeom>
          <a:noFill/>
          <a:ln w="17780">
            <a:solidFill>
              <a:srgbClr val="062B67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37284AC-E0FB-6E7F-4B25-1D9930C54C95}"/>
              </a:ext>
            </a:extLst>
          </p:cNvPr>
          <p:cNvSpPr/>
          <p:nvPr/>
        </p:nvSpPr>
        <p:spPr>
          <a:xfrm>
            <a:off x="8503920" y="5175504"/>
            <a:ext cx="0" cy="0"/>
          </a:xfrm>
          <a:prstGeom prst="line">
            <a:avLst/>
          </a:prstGeom>
          <a:noFill/>
          <a:ln w="19050">
            <a:solidFill>
              <a:srgbClr val="7A8491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C653C12-B694-380D-1161-051207A0584D}"/>
              </a:ext>
            </a:extLst>
          </p:cNvPr>
          <p:cNvSpPr/>
          <p:nvPr/>
        </p:nvSpPr>
        <p:spPr>
          <a:xfrm>
            <a:off x="833628" y="4837176"/>
            <a:ext cx="10524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 Agent </a:t>
            </a:r>
            <a:r>
              <a:rPr lang="en-US" sz="2000" b="1" dirty="0" err="1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のリスクと法規制等の要求を，実運用上のガバナンスへ落とし込むことが重要</a:t>
            </a:r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A89C5D2-CE1C-5D29-706E-FF01748D2846}"/>
              </a:ext>
            </a:extLst>
          </p:cNvPr>
          <p:cNvSpPr/>
          <p:nvPr/>
        </p:nvSpPr>
        <p:spPr>
          <a:xfrm>
            <a:off x="658368" y="5833872"/>
            <a:ext cx="5166360" cy="804672"/>
          </a:xfrm>
          <a:prstGeom prst="roundRect">
            <a:avLst>
              <a:gd name="adj" fmla="val 3409"/>
            </a:avLst>
          </a:prstGeom>
          <a:solidFill>
            <a:srgbClr val="F8FBFF"/>
          </a:solidFill>
          <a:ln w="12700">
            <a:solidFill>
              <a:srgbClr val="AFC8EA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C94B870-3E92-892F-1184-AF21DF279D4A}"/>
              </a:ext>
            </a:extLst>
          </p:cNvPr>
          <p:cNvSpPr/>
          <p:nvPr/>
        </p:nvSpPr>
        <p:spPr>
          <a:xfrm>
            <a:off x="658368" y="5833872"/>
            <a:ext cx="1188720" cy="804672"/>
          </a:xfrm>
          <a:prstGeom prst="roundRect">
            <a:avLst>
              <a:gd name="adj" fmla="val 2273"/>
            </a:avLst>
          </a:prstGeom>
          <a:solidFill>
            <a:srgbClr val="062B67"/>
          </a:solidFill>
          <a:ln w="12700">
            <a:solidFill>
              <a:srgbClr val="062B67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4F44E15-0F34-EB8B-F332-D3CAACF91707}"/>
              </a:ext>
            </a:extLst>
          </p:cNvPr>
          <p:cNvSpPr/>
          <p:nvPr/>
        </p:nvSpPr>
        <p:spPr>
          <a:xfrm>
            <a:off x="713232" y="611807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Policy</a:t>
            </a:r>
            <a:endParaRPr lang="en-US" sz="17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69411FD-86B1-4170-4522-7DF092FC1046}"/>
              </a:ext>
            </a:extLst>
          </p:cNvPr>
          <p:cNvSpPr/>
          <p:nvPr/>
        </p:nvSpPr>
        <p:spPr>
          <a:xfrm>
            <a:off x="1993392" y="594360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ポリシーに基づく行動・権限制御</a:t>
            </a:r>
            <a:endParaRPr lang="en-US" sz="156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CD08AD1-7F4B-E05F-0DC6-F150212CFF70}"/>
              </a:ext>
            </a:extLst>
          </p:cNvPr>
          <p:cNvSpPr/>
          <p:nvPr/>
        </p:nvSpPr>
        <p:spPr>
          <a:xfrm>
            <a:off x="1993392" y="6199632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（高リスク操作の承認・停止）</a:t>
            </a:r>
            <a:endParaRPr lang="en-US" sz="12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4856092-98D3-F805-3360-B19F94ADFD3C}"/>
              </a:ext>
            </a:extLst>
          </p:cNvPr>
          <p:cNvSpPr/>
          <p:nvPr/>
        </p:nvSpPr>
        <p:spPr>
          <a:xfrm>
            <a:off x="1993392" y="6428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1182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何を許可し，何を制限・禁止するかを定義</a:t>
            </a:r>
            <a:endParaRPr lang="en-US" sz="10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78F79A8-0000-9B35-6636-05F6582858EC}"/>
              </a:ext>
            </a:extLst>
          </p:cNvPr>
          <p:cNvSpPr/>
          <p:nvPr/>
        </p:nvSpPr>
        <p:spPr>
          <a:xfrm>
            <a:off x="5989320" y="5833872"/>
            <a:ext cx="5166360" cy="804672"/>
          </a:xfrm>
          <a:prstGeom prst="roundRect">
            <a:avLst>
              <a:gd name="adj" fmla="val 3409"/>
            </a:avLst>
          </a:prstGeom>
          <a:solidFill>
            <a:srgbClr val="F8FBFF"/>
          </a:solidFill>
          <a:ln w="12700">
            <a:solidFill>
              <a:srgbClr val="AFC8EA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20FC080-0824-F1D7-67F0-9EDB63DEA461}"/>
              </a:ext>
            </a:extLst>
          </p:cNvPr>
          <p:cNvSpPr/>
          <p:nvPr/>
        </p:nvSpPr>
        <p:spPr>
          <a:xfrm>
            <a:off x="5989320" y="5833872"/>
            <a:ext cx="1188720" cy="804672"/>
          </a:xfrm>
          <a:prstGeom prst="roundRect">
            <a:avLst>
              <a:gd name="adj" fmla="val 2273"/>
            </a:avLst>
          </a:prstGeom>
          <a:solidFill>
            <a:srgbClr val="062B67"/>
          </a:solidFill>
          <a:ln w="12700">
            <a:solidFill>
              <a:srgbClr val="062B67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257B96D-E2E5-678A-65AB-DA9F75BBEB01}"/>
              </a:ext>
            </a:extLst>
          </p:cNvPr>
          <p:cNvSpPr/>
          <p:nvPr/>
        </p:nvSpPr>
        <p:spPr>
          <a:xfrm>
            <a:off x="6053328" y="611807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Audit</a:t>
            </a:r>
            <a:endParaRPr lang="en-US" sz="17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ECC061B-7221-F3B7-AB86-7613C96FA292}"/>
              </a:ext>
            </a:extLst>
          </p:cNvPr>
          <p:cNvSpPr/>
          <p:nvPr/>
        </p:nvSpPr>
        <p:spPr>
          <a:xfrm>
            <a:off x="7333488" y="5943600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6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操作や判断の記録・追跡</a:t>
            </a:r>
            <a:endParaRPr lang="en-US" sz="156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85F2BA2D-0171-A519-3894-7E0A3366D621}"/>
              </a:ext>
            </a:extLst>
          </p:cNvPr>
          <p:cNvSpPr/>
          <p:nvPr/>
        </p:nvSpPr>
        <p:spPr>
          <a:xfrm>
            <a:off x="7333488" y="6199632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（事後確認・監査）</a:t>
            </a:r>
            <a:endParaRPr lang="en-US" sz="12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6CC4568-CC83-8D5F-E888-674975A49DA6}"/>
              </a:ext>
            </a:extLst>
          </p:cNvPr>
          <p:cNvSpPr/>
          <p:nvPr/>
        </p:nvSpPr>
        <p:spPr>
          <a:xfrm>
            <a:off x="7333488" y="642823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誰が・いつ・何を・どの判断で実行したかを記録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Slide Number Placeholder 0">
            <a:extLst>
              <a:ext uri="{FF2B5EF4-FFF2-40B4-BE49-F238E27FC236}">
                <a16:creationId xmlns:a16="http://schemas.microsoft.com/office/drawing/2014/main" id="{16F2E295-37C4-4BD3-66AA-2566E7AA199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Meiryo" panose="020B0604030504040204" pitchFamily="34" charset="-128"/>
                <a:ea typeface="Meiryo" panose="020B0604030504040204" pitchFamily="34" charset="-128"/>
              </a:rPr>
              <a:t>2</a:t>
            </a:fld>
            <a:endParaRPr 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A05589A5-DB83-65EE-2891-5EF3FEC5D0E4}"/>
              </a:ext>
            </a:extLst>
          </p:cNvPr>
          <p:cNvSpPr/>
          <p:nvPr/>
        </p:nvSpPr>
        <p:spPr>
          <a:xfrm>
            <a:off x="6217920" y="868680"/>
            <a:ext cx="5522976" cy="429768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法規制等によるガバナンス要求</a:t>
            </a:r>
            <a:endParaRPr lang="en-US" sz="1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487987EA-139B-4C60-9625-A246E53A053C}"/>
              </a:ext>
            </a:extLst>
          </p:cNvPr>
          <p:cNvSpPr/>
          <p:nvPr/>
        </p:nvSpPr>
        <p:spPr>
          <a:xfrm>
            <a:off x="6217920" y="1298448"/>
            <a:ext cx="5522976" cy="32278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41BC3392-BBFB-608C-E9F3-7C9FB9330B5A}"/>
              </a:ext>
            </a:extLst>
          </p:cNvPr>
          <p:cNvSpPr/>
          <p:nvPr/>
        </p:nvSpPr>
        <p:spPr>
          <a:xfrm>
            <a:off x="6309360" y="1370524"/>
            <a:ext cx="1957310" cy="1261872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0573B4ED-526F-EDAE-F06F-747C42077F5A}"/>
              </a:ext>
            </a:extLst>
          </p:cNvPr>
          <p:cNvSpPr/>
          <p:nvPr/>
        </p:nvSpPr>
        <p:spPr>
          <a:xfrm>
            <a:off x="6348711" y="1633301"/>
            <a:ext cx="210706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 California SB 53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3154439A-A043-4A8F-A645-6135E1108232}"/>
              </a:ext>
            </a:extLst>
          </p:cNvPr>
          <p:cNvSpPr/>
          <p:nvPr/>
        </p:nvSpPr>
        <p:spPr>
          <a:xfrm>
            <a:off x="6227998" y="2003019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Transparency in Frontier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Artificial Intelligence Act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98514A76-64ED-6F8D-0515-5E6C82F8DECE}"/>
              </a:ext>
            </a:extLst>
          </p:cNvPr>
          <p:cNvSpPr/>
          <p:nvPr/>
        </p:nvSpPr>
        <p:spPr>
          <a:xfrm>
            <a:off x="8348032" y="1507555"/>
            <a:ext cx="3141585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安全性フレームワークの策定・運用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重大な安全インシデントの報告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透明性・説明責任の強化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51AE52A1-5032-9E41-2C84-EAEFFED745BA}"/>
              </a:ext>
            </a:extLst>
          </p:cNvPr>
          <p:cNvSpPr/>
          <p:nvPr/>
        </p:nvSpPr>
        <p:spPr>
          <a:xfrm>
            <a:off x="6291072" y="2727801"/>
            <a:ext cx="5376672" cy="0"/>
          </a:xfrm>
          <a:prstGeom prst="line">
            <a:avLst/>
          </a:prstGeom>
          <a:noFill/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0B31E998-AAE3-B14B-DCB3-98363D106E5C}"/>
              </a:ext>
            </a:extLst>
          </p:cNvPr>
          <p:cNvSpPr/>
          <p:nvPr/>
        </p:nvSpPr>
        <p:spPr>
          <a:xfrm>
            <a:off x="6309360" y="2883249"/>
            <a:ext cx="1957310" cy="1115568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6DBCDC3D-E79B-5336-BADA-A1BF02133EB6}"/>
              </a:ext>
            </a:extLst>
          </p:cNvPr>
          <p:cNvSpPr/>
          <p:nvPr/>
        </p:nvSpPr>
        <p:spPr>
          <a:xfrm>
            <a:off x="6436360" y="3158535"/>
            <a:ext cx="1850138" cy="49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EU AI Act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78629518-DBA0-3EDD-0524-A0DB10423B24}"/>
              </a:ext>
            </a:extLst>
          </p:cNvPr>
          <p:cNvSpPr/>
          <p:nvPr/>
        </p:nvSpPr>
        <p:spPr>
          <a:xfrm>
            <a:off x="8348032" y="2920787"/>
            <a:ext cx="3141585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リスク管理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人による監督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ログ記録・追跡可能性の確保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サイバーセキュリティ</a:t>
            </a: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ー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F482BA80-C719-AB00-E562-C91C773FA288}"/>
              </a:ext>
            </a:extLst>
          </p:cNvPr>
          <p:cNvSpPr/>
          <p:nvPr/>
        </p:nvSpPr>
        <p:spPr>
          <a:xfrm>
            <a:off x="6373368" y="41605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6C6C6C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※求められる義務は，AIの分類や事業者の立場によって異なる</a:t>
            </a:r>
            <a:endParaRPr lang="en-US" sz="11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1" name="Text 2">
            <a:extLst>
              <a:ext uri="{FF2B5EF4-FFF2-40B4-BE49-F238E27FC236}">
                <a16:creationId xmlns:a16="http://schemas.microsoft.com/office/drawing/2014/main" id="{4B2DFE22-757E-DBA7-866F-4C3A3C4B4AE0}"/>
              </a:ext>
            </a:extLst>
          </p:cNvPr>
          <p:cNvSpPr/>
          <p:nvPr/>
        </p:nvSpPr>
        <p:spPr>
          <a:xfrm>
            <a:off x="420624" y="868680"/>
            <a:ext cx="5577840" cy="429768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AI Agent の特性とリスク</a:t>
            </a:r>
            <a:endParaRPr lang="en-US" sz="19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654AF3FB-B798-D82A-4F26-DED9E5AB09EF}"/>
              </a:ext>
            </a:extLst>
          </p:cNvPr>
          <p:cNvSpPr/>
          <p:nvPr/>
        </p:nvSpPr>
        <p:spPr>
          <a:xfrm>
            <a:off x="420624" y="1298448"/>
            <a:ext cx="5577840" cy="3227832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F9781670-DC1F-6DAF-6210-160B4BE7206C}"/>
              </a:ext>
            </a:extLst>
          </p:cNvPr>
          <p:cNvSpPr/>
          <p:nvPr/>
        </p:nvSpPr>
        <p:spPr>
          <a:xfrm>
            <a:off x="605028" y="1336038"/>
            <a:ext cx="4165884" cy="11693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ツール・社内データへアクセス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実システムの操作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複数ACTIONを自律的に実行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A020F538-87CD-2646-0842-B9BD455D45BD}"/>
              </a:ext>
            </a:extLst>
          </p:cNvPr>
          <p:cNvSpPr/>
          <p:nvPr/>
        </p:nvSpPr>
        <p:spPr>
          <a:xfrm>
            <a:off x="347472" y="2783471"/>
            <a:ext cx="547725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プロンプトだけでは実行時の振る舞いを保証できない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6D0F7AE-D619-B29C-86BB-BC0F3AB4447D}"/>
              </a:ext>
            </a:extLst>
          </p:cNvPr>
          <p:cNvGrpSpPr/>
          <p:nvPr/>
        </p:nvGrpSpPr>
        <p:grpSpPr>
          <a:xfrm>
            <a:off x="580643" y="3284219"/>
            <a:ext cx="5047489" cy="749808"/>
            <a:chOff x="795526" y="3312160"/>
            <a:chExt cx="5047489" cy="749808"/>
          </a:xfrm>
        </p:grpSpPr>
        <p:sp>
          <p:nvSpPr>
            <p:cNvPr id="72" name="Shape 16">
              <a:extLst>
                <a:ext uri="{FF2B5EF4-FFF2-40B4-BE49-F238E27FC236}">
                  <a16:creationId xmlns:a16="http://schemas.microsoft.com/office/drawing/2014/main" id="{462F73E7-B814-64AA-1244-B1DFB5383C26}"/>
                </a:ext>
              </a:extLst>
            </p:cNvPr>
            <p:cNvSpPr/>
            <p:nvPr/>
          </p:nvSpPr>
          <p:spPr>
            <a:xfrm>
              <a:off x="795526" y="3312160"/>
              <a:ext cx="5047489" cy="749808"/>
            </a:xfrm>
            <a:prstGeom prst="roundRect">
              <a:avLst>
                <a:gd name="adj" fmla="val 4878"/>
              </a:avLst>
            </a:prstGeom>
            <a:solidFill>
              <a:srgbClr val="FFF5F5"/>
            </a:solidFill>
            <a:ln w="12700">
              <a:solidFill>
                <a:srgbClr val="D85B5B"/>
              </a:solidFill>
              <a:prstDash val="solid"/>
            </a:ln>
          </p:spPr>
          <p:txBody>
            <a:bodyPr/>
            <a:lstStyle/>
            <a:p>
              <a:endParaRPr lang="en-JP" sz="1400">
                <a:latin typeface="Hiragino Kaku Gothic Pro W3" panose="020B0300000000000000" pitchFamily="34" charset="-128"/>
                <a:ea typeface="Hiragino Kaku Gothic Pro W3" panose="020B0300000000000000" pitchFamily="34" charset="-128"/>
              </a:endParaRPr>
            </a:p>
          </p:txBody>
        </p:sp>
        <p:sp>
          <p:nvSpPr>
            <p:cNvPr id="73" name="Text 17">
              <a:extLst>
                <a:ext uri="{FF2B5EF4-FFF2-40B4-BE49-F238E27FC236}">
                  <a16:creationId xmlns:a16="http://schemas.microsoft.com/office/drawing/2014/main" id="{2DE8BE21-87E5-FCD2-8885-3106D132C3DB}"/>
                </a:ext>
              </a:extLst>
            </p:cNvPr>
            <p:cNvSpPr/>
            <p:nvPr/>
          </p:nvSpPr>
          <p:spPr>
            <a:xfrm>
              <a:off x="813815" y="3385312"/>
              <a:ext cx="4986399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B51E23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生じ得る主なリスク</a:t>
              </a:r>
              <a:endParaRPr lang="en-US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Text 18">
              <a:extLst>
                <a:ext uri="{FF2B5EF4-FFF2-40B4-BE49-F238E27FC236}">
                  <a16:creationId xmlns:a16="http://schemas.microsoft.com/office/drawing/2014/main" id="{889F974E-A4F3-195A-1597-53B3069A68FB}"/>
                </a:ext>
              </a:extLst>
            </p:cNvPr>
            <p:cNvSpPr/>
            <p:nvPr/>
          </p:nvSpPr>
          <p:spPr>
            <a:xfrm>
              <a:off x="795527" y="3696208"/>
              <a:ext cx="5029201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A1733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誤操作  /  権限逸脱  /  情報漏洩  /  Prompt Injection</a:t>
              </a:r>
              <a:endParaRPr lang="en-US" sz="14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121CE3-43BE-B995-FE0E-72283FE9430C}"/>
              </a:ext>
            </a:extLst>
          </p:cNvPr>
          <p:cNvGrpSpPr/>
          <p:nvPr/>
        </p:nvGrpSpPr>
        <p:grpSpPr>
          <a:xfrm>
            <a:off x="6391919" y="1429093"/>
            <a:ext cx="543739" cy="307777"/>
            <a:chOff x="6391919" y="1517676"/>
            <a:chExt cx="543739" cy="30777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6738EE-C75F-AD9D-32BD-0238E23BDD88}"/>
                </a:ext>
              </a:extLst>
            </p:cNvPr>
            <p:cNvSpPr/>
            <p:nvPr/>
          </p:nvSpPr>
          <p:spPr>
            <a:xfrm>
              <a:off x="6411468" y="1541728"/>
              <a:ext cx="472833" cy="228470"/>
            </a:xfrm>
            <a:prstGeom prst="rect">
              <a:avLst/>
            </a:prstGeom>
            <a:solidFill>
              <a:srgbClr val="001F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b="1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51CE53-0A65-ADD4-4932-8E1789909D4F}"/>
                </a:ext>
              </a:extLst>
            </p:cNvPr>
            <p:cNvSpPr txBox="1"/>
            <p:nvPr/>
          </p:nvSpPr>
          <p:spPr>
            <a:xfrm>
              <a:off x="6391919" y="15176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400" b="1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例１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07A78F-E739-32B5-3908-C4C3A69D4F71}"/>
              </a:ext>
            </a:extLst>
          </p:cNvPr>
          <p:cNvGrpSpPr/>
          <p:nvPr/>
        </p:nvGrpSpPr>
        <p:grpSpPr>
          <a:xfrm>
            <a:off x="6391919" y="2943299"/>
            <a:ext cx="543739" cy="307777"/>
            <a:chOff x="6391919" y="1517676"/>
            <a:chExt cx="543739" cy="3077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3D43A4-6463-E96A-A6EF-248DED88076B}"/>
                </a:ext>
              </a:extLst>
            </p:cNvPr>
            <p:cNvSpPr/>
            <p:nvPr/>
          </p:nvSpPr>
          <p:spPr>
            <a:xfrm>
              <a:off x="6411468" y="1541728"/>
              <a:ext cx="472833" cy="228470"/>
            </a:xfrm>
            <a:prstGeom prst="rect">
              <a:avLst/>
            </a:prstGeom>
            <a:solidFill>
              <a:srgbClr val="001F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b="1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5A3BFCA-0D4B-ADBE-2500-17BD8F4D3598}"/>
                </a:ext>
              </a:extLst>
            </p:cNvPr>
            <p:cNvSpPr txBox="1"/>
            <p:nvPr/>
          </p:nvSpPr>
          <p:spPr>
            <a:xfrm>
              <a:off x="6391919" y="15176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400" b="1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例２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87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A045D-C1D7-1270-AA8B-35C714190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9A75BA-71F5-8D0E-F913-9E30B7F4546E}"/>
              </a:ext>
            </a:extLst>
          </p:cNvPr>
          <p:cNvSpPr/>
          <p:nvPr/>
        </p:nvSpPr>
        <p:spPr>
          <a:xfrm>
            <a:off x="365760" y="174570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17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 Agent の実運用でなぜガバナンスが必要か</a:t>
            </a:r>
            <a:endParaRPr lang="en-US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A700FB-2BC4-5442-7383-2F1A5CAE8007}"/>
              </a:ext>
            </a:extLst>
          </p:cNvPr>
          <p:cNvSpPr/>
          <p:nvPr/>
        </p:nvSpPr>
        <p:spPr>
          <a:xfrm>
            <a:off x="210312" y="713232"/>
            <a:ext cx="11740896" cy="0"/>
          </a:xfrm>
          <a:prstGeom prst="line">
            <a:avLst/>
          </a:prstGeom>
          <a:noFill/>
          <a:ln w="17780">
            <a:solidFill>
              <a:srgbClr val="062B67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362D793-EF08-7756-A44F-31CE30676692}"/>
              </a:ext>
            </a:extLst>
          </p:cNvPr>
          <p:cNvSpPr/>
          <p:nvPr/>
        </p:nvSpPr>
        <p:spPr>
          <a:xfrm>
            <a:off x="8503920" y="5426024"/>
            <a:ext cx="0" cy="0"/>
          </a:xfrm>
          <a:prstGeom prst="line">
            <a:avLst/>
          </a:prstGeom>
          <a:noFill/>
          <a:ln w="19050">
            <a:solidFill>
              <a:srgbClr val="7A8491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7BF8BC6-8D04-049F-0BB1-E3D8DC324B0B}"/>
              </a:ext>
            </a:extLst>
          </p:cNvPr>
          <p:cNvSpPr/>
          <p:nvPr/>
        </p:nvSpPr>
        <p:spPr>
          <a:xfrm>
            <a:off x="833628" y="5087696"/>
            <a:ext cx="10524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AI Agent </a:t>
            </a:r>
            <a:r>
              <a:rPr lang="en-US" sz="2000" b="1" dirty="0" err="1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のリスクと法規制等の要求を，実運用上のガバナンスへ落とし込むことが重要</a:t>
            </a:r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2C4F741-EAFF-CFDF-2135-F1D8F7AC76CA}"/>
              </a:ext>
            </a:extLst>
          </p:cNvPr>
          <p:cNvSpPr/>
          <p:nvPr/>
        </p:nvSpPr>
        <p:spPr>
          <a:xfrm>
            <a:off x="420624" y="5833872"/>
            <a:ext cx="5577840" cy="804672"/>
          </a:xfrm>
          <a:prstGeom prst="roundRect">
            <a:avLst>
              <a:gd name="adj" fmla="val 3409"/>
            </a:avLst>
          </a:prstGeom>
          <a:solidFill>
            <a:srgbClr val="F8FBFF"/>
          </a:solidFill>
          <a:ln w="12700">
            <a:solidFill>
              <a:srgbClr val="AFC8EA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31A6E65-C0E6-1534-1598-310A70D72DEA}"/>
              </a:ext>
            </a:extLst>
          </p:cNvPr>
          <p:cNvSpPr/>
          <p:nvPr/>
        </p:nvSpPr>
        <p:spPr>
          <a:xfrm>
            <a:off x="713232" y="6118074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Policy</a:t>
            </a:r>
            <a:endParaRPr lang="en-US" sz="17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FB15A16-0FE1-2ACD-4DEF-44BDFC03BAF6}"/>
              </a:ext>
            </a:extLst>
          </p:cNvPr>
          <p:cNvSpPr/>
          <p:nvPr/>
        </p:nvSpPr>
        <p:spPr>
          <a:xfrm>
            <a:off x="2002536" y="6031524"/>
            <a:ext cx="4050792" cy="418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ポリシーに基づく行動・権限制御</a:t>
            </a:r>
            <a:endParaRPr 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456A21D-139F-05C3-787C-5E77F01A7B1D}"/>
              </a:ext>
            </a:extLst>
          </p:cNvPr>
          <p:cNvSpPr/>
          <p:nvPr/>
        </p:nvSpPr>
        <p:spPr>
          <a:xfrm>
            <a:off x="6217920" y="5833872"/>
            <a:ext cx="5522976" cy="804672"/>
          </a:xfrm>
          <a:prstGeom prst="roundRect">
            <a:avLst>
              <a:gd name="adj" fmla="val 3409"/>
            </a:avLst>
          </a:prstGeom>
          <a:solidFill>
            <a:srgbClr val="F8FBFF"/>
          </a:solidFill>
          <a:ln w="12700">
            <a:solidFill>
              <a:srgbClr val="AFC8EA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BCED985-A0CA-CB5F-C882-2A1ACF21E9F9}"/>
              </a:ext>
            </a:extLst>
          </p:cNvPr>
          <p:cNvSpPr/>
          <p:nvPr/>
        </p:nvSpPr>
        <p:spPr>
          <a:xfrm>
            <a:off x="6053328" y="611807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Audit</a:t>
            </a:r>
            <a:endParaRPr lang="en-US" sz="175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F99881FF-78F3-92D7-9F09-CD92515D9F32}"/>
              </a:ext>
            </a:extLst>
          </p:cNvPr>
          <p:cNvSpPr/>
          <p:nvPr/>
        </p:nvSpPr>
        <p:spPr>
          <a:xfrm>
            <a:off x="7342632" y="6048639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62B67"/>
                </a:solidFill>
                <a:latin typeface="Meiryo" panose="020B0604030504040204" pitchFamily="34" charset="-128"/>
                <a:ea typeface="Meiryo" panose="020B0604030504040204" pitchFamily="34" charset="-128"/>
                <a:cs typeface="Yu Gothic" pitchFamily="34" charset="-120"/>
              </a:rPr>
              <a:t>操作や判断の監査（記録・追跡）</a:t>
            </a:r>
            <a:endParaRPr lang="en-US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2" name="Slide Number Placeholder 0">
            <a:extLst>
              <a:ext uri="{FF2B5EF4-FFF2-40B4-BE49-F238E27FC236}">
                <a16:creationId xmlns:a16="http://schemas.microsoft.com/office/drawing/2014/main" id="{4AFBD1BB-B8EA-1D5E-D3FE-48E65A570D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fld>
            <a:endParaRPr 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36E69B26-71B6-462F-C10B-63E357AACE5B}"/>
              </a:ext>
            </a:extLst>
          </p:cNvPr>
          <p:cNvSpPr/>
          <p:nvPr/>
        </p:nvSpPr>
        <p:spPr>
          <a:xfrm>
            <a:off x="6217920" y="1075361"/>
            <a:ext cx="5522976" cy="3701439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CA12D2C3-2FB5-A575-9F4F-87874832F26D}"/>
              </a:ext>
            </a:extLst>
          </p:cNvPr>
          <p:cNvSpPr/>
          <p:nvPr/>
        </p:nvSpPr>
        <p:spPr>
          <a:xfrm>
            <a:off x="6309360" y="1621044"/>
            <a:ext cx="1957310" cy="1261872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28FA578C-66D3-837A-E4D0-F4A5F2D76530}"/>
              </a:ext>
            </a:extLst>
          </p:cNvPr>
          <p:cNvSpPr/>
          <p:nvPr/>
        </p:nvSpPr>
        <p:spPr>
          <a:xfrm>
            <a:off x="6348711" y="1883821"/>
            <a:ext cx="2107069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 California SB 53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BA55B72E-502D-DDE0-CD12-778C651E2095}"/>
              </a:ext>
            </a:extLst>
          </p:cNvPr>
          <p:cNvSpPr/>
          <p:nvPr/>
        </p:nvSpPr>
        <p:spPr>
          <a:xfrm>
            <a:off x="6227998" y="2253539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Transparency in Frontier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ctr">
              <a:buNone/>
            </a:pPr>
            <a:r>
              <a:rPr lang="en-US" sz="1040" dirty="0">
                <a:solidFill>
                  <a:srgbClr val="333333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Artificial Intelligence Act</a:t>
            </a:r>
            <a:endParaRPr lang="en-US" sz="104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AAF048C9-9F63-D19B-8B89-16BBB1413C3A}"/>
              </a:ext>
            </a:extLst>
          </p:cNvPr>
          <p:cNvSpPr/>
          <p:nvPr/>
        </p:nvSpPr>
        <p:spPr>
          <a:xfrm>
            <a:off x="8348032" y="1758075"/>
            <a:ext cx="3141585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安全性フレームワークの策定・運用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重大な安全インシデントの報告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透明性・説明責任の強化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8E126295-4715-C1DC-5385-D4057A5E4EE3}"/>
              </a:ext>
            </a:extLst>
          </p:cNvPr>
          <p:cNvSpPr/>
          <p:nvPr/>
        </p:nvSpPr>
        <p:spPr>
          <a:xfrm>
            <a:off x="6309360" y="3133769"/>
            <a:ext cx="1957310" cy="1115568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548BD71F-3A61-C779-F57F-6FD7A9734351}"/>
              </a:ext>
            </a:extLst>
          </p:cNvPr>
          <p:cNvSpPr/>
          <p:nvPr/>
        </p:nvSpPr>
        <p:spPr>
          <a:xfrm>
            <a:off x="6436360" y="3409055"/>
            <a:ext cx="1850138" cy="49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EU AI Act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09B14A4E-00AE-59AA-3549-6C4166FB489C}"/>
              </a:ext>
            </a:extLst>
          </p:cNvPr>
          <p:cNvSpPr/>
          <p:nvPr/>
        </p:nvSpPr>
        <p:spPr>
          <a:xfrm>
            <a:off x="8348032" y="3171307"/>
            <a:ext cx="3141585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リスク管理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人による監督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ログ記録・追跡可能性の確保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 </a:t>
            </a:r>
            <a:r>
              <a:rPr lang="en-US" sz="1400" dirty="0" err="1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サイバーセキュリティ</a:t>
            </a:r>
            <a:r>
              <a:rPr lang="en-US" sz="14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ー</a:t>
            </a:r>
            <a:endParaRPr lang="en-US" sz="1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7B4D07F2-1436-148B-E670-CB85DF4824D6}"/>
              </a:ext>
            </a:extLst>
          </p:cNvPr>
          <p:cNvSpPr/>
          <p:nvPr/>
        </p:nvSpPr>
        <p:spPr>
          <a:xfrm>
            <a:off x="6373368" y="4497665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6C6C6C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※求められる義務は，AIの分類や事業者の立場によって異なる</a:t>
            </a:r>
            <a:endParaRPr lang="en-US" sz="112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1B36C826-E8D1-30F8-BBBB-1B4ADF13EEE0}"/>
              </a:ext>
            </a:extLst>
          </p:cNvPr>
          <p:cNvSpPr/>
          <p:nvPr/>
        </p:nvSpPr>
        <p:spPr>
          <a:xfrm>
            <a:off x="420624" y="1075361"/>
            <a:ext cx="5577840" cy="3701439"/>
          </a:xfrm>
          <a:prstGeom prst="rect">
            <a:avLst/>
          </a:prstGeom>
          <a:solidFill>
            <a:srgbClr val="FFFFFF"/>
          </a:solidFill>
          <a:ln w="889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B1DEEF76-3230-3870-54DA-87FDA159F916}"/>
              </a:ext>
            </a:extLst>
          </p:cNvPr>
          <p:cNvSpPr/>
          <p:nvPr/>
        </p:nvSpPr>
        <p:spPr>
          <a:xfrm>
            <a:off x="605028" y="1586558"/>
            <a:ext cx="4165884" cy="11693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ツール・社内データへアクセス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実システムの操作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11111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複数ACTIONを自律的に実行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561B5EB1-BEB7-9B24-5F4D-7D9EC51BDAF7}"/>
              </a:ext>
            </a:extLst>
          </p:cNvPr>
          <p:cNvSpPr/>
          <p:nvPr/>
        </p:nvSpPr>
        <p:spPr>
          <a:xfrm>
            <a:off x="347472" y="3033991"/>
            <a:ext cx="547725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5B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プロンプトだけでは実行時の振る舞いを保証できない</a:t>
            </a:r>
            <a:endParaRPr lang="en-US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D5ACDF8-7982-596B-A6CD-9F4FB926EF45}"/>
              </a:ext>
            </a:extLst>
          </p:cNvPr>
          <p:cNvGrpSpPr/>
          <p:nvPr/>
        </p:nvGrpSpPr>
        <p:grpSpPr>
          <a:xfrm>
            <a:off x="580643" y="3534739"/>
            <a:ext cx="5047489" cy="749808"/>
            <a:chOff x="795526" y="3312160"/>
            <a:chExt cx="5047489" cy="749808"/>
          </a:xfrm>
        </p:grpSpPr>
        <p:sp>
          <p:nvSpPr>
            <p:cNvPr id="72" name="Shape 16">
              <a:extLst>
                <a:ext uri="{FF2B5EF4-FFF2-40B4-BE49-F238E27FC236}">
                  <a16:creationId xmlns:a16="http://schemas.microsoft.com/office/drawing/2014/main" id="{31A9F044-4DE4-AFDE-1DD2-5681AB3A49B9}"/>
                </a:ext>
              </a:extLst>
            </p:cNvPr>
            <p:cNvSpPr/>
            <p:nvPr/>
          </p:nvSpPr>
          <p:spPr>
            <a:xfrm>
              <a:off x="795526" y="3312160"/>
              <a:ext cx="5047489" cy="749808"/>
            </a:xfrm>
            <a:prstGeom prst="roundRect">
              <a:avLst>
                <a:gd name="adj" fmla="val 4878"/>
              </a:avLst>
            </a:prstGeom>
            <a:solidFill>
              <a:srgbClr val="FFF5F5"/>
            </a:solidFill>
            <a:ln w="12700">
              <a:solidFill>
                <a:srgbClr val="D85B5B"/>
              </a:solidFill>
              <a:prstDash val="solid"/>
            </a:ln>
          </p:spPr>
          <p:txBody>
            <a:bodyPr/>
            <a:lstStyle/>
            <a:p>
              <a:endParaRPr lang="en-JP" sz="1400">
                <a:latin typeface="Hiragino Kaku Gothic Pro W3" panose="020B0300000000000000" pitchFamily="34" charset="-128"/>
                <a:ea typeface="Hiragino Kaku Gothic Pro W3" panose="020B0300000000000000" pitchFamily="34" charset="-128"/>
              </a:endParaRPr>
            </a:p>
          </p:txBody>
        </p:sp>
        <p:sp>
          <p:nvSpPr>
            <p:cNvPr id="73" name="Text 17">
              <a:extLst>
                <a:ext uri="{FF2B5EF4-FFF2-40B4-BE49-F238E27FC236}">
                  <a16:creationId xmlns:a16="http://schemas.microsoft.com/office/drawing/2014/main" id="{8E5D0283-7930-9C59-17F2-2F4052CD1534}"/>
                </a:ext>
              </a:extLst>
            </p:cNvPr>
            <p:cNvSpPr/>
            <p:nvPr/>
          </p:nvSpPr>
          <p:spPr>
            <a:xfrm>
              <a:off x="813815" y="3385312"/>
              <a:ext cx="4986399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B51E23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生じ得る主なリスク</a:t>
              </a:r>
              <a:endParaRPr lang="en-US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Text 18">
              <a:extLst>
                <a:ext uri="{FF2B5EF4-FFF2-40B4-BE49-F238E27FC236}">
                  <a16:creationId xmlns:a16="http://schemas.microsoft.com/office/drawing/2014/main" id="{5C9FC5EB-6B1B-6DE9-F52E-F3679FE2298A}"/>
                </a:ext>
              </a:extLst>
            </p:cNvPr>
            <p:cNvSpPr/>
            <p:nvPr/>
          </p:nvSpPr>
          <p:spPr>
            <a:xfrm>
              <a:off x="795527" y="3696208"/>
              <a:ext cx="5029201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A1733"/>
                  </a:solidFill>
                  <a:latin typeface="Meiryo" panose="020B0604030504040204" pitchFamily="34" charset="-128"/>
                  <a:ea typeface="Meiryo" panose="020B0604030504040204" pitchFamily="34" charset="-128"/>
                  <a:cs typeface="Yu Gothic" pitchFamily="34" charset="-120"/>
                </a:rPr>
                <a:t>誤操作  /  権限逸脱  /  情報漏洩  /  Prompt Injection</a:t>
              </a:r>
              <a:endParaRPr lang="en-US" sz="1400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035004-8CD8-C976-6B49-0FADAAB71AEA}"/>
              </a:ext>
            </a:extLst>
          </p:cNvPr>
          <p:cNvGrpSpPr/>
          <p:nvPr/>
        </p:nvGrpSpPr>
        <p:grpSpPr>
          <a:xfrm>
            <a:off x="6391919" y="1679613"/>
            <a:ext cx="543739" cy="307777"/>
            <a:chOff x="6391919" y="1517676"/>
            <a:chExt cx="543739" cy="30777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078248F-9B6F-38C5-B6C5-B37DBBAA3F6E}"/>
                </a:ext>
              </a:extLst>
            </p:cNvPr>
            <p:cNvSpPr/>
            <p:nvPr/>
          </p:nvSpPr>
          <p:spPr>
            <a:xfrm>
              <a:off x="6411468" y="1541728"/>
              <a:ext cx="472833" cy="228470"/>
            </a:xfrm>
            <a:prstGeom prst="rect">
              <a:avLst/>
            </a:prstGeom>
            <a:solidFill>
              <a:srgbClr val="001F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b="1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716A06-8821-7D76-2D78-32B0B6E44B17}"/>
                </a:ext>
              </a:extLst>
            </p:cNvPr>
            <p:cNvSpPr txBox="1"/>
            <p:nvPr/>
          </p:nvSpPr>
          <p:spPr>
            <a:xfrm>
              <a:off x="6391919" y="15176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400" b="1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例１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5F01DD-8E92-8E39-960A-B49FACA56D4A}"/>
              </a:ext>
            </a:extLst>
          </p:cNvPr>
          <p:cNvGrpSpPr/>
          <p:nvPr/>
        </p:nvGrpSpPr>
        <p:grpSpPr>
          <a:xfrm>
            <a:off x="6391919" y="3193819"/>
            <a:ext cx="543739" cy="307777"/>
            <a:chOff x="6391919" y="1517676"/>
            <a:chExt cx="543739" cy="3077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BE8E350-6077-0C7D-3576-5A9FED8847C4}"/>
                </a:ext>
              </a:extLst>
            </p:cNvPr>
            <p:cNvSpPr/>
            <p:nvPr/>
          </p:nvSpPr>
          <p:spPr>
            <a:xfrm>
              <a:off x="6411468" y="1541728"/>
              <a:ext cx="472833" cy="228470"/>
            </a:xfrm>
            <a:prstGeom prst="rect">
              <a:avLst/>
            </a:prstGeom>
            <a:solidFill>
              <a:srgbClr val="001F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sz="1400" b="1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0DE7B6-BF93-699A-0823-FC467AC13B16}"/>
                </a:ext>
              </a:extLst>
            </p:cNvPr>
            <p:cNvSpPr txBox="1"/>
            <p:nvPr/>
          </p:nvSpPr>
          <p:spPr>
            <a:xfrm>
              <a:off x="6391919" y="151767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1400" b="1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例２</a:t>
              </a:r>
            </a:p>
          </p:txBody>
        </p:sp>
      </p:grpSp>
      <p:sp>
        <p:nvSpPr>
          <p:cNvPr id="61" name="Text 2">
            <a:extLst>
              <a:ext uri="{FF2B5EF4-FFF2-40B4-BE49-F238E27FC236}">
                <a16:creationId xmlns:a16="http://schemas.microsoft.com/office/drawing/2014/main" id="{BF436D73-17A7-8AF7-66DA-BC465DD60C21}"/>
              </a:ext>
            </a:extLst>
          </p:cNvPr>
          <p:cNvSpPr/>
          <p:nvPr/>
        </p:nvSpPr>
        <p:spPr>
          <a:xfrm>
            <a:off x="420624" y="1119200"/>
            <a:ext cx="5577840" cy="4297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001F5A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AI Agent の特性とリスク</a:t>
            </a:r>
            <a:endParaRPr lang="en-US" sz="1900" dirty="0">
              <a:solidFill>
                <a:srgbClr val="001F5A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9D38C441-2EB2-E77D-AFF1-DD381F127558}"/>
              </a:ext>
            </a:extLst>
          </p:cNvPr>
          <p:cNvSpPr/>
          <p:nvPr/>
        </p:nvSpPr>
        <p:spPr>
          <a:xfrm>
            <a:off x="6217920" y="1119200"/>
            <a:ext cx="5522976" cy="4297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1F5A"/>
                </a:solidFill>
                <a:latin typeface="Meiryo" panose="020B0604030504040204" pitchFamily="34" charset="-128"/>
                <a:ea typeface="Meiryo" panose="020B0604030504040204" pitchFamily="34" charset="-128"/>
                <a:cs typeface="Noto Sans CJK JP" pitchFamily="34" charset="-120"/>
              </a:rPr>
              <a:t>法規制等によるガバナンス要求</a:t>
            </a:r>
            <a:endParaRPr lang="en-US" sz="2000" dirty="0">
              <a:solidFill>
                <a:srgbClr val="001F5A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16F8FD56-A6AC-D913-D3DD-AE422A6ED50F}"/>
              </a:ext>
            </a:extLst>
          </p:cNvPr>
          <p:cNvSpPr/>
          <p:nvPr/>
        </p:nvSpPr>
        <p:spPr>
          <a:xfrm>
            <a:off x="6443472" y="3130721"/>
            <a:ext cx="5376672" cy="0"/>
          </a:xfrm>
          <a:prstGeom prst="line">
            <a:avLst/>
          </a:prstGeom>
          <a:noFill/>
          <a:ln w="889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81865126-B5A3-16FE-AD91-F41BDCC72AAB}"/>
              </a:ext>
            </a:extLst>
          </p:cNvPr>
          <p:cNvSpPr/>
          <p:nvPr/>
        </p:nvSpPr>
        <p:spPr>
          <a:xfrm>
            <a:off x="713232" y="1508528"/>
            <a:ext cx="4887884" cy="0"/>
          </a:xfrm>
          <a:prstGeom prst="line">
            <a:avLst/>
          </a:prstGeom>
          <a:noFill/>
          <a:ln w="254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534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1350" y="514350"/>
            <a:ext cx="12000230" cy="4635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2300" b="1" kern="0" spc="25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Agent の実運用でなぜガバナンスが必要か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1350" y="1041400"/>
            <a:ext cx="10909300" cy="19050"/>
          </a:xfrm>
          <a:prstGeom prst="rect">
            <a:avLst/>
          </a:prstGeom>
          <a:solidFill>
            <a:srgbClr val="15305E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5" name="Shape 3"/>
          <p:cNvSpPr/>
          <p:nvPr/>
        </p:nvSpPr>
        <p:spPr>
          <a:xfrm>
            <a:off x="641350" y="1238251"/>
            <a:ext cx="4813300" cy="3336131"/>
          </a:xfrm>
          <a:prstGeom prst="roundRect">
            <a:avLst>
              <a:gd name="adj" fmla="val 1523"/>
            </a:avLst>
          </a:prstGeom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6" name="Shape 4"/>
          <p:cNvSpPr/>
          <p:nvPr/>
        </p:nvSpPr>
        <p:spPr>
          <a:xfrm>
            <a:off x="838200" y="1746250"/>
            <a:ext cx="4419600" cy="6350"/>
          </a:xfrm>
          <a:prstGeom prst="rect">
            <a:avLst/>
          </a:prstGeom>
          <a:solidFill>
            <a:srgbClr val="9A9A9A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7" name="Text 5"/>
          <p:cNvSpPr/>
          <p:nvPr/>
        </p:nvSpPr>
        <p:spPr>
          <a:xfrm>
            <a:off x="771906" y="1409700"/>
            <a:ext cx="4552188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6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Agent の特性とリスク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4556" y="1866900"/>
            <a:ext cx="4424045" cy="86538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93349" indent="-93349">
              <a:lnSpc>
                <a:spcPct val="140000"/>
              </a:lnSpc>
              <a:buSzPct val="100000"/>
              <a:buChar char="•"/>
              <a:tabLst>
                <a:tab pos="93349" algn="l"/>
              </a:tabLst>
            </a:pPr>
            <a:r>
              <a:rPr lang="en-US" sz="1333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ツール・社内データへアクセス</a:t>
            </a:r>
            <a:endParaRPr lang="en-US" sz="1333" dirty="0"/>
          </a:p>
          <a:p>
            <a:pPr marL="93349" indent="-93349">
              <a:lnSpc>
                <a:spcPct val="140000"/>
              </a:lnSpc>
              <a:buSzPct val="100000"/>
              <a:buChar char="•"/>
              <a:tabLst>
                <a:tab pos="93349" algn="l"/>
              </a:tabLst>
            </a:pPr>
            <a:r>
              <a:rPr lang="en-US" sz="1333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実システムの操作</a:t>
            </a:r>
            <a:endParaRPr lang="en-US" sz="1333" dirty="0"/>
          </a:p>
          <a:p>
            <a:pPr marL="93349" indent="-93349">
              <a:lnSpc>
                <a:spcPct val="140000"/>
              </a:lnSpc>
              <a:buSzPct val="100000"/>
              <a:buChar char="•"/>
              <a:tabLst>
                <a:tab pos="93349" algn="l"/>
              </a:tabLst>
            </a:pPr>
            <a:r>
              <a:rPr lang="en-US" sz="1333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複数ACTIONを自律的に実行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838200" y="2992301"/>
            <a:ext cx="4419600" cy="6350"/>
          </a:xfrm>
          <a:prstGeom prst="rect">
            <a:avLst/>
          </a:prstGeom>
          <a:solidFill>
            <a:srgbClr val="D5D5D5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10" name="Text 8"/>
          <p:cNvSpPr/>
          <p:nvPr/>
        </p:nvSpPr>
        <p:spPr>
          <a:xfrm>
            <a:off x="838200" y="3078862"/>
            <a:ext cx="4552188" cy="277614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333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プロンプトだけでは実行時の振る舞いを保証できない</a:t>
            </a:r>
          </a:p>
        </p:txBody>
      </p:sp>
      <p:sp>
        <p:nvSpPr>
          <p:cNvPr id="11" name="Shape 9"/>
          <p:cNvSpPr/>
          <p:nvPr/>
        </p:nvSpPr>
        <p:spPr>
          <a:xfrm>
            <a:off x="838200" y="3688557"/>
            <a:ext cx="4419600" cy="714375"/>
          </a:xfrm>
          <a:prstGeom prst="roundRect">
            <a:avLst>
              <a:gd name="adj" fmla="val 5333"/>
            </a:avLst>
          </a:prstGeom>
          <a:solidFill>
            <a:srgbClr val="FDECEC"/>
          </a:solidFill>
          <a:ln w="1905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12" name="Text 10"/>
          <p:cNvSpPr/>
          <p:nvPr/>
        </p:nvSpPr>
        <p:spPr>
          <a:xfrm>
            <a:off x="742950" y="3815557"/>
            <a:ext cx="4610100" cy="2444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E13C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生じ得る主なリスク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2950" y="4085431"/>
            <a:ext cx="4610100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/>
            <a:r>
              <a:rPr lang="en-US" sz="1000" b="1" dirty="0">
                <a:solidFill>
                  <a:srgbClr val="8F232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誤操作 / 権限逸脱 / 情報漏洩 / Prompt Injection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32450" y="1238251"/>
            <a:ext cx="5918200" cy="3336131"/>
          </a:xfrm>
          <a:prstGeom prst="roundRect">
            <a:avLst>
              <a:gd name="adj" fmla="val 1523"/>
            </a:avLst>
          </a:prstGeom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15" name="Shape 13"/>
          <p:cNvSpPr/>
          <p:nvPr/>
        </p:nvSpPr>
        <p:spPr>
          <a:xfrm>
            <a:off x="5829300" y="1746250"/>
            <a:ext cx="5524500" cy="6350"/>
          </a:xfrm>
          <a:prstGeom prst="rect">
            <a:avLst/>
          </a:prstGeom>
          <a:solidFill>
            <a:srgbClr val="9A9A9A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16" name="Text 14"/>
          <p:cNvSpPr/>
          <p:nvPr/>
        </p:nvSpPr>
        <p:spPr>
          <a:xfrm>
            <a:off x="5746433" y="1409700"/>
            <a:ext cx="5690235" cy="2730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/>
            <a:r>
              <a:rPr lang="en-US" sz="16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法規制等によるガバナンス要求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29300" y="2990850"/>
            <a:ext cx="5524500" cy="6350"/>
          </a:xfrm>
          <a:prstGeom prst="rect">
            <a:avLst/>
          </a:prstGeom>
          <a:solidFill>
            <a:srgbClr val="D5D5D5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18" name="Shape 16"/>
          <p:cNvSpPr/>
          <p:nvPr/>
        </p:nvSpPr>
        <p:spPr>
          <a:xfrm>
            <a:off x="5829300" y="1955800"/>
            <a:ext cx="1905000" cy="933450"/>
          </a:xfrm>
          <a:prstGeom prst="roundRect">
            <a:avLst>
              <a:gd name="adj" fmla="val 2721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19" name="Shape 17"/>
          <p:cNvSpPr/>
          <p:nvPr/>
        </p:nvSpPr>
        <p:spPr>
          <a:xfrm>
            <a:off x="5930901" y="2044701"/>
            <a:ext cx="302815" cy="180975"/>
          </a:xfrm>
          <a:prstGeom prst="roundRect">
            <a:avLst>
              <a:gd name="adj" fmla="val 10526"/>
            </a:avLst>
          </a:prstGeom>
          <a:ln w="9525">
            <a:solidFill>
              <a:srgbClr val="15305E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20" name="Text 18"/>
          <p:cNvSpPr/>
          <p:nvPr/>
        </p:nvSpPr>
        <p:spPr>
          <a:xfrm>
            <a:off x="6000751" y="2063751"/>
            <a:ext cx="213915" cy="1682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75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30900" y="2289176"/>
            <a:ext cx="1871980" cy="231775"/>
          </a:xfrm>
          <a:prstGeom prst="rect">
            <a:avLst/>
          </a:prstGeom>
          <a:noFill/>
          <a:ln/>
        </p:spPr>
        <p:txBody>
          <a:bodyPr wrap="none" lIns="16933" tIns="16933" rIns="16933" bIns="16933" rtlCol="0" anchor="t">
            <a:normAutofit/>
          </a:bodyPr>
          <a:lstStyle/>
          <a:p>
            <a:pPr>
              <a:lnSpc>
                <a:spcPct val="86667"/>
              </a:lnSpc>
            </a:pPr>
            <a:r>
              <a:rPr lang="en-US" sz="125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California SB 53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30900" y="2533650"/>
            <a:ext cx="1752854" cy="2921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93333"/>
              </a:lnSpc>
            </a:pPr>
            <a:r>
              <a:rPr lang="en-US" sz="750" dirty="0">
                <a:solidFill>
                  <a:srgbClr val="55555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Transparency in Frontier Artificial Intelligence Act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903846" y="1993900"/>
            <a:ext cx="3500755" cy="712986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安全性フレームワークの策定・運用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重大な安全インシデントの報告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透明性・説明責任の強化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29300" y="4155282"/>
            <a:ext cx="5524500" cy="6350"/>
          </a:xfrm>
          <a:prstGeom prst="rect">
            <a:avLst/>
          </a:prstGeom>
          <a:solidFill>
            <a:srgbClr val="D5D5D5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25" name="Shape 23"/>
          <p:cNvSpPr/>
          <p:nvPr/>
        </p:nvSpPr>
        <p:spPr>
          <a:xfrm>
            <a:off x="5829300" y="3098800"/>
            <a:ext cx="1905000" cy="954881"/>
          </a:xfrm>
          <a:prstGeom prst="roundRect">
            <a:avLst>
              <a:gd name="adj" fmla="val 2660"/>
            </a:avLst>
          </a:prstGeom>
          <a:solidFill>
            <a:srgbClr val="EAF1FC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26" name="Shape 24"/>
          <p:cNvSpPr/>
          <p:nvPr/>
        </p:nvSpPr>
        <p:spPr>
          <a:xfrm>
            <a:off x="5930901" y="3187701"/>
            <a:ext cx="302815" cy="180975"/>
          </a:xfrm>
          <a:prstGeom prst="roundRect">
            <a:avLst>
              <a:gd name="adj" fmla="val 10526"/>
            </a:avLst>
          </a:prstGeom>
          <a:ln w="9525">
            <a:solidFill>
              <a:srgbClr val="15305E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27" name="Text 25"/>
          <p:cNvSpPr/>
          <p:nvPr/>
        </p:nvSpPr>
        <p:spPr>
          <a:xfrm>
            <a:off x="6000751" y="3206751"/>
            <a:ext cx="213915" cy="1682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75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30900" y="3432176"/>
            <a:ext cx="1871980" cy="2400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>
              <a:lnSpc>
                <a:spcPct val="86667"/>
              </a:lnSpc>
            </a:pPr>
            <a:r>
              <a:rPr lang="en-US" sz="13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EU AI Act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03846" y="3136900"/>
            <a:ext cx="3500755" cy="94218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リスク管理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人による監督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ログ記録・追跡可能性の確保</a:t>
            </a:r>
            <a:endParaRPr lang="en-US" sz="1200" dirty="0"/>
          </a:p>
          <a:p>
            <a:pPr marL="84460" indent="-84460">
              <a:lnSpc>
                <a:spcPct val="126667"/>
              </a:lnSpc>
              <a:buSzPct val="100000"/>
              <a:buChar char="•"/>
              <a:tabLst>
                <a:tab pos="84460" algn="l"/>
              </a:tabLst>
            </a:pPr>
            <a:r>
              <a:rPr lang="en-US" sz="12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サイバーセキュリティ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29300" y="4250531"/>
            <a:ext cx="6076950" cy="177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800" dirty="0">
                <a:solidFill>
                  <a:srgbClr val="66666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※求められる義務は，AIの分類や事業者の立場によって異なる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1350" y="4764882"/>
            <a:ext cx="12000230" cy="3016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145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Agent のリスクと法規制等の要求を，実運用上のガバナンスへ落とし込むことが重要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41350" y="5180806"/>
            <a:ext cx="5365750" cy="349250"/>
          </a:xfrm>
          <a:prstGeom prst="roundRect">
            <a:avLst>
              <a:gd name="adj" fmla="val 10909"/>
            </a:avLst>
          </a:prstGeom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33" name="Shape 31"/>
          <p:cNvSpPr/>
          <p:nvPr/>
        </p:nvSpPr>
        <p:spPr>
          <a:xfrm>
            <a:off x="647700" y="5187156"/>
            <a:ext cx="1333500" cy="336550"/>
          </a:xfrm>
          <a:prstGeom prst="rect">
            <a:avLst/>
          </a:prstGeom>
          <a:solidFill>
            <a:srgbClr val="DCE8FB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34" name="Shape 32"/>
          <p:cNvSpPr/>
          <p:nvPr/>
        </p:nvSpPr>
        <p:spPr>
          <a:xfrm>
            <a:off x="1974850" y="5187156"/>
            <a:ext cx="6350" cy="3365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35" name="Text 33"/>
          <p:cNvSpPr/>
          <p:nvPr/>
        </p:nvSpPr>
        <p:spPr>
          <a:xfrm>
            <a:off x="622300" y="5187156"/>
            <a:ext cx="1377950" cy="3619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Policy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984407" y="5250656"/>
            <a:ext cx="4013137" cy="2349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ポリシーに基づく行動・権限制御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84900" y="5180806"/>
            <a:ext cx="5365750" cy="349250"/>
          </a:xfrm>
          <a:prstGeom prst="roundRect">
            <a:avLst>
              <a:gd name="adj" fmla="val 10909"/>
            </a:avLst>
          </a:prstGeom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JP" sz="1200"/>
          </a:p>
        </p:txBody>
      </p:sp>
      <p:sp>
        <p:nvSpPr>
          <p:cNvPr id="38" name="Shape 36"/>
          <p:cNvSpPr/>
          <p:nvPr/>
        </p:nvSpPr>
        <p:spPr>
          <a:xfrm>
            <a:off x="6191250" y="5187156"/>
            <a:ext cx="1333500" cy="336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39" name="Shape 37"/>
          <p:cNvSpPr/>
          <p:nvPr/>
        </p:nvSpPr>
        <p:spPr>
          <a:xfrm>
            <a:off x="7518400" y="5187156"/>
            <a:ext cx="6350" cy="3365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JP" sz="1200"/>
          </a:p>
        </p:txBody>
      </p:sp>
      <p:sp>
        <p:nvSpPr>
          <p:cNvPr id="40" name="Text 38"/>
          <p:cNvSpPr/>
          <p:nvPr/>
        </p:nvSpPr>
        <p:spPr>
          <a:xfrm>
            <a:off x="6165850" y="5187156"/>
            <a:ext cx="1377950" cy="3619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15305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Audit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27957" y="5250656"/>
            <a:ext cx="4013137" cy="2349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2222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操作や判断の監査（記録・追跡）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511409" y="6362700"/>
            <a:ext cx="331341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r>
              <a:rPr lang="en-US" sz="900" dirty="0">
                <a:solidFill>
                  <a:srgbClr val="9A9A9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837" y="320671"/>
            <a:ext cx="473971" cy="2550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78F9A"/>
                </a:solidFill>
                <a:latin typeface="Noto Sans CJK JP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5645" y="204063"/>
            <a:ext cx="10573205" cy="378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04225E"/>
                </a:solidFill>
                <a:latin typeface="Noto Sans CJK JP"/>
              </a:rPr>
              <a:t>AI AgentのActionはどのように実行されるか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1464" y="736087"/>
            <a:ext cx="11433645" cy="0"/>
          </a:xfrm>
          <a:prstGeom prst="line">
            <a:avLst/>
          </a:prstGeom>
          <a:ln w="20320">
            <a:solidFill>
              <a:srgbClr val="042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91731" y="2558085"/>
            <a:ext cx="69272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646974"/>
                </a:solidFill>
                <a:latin typeface="Noto Sans CJK JP"/>
              </a:rPr>
              <a:t>Prompt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57358" y="2842316"/>
            <a:ext cx="510430" cy="131183"/>
          </a:xfrm>
          <a:prstGeom prst="rightArrow">
            <a:avLst/>
          </a:prstGeom>
          <a:solidFill>
            <a:srgbClr val="64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1186" y="2543509"/>
            <a:ext cx="765645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046B4"/>
                </a:solidFill>
                <a:latin typeface="Noto Sans CJK JP"/>
              </a:rPr>
              <a:t>Tool Call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61607" y="2842316"/>
            <a:ext cx="525014" cy="131183"/>
          </a:xfrm>
          <a:prstGeom prst="rightArrow">
            <a:avLst/>
          </a:prstGeom>
          <a:solidFill>
            <a:srgbClr val="004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4602" y="2565373"/>
            <a:ext cx="69272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646974"/>
                </a:solidFill>
                <a:latin typeface="Noto Sans CJK JP"/>
              </a:rPr>
              <a:t>実行要求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65856" y="2842316"/>
            <a:ext cx="510430" cy="131183"/>
          </a:xfrm>
          <a:prstGeom prst="rightArrow">
            <a:avLst/>
          </a:prstGeom>
          <a:solidFill>
            <a:srgbClr val="64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10463827" y="3709587"/>
            <a:ext cx="0" cy="677783"/>
          </a:xfrm>
          <a:prstGeom prst="line">
            <a:avLst/>
          </a:prstGeom>
          <a:ln w="12700">
            <a:solidFill>
              <a:srgbClr val="64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229282" y="4387370"/>
            <a:ext cx="6234545" cy="0"/>
          </a:xfrm>
          <a:prstGeom prst="line">
            <a:avLst/>
          </a:prstGeom>
          <a:ln w="12700">
            <a:solidFill>
              <a:srgbClr val="64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229282" y="4059411"/>
            <a:ext cx="0" cy="327959"/>
          </a:xfrm>
          <a:prstGeom prst="line">
            <a:avLst/>
          </a:prstGeom>
          <a:ln w="12700">
            <a:solidFill>
              <a:srgbClr val="64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Up Arrow 13"/>
          <p:cNvSpPr/>
          <p:nvPr/>
        </p:nvSpPr>
        <p:spPr>
          <a:xfrm>
            <a:off x="4156363" y="3950091"/>
            <a:ext cx="145837" cy="131183"/>
          </a:xfrm>
          <a:prstGeom prst="upArrow">
            <a:avLst/>
          </a:prstGeom>
          <a:solidFill>
            <a:srgbClr val="646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91865" y="3935515"/>
            <a:ext cx="4375119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646974"/>
                </a:solidFill>
                <a:latin typeface="Noto Sans CJK JP"/>
              </a:rPr>
              <a:t>Toolの実行から先で，実システムへの副作用が発生する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3062" y="4606010"/>
            <a:ext cx="3427176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646974"/>
                </a:solidFill>
                <a:latin typeface="Noto Sans CJK JP"/>
              </a:rPr>
              <a:t>実行結果を踏まえて次のActionを判断する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052" y="1989621"/>
            <a:ext cx="1808382" cy="1727253"/>
          </a:xfrm>
          <a:prstGeom prst="rect">
            <a:avLst/>
          </a:prstGeom>
          <a:noFill/>
          <a:ln w="11430">
            <a:solidFill>
              <a:srgbClr val="BEC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64" y="2740284"/>
            <a:ext cx="1093779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4225E"/>
                </a:solidFill>
                <a:latin typeface="Noto Sans CJK JP"/>
              </a:rPr>
              <a:t>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8420" y="1989621"/>
            <a:ext cx="2005263" cy="1727253"/>
          </a:xfrm>
          <a:prstGeom prst="rect">
            <a:avLst/>
          </a:prstGeom>
          <a:noFill/>
          <a:ln w="11430">
            <a:solidFill>
              <a:srgbClr val="BEC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5932" y="2390461"/>
            <a:ext cx="1166698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04225E"/>
                </a:solidFill>
                <a:latin typeface="Noto Sans CJK JP"/>
              </a:rP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9473" y="2784012"/>
            <a:ext cx="1239617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41414"/>
                </a:solidFill>
                <a:latin typeface="Noto Sans CJK JP"/>
              </a:rPr>
              <a:t>次の処理を判断
Toolを選択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2669" y="1989621"/>
            <a:ext cx="2027138" cy="1727253"/>
          </a:xfrm>
          <a:prstGeom prst="rect">
            <a:avLst/>
          </a:prstGeom>
          <a:noFill/>
          <a:ln w="11430">
            <a:solidFill>
              <a:srgbClr val="BEC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6841" y="2390461"/>
            <a:ext cx="1604210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4225E"/>
                </a:solidFill>
                <a:latin typeface="Noto Sans CJK JP"/>
              </a:rPr>
              <a:t>Agent SDK
／ 実行基盤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6841" y="3090108"/>
            <a:ext cx="1677129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Noto Sans CJK JP"/>
              </a:rPr>
              <a:t>Tool Callを処理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3167" y="1989621"/>
            <a:ext cx="2406315" cy="1727253"/>
          </a:xfrm>
          <a:prstGeom prst="rect">
            <a:avLst/>
          </a:prstGeom>
          <a:noFill/>
          <a:ln w="11430">
            <a:solidFill>
              <a:srgbClr val="BEC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46085" y="2601812"/>
            <a:ext cx="2296937" cy="2769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04225E"/>
                </a:solidFill>
                <a:latin typeface="Noto Sans CJK JP"/>
              </a:rPr>
              <a:t>Tool／外部システム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0669" y="3017228"/>
            <a:ext cx="2224019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141414"/>
                </a:solidFill>
                <a:latin typeface="Liberation Mono"/>
              </a:rPr>
              <a:t>File / DB / API / Shell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1052" y="6129200"/>
            <a:ext cx="6854353" cy="26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4225E"/>
                </a:solidFill>
                <a:latin typeface="Noto Sans CJK JP"/>
              </a:rPr>
              <a:t>LLMの判断は，Tool Callを通じて実システムのActionにつながる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8344" y="5866833"/>
            <a:ext cx="11302392" cy="0"/>
          </a:xfrm>
          <a:prstGeom prst="line">
            <a:avLst/>
          </a:prstGeom>
          <a:ln w="10160">
            <a:solidFill>
              <a:srgbClr val="BEC7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025301" y="6282248"/>
            <a:ext cx="583349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400" b="0">
                <a:solidFill>
                  <a:srgbClr val="878F9A"/>
                </a:solidFill>
                <a:latin typeface="Noto Sans CJK JP"/>
              </a:rPr>
              <a:t>2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183" y="291897"/>
            <a:ext cx="294953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0440" y="161310"/>
            <a:ext cx="5988819" cy="3770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Promptによる指示と実行時のPolicy制御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6047" y="757951"/>
            <a:ext cx="11382603" cy="0"/>
          </a:xfrm>
          <a:prstGeom prst="line">
            <a:avLst/>
          </a:prstGeom>
          <a:ln w="19050">
            <a:solidFill>
              <a:srgbClr val="0A28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22928" y="1107774"/>
            <a:ext cx="3893856" cy="77981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3349" y="1262014"/>
            <a:ext cx="423673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Promptの例（Userが入力する自然言語の指示）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43" y="1559602"/>
            <a:ext cx="438581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「重要なファイルは変更・削除しないで」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220" y="2135381"/>
            <a:ext cx="1414621" cy="1333702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4798" y="2688021"/>
            <a:ext cx="649217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4239" y="2135381"/>
            <a:ext cx="1655253" cy="1333702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0948" y="2411484"/>
            <a:ext cx="567463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2533" y="2796761"/>
            <a:ext cx="1324080" cy="45550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次の処理を判断</a:t>
            </a:r>
          </a:p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Toolを選択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91808" y="2135381"/>
            <a:ext cx="1793798" cy="1333702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3154" y="2405795"/>
            <a:ext cx="123110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SDK</a:t>
            </a:r>
          </a:p>
          <a:p>
            <a:pPr algn="ctr"/>
            <a:r>
              <a:rPr sz="17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 実行基盤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1820" y="3078262"/>
            <a:ext cx="1373774" cy="2277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 Callを処理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1463" y="2128093"/>
            <a:ext cx="1669837" cy="1340990"/>
          </a:xfrm>
          <a:prstGeom prst="rect">
            <a:avLst/>
          </a:prstGeom>
          <a:solidFill>
            <a:srgbClr val="F5F8FC"/>
          </a:solidFill>
          <a:ln w="15240">
            <a:solidFill>
              <a:srgbClr val="2A6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66071" y="2425654"/>
            <a:ext cx="807913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0528" y="2825913"/>
            <a:ext cx="1551708" cy="45550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Tool実行前に</a:t>
            </a:r>
          </a:p>
          <a:p>
            <a:pPr algn="ctr"/>
            <a:r>
              <a:rPr sz="14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Actionを評価する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17990" y="2142669"/>
            <a:ext cx="1370870" cy="1326414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97492" y="2578701"/>
            <a:ext cx="593111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4881" y="2963556"/>
            <a:ext cx="1484381" cy="23852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 外部システム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049014" y="2842316"/>
            <a:ext cx="466679" cy="116607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49163" y="2544700"/>
            <a:ext cx="710131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Prompt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513664" y="2842316"/>
            <a:ext cx="473971" cy="116607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51219" y="2544700"/>
            <a:ext cx="820738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 Call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67904" y="2842316"/>
            <a:ext cx="473971" cy="116607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31106" y="2544700"/>
            <a:ext cx="769442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実行要求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516" y="3623323"/>
            <a:ext cx="14234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 Decision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91808" y="4044835"/>
            <a:ext cx="1429205" cy="85269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01117" y="4175991"/>
            <a:ext cx="625171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288847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71447" y="4520152"/>
            <a:ext cx="1077219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そのまま実行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37684" y="4044835"/>
            <a:ext cx="1895885" cy="85269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82282" y="4183686"/>
            <a:ext cx="1006687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B07A1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6036" y="4532826"/>
            <a:ext cx="1699183" cy="20467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JP" sz="133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人による承認</a:t>
            </a:r>
            <a:r>
              <a:rPr sz="133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後に実行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50239" y="4044835"/>
            <a:ext cx="1502124" cy="85269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208029" y="4175991"/>
            <a:ext cx="60112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BE2A27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Deny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6852" y="4521691"/>
            <a:ext cx="1234313" cy="2123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実行せず</a:t>
            </a:r>
            <a:r>
              <a:rPr lang="en-JP" sz="13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に</a:t>
            </a:r>
            <a:r>
              <a:rPr sz="1380" b="0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停止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662736" y="3469083"/>
            <a:ext cx="0" cy="335248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00210" y="3804331"/>
            <a:ext cx="1735464" cy="0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700210" y="3804331"/>
            <a:ext cx="0" cy="160336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own Arrow 40"/>
          <p:cNvSpPr/>
          <p:nvPr/>
        </p:nvSpPr>
        <p:spPr>
          <a:xfrm>
            <a:off x="7634583" y="3957379"/>
            <a:ext cx="131253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9435674" y="3804331"/>
            <a:ext cx="0" cy="160336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wn Arrow 43"/>
          <p:cNvSpPr/>
          <p:nvPr/>
        </p:nvSpPr>
        <p:spPr>
          <a:xfrm>
            <a:off x="9370047" y="3957379"/>
            <a:ext cx="131253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906411" y="4897530"/>
            <a:ext cx="0" cy="306095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685626" y="4897530"/>
            <a:ext cx="0" cy="306095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06411" y="5203625"/>
            <a:ext cx="5075138" cy="0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981549" y="3527387"/>
            <a:ext cx="0" cy="1676238"/>
          </a:xfrm>
          <a:prstGeom prst="line">
            <a:avLst/>
          </a:prstGeom>
          <a:ln w="1397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Up Arrow 48"/>
          <p:cNvSpPr/>
          <p:nvPr/>
        </p:nvSpPr>
        <p:spPr>
          <a:xfrm>
            <a:off x="10915923" y="3469083"/>
            <a:ext cx="131253" cy="87455"/>
          </a:xfrm>
          <a:prstGeom prst="up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85664" y="5314137"/>
            <a:ext cx="1962076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許可されたActionのみ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22928" y="5866833"/>
            <a:ext cx="11076344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15636" y="6147596"/>
            <a:ext cx="10071668" cy="26930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PromptはAgentに期待する行動を指示し，Policyは生成されたActionを実行してよいか判断する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15757" y="6437707"/>
            <a:ext cx="378309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3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3089" y="295542"/>
            <a:ext cx="296556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3770" y="175479"/>
            <a:ext cx="6161943" cy="39241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SDK固有の制御と共通Policy適用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1464" y="736087"/>
            <a:ext cx="11404478" cy="0"/>
          </a:xfrm>
          <a:prstGeom prst="line">
            <a:avLst/>
          </a:prstGeom>
          <a:ln w="19050">
            <a:solidFill>
              <a:srgbClr val="0A286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426162" y="918286"/>
            <a:ext cx="0" cy="4875667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1885" y="922512"/>
            <a:ext cx="1546898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SDK固有の制御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923" y="922512"/>
            <a:ext cx="4350550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複数Agent／SDKを横断する共通Policy適用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1885" y="1289974"/>
            <a:ext cx="3645933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1885" y="1541992"/>
            <a:ext cx="2184893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OpenAI Agents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85" y="1834324"/>
            <a:ext cx="1952458" cy="223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Guardrails／Approval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1885" y="2237413"/>
            <a:ext cx="3645933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1885" y="2460279"/>
            <a:ext cx="2014975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Claude Agent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885" y="2767187"/>
            <a:ext cx="1877117" cy="223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Permissions／Hooks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1885" y="3119260"/>
            <a:ext cx="3645933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885" y="3312351"/>
            <a:ext cx="3887283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単一Agent／SDKでは，SDK固有機能でActionを</a:t>
            </a:r>
          </a:p>
          <a:p>
            <a:pPr algn="l"/>
            <a:r>
              <a:rPr sz="13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制御できる場合がある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593" y="4015683"/>
            <a:ext cx="3645932" cy="932862"/>
          </a:xfrm>
          <a:prstGeom prst="rect">
            <a:avLst/>
          </a:prstGeom>
          <a:solidFill>
            <a:srgbClr val="F5F8FC"/>
          </a:solidFill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0430" y="4255492"/>
            <a:ext cx="3767057" cy="4678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複数SDKへ展開すると，</a:t>
            </a:r>
          </a:p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同じ業務Policyが各実装へ分散する可能性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177" y="5196396"/>
            <a:ext cx="3693319" cy="2185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2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→ 共通Policy適用層という選択肢を検討する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9090" y="1304550"/>
            <a:ext cx="2143808" cy="74337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27976" y="1444214"/>
            <a:ext cx="807913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1879" y="1729257"/>
            <a:ext cx="1665521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OpenAI Agents SDK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82487" y="1304550"/>
            <a:ext cx="2143808" cy="74337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4579" y="1444214"/>
            <a:ext cx="801501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9397" y="1729257"/>
            <a:ext cx="1537280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Claude Agent SDK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66927" y="1304550"/>
            <a:ext cx="2143808" cy="743375"/>
          </a:xfrm>
          <a:prstGeom prst="rect">
            <a:avLst/>
          </a:prstGeom>
          <a:noFill/>
          <a:ln w="12700">
            <a:solidFill>
              <a:srgbClr val="D2D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5011" y="1444214"/>
            <a:ext cx="80951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0048" y="1729257"/>
            <a:ext cx="884858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Other SDK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20995" y="2047925"/>
            <a:ext cx="0" cy="189488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20995" y="2237413"/>
            <a:ext cx="4688669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100" y="2047925"/>
            <a:ext cx="0" cy="408128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own Arrow 30"/>
          <p:cNvSpPr/>
          <p:nvPr/>
        </p:nvSpPr>
        <p:spPr>
          <a:xfrm>
            <a:off x="8188765" y="2390461"/>
            <a:ext cx="116669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49090" y="2492493"/>
            <a:ext cx="6788727" cy="1071334"/>
          </a:xfrm>
          <a:prstGeom prst="rect">
            <a:avLst/>
          </a:prstGeom>
          <a:solidFill>
            <a:srgbClr val="F5F8FC"/>
          </a:solidFill>
          <a:ln w="15240">
            <a:solidFill>
              <a:srgbClr val="2A6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59247" y="2752204"/>
            <a:ext cx="3161123" cy="23852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50" b="0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共通Policy適用層（選択肢の一つ）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3150" y="2991679"/>
            <a:ext cx="766235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47100" y="3563827"/>
            <a:ext cx="0" cy="255080"/>
          </a:xfrm>
          <a:prstGeom prst="line">
            <a:avLst/>
          </a:prstGeom>
          <a:ln w="1270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own Arrow 35"/>
          <p:cNvSpPr/>
          <p:nvPr/>
        </p:nvSpPr>
        <p:spPr>
          <a:xfrm>
            <a:off x="8188765" y="3753315"/>
            <a:ext cx="116669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56382" y="3922131"/>
            <a:ext cx="14234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6494" y="3910589"/>
            <a:ext cx="572273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278847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Allow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13594" y="3921724"/>
            <a:ext cx="205184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46934" y="3910589"/>
            <a:ext cx="974626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AF7A1B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7399" y="3921724"/>
            <a:ext cx="205184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4490" y="3910589"/>
            <a:ext cx="549831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BC2926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Deny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7839" y="3922131"/>
            <a:ext cx="2188100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（Slide 3の判断と同じ）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01243" y="4205171"/>
            <a:ext cx="0" cy="109319"/>
          </a:xfrm>
          <a:prstGeom prst="line">
            <a:avLst/>
          </a:prstGeom>
          <a:ln w="1270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own Arrow 44"/>
          <p:cNvSpPr/>
          <p:nvPr/>
        </p:nvSpPr>
        <p:spPr>
          <a:xfrm>
            <a:off x="7342908" y="4270763"/>
            <a:ext cx="116669" cy="87455"/>
          </a:xfrm>
          <a:prstGeom prst="down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32497" y="4203328"/>
            <a:ext cx="1766509" cy="20774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55555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許可されたActionのみ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63674" y="4474826"/>
            <a:ext cx="6774143" cy="451855"/>
          </a:xfrm>
          <a:prstGeom prst="rect">
            <a:avLst/>
          </a:prstGeom>
          <a:noFill/>
          <a:ln w="12700">
            <a:solidFill>
              <a:srgbClr val="2A6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10270" y="4559220"/>
            <a:ext cx="2131994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Tool ／ 外部システム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0966" y="5181414"/>
            <a:ext cx="1580561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Policyの一元管理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82468" y="5186800"/>
            <a:ext cx="189154" cy="223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4353" y="5181414"/>
            <a:ext cx="1391407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判断基準の統一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1894" y="5186800"/>
            <a:ext cx="189154" cy="223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320" y="5181414"/>
            <a:ext cx="2622513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2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Agent・Tool追加時の再利用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85550" y="5511725"/>
            <a:ext cx="4025141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※共通化できる範囲とSDK差異の吸収方法は検討対象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71885" y="5990729"/>
            <a:ext cx="11018009" cy="0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82296" y="6218980"/>
            <a:ext cx="11091178" cy="2431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80" b="1">
                <a:solidFill>
                  <a:srgbClr val="0A286C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SDK固有の制御を置き換えるのではなく，複数Agent／SDK／Toolにまたがる共通Policy管理層としてAGTを検討する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90988" y="6444588"/>
            <a:ext cx="410369" cy="20005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300" b="0">
                <a:solidFill>
                  <a:srgbClr val="80808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4 / 8</a:t>
            </a:r>
          </a:p>
        </p:txBody>
      </p:sp>
      <p:cxnSp>
        <p:nvCxnSpPr>
          <p:cNvPr id="58" name="Connector 27">
            <a:extLst>
              <a:ext uri="{FF2B5EF4-FFF2-40B4-BE49-F238E27FC236}">
                <a16:creationId xmlns:a16="http://schemas.microsoft.com/office/drawing/2014/main" id="{3FFA8E3F-0DA7-8987-3678-FEDF318B8700}"/>
              </a:ext>
            </a:extLst>
          </p:cNvPr>
          <p:cNvCxnSpPr/>
          <p:nvPr/>
        </p:nvCxnSpPr>
        <p:spPr>
          <a:xfrm>
            <a:off x="10612728" y="2037035"/>
            <a:ext cx="0" cy="189488"/>
          </a:xfrm>
          <a:prstGeom prst="line">
            <a:avLst/>
          </a:prstGeom>
          <a:ln w="12700">
            <a:solidFill>
              <a:srgbClr val="D2D7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0220" y="335247"/>
            <a:ext cx="102086" cy="510159"/>
          </a:xfrm>
          <a:prstGeom prst="rect">
            <a:avLst/>
          </a:prstGeom>
          <a:solidFill>
            <a:srgbClr val="006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8143" y="291519"/>
            <a:ext cx="5833492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181D26"/>
                </a:solidFill>
                <a:latin typeface="Noto Sans CJK JP"/>
              </a:rPr>
              <a:t>5．Policyは何を見て判断するか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602" y="1100486"/>
            <a:ext cx="7656459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81D26"/>
                </a:solidFill>
                <a:latin typeface="Noto Sans CJK JP"/>
              </a:rPr>
              <a:t>Tool名だけでなく，「誰が・何を・何に・どの状況で」実行するかを判断材料にする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7310" y="1559630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9607" y="1683526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誰が？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0277" y="1683526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User / Agent /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7310" y="2208261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9607" y="2332157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何を？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0277" y="2332157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310" y="2856892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9607" y="2980788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何に？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0277" y="2980788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Resource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7310" y="3498235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9607" y="3622131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どの状況で？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0277" y="3622131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7310" y="4139579"/>
            <a:ext cx="4200114" cy="5028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9607" y="4263475"/>
            <a:ext cx="1385454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06896"/>
                </a:solidFill>
                <a:latin typeface="Noto Sans CJK JP"/>
              </a:rPr>
              <a:t>どの内容で？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0277" y="4263475"/>
            <a:ext cx="2041722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81D26"/>
                </a:solidFill>
                <a:latin typeface="Noto Sans CJK JP"/>
              </a:rPr>
              <a:t>Argument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2468" y="2346733"/>
            <a:ext cx="3820937" cy="1428446"/>
          </a:xfrm>
          <a:prstGeom prst="roundRect">
            <a:avLst>
              <a:gd name="adj" fmla="val 8000"/>
            </a:avLst>
          </a:prstGeom>
          <a:solidFill>
            <a:srgbClr val="F5FCFF"/>
          </a:solidFill>
          <a:ln w="12700">
            <a:solidFill>
              <a:srgbClr val="92D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89760" y="2346733"/>
            <a:ext cx="72918" cy="1428446"/>
          </a:xfrm>
          <a:prstGeom prst="rect">
            <a:avLst/>
          </a:prstGeom>
          <a:solidFill>
            <a:srgbClr val="006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9770" y="2747572"/>
            <a:ext cx="2479234" cy="247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50" b="1">
                <a:solidFill>
                  <a:srgbClr val="181D26"/>
                </a:solidFill>
                <a:latin typeface="Noto Sans CJK JP"/>
              </a:rPr>
              <a:t>Policy Decision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03310" y="3184852"/>
            <a:ext cx="984401" cy="291519"/>
          </a:xfrm>
          <a:prstGeom prst="roundRect">
            <a:avLst>
              <a:gd name="adj" fmla="val 50000"/>
            </a:avLst>
          </a:prstGeom>
          <a:solidFill>
            <a:srgbClr val="0BA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03310" y="3214004"/>
            <a:ext cx="984401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Allow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62717" y="3184852"/>
            <a:ext cx="1042736" cy="291519"/>
          </a:xfrm>
          <a:prstGeom prst="roundRect">
            <a:avLst>
              <a:gd name="adj" fmla="val 50000"/>
            </a:avLst>
          </a:prstGeom>
          <a:solidFill>
            <a:srgbClr val="D79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62717" y="3214004"/>
            <a:ext cx="1042736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02334" y="3184852"/>
            <a:ext cx="947942" cy="291519"/>
          </a:xfrm>
          <a:prstGeom prst="roundRect">
            <a:avLst>
              <a:gd name="adj" fmla="val 50000"/>
            </a:avLst>
          </a:prstGeom>
          <a:solidFill>
            <a:srgbClr val="D14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02334" y="3214004"/>
            <a:ext cx="947942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JP"/>
              </a:rPr>
              <a:t>Deny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14717" y="1807421"/>
            <a:ext cx="1458373" cy="1209807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14717" y="2456053"/>
            <a:ext cx="1458373" cy="626767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14717" y="3104684"/>
            <a:ext cx="1458373" cy="43728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914717" y="3214004"/>
            <a:ext cx="1458373" cy="532023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914717" y="3279596"/>
            <a:ext cx="1458373" cy="1115062"/>
          </a:xfrm>
          <a:prstGeom prst="line">
            <a:avLst/>
          </a:prstGeom>
          <a:ln w="13970">
            <a:solidFill>
              <a:srgbClr val="B1C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256420" y="4183307"/>
            <a:ext cx="5075138" cy="13774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2468" y="4460250"/>
            <a:ext cx="284382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20" b="1">
                <a:solidFill>
                  <a:srgbClr val="181D26"/>
                </a:solidFill>
                <a:latin typeface="Noto Sans CJK JP"/>
              </a:rPr>
              <a:t>例：ファイル削除の判断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2468" y="4780922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006896"/>
                </a:solidFill>
                <a:latin typeface="Noto Sans CJK JP"/>
              </a:rPr>
              <a:t>User: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2698" y="4780922"/>
            <a:ext cx="2333397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37404D"/>
                </a:solidFill>
                <a:latin typeface="Noto Sans CJK JP"/>
              </a:rPr>
              <a:t>employee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2468" y="5014138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006896"/>
                </a:solidFill>
                <a:latin typeface="Noto Sans CJK JP"/>
              </a:rPr>
              <a:t>Action: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2698" y="5014138"/>
            <a:ext cx="2333397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37404D"/>
                </a:solidFill>
                <a:latin typeface="Noto Sans CJK JP"/>
              </a:rPr>
              <a:t>delete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2468" y="5240065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006896"/>
                </a:solidFill>
                <a:latin typeface="Noto Sans CJK JP"/>
              </a:rPr>
              <a:t>Resource: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2698" y="5240065"/>
            <a:ext cx="2333397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37404D"/>
                </a:solidFill>
                <a:latin typeface="Noto Sans CJK JP"/>
              </a:rPr>
              <a:t>/shared/important.csv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2468" y="5473281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1">
                <a:solidFill>
                  <a:srgbClr val="006896"/>
                </a:solidFill>
                <a:latin typeface="Noto Sans CJK JP"/>
              </a:rPr>
              <a:t>Context: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2698" y="5473281"/>
            <a:ext cx="2333397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20" b="0">
                <a:solidFill>
                  <a:srgbClr val="37404D"/>
                </a:solidFill>
                <a:latin typeface="Noto Sans CJK JP"/>
              </a:rPr>
              <a:t>production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3186" y="4759058"/>
            <a:ext cx="1006277" cy="306095"/>
          </a:xfrm>
          <a:prstGeom prst="roundRect">
            <a:avLst>
              <a:gd name="adj" fmla="val 50000"/>
            </a:avLst>
          </a:prstGeom>
          <a:solidFill>
            <a:srgbClr val="D14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73186" y="4788210"/>
            <a:ext cx="1006277" cy="2332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Noto Sans CJK JP"/>
              </a:rPr>
              <a:t>Deny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7310" y="5721073"/>
            <a:ext cx="10631540" cy="3060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1483" y="5793953"/>
            <a:ext cx="9479425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37404D"/>
                </a:solidFill>
                <a:latin typeface="Noto Sans CJK JP"/>
              </a:rPr>
              <a:t>別軸の制御：Token / Cost / Rate / Budget などの利用量もPolicy対象になり得る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014" y="6158352"/>
            <a:ext cx="10806545" cy="342535"/>
          </a:xfrm>
          <a:prstGeom prst="roundRect">
            <a:avLst>
              <a:gd name="adj" fmla="val 8000"/>
            </a:avLst>
          </a:prstGeom>
          <a:solidFill>
            <a:srgbClr val="EFF9FD"/>
          </a:solidFill>
          <a:ln w="12700">
            <a:solidFill>
              <a:srgbClr val="B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3770" y="6231232"/>
            <a:ext cx="9916937" cy="196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30" b="1">
                <a:solidFill>
                  <a:srgbClr val="006896"/>
                </a:solidFill>
                <a:latin typeface="Noto Sans CJK JP"/>
              </a:rPr>
              <a:t>共通Policyとして利用する情報を，SDK差異を吸収できる形式へ揃えることが論点になる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3349" y="393551"/>
            <a:ext cx="87502" cy="437279"/>
          </a:xfrm>
          <a:prstGeom prst="rect">
            <a:avLst/>
          </a:prstGeom>
          <a:solidFill>
            <a:srgbClr val="006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397" y="306095"/>
            <a:ext cx="7146028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850" b="1">
                <a:solidFill>
                  <a:srgbClr val="171D26"/>
                </a:solidFill>
                <a:latin typeface="Noto Sans CJK JP"/>
              </a:rPr>
              <a:t>6．Policyをどのように表現・評価するか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7932" y="1093198"/>
            <a:ext cx="8021052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71D26"/>
                </a:solidFill>
                <a:latin typeface="Noto Sans CJK JP"/>
              </a:rPr>
              <a:t>PolicyをAgent実装から分離し，外部で管理・評価する構成を検討する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153" y="2281141"/>
            <a:ext cx="1596918" cy="17782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574" y="2572660"/>
            <a:ext cx="947942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71D26"/>
                </a:solidFill>
                <a:latin typeface="Noto Sans CJK JP"/>
              </a:rPr>
              <a:t>候補技術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574" y="2893332"/>
            <a:ext cx="1020861" cy="189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06896"/>
                </a:solidFill>
                <a:latin typeface="Noto Sans CJK JP"/>
              </a:rPr>
              <a:t>OPA / Rego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574" y="3133836"/>
            <a:ext cx="1276076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80" b="0">
                <a:solidFill>
                  <a:srgbClr val="495262"/>
                </a:solidFill>
                <a:latin typeface="Noto Sans CJK JP"/>
              </a:rPr>
              <a:t>汎用Policy-as-Code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574" y="3534675"/>
            <a:ext cx="729186" cy="1894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006896"/>
                </a:solidFill>
                <a:latin typeface="Noto Sans CJK JP"/>
              </a:rPr>
              <a:t>Cedar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574" y="3775179"/>
            <a:ext cx="1276076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80" b="0">
                <a:solidFill>
                  <a:srgbClr val="495262"/>
                </a:solidFill>
                <a:latin typeface="Noto Sans CJK JP"/>
              </a:rPr>
              <a:t>Authorization向け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7827" y="1537766"/>
            <a:ext cx="3157377" cy="4372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7827" y="1647086"/>
            <a:ext cx="315737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50" b="1">
                <a:solidFill>
                  <a:srgbClr val="171D26"/>
                </a:solidFill>
                <a:latin typeface="Noto Sans CJK JP"/>
              </a:rPr>
              <a:t>Agent / Agent SDK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2870" y="1975045"/>
            <a:ext cx="0" cy="378976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93875" y="2077077"/>
            <a:ext cx="1057320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71D26"/>
                </a:solidFill>
                <a:latin typeface="Noto Sans CJK JP"/>
              </a:rPr>
              <a:t>Action取得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7827" y="2368597"/>
            <a:ext cx="3157377" cy="4299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7827" y="2470629"/>
            <a:ext cx="3157377" cy="2113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71D26"/>
                </a:solidFill>
                <a:latin typeface="Noto Sans CJK JP"/>
              </a:rPr>
              <a:t>AGT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2870" y="2798588"/>
            <a:ext cx="0" cy="386264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93875" y="2951636"/>
            <a:ext cx="1057320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71D26"/>
                </a:solidFill>
                <a:latin typeface="Noto Sans CJK JP"/>
              </a:rPr>
              <a:t>共通形式化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7827" y="3199428"/>
            <a:ext cx="3157377" cy="743375"/>
          </a:xfrm>
          <a:prstGeom prst="roundRect">
            <a:avLst>
              <a:gd name="adj" fmla="val 8000"/>
            </a:avLst>
          </a:prstGeom>
          <a:solidFill>
            <a:srgbClr val="F1FAFE"/>
          </a:solidFill>
          <a:ln w="12700">
            <a:solidFill>
              <a:srgbClr val="A5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67827" y="3206716"/>
            <a:ext cx="87502" cy="728799"/>
          </a:xfrm>
          <a:prstGeom prst="rect">
            <a:avLst/>
          </a:prstGeom>
          <a:solidFill>
            <a:srgbClr val="006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42851" y="3483659"/>
            <a:ext cx="1531291" cy="262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71D26"/>
                </a:solidFill>
                <a:latin typeface="Noto Sans CJK JP"/>
              </a:rPr>
              <a:t>Policy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00229" y="3046380"/>
            <a:ext cx="2566736" cy="123895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28363" y="3374340"/>
            <a:ext cx="1822966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71D26"/>
                </a:solidFill>
                <a:latin typeface="Noto Sans CJK JP"/>
              </a:rPr>
              <a:t>Policy definitions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3990" y="3709587"/>
            <a:ext cx="1713588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0">
                <a:solidFill>
                  <a:srgbClr val="495262"/>
                </a:solidFill>
                <a:latin typeface="Noto Sans CJK JP"/>
              </a:rPr>
              <a:t>User / Action / Resource /</a:t>
            </a:r>
          </a:p>
          <a:p>
            <a:pPr algn="ctr"/>
            <a:r>
              <a:rPr sz="1520" b="0">
                <a:solidFill>
                  <a:srgbClr val="495262"/>
                </a:solidFill>
                <a:latin typeface="Noto Sans CJK JP"/>
              </a:rPr>
              <a:t>Context / Argument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539789" y="3585691"/>
            <a:ext cx="860440" cy="0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42870" y="3950091"/>
            <a:ext cx="0" cy="466431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93875" y="4052123"/>
            <a:ext cx="984401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71D26"/>
                </a:solidFill>
                <a:latin typeface="Noto Sans CJK JP"/>
              </a:rPr>
              <a:t>Policy評価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7827" y="4416522"/>
            <a:ext cx="3157377" cy="45185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67827" y="4525842"/>
            <a:ext cx="3157377" cy="2186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50" b="1">
                <a:solidFill>
                  <a:srgbClr val="171D26"/>
                </a:solidFill>
                <a:latin typeface="Noto Sans CJK JP"/>
              </a:rPr>
              <a:t>Allow / Approval / Deny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2870" y="4875666"/>
            <a:ext cx="0" cy="561175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66794" y="4963122"/>
            <a:ext cx="838564" cy="160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71D26"/>
                </a:solidFill>
                <a:latin typeface="Noto Sans CJK JP"/>
              </a:rPr>
              <a:t>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29224" y="5444129"/>
            <a:ext cx="1939636" cy="3789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29224" y="5546161"/>
            <a:ext cx="1939636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109E6A"/>
                </a:solidFill>
                <a:latin typeface="Noto Sans CJK JP"/>
              </a:rPr>
              <a:t>Allow → Tool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9291" y="5444129"/>
            <a:ext cx="2770909" cy="3789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9291" y="5546161"/>
            <a:ext cx="2770909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D18D04"/>
                </a:solidFill>
                <a:latin typeface="Noto Sans CJK JP"/>
              </a:rPr>
              <a:t>Approval → Human → Tool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6880" y="5444129"/>
            <a:ext cx="1968803" cy="3789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1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6880" y="5546161"/>
            <a:ext cx="1968803" cy="174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D0423B"/>
                </a:solidFill>
                <a:latin typeface="Noto Sans CJK JP"/>
              </a:rPr>
              <a:t>Deny → Stop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099042" y="5043290"/>
            <a:ext cx="2843828" cy="400839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942870" y="5050578"/>
            <a:ext cx="0" cy="393551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42870" y="5043290"/>
            <a:ext cx="2887579" cy="400839"/>
          </a:xfrm>
          <a:prstGeom prst="line">
            <a:avLst/>
          </a:prstGeom>
          <a:ln w="15240">
            <a:solidFill>
              <a:srgbClr val="0068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66679" y="6070896"/>
            <a:ext cx="10879463" cy="400839"/>
          </a:xfrm>
          <a:prstGeom prst="roundRect">
            <a:avLst>
              <a:gd name="adj" fmla="val 6000"/>
            </a:avLst>
          </a:prstGeom>
          <a:solidFill>
            <a:srgbClr val="EFF8FC"/>
          </a:solidFill>
          <a:ln w="12700">
            <a:solidFill>
              <a:srgbClr val="B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435" y="6194792"/>
            <a:ext cx="9479425" cy="2040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50" b="1">
                <a:solidFill>
                  <a:srgbClr val="006896"/>
                </a:solidFill>
                <a:latin typeface="Noto Sans CJK JP"/>
              </a:rPr>
              <a:t>PolicyをAgent実装から分離し，共通のPolicy Engineで評価できる構成を検討する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516" y="451855"/>
            <a:ext cx="87502" cy="437279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3980" y="422703"/>
            <a:ext cx="8166889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450" b="1">
                <a:solidFill>
                  <a:srgbClr val="171D26"/>
                </a:solidFill>
                <a:latin typeface="Noto Sans CJK JP"/>
              </a:rPr>
              <a:t>7．今回の検証：ファイル操作へのPolicy適用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641" y="1100486"/>
            <a:ext cx="8604401" cy="1894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71D26"/>
                </a:solidFill>
                <a:latin typeface="Noto Sans CJK JP"/>
              </a:rPr>
              <a:t>単純なファイル操作で，Action取得 → 共通Policy評価 → 実行フロー制御の基本動作を確認する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2526" y="1545054"/>
            <a:ext cx="1750047" cy="5611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526" y="1676238"/>
            <a:ext cx="1750047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Agent / Agent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526" y="2149957"/>
            <a:ext cx="1750047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Action取得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1961" y="1545054"/>
            <a:ext cx="1582334" cy="5611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71961" y="1676238"/>
            <a:ext cx="1582334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AGT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1961" y="2149957"/>
            <a:ext cx="1582334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共通形式化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9100" y="1545054"/>
            <a:ext cx="1647961" cy="561175"/>
          </a:xfrm>
          <a:prstGeom prst="roundRect">
            <a:avLst>
              <a:gd name="adj" fmla="val 8000"/>
            </a:avLst>
          </a:prstGeom>
          <a:solidFill>
            <a:srgbClr val="F1FAFE"/>
          </a:solidFill>
          <a:ln w="12700">
            <a:solidFill>
              <a:srgbClr val="A7DC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99100" y="1676238"/>
            <a:ext cx="1647961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Policy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9100" y="2149957"/>
            <a:ext cx="1647961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Policy評価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1865" y="1545054"/>
            <a:ext cx="1655253" cy="5611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91865" y="1676238"/>
            <a:ext cx="1655253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1865" y="2149957"/>
            <a:ext cx="1655253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Allow / Approval / Deny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1923" y="1545054"/>
            <a:ext cx="1669837" cy="5611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91923" y="1676238"/>
            <a:ext cx="1669837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520" b="1">
                <a:solidFill>
                  <a:srgbClr val="171D26"/>
                </a:solidFill>
                <a:latin typeface="Noto Sans CJK JP"/>
              </a:rPr>
              <a:t>File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923" y="2149957"/>
            <a:ext cx="1669837" cy="14575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20" b="0">
                <a:solidFill>
                  <a:srgbClr val="4C5565"/>
                </a:solidFill>
                <a:latin typeface="Noto Sans CJK JP"/>
              </a:rPr>
              <a:t>実行 / 停止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70909" y="1821997"/>
            <a:ext cx="386468" cy="0"/>
          </a:xfrm>
          <a:prstGeom prst="line">
            <a:avLst/>
          </a:prstGeom>
          <a:ln w="15240">
            <a:solidFill>
              <a:srgbClr val="006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76172" y="1821997"/>
            <a:ext cx="401052" cy="0"/>
          </a:xfrm>
          <a:prstGeom prst="line">
            <a:avLst/>
          </a:prstGeom>
          <a:ln w="15240">
            <a:solidFill>
              <a:srgbClr val="006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61645" y="1821997"/>
            <a:ext cx="415637" cy="0"/>
          </a:xfrm>
          <a:prstGeom prst="line">
            <a:avLst/>
          </a:prstGeom>
          <a:ln w="15240">
            <a:solidFill>
              <a:srgbClr val="006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68994" y="1821997"/>
            <a:ext cx="393761" cy="0"/>
          </a:xfrm>
          <a:prstGeom prst="line">
            <a:avLst/>
          </a:prstGeom>
          <a:ln w="15240">
            <a:solidFill>
              <a:srgbClr val="006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2526" y="2660116"/>
            <a:ext cx="2333397" cy="21863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3つのテストケース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61492" y="2944348"/>
            <a:ext cx="9333588" cy="5247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60459" y="3053668"/>
            <a:ext cx="1677129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71D26"/>
                </a:solidFill>
                <a:latin typeface="Noto Sans CJK JP"/>
              </a:rPr>
              <a:t>read_file()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435" y="3075532"/>
            <a:ext cx="1392746" cy="291519"/>
          </a:xfrm>
          <a:prstGeom prst="roundRect">
            <a:avLst>
              <a:gd name="adj" fmla="val 50000"/>
            </a:avLst>
          </a:prstGeom>
          <a:solidFill>
            <a:srgbClr val="0BA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435" y="3104684"/>
            <a:ext cx="1392746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JP"/>
              </a:rPr>
              <a:t>Allow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1865" y="3060956"/>
            <a:ext cx="233339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4C5565"/>
                </a:solidFill>
                <a:latin typeface="Noto Sans CJK JP"/>
              </a:rPr>
              <a:t>→ 実行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1492" y="3643995"/>
            <a:ext cx="9333588" cy="5247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60459" y="3753315"/>
            <a:ext cx="1677129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71D26"/>
                </a:solidFill>
                <a:latin typeface="Noto Sans CJK JP"/>
              </a:rPr>
              <a:t>write_file()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57435" y="3775179"/>
            <a:ext cx="1392746" cy="291519"/>
          </a:xfrm>
          <a:prstGeom prst="roundRect">
            <a:avLst>
              <a:gd name="adj" fmla="val 50000"/>
            </a:avLst>
          </a:prstGeom>
          <a:solidFill>
            <a:srgbClr val="D696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435" y="3804331"/>
            <a:ext cx="1392746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JP"/>
              </a:rPr>
              <a:t>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1865" y="3760603"/>
            <a:ext cx="233339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4C5565"/>
                </a:solidFill>
                <a:latin typeface="Noto Sans CJK JP"/>
              </a:rPr>
              <a:t>→ 人が承認後に実行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61492" y="4343642"/>
            <a:ext cx="9333588" cy="5247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60459" y="4452962"/>
            <a:ext cx="1677129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50" b="1">
                <a:solidFill>
                  <a:srgbClr val="171D26"/>
                </a:solidFill>
                <a:latin typeface="Noto Sans CJK JP"/>
              </a:rPr>
              <a:t>delete_file()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435" y="4474826"/>
            <a:ext cx="1392746" cy="291519"/>
          </a:xfrm>
          <a:prstGeom prst="roundRect">
            <a:avLst>
              <a:gd name="adj" fmla="val 50000"/>
            </a:avLst>
          </a:prstGeom>
          <a:solidFill>
            <a:srgbClr val="CE4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57435" y="4503978"/>
            <a:ext cx="1392746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Noto Sans CJK JP"/>
              </a:rPr>
              <a:t>Deny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1865" y="4460250"/>
            <a:ext cx="233339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4C5565"/>
                </a:solidFill>
                <a:latin typeface="Noto Sans CJK JP"/>
              </a:rPr>
              <a:t>→ 実行しない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61492" y="5087018"/>
            <a:ext cx="9333588" cy="3425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36497" y="5174473"/>
            <a:ext cx="692727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4C5565"/>
                </a:solidFill>
                <a:latin typeface="Noto Sans CJK JP"/>
              </a:rPr>
              <a:t>確認項目：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31310" y="5174473"/>
            <a:ext cx="8166889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90" b="1">
                <a:solidFill>
                  <a:srgbClr val="4C5565"/>
                </a:solidFill>
                <a:latin typeface="Noto Sans CJK JP"/>
              </a:rPr>
              <a:t>①Actionを実行前に取得  ② 共通形式でPolicy Engineへ入力  ③ Allow / Approval / Denyを評価  ④Decisionを実行フローへ反映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61492" y="5524297"/>
            <a:ext cx="9333588" cy="34253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51081" y="5611753"/>
            <a:ext cx="9114832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80" b="1">
                <a:solidFill>
                  <a:srgbClr val="4C5565"/>
                </a:solidFill>
                <a:latin typeface="Noto Sans CJK JP"/>
              </a:rPr>
              <a:t>Next：同一Policyを異なるAgent SDKへ適用可能か確認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6679" y="6092760"/>
            <a:ext cx="10872171" cy="364399"/>
          </a:xfrm>
          <a:prstGeom prst="roundRect">
            <a:avLst>
              <a:gd name="adj" fmla="val 6000"/>
            </a:avLst>
          </a:prstGeom>
          <a:solidFill>
            <a:srgbClr val="F1FAFE"/>
          </a:solidFill>
          <a:ln w="12700">
            <a:solidFill>
              <a:srgbClr val="BB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3559" y="6180216"/>
            <a:ext cx="10062774" cy="2040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80" b="1">
                <a:solidFill>
                  <a:srgbClr val="006896"/>
                </a:solidFill>
                <a:latin typeface="Noto Sans CJK JP"/>
              </a:rPr>
              <a:t>まず単純なファイル操作で，共通Policy適用の基本構造が実現できるかを検証する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516" y="327959"/>
            <a:ext cx="87502" cy="48100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1272" y="313383"/>
            <a:ext cx="7146028" cy="42270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171D26"/>
                </a:solidFill>
                <a:latin typeface="Noto Sans CJK JP"/>
              </a:rPr>
              <a:t>8．実務適用に向けた論点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928" y="1056758"/>
            <a:ext cx="8604401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80" b="1">
                <a:solidFill>
                  <a:srgbClr val="171D26"/>
                </a:solidFill>
                <a:latin typeface="Noto Sans CJK JP"/>
              </a:rPr>
              <a:t>基本検証を業務へ広げるには，事業側と4つの意思決定事項を具体化する必要がある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392" y="1508614"/>
            <a:ext cx="2530277" cy="365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4392" y="1508614"/>
            <a:ext cx="2530277" cy="4372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3148" y="1792845"/>
            <a:ext cx="1859425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71D26"/>
                </a:solidFill>
                <a:latin typeface="Noto Sans CJK JP"/>
              </a:rPr>
              <a:t>何を制御する？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397" y="215724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3148" y="233215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File / DB /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148" y="266011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業務で扱う主要なリソース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397" y="3119260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3148" y="3294172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Mail / Shell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48" y="3622131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送信や実行系の操作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397" y="408127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148" y="425618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Usage /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48" y="458414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Token，Cost，Rate，Budget</a:t>
            </a:r>
          </a:p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などの利用量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425" y="1508614"/>
            <a:ext cx="2530277" cy="365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83425" y="1508614"/>
            <a:ext cx="2530277" cy="4372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02181" y="1792845"/>
            <a:ext cx="1859425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71D26"/>
                </a:solidFill>
                <a:latin typeface="Noto Sans CJK JP"/>
              </a:rPr>
              <a:t>どの粒度で？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58430" y="215724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02181" y="233215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Tool /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181" y="266011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ツール単位か，個別操作単位か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58430" y="3119260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02181" y="3294172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Resource / Argument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181" y="3622131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対象や引数条件まで見るか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8430" y="408127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02181" y="425618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User /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181" y="458414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利用者属性や状況まで含めるか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4334" y="1508614"/>
            <a:ext cx="2530277" cy="365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54334" y="1508614"/>
            <a:ext cx="2530277" cy="4372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090" y="1792845"/>
            <a:ext cx="1859425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71D26"/>
                </a:solidFill>
                <a:latin typeface="Noto Sans CJK JP"/>
              </a:rPr>
              <a:t>誰が管理する？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9339" y="215724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090" y="233215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Policy定義者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090" y="266011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ルールを定義する担当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9339" y="3119260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73090" y="3294172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変更承認者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090" y="3622131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ルール変更を承認する担当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9339" y="408127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73090" y="425618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Approval担当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090" y="458414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都度承認を行う担当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10660" y="1508614"/>
            <a:ext cx="2530277" cy="365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10660" y="1508614"/>
            <a:ext cx="2530277" cy="43727"/>
          </a:xfrm>
          <a:prstGeom prst="rect">
            <a:avLst/>
          </a:prstGeom>
          <a:solidFill>
            <a:srgbClr val="006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29416" y="1792845"/>
            <a:ext cx="1859425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171D26"/>
                </a:solidFill>
                <a:latin typeface="Noto Sans CJK JP"/>
              </a:rPr>
              <a:t>どこまで共通化？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85664" y="215724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29416" y="233215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全Agent共通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9416" y="266011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最低限の共通ルール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85664" y="3119260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29416" y="3294172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業務・部門別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9416" y="3622131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業務特性に応じた差分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85664" y="4081275"/>
            <a:ext cx="2158392" cy="8745"/>
          </a:xfrm>
          <a:prstGeom prst="rect">
            <a:avLst/>
          </a:prstGeom>
          <a:solidFill>
            <a:srgbClr val="B7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9416" y="4256187"/>
            <a:ext cx="178650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>
                <a:solidFill>
                  <a:srgbClr val="171D26"/>
                </a:solidFill>
                <a:latin typeface="Noto Sans CJK JP"/>
              </a:rPr>
              <a:t>Agent / Tool固有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9416" y="4584146"/>
            <a:ext cx="1968803" cy="3789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40" b="0">
                <a:solidFill>
                  <a:srgbClr val="4E5766"/>
                </a:solidFill>
                <a:latin typeface="Noto Sans CJK JP"/>
              </a:rPr>
              <a:t>個別要件への対応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4392" y="5378537"/>
            <a:ext cx="10777377" cy="4008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7C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9607" y="5546161"/>
            <a:ext cx="9625262" cy="1894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80" b="1">
                <a:solidFill>
                  <a:srgbClr val="4E5766"/>
                </a:solidFill>
                <a:latin typeface="Noto Sans CJK JP"/>
              </a:rPr>
              <a:t>注：Token使用量，累積Cost，Rate，Budgetなど，Action以外の利用量もPolicy対象になり得る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1684" y="5983441"/>
            <a:ext cx="10770085" cy="466431"/>
          </a:xfrm>
          <a:prstGeom prst="roundRect">
            <a:avLst>
              <a:gd name="adj" fmla="val 6000"/>
            </a:avLst>
          </a:prstGeom>
          <a:solidFill>
            <a:srgbClr val="F0F9FD"/>
          </a:solidFill>
          <a:ln w="12700">
            <a:solidFill>
              <a:srgbClr val="BCE1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907872" y="6130711"/>
            <a:ext cx="8580426" cy="27392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780" b="1">
                <a:solidFill>
                  <a:srgbClr val="006896"/>
                </a:solidFill>
                <a:latin typeface="Noto Sans CJK JP"/>
              </a:rPr>
              <a:t>「何を・どの粒度で・誰が・どこまで共通化して」Policy管理するかを具体化する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18872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7. OpenAI Agents SDK のガバナンス機能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66928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ユーザのリクエストから Tool 実行までの各段階で，</a:t>
            </a:r>
            <a:r>
              <a:rPr lang="en-US" sz="125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承認・検査・制御</a:t>
            </a:r>
            <a:r>
              <a:rPr lang="en-US" sz="12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を行う（各 Function Tool に個別に設定）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40680" y="868680"/>
            <a:ext cx="0" cy="5276088"/>
          </a:xfrm>
          <a:prstGeom prst="line">
            <a:avLst/>
          </a:prstGeom>
          <a:noFill/>
          <a:ln w="10160">
            <a:solidFill>
              <a:srgbClr val="CACED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 txBox="1"/>
          <p:nvPr/>
        </p:nvSpPr>
        <p:spPr>
          <a:xfrm>
            <a:off x="274320" y="896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仕組みの全体像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89611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コード例（各 Function Tool にガバナンス機能を設定）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2618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リクエスト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2608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ユーザの指示を受け取る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2057400" cy="0"/>
          </a:xfrm>
          <a:prstGeom prst="line">
            <a:avLst/>
          </a:prstGeom>
          <a:noFill/>
          <a:ln w="10160">
            <a:solidFill>
              <a:srgbClr val="DADEE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 txBox="1"/>
          <p:nvPr/>
        </p:nvSpPr>
        <p:spPr>
          <a:xfrm>
            <a:off x="274320" y="20116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Tool 選択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22860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LLM が Tool を選択し，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" y="2478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Call を生成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2057400" cy="0"/>
          </a:xfrm>
          <a:prstGeom prst="line">
            <a:avLst/>
          </a:prstGeom>
          <a:noFill/>
          <a:ln w="10160">
            <a:solidFill>
              <a:srgbClr val="DADEE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 txBox="1"/>
          <p:nvPr/>
        </p:nvSpPr>
        <p:spPr>
          <a:xfrm>
            <a:off x="274320" y="29718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実行前のガバナンス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" y="324612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承認や入力検査を行い，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92608" y="34381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必要に応じて実行を停止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206240"/>
            <a:ext cx="2057400" cy="0"/>
          </a:xfrm>
          <a:prstGeom prst="line">
            <a:avLst/>
          </a:prstGeom>
          <a:noFill/>
          <a:ln w="10160">
            <a:solidFill>
              <a:srgbClr val="DADEE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 txBox="1"/>
          <p:nvPr/>
        </p:nvSpPr>
        <p:spPr>
          <a:xfrm>
            <a:off x="274320" y="438912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Tool 実行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" y="46634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を実際に実行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983480"/>
            <a:ext cx="2057400" cy="0"/>
          </a:xfrm>
          <a:prstGeom prst="line">
            <a:avLst/>
          </a:prstGeom>
          <a:noFill/>
          <a:ln w="10160">
            <a:solidFill>
              <a:srgbClr val="DADEE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 txBox="1"/>
          <p:nvPr/>
        </p:nvSpPr>
        <p:spPr>
          <a:xfrm>
            <a:off x="274320" y="512064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⑤ 実行後のガバナンス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" y="539496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出力を検査し，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92608" y="55869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必要に応じてブロックや修正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12364" y="1261872"/>
            <a:ext cx="19202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 txBox="1"/>
          <p:nvPr/>
        </p:nvSpPr>
        <p:spPr>
          <a:xfrm>
            <a:off x="2912364" y="12618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72484" y="1572768"/>
            <a:ext cx="0" cy="301752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7" name="Text 25"/>
          <p:cNvSpPr txBox="1"/>
          <p:nvPr/>
        </p:nvSpPr>
        <p:spPr>
          <a:xfrm>
            <a:off x="3954780" y="1627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Prompt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912364" y="1874520"/>
            <a:ext cx="19202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9" name="Text 27"/>
          <p:cNvSpPr txBox="1"/>
          <p:nvPr/>
        </p:nvSpPr>
        <p:spPr>
          <a:xfrm>
            <a:off x="2912364" y="18745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LLM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872484" y="2185416"/>
            <a:ext cx="0" cy="329184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Text 29"/>
          <p:cNvSpPr txBox="1"/>
          <p:nvPr/>
        </p:nvSpPr>
        <p:spPr>
          <a:xfrm>
            <a:off x="3954780" y="22494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Call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20924" y="2514600"/>
            <a:ext cx="21031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3" name="Text 31"/>
          <p:cNvSpPr txBox="1"/>
          <p:nvPr/>
        </p:nvSpPr>
        <p:spPr>
          <a:xfrm>
            <a:off x="2820924" y="25694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030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Function Tool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820924" y="27797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（LLM が呼び出した Tool）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72484" y="3008376"/>
            <a:ext cx="0" cy="118872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6" name="Shape 34"/>
          <p:cNvSpPr/>
          <p:nvPr/>
        </p:nvSpPr>
        <p:spPr>
          <a:xfrm>
            <a:off x="3081528" y="3127248"/>
            <a:ext cx="1581912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7" name="Shape 35"/>
          <p:cNvSpPr/>
          <p:nvPr/>
        </p:nvSpPr>
        <p:spPr>
          <a:xfrm>
            <a:off x="3081528" y="3127248"/>
            <a:ext cx="0" cy="118872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8" name="Shape 36"/>
          <p:cNvSpPr/>
          <p:nvPr/>
        </p:nvSpPr>
        <p:spPr>
          <a:xfrm>
            <a:off x="4663440" y="3127248"/>
            <a:ext cx="0" cy="118872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9" name="Shape 37"/>
          <p:cNvSpPr/>
          <p:nvPr/>
        </p:nvSpPr>
        <p:spPr>
          <a:xfrm>
            <a:off x="2359152" y="3246120"/>
            <a:ext cx="14447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328C37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0" name="Text 38"/>
          <p:cNvSpPr txBox="1"/>
          <p:nvPr/>
        </p:nvSpPr>
        <p:spPr>
          <a:xfrm>
            <a:off x="2359152" y="3300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28C3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needs_approval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2359152" y="3502152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承認が必要か？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2359152" y="3666744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（条件に応じて判定）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41064" y="3246120"/>
            <a:ext cx="14447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648CC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4" name="Text 42"/>
          <p:cNvSpPr txBox="1"/>
          <p:nvPr/>
        </p:nvSpPr>
        <p:spPr>
          <a:xfrm>
            <a:off x="3941064" y="33009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Input Guardrail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3941064" y="3502152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入力を検査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3941064" y="3666744"/>
            <a:ext cx="1444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（違反すれば Block）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081528" y="3886200"/>
            <a:ext cx="0" cy="13716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8" name="Text 46"/>
          <p:cNvSpPr txBox="1"/>
          <p:nvPr/>
        </p:nvSpPr>
        <p:spPr>
          <a:xfrm>
            <a:off x="2359152" y="40325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Approve / Reject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2359152" y="4197096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(Human Approval)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081528" y="4379976"/>
            <a:ext cx="0" cy="146304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1" name="Shape 49"/>
          <p:cNvSpPr/>
          <p:nvPr/>
        </p:nvSpPr>
        <p:spPr>
          <a:xfrm>
            <a:off x="4663440" y="3886200"/>
            <a:ext cx="0" cy="210312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2" name="Text 50"/>
          <p:cNvSpPr txBox="1"/>
          <p:nvPr/>
        </p:nvSpPr>
        <p:spPr>
          <a:xfrm>
            <a:off x="3941064" y="411480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Allow / Block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4297680"/>
            <a:ext cx="0" cy="22860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4" name="Shape 52"/>
          <p:cNvSpPr/>
          <p:nvPr/>
        </p:nvSpPr>
        <p:spPr>
          <a:xfrm>
            <a:off x="2336292" y="4526280"/>
            <a:ext cx="3072384" cy="420624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5" name="Text 53"/>
          <p:cNvSpPr txBox="1"/>
          <p:nvPr/>
        </p:nvSpPr>
        <p:spPr>
          <a:xfrm>
            <a:off x="2336292" y="457200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Execution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2336292" y="474573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（Tool 実行）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872484" y="4946904"/>
            <a:ext cx="0" cy="155448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8" name="Shape 56"/>
          <p:cNvSpPr/>
          <p:nvPr/>
        </p:nvSpPr>
        <p:spPr>
          <a:xfrm>
            <a:off x="2729484" y="5102352"/>
            <a:ext cx="22860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648CC8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9" name="Text 57"/>
          <p:cNvSpPr txBox="1"/>
          <p:nvPr/>
        </p:nvSpPr>
        <p:spPr>
          <a:xfrm>
            <a:off x="2729484" y="51480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377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Output Guardrail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2729484" y="534009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出力を検査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2729484" y="5504688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（違反すれば Block / 修正）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872484" y="5705856"/>
            <a:ext cx="0" cy="128016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3" name="Shape 61"/>
          <p:cNvSpPr/>
          <p:nvPr/>
        </p:nvSpPr>
        <p:spPr>
          <a:xfrm>
            <a:off x="2820924" y="5833872"/>
            <a:ext cx="210312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4" name="Text 62"/>
          <p:cNvSpPr txBox="1"/>
          <p:nvPr/>
        </p:nvSpPr>
        <p:spPr>
          <a:xfrm>
            <a:off x="2820924" y="58338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結果を LLM に返す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5577840" y="121615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write_file：重要ファイルの書き込みは承認が必要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532120" y="1417320"/>
            <a:ext cx="6382512" cy="2533904"/>
          </a:xfrm>
          <a:prstGeom prst="roundRect">
            <a:avLst>
              <a:gd name="adj" fmla="val 2165"/>
            </a:avLst>
          </a:prstGeom>
          <a:solidFill>
            <a:srgbClr val="FAFBF8"/>
          </a:solidFill>
          <a:ln w="10160">
            <a:solidFill>
              <a:srgbClr val="B1CEA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7" name="Text 65"/>
          <p:cNvSpPr txBox="1"/>
          <p:nvPr/>
        </p:nvSpPr>
        <p:spPr>
          <a:xfrm>
            <a:off x="5660136" y="1527048"/>
            <a:ext cx="6144768" cy="231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@function_tool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needs_approval=needs_approval,        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承認チェック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tool_input_guardrails=[write_guardrail],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入力ガードレール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write_file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(filename: str, content: str): ...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async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needs_approval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(ctx, params, tool) -&gt; bool: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例：important.txt の場合のみ承認を要求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params[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"filename"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] == 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"important.txt"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@tool_input_guardrail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write_guardrail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(ctx, tool, input_data):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例：ファイル名の形式やサイズを検査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not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input_data.get(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"filename"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reject_content(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"filename is required"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allow()</a:t>
            </a:r>
            <a:endParaRPr lang="en-US" sz="920" dirty="0"/>
          </a:p>
        </p:txBody>
      </p:sp>
      <p:sp>
        <p:nvSpPr>
          <p:cNvPr id="68" name="Text 66"/>
          <p:cNvSpPr txBox="1"/>
          <p:nvPr/>
        </p:nvSpPr>
        <p:spPr>
          <a:xfrm>
            <a:off x="5577840" y="4079240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delete_file：重要ファイルの削除は禁止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532120" y="4298696"/>
            <a:ext cx="6382512" cy="1816354"/>
          </a:xfrm>
          <a:prstGeom prst="roundRect">
            <a:avLst>
              <a:gd name="adj" fmla="val 3021"/>
            </a:avLst>
          </a:prstGeom>
          <a:solidFill>
            <a:srgbClr val="FAFBF8"/>
          </a:solidFill>
          <a:ln w="10160">
            <a:solidFill>
              <a:srgbClr val="B1CEA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0" name="Text 68"/>
          <p:cNvSpPr txBox="1"/>
          <p:nvPr/>
        </p:nvSpPr>
        <p:spPr>
          <a:xfrm>
            <a:off x="5660136" y="4408424"/>
            <a:ext cx="6144768" cy="159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@function_tool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tool_input_guardrails=[delete_guardrail],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入力ガードレールのみ設定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delete_file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(filename: str): ...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@tool_input_guardrail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delete_guardrail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(ctx, tool, input_data):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例：important.txt の削除は禁止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input_data.get(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"filename"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 == 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"important.txt"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reject_content(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"cannot delete important.txt"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allow()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274320" y="6199632"/>
            <a:ext cx="1164031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CACED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2" name="Text 70"/>
          <p:cNvSpPr txBox="1"/>
          <p:nvPr/>
        </p:nvSpPr>
        <p:spPr>
          <a:xfrm>
            <a:off x="411480" y="62544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各ガバナンス機能の役割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411480" y="6446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 needs_approval：Tool 実行前に Human Approval を要求（条件付きで設定可能）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411480" y="662025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 Tool Input Guardrail：Tool 実行前に入力を検査し，違反時は Block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6172200" y="6446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 Tool Output Guardrail：Tool 実行後に出力を検査し，違反時は Block / 修正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6172200" y="662025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 is_enabled：Tool 自体の利用可否を動的に制御（無効な Tool は LLM から不可視）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18872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8. Claude Agent SDK のガバナンス機能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66928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Agent SDK の Permission system により Tool 実行を制御する。今回の demo では，権限判定を </a:t>
            </a:r>
            <a:r>
              <a:rPr lang="en-US" sz="125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can_use_tool</a:t>
            </a:r>
            <a:r>
              <a:rPr lang="en-US" sz="12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で実装した。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40680" y="868680"/>
            <a:ext cx="0" cy="5349240"/>
          </a:xfrm>
          <a:prstGeom prst="line">
            <a:avLst/>
          </a:prstGeom>
          <a:noFill/>
          <a:ln w="10160">
            <a:solidFill>
              <a:srgbClr val="CACED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 txBox="1"/>
          <p:nvPr/>
        </p:nvSpPr>
        <p:spPr>
          <a:xfrm>
            <a:off x="274320" y="8961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仕組みの全体像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89611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コード例（今回の demo で使用した部分を中心に抜粋）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2618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リクエスト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2608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ユーザの指示を受け取る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2057400" cy="0"/>
          </a:xfrm>
          <a:prstGeom prst="line">
            <a:avLst/>
          </a:prstGeom>
          <a:noFill/>
          <a:ln w="10160">
            <a:solidFill>
              <a:srgbClr val="DADEE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 txBox="1"/>
          <p:nvPr/>
        </p:nvSpPr>
        <p:spPr>
          <a:xfrm>
            <a:off x="274320" y="20116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Tool 選択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2608" y="22860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LLM が利用可能な Tool の中から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" y="24780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Request を生成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2057400" cy="0"/>
          </a:xfrm>
          <a:prstGeom prst="line">
            <a:avLst/>
          </a:prstGeom>
          <a:noFill/>
          <a:ln w="10160">
            <a:solidFill>
              <a:srgbClr val="DADEE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 12"/>
          <p:cNvSpPr txBox="1"/>
          <p:nvPr/>
        </p:nvSpPr>
        <p:spPr>
          <a:xfrm>
            <a:off x="274320" y="29443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Permission 評価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" y="321868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Permission system により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92608" y="341071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実行の可否を判定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92608" y="360273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今回の demo では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92608" y="379476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can_use_tool</a:t>
            </a:r>
            <a:r>
              <a:rPr lang="en-US" sz="1050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で権限判定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187952"/>
            <a:ext cx="2057400" cy="0"/>
          </a:xfrm>
          <a:prstGeom prst="line">
            <a:avLst/>
          </a:prstGeom>
          <a:noFill/>
          <a:ln w="10160">
            <a:solidFill>
              <a:srgbClr val="DADEE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0" name="Text 18"/>
          <p:cNvSpPr txBox="1"/>
          <p:nvPr/>
        </p:nvSpPr>
        <p:spPr>
          <a:xfrm>
            <a:off x="274320" y="43708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Tool 実行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" y="464515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Allow の場合のみ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92608" y="483717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を実行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5138928"/>
            <a:ext cx="2057400" cy="0"/>
          </a:xfrm>
          <a:prstGeom prst="line">
            <a:avLst/>
          </a:prstGeom>
          <a:noFill/>
          <a:ln w="10160">
            <a:solidFill>
              <a:srgbClr val="DADEE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4" name="Text 22"/>
          <p:cNvSpPr txBox="1"/>
          <p:nvPr/>
        </p:nvSpPr>
        <p:spPr>
          <a:xfrm>
            <a:off x="274320" y="532180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⑤ 応答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" y="559612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結果を LLM に返し，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92608" y="578815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ユーザに応答を返す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12364" y="1261872"/>
            <a:ext cx="19202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Text 26"/>
          <p:cNvSpPr txBox="1"/>
          <p:nvPr/>
        </p:nvSpPr>
        <p:spPr>
          <a:xfrm>
            <a:off x="2912364" y="12618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872484" y="1572768"/>
            <a:ext cx="0" cy="301752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0" name="Text 28"/>
          <p:cNvSpPr txBox="1"/>
          <p:nvPr/>
        </p:nvSpPr>
        <p:spPr>
          <a:xfrm>
            <a:off x="3954780" y="1627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Prompt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12364" y="1874520"/>
            <a:ext cx="1920240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2" name="Text 30"/>
          <p:cNvSpPr txBox="1"/>
          <p:nvPr/>
        </p:nvSpPr>
        <p:spPr>
          <a:xfrm>
            <a:off x="2912364" y="18745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LLM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872484" y="2185416"/>
            <a:ext cx="0" cy="329184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4" name="Text 32"/>
          <p:cNvSpPr txBox="1"/>
          <p:nvPr/>
        </p:nvSpPr>
        <p:spPr>
          <a:xfrm>
            <a:off x="3954780" y="22494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Request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38044" y="2514600"/>
            <a:ext cx="2468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24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6" name="Text 34"/>
          <p:cNvSpPr txBox="1"/>
          <p:nvPr/>
        </p:nvSpPr>
        <p:spPr>
          <a:xfrm>
            <a:off x="2638044" y="25786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30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Permission 評価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2638044" y="28163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実行前に権限を評価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2793492" y="30906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 PreToolUse Hook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793492" y="33055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 Deny rules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2793492" y="3520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 Permission mode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793492" y="37353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 Allow rules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2793492" y="3950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 </a:t>
            </a:r>
            <a:r>
              <a:rPr lang="en-US" sz="1050" b="1" dirty="0">
                <a:solidFill>
                  <a:srgbClr val="7030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can_use_tool</a:t>
            </a:r>
            <a:r>
              <a:rPr lang="en-US" sz="1050" dirty="0">
                <a:solidFill>
                  <a:srgbClr val="7030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← 今回の demo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090672" y="4297680"/>
            <a:ext cx="0" cy="292608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4" name="Shape 42"/>
          <p:cNvSpPr/>
          <p:nvPr/>
        </p:nvSpPr>
        <p:spPr>
          <a:xfrm>
            <a:off x="4626864" y="4297680"/>
            <a:ext cx="0" cy="292608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5" name="Shape 43"/>
          <p:cNvSpPr/>
          <p:nvPr/>
        </p:nvSpPr>
        <p:spPr>
          <a:xfrm>
            <a:off x="2432304" y="4590288"/>
            <a:ext cx="131673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328C37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6" name="Text 44"/>
          <p:cNvSpPr txBox="1"/>
          <p:nvPr/>
        </p:nvSpPr>
        <p:spPr>
          <a:xfrm>
            <a:off x="2432304" y="46268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28C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Allow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2432304" y="481888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328C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（実行を許可）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968496" y="4590288"/>
            <a:ext cx="131673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91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9" name="Text 47"/>
          <p:cNvSpPr txBox="1"/>
          <p:nvPr/>
        </p:nvSpPr>
        <p:spPr>
          <a:xfrm>
            <a:off x="3968496" y="462686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1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Deny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3968496" y="481888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1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（実行を拒否）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090672" y="5029200"/>
            <a:ext cx="0" cy="201168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2" name="Shape 50"/>
          <p:cNvSpPr/>
          <p:nvPr/>
        </p:nvSpPr>
        <p:spPr>
          <a:xfrm>
            <a:off x="4626864" y="5029200"/>
            <a:ext cx="0" cy="201168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3" name="Shape 51"/>
          <p:cNvSpPr/>
          <p:nvPr/>
        </p:nvSpPr>
        <p:spPr>
          <a:xfrm>
            <a:off x="2450592" y="5230368"/>
            <a:ext cx="128016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4" name="Text 52"/>
          <p:cNvSpPr txBox="1"/>
          <p:nvPr/>
        </p:nvSpPr>
        <p:spPr>
          <a:xfrm>
            <a:off x="2450592" y="5276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Tool Execution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2450592" y="54498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（Tool 実行）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858768" y="5230368"/>
            <a:ext cx="1536192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7" name="Text 55"/>
          <p:cNvSpPr txBox="1"/>
          <p:nvPr/>
        </p:nvSpPr>
        <p:spPr>
          <a:xfrm>
            <a:off x="3858768" y="527608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実行を停止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3858768" y="5449824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（Tool は実行されない）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090672" y="5632704"/>
            <a:ext cx="0" cy="109728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0" name="Shape 58"/>
          <p:cNvSpPr/>
          <p:nvPr/>
        </p:nvSpPr>
        <p:spPr>
          <a:xfrm>
            <a:off x="4626864" y="5632704"/>
            <a:ext cx="0" cy="109728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1" name="Shape 59"/>
          <p:cNvSpPr/>
          <p:nvPr/>
        </p:nvSpPr>
        <p:spPr>
          <a:xfrm>
            <a:off x="3090672" y="5742432"/>
            <a:ext cx="1536192" cy="0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2" name="Shape 60"/>
          <p:cNvSpPr/>
          <p:nvPr/>
        </p:nvSpPr>
        <p:spPr>
          <a:xfrm>
            <a:off x="3872484" y="5742432"/>
            <a:ext cx="0" cy="128016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3" name="Shape 61"/>
          <p:cNvSpPr/>
          <p:nvPr/>
        </p:nvSpPr>
        <p:spPr>
          <a:xfrm>
            <a:off x="2820924" y="5870448"/>
            <a:ext cx="210312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4" name="Text 62"/>
          <p:cNvSpPr txBox="1"/>
          <p:nvPr/>
        </p:nvSpPr>
        <p:spPr>
          <a:xfrm>
            <a:off x="2820924" y="58704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結果を LLM に返す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5577840" y="121615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can_use_tool： Tool 名と入力に基づき，Allow / Deny を返す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532120" y="1417320"/>
            <a:ext cx="6382512" cy="2964434"/>
          </a:xfrm>
          <a:prstGeom prst="roundRect">
            <a:avLst>
              <a:gd name="adj" fmla="val 1851"/>
            </a:avLst>
          </a:prstGeom>
          <a:solidFill>
            <a:srgbClr val="FAFBF8"/>
          </a:solidFill>
          <a:ln w="10160">
            <a:solidFill>
              <a:srgbClr val="B1CEA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7" name="Text 65"/>
          <p:cNvSpPr txBox="1"/>
          <p:nvPr/>
        </p:nvSpPr>
        <p:spPr>
          <a:xfrm>
            <a:off x="5660136" y="1527048"/>
            <a:ext cx="6144768" cy="2744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async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can_use_tool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(tool_name, input_data, _context):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filename = referenced_filename(tool_name, input_data)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1) Read は常に許可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tool_name == READ_TOOL: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PermissionResultAllow(updated_input=input_data)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2) important.txt への Write は承認が必要（Human Approval 相当）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tool_name == WRITE_TOOL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and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filename == 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"important.txt"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approve_important_write: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PermissionResultAllow(updated_input=input_data)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PermissionResultDeny(message=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"Human reviewer rejected write"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3) important.txt の Delete は常に拒否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tool_name == DELETE_TOOL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and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filename == 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"important.txt"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: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PermissionResultDeny(message=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"Governance policy denied delete"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それ以外はデフォルトで拒否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return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PermissionResultDeny(message=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"Unexpected tool or input denied"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920" dirty="0"/>
          </a:p>
        </p:txBody>
      </p:sp>
      <p:sp>
        <p:nvSpPr>
          <p:cNvPr id="68" name="Text 66"/>
          <p:cNvSpPr txBox="1"/>
          <p:nvPr/>
        </p:nvSpPr>
        <p:spPr>
          <a:xfrm>
            <a:off x="5577840" y="4509770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ClaudeAgentOptions の設定（今回の demo で使用）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532120" y="4729226"/>
            <a:ext cx="6382512" cy="1385824"/>
          </a:xfrm>
          <a:prstGeom prst="roundRect">
            <a:avLst>
              <a:gd name="adj" fmla="val 3959"/>
            </a:avLst>
          </a:prstGeom>
          <a:solidFill>
            <a:srgbClr val="FAFBF8"/>
          </a:solidFill>
          <a:ln w="10160">
            <a:solidFill>
              <a:srgbClr val="B1CEA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0" name="Text 68"/>
          <p:cNvSpPr txBox="1"/>
          <p:nvPr/>
        </p:nvSpPr>
        <p:spPr>
          <a:xfrm>
            <a:off x="5660136" y="4838954"/>
            <a:ext cx="6144768" cy="116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options = ClaudeAgentOptions(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tools=TOOL_NAMES,                      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[read_file, write_file, delete_file]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mcp_servers={SERVER_NAME: file_server},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自作のインプロセス MCP Server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strict_mcp_config=</a:t>
            </a:r>
            <a:r>
              <a:rPr lang="en-US" sz="920" b="1" dirty="0">
                <a:solidFill>
                  <a:srgbClr val="000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True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permission_mode=</a:t>
            </a:r>
            <a:r>
              <a:rPr lang="en-US" sz="920" dirty="0">
                <a:solidFill>
                  <a:srgbClr val="91000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"default"</a:t>
            </a: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             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デフォルトの Permission モード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can_use_tool=can_use_tool,             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権限判定を can_use_tool に集約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setting_sources=[],                        </a:t>
            </a:r>
            <a:r>
              <a:rPr lang="en-US" sz="920" dirty="0">
                <a:solidFill>
                  <a:srgbClr val="26782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設定ファイル由来の許可規則は不使用</a:t>
            </a:r>
            <a:endParaRPr lang="en-US" sz="920" dirty="0"/>
          </a:p>
          <a:p>
            <a:pPr marL="0" indent="0" algn="l">
              <a:lnSpc>
                <a:spcPts val="1130"/>
              </a:lnSpc>
              <a:buNone/>
            </a:pPr>
            <a:r>
              <a:rPr lang="en-US" sz="920" dirty="0">
                <a:solidFill>
                  <a:srgbClr val="282D3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)</a:t>
            </a:r>
            <a:endParaRPr lang="en-US" sz="920" dirty="0"/>
          </a:p>
        </p:txBody>
      </p:sp>
      <p:sp>
        <p:nvSpPr>
          <p:cNvPr id="71" name="Shape 69"/>
          <p:cNvSpPr/>
          <p:nvPr/>
        </p:nvSpPr>
        <p:spPr>
          <a:xfrm>
            <a:off x="274320" y="6291072"/>
            <a:ext cx="11640312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ACED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2" name="Text 70"/>
          <p:cNvSpPr txBox="1"/>
          <p:nvPr/>
        </p:nvSpPr>
        <p:spPr>
          <a:xfrm>
            <a:off x="411480" y="64465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1325880" y="644652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Agent SDK では </a:t>
            </a:r>
            <a:r>
              <a:rPr lang="en-US" sz="95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Permission system</a:t>
            </a: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により Tool 実行を制御する。今回の demo では，Tool 名・入力に基づく</a:t>
            </a:r>
            <a:r>
              <a:rPr lang="en-US" sz="95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権限判定</a:t>
            </a: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を </a:t>
            </a:r>
            <a:r>
              <a:rPr lang="en-US" sz="950" b="1" dirty="0">
                <a:solidFill>
                  <a:srgbClr val="00469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can_use_tool</a:t>
            </a:r>
            <a:r>
              <a:rPr lang="en-US" sz="95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で実装した。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090" y="87455"/>
            <a:ext cx="5614736" cy="3643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50" b="1">
                <a:solidFill>
                  <a:srgbClr val="121212"/>
                </a:solidFill>
                <a:latin typeface="Noto Sans CJK JP"/>
              </a:rPr>
              <a:t>9． AGTによる共通Policy適用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7100" y="612191"/>
            <a:ext cx="10974258" cy="1894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80" b="0">
                <a:solidFill>
                  <a:srgbClr val="121212"/>
                </a:solidFill>
                <a:latin typeface="Noto Sans CJK JP"/>
              </a:rPr>
              <a:t>OpenAI Agents SDKとClaude Agent SDKに対して，共通PolicyをAGTで評価し，各SDKに適した方法で適用する．</a:t>
            </a:r>
          </a:p>
        </p:txBody>
      </p:sp>
      <p:sp>
        <p:nvSpPr>
          <p:cNvPr id="4" name="Rectangle 3"/>
          <p:cNvSpPr/>
          <p:nvPr/>
        </p:nvSpPr>
        <p:spPr>
          <a:xfrm>
            <a:off x="1899573" y="1093198"/>
            <a:ext cx="2851119" cy="437279"/>
          </a:xfrm>
          <a:prstGeom prst="rect">
            <a:avLst/>
          </a:prstGeom>
          <a:solidFill>
            <a:srgbClr val="FFFFFF"/>
          </a:solidFill>
          <a:ln w="13970">
            <a:solidFill>
              <a:srgbClr val="0B5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99573" y="1173366"/>
            <a:ext cx="2851119" cy="25507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50" b="1">
                <a:solidFill>
                  <a:srgbClr val="0B58CE"/>
                </a:solidFill>
                <a:latin typeface="Noto Sans CJK JP"/>
              </a:rPr>
              <a:t>ユーザA</a:t>
            </a:r>
          </a:p>
        </p:txBody>
      </p:sp>
      <p:sp>
        <p:nvSpPr>
          <p:cNvPr id="6" name="Rectangle 5"/>
          <p:cNvSpPr/>
          <p:nvPr/>
        </p:nvSpPr>
        <p:spPr>
          <a:xfrm>
            <a:off x="5581349" y="1093198"/>
            <a:ext cx="2851119" cy="437279"/>
          </a:xfrm>
          <a:prstGeom prst="rect">
            <a:avLst/>
          </a:prstGeom>
          <a:solidFill>
            <a:srgbClr val="FFFFFF"/>
          </a:solidFill>
          <a:ln w="13970">
            <a:solidFill>
              <a:srgbClr val="8D3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81349" y="1173366"/>
            <a:ext cx="2851119" cy="25507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50" b="1">
                <a:solidFill>
                  <a:srgbClr val="8D3EC0"/>
                </a:solidFill>
                <a:latin typeface="Noto Sans CJK JP"/>
              </a:rPr>
              <a:t>ユーザB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25132" y="1530478"/>
            <a:ext cx="0" cy="182200"/>
          </a:xfrm>
          <a:prstGeom prst="line">
            <a:avLst/>
          </a:prstGeom>
          <a:ln w="13970">
            <a:solidFill>
              <a:srgbClr val="0B5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99573" y="1719965"/>
            <a:ext cx="2851119" cy="422703"/>
          </a:xfrm>
          <a:prstGeom prst="rect">
            <a:avLst/>
          </a:prstGeom>
          <a:solidFill>
            <a:srgbClr val="FFFFFF"/>
          </a:solidFill>
          <a:ln w="13970">
            <a:solidFill>
              <a:srgbClr val="0B5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99573" y="1792845"/>
            <a:ext cx="2851119" cy="25507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B58CE"/>
                </a:solidFill>
                <a:latin typeface="Noto Sans CJK JP"/>
              </a:rPr>
              <a:t>OpenAI Agents SDK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25132" y="2142669"/>
            <a:ext cx="0" cy="182200"/>
          </a:xfrm>
          <a:prstGeom prst="line">
            <a:avLst/>
          </a:prstGeom>
          <a:ln w="13970">
            <a:solidFill>
              <a:srgbClr val="0B5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899573" y="2332157"/>
            <a:ext cx="2851119" cy="750663"/>
          </a:xfrm>
          <a:prstGeom prst="rect">
            <a:avLst/>
          </a:prstGeom>
          <a:solidFill>
            <a:srgbClr val="FFFFFF"/>
          </a:solidFill>
          <a:ln w="13970">
            <a:solidFill>
              <a:srgbClr val="0B5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99573" y="2397749"/>
            <a:ext cx="2851119" cy="24050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80" b="1">
                <a:solidFill>
                  <a:srgbClr val="0B58CE"/>
                </a:solidFill>
                <a:latin typeface="Noto Sans CJK JP"/>
              </a:rPr>
              <a:t>OpenAI 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9573" y="2660116"/>
            <a:ext cx="2851119" cy="33524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20" b="0">
                <a:solidFill>
                  <a:srgbClr val="262626"/>
                </a:solidFill>
                <a:latin typeface="Noto Sans CJK JP"/>
              </a:rPr>
              <a:t>Tool情報を共通形式へ変換</a:t>
            </a:r>
          </a:p>
          <a:p>
            <a:pPr algn="ctr"/>
            <a:r>
              <a:rPr sz="1320" b="0">
                <a:solidFill>
                  <a:srgbClr val="262626"/>
                </a:solidFill>
                <a:latin typeface="Noto Sans CJK JP"/>
              </a:rPr>
              <a:t>Policy DecisionをSDK機能へ反映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06909" y="1530478"/>
            <a:ext cx="0" cy="182200"/>
          </a:xfrm>
          <a:prstGeom prst="line">
            <a:avLst/>
          </a:prstGeom>
          <a:ln w="13970">
            <a:solidFill>
              <a:srgbClr val="8D3E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581349" y="1719965"/>
            <a:ext cx="2851119" cy="422703"/>
          </a:xfrm>
          <a:prstGeom prst="rect">
            <a:avLst/>
          </a:prstGeom>
          <a:solidFill>
            <a:srgbClr val="FFFFFF"/>
          </a:solidFill>
          <a:ln w="13970">
            <a:solidFill>
              <a:srgbClr val="8D3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81349" y="1792845"/>
            <a:ext cx="2851119" cy="25507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8D3EC0"/>
                </a:solidFill>
                <a:latin typeface="Noto Sans CJK JP"/>
              </a:rPr>
              <a:t>Claude Agent SDK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06909" y="2142669"/>
            <a:ext cx="0" cy="182200"/>
          </a:xfrm>
          <a:prstGeom prst="line">
            <a:avLst/>
          </a:prstGeom>
          <a:ln w="13970">
            <a:solidFill>
              <a:srgbClr val="8D3E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581349" y="2332157"/>
            <a:ext cx="2851119" cy="750663"/>
          </a:xfrm>
          <a:prstGeom prst="rect">
            <a:avLst/>
          </a:prstGeom>
          <a:solidFill>
            <a:srgbClr val="FFFFFF"/>
          </a:solidFill>
          <a:ln w="13970">
            <a:solidFill>
              <a:srgbClr val="8D3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81349" y="2397749"/>
            <a:ext cx="2851119" cy="24050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80" b="1">
                <a:solidFill>
                  <a:srgbClr val="8D3EC0"/>
                </a:solidFill>
                <a:latin typeface="Noto Sans CJK JP"/>
              </a:rPr>
              <a:t>Claude 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1349" y="2660116"/>
            <a:ext cx="2851119" cy="33524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20" b="0">
                <a:solidFill>
                  <a:srgbClr val="262626"/>
                </a:solidFill>
                <a:latin typeface="Noto Sans CJK JP"/>
              </a:rPr>
              <a:t>Tool情報を共通形式へ変換</a:t>
            </a:r>
          </a:p>
          <a:p>
            <a:pPr algn="ctr"/>
            <a:r>
              <a:rPr sz="1320" b="0">
                <a:solidFill>
                  <a:srgbClr val="262626"/>
                </a:solidFill>
                <a:latin typeface="Noto Sans CJK JP"/>
              </a:rPr>
              <a:t>Policy DecisionをSDK機能へ反映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009" y="3381628"/>
            <a:ext cx="6546816" cy="932862"/>
          </a:xfrm>
          <a:prstGeom prst="rect">
            <a:avLst/>
          </a:prstGeom>
          <a:solidFill>
            <a:srgbClr val="F7FAFF"/>
          </a:solidFill>
          <a:ln w="19050">
            <a:solidFill>
              <a:srgbClr val="0C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74009" y="3439903"/>
            <a:ext cx="654681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C2070"/>
                </a:solidFill>
                <a:latin typeface="Noto Sans CJK JP"/>
              </a:rPr>
              <a:t>共通Policy適用層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009" y="3631396"/>
            <a:ext cx="6546816" cy="4770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100" b="1">
                <a:solidFill>
                  <a:srgbClr val="0C2070"/>
                </a:solidFill>
                <a:latin typeface="Noto Sans CJK JP"/>
              </a:rPr>
              <a:t>AGT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6087" y="3994604"/>
            <a:ext cx="6794738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C2070"/>
                </a:solidFill>
                <a:latin typeface="Noto Sans CJK JP"/>
              </a:rPr>
              <a:t>共通YAML Policyを評価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25132" y="3082820"/>
            <a:ext cx="0" cy="298808"/>
          </a:xfrm>
          <a:prstGeom prst="line">
            <a:avLst/>
          </a:prstGeom>
          <a:ln w="15240">
            <a:solidFill>
              <a:srgbClr val="0B5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06909" y="3082820"/>
            <a:ext cx="0" cy="298808"/>
          </a:xfrm>
          <a:prstGeom prst="line">
            <a:avLst/>
          </a:prstGeom>
          <a:ln w="15240">
            <a:solidFill>
              <a:srgbClr val="8D3E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09980" y="4314490"/>
            <a:ext cx="0" cy="204064"/>
          </a:xfrm>
          <a:prstGeom prst="line">
            <a:avLst/>
          </a:prstGeom>
          <a:ln w="15240">
            <a:solidFill>
              <a:srgbClr val="0B5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874009" y="4518554"/>
            <a:ext cx="2727157" cy="524735"/>
          </a:xfrm>
          <a:prstGeom prst="rect">
            <a:avLst/>
          </a:prstGeom>
          <a:solidFill>
            <a:srgbClr val="FFFFFF"/>
          </a:solidFill>
          <a:ln w="13970">
            <a:solidFill>
              <a:srgbClr val="0B5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74009" y="4584146"/>
            <a:ext cx="272715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80" b="1">
                <a:solidFill>
                  <a:srgbClr val="0B58CE"/>
                </a:solidFill>
                <a:latin typeface="Noto Sans CJK JP"/>
              </a:rPr>
              <a:t>Policy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009" y="4817362"/>
            <a:ext cx="2727157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30" b="0">
                <a:solidFill>
                  <a:srgbClr val="262626"/>
                </a:solidFill>
                <a:latin typeface="Noto Sans CJK JP"/>
              </a:rPr>
              <a:t>OpenAI側へ反映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09980" y="5043290"/>
            <a:ext cx="0" cy="167623"/>
          </a:xfrm>
          <a:prstGeom prst="line">
            <a:avLst/>
          </a:prstGeom>
          <a:ln w="15240">
            <a:solidFill>
              <a:srgbClr val="0B5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874009" y="5218201"/>
            <a:ext cx="2727157" cy="532023"/>
          </a:xfrm>
          <a:prstGeom prst="rect">
            <a:avLst/>
          </a:prstGeom>
          <a:solidFill>
            <a:srgbClr val="FFFFFF"/>
          </a:solidFill>
          <a:ln w="13970">
            <a:solidFill>
              <a:srgbClr val="0B5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74009" y="5283793"/>
            <a:ext cx="272715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80" b="1">
                <a:solidFill>
                  <a:srgbClr val="0B58CE"/>
                </a:solidFill>
                <a:latin typeface="Noto Sans CJK JP"/>
              </a:rPr>
              <a:t>Tool Execution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009" y="5517009"/>
            <a:ext cx="2727157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30" b="0">
                <a:solidFill>
                  <a:srgbClr val="262626"/>
                </a:solidFill>
                <a:latin typeface="Noto Sans CJK JP"/>
              </a:rPr>
              <a:t>OpenAI側で実行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85886" y="4314490"/>
            <a:ext cx="0" cy="204064"/>
          </a:xfrm>
          <a:prstGeom prst="line">
            <a:avLst/>
          </a:prstGeom>
          <a:ln w="15240">
            <a:solidFill>
              <a:srgbClr val="8D3E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657207" y="4518554"/>
            <a:ext cx="2763617" cy="524735"/>
          </a:xfrm>
          <a:prstGeom prst="rect">
            <a:avLst/>
          </a:prstGeom>
          <a:solidFill>
            <a:srgbClr val="FFFFFF"/>
          </a:solidFill>
          <a:ln w="13970">
            <a:solidFill>
              <a:srgbClr val="8D3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57207" y="4584146"/>
            <a:ext cx="276361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80" b="1">
                <a:solidFill>
                  <a:srgbClr val="8D3EC0"/>
                </a:solidFill>
                <a:latin typeface="Noto Sans CJK JP"/>
              </a:rPr>
              <a:t>Policy 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7207" y="4817362"/>
            <a:ext cx="2763617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30" b="0">
                <a:solidFill>
                  <a:srgbClr val="262626"/>
                </a:solidFill>
                <a:latin typeface="Noto Sans CJK JP"/>
              </a:rPr>
              <a:t>Claude側へ反映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85886" y="5043290"/>
            <a:ext cx="0" cy="167623"/>
          </a:xfrm>
          <a:prstGeom prst="line">
            <a:avLst/>
          </a:prstGeom>
          <a:ln w="15240">
            <a:solidFill>
              <a:srgbClr val="8D3E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657207" y="5218201"/>
            <a:ext cx="2763617" cy="532023"/>
          </a:xfrm>
          <a:prstGeom prst="rect">
            <a:avLst/>
          </a:prstGeom>
          <a:solidFill>
            <a:srgbClr val="FFFFFF"/>
          </a:solidFill>
          <a:ln w="13970">
            <a:solidFill>
              <a:srgbClr val="8D3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57207" y="5283793"/>
            <a:ext cx="2763617" cy="24779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80" b="1">
                <a:solidFill>
                  <a:srgbClr val="8D3EC0"/>
                </a:solidFill>
                <a:latin typeface="Noto Sans CJK JP"/>
              </a:rPr>
              <a:t>Tool Execution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57207" y="5517009"/>
            <a:ext cx="2763617" cy="17491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30" b="0">
                <a:solidFill>
                  <a:srgbClr val="262626"/>
                </a:solidFill>
                <a:latin typeface="Noto Sans CJK JP"/>
              </a:rPr>
              <a:t>Claude側で実行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4612" y="5910561"/>
            <a:ext cx="9960688" cy="583039"/>
          </a:xfrm>
          <a:prstGeom prst="rect">
            <a:avLst/>
          </a:prstGeom>
          <a:solidFill>
            <a:srgbClr val="FFFFFF"/>
          </a:solidFill>
          <a:ln w="12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50028" y="5895985"/>
            <a:ext cx="9960688" cy="583039"/>
          </a:xfrm>
          <a:prstGeom prst="rect">
            <a:avLst/>
          </a:prstGeom>
          <a:solidFill>
            <a:srgbClr val="FFFFFF"/>
          </a:solidFill>
          <a:ln w="19050">
            <a:solidFill>
              <a:srgbClr val="0C2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90660" y="6034456"/>
            <a:ext cx="9406506" cy="26236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20" b="1">
                <a:solidFill>
                  <a:srgbClr val="0C2070"/>
                </a:solidFill>
                <a:latin typeface="Noto Sans CJK JP"/>
              </a:rPr>
              <a:t>まとめ： AGTは，SDKごとに異なる実行制御の上位で，共通Policyを適用するための層として利用できる．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DE37FB-D830-BD07-EDDB-6A1CDF3C2E3F}"/>
              </a:ext>
            </a:extLst>
          </p:cNvPr>
          <p:cNvSpPr/>
          <p:nvPr/>
        </p:nvSpPr>
        <p:spPr>
          <a:xfrm>
            <a:off x="1899573" y="2332157"/>
            <a:ext cx="877917" cy="1291153"/>
          </a:xfrm>
          <a:prstGeom prst="rect">
            <a:avLst/>
          </a:prstGeom>
          <a:solidFill>
            <a:srgbClr val="FFFFFF"/>
          </a:solidFill>
          <a:ln w="13970">
            <a:solidFill>
              <a:srgbClr val="0B5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ユーザ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41D754-6884-7E9C-86C7-B4443370D9AB}"/>
              </a:ext>
            </a:extLst>
          </p:cNvPr>
          <p:cNvSpPr/>
          <p:nvPr/>
        </p:nvSpPr>
        <p:spPr>
          <a:xfrm>
            <a:off x="3638550" y="2332156"/>
            <a:ext cx="877917" cy="1291153"/>
          </a:xfrm>
          <a:prstGeom prst="rect">
            <a:avLst/>
          </a:prstGeom>
          <a:solidFill>
            <a:srgbClr val="FFFFFF"/>
          </a:solidFill>
          <a:ln w="13970">
            <a:solidFill>
              <a:srgbClr val="0B5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LLM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26D676-A0BA-0AB1-AB03-190794E5D434}"/>
              </a:ext>
            </a:extLst>
          </p:cNvPr>
          <p:cNvSpPr/>
          <p:nvPr/>
        </p:nvSpPr>
        <p:spPr>
          <a:xfrm>
            <a:off x="5377527" y="2332156"/>
            <a:ext cx="877917" cy="1291153"/>
          </a:xfrm>
          <a:prstGeom prst="rect">
            <a:avLst/>
          </a:prstGeom>
          <a:solidFill>
            <a:srgbClr val="FFFFFF"/>
          </a:solidFill>
          <a:ln w="13970">
            <a:solidFill>
              <a:srgbClr val="0B5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Tool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実行</a:t>
            </a:r>
            <a:endParaRPr sz="2000">
              <a:solidFill>
                <a:schemeClr val="tx1"/>
              </a:solidFill>
            </a:endParaRPr>
          </a:p>
        </p:txBody>
      </p:sp>
      <p:cxnSp>
        <p:nvCxnSpPr>
          <p:cNvPr id="5" name="Connector 19">
            <a:extLst>
              <a:ext uri="{FF2B5EF4-FFF2-40B4-BE49-F238E27FC236}">
                <a16:creationId xmlns:a16="http://schemas.microsoft.com/office/drawing/2014/main" id="{6037CED2-E311-FAB9-D764-7F3A56FAB8DF}"/>
              </a:ext>
            </a:extLst>
          </p:cNvPr>
          <p:cNvCxnSpPr>
            <a:cxnSpLocks/>
          </p:cNvCxnSpPr>
          <p:nvPr/>
        </p:nvCxnSpPr>
        <p:spPr>
          <a:xfrm>
            <a:off x="2777490" y="2953567"/>
            <a:ext cx="852401" cy="0"/>
          </a:xfrm>
          <a:prstGeom prst="line">
            <a:avLst/>
          </a:prstGeom>
          <a:ln w="15240">
            <a:solidFill>
              <a:srgbClr val="006896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19">
            <a:extLst>
              <a:ext uri="{FF2B5EF4-FFF2-40B4-BE49-F238E27FC236}">
                <a16:creationId xmlns:a16="http://schemas.microsoft.com/office/drawing/2014/main" id="{A2E071A9-8F50-8FFA-FA2C-7C27BBFFC140}"/>
              </a:ext>
            </a:extLst>
          </p:cNvPr>
          <p:cNvCxnSpPr>
            <a:cxnSpLocks/>
          </p:cNvCxnSpPr>
          <p:nvPr/>
        </p:nvCxnSpPr>
        <p:spPr>
          <a:xfrm>
            <a:off x="4516467" y="2953567"/>
            <a:ext cx="852401" cy="0"/>
          </a:xfrm>
          <a:prstGeom prst="line">
            <a:avLst/>
          </a:prstGeom>
          <a:ln w="15240">
            <a:solidFill>
              <a:srgbClr val="006896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8B813A-F760-DB89-7E95-F70884C9F8D2}"/>
              </a:ext>
            </a:extLst>
          </p:cNvPr>
          <p:cNvSpPr txBox="1"/>
          <p:nvPr/>
        </p:nvSpPr>
        <p:spPr>
          <a:xfrm>
            <a:off x="2701934" y="2504363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/>
              <a:t>プロンプト</a:t>
            </a:r>
          </a:p>
        </p:txBody>
      </p:sp>
      <p:cxnSp>
        <p:nvCxnSpPr>
          <p:cNvPr id="9" name="Connector 19">
            <a:extLst>
              <a:ext uri="{FF2B5EF4-FFF2-40B4-BE49-F238E27FC236}">
                <a16:creationId xmlns:a16="http://schemas.microsoft.com/office/drawing/2014/main" id="{298F592E-D8F5-7171-FBB9-9AE63C9C883B}"/>
              </a:ext>
            </a:extLst>
          </p:cNvPr>
          <p:cNvCxnSpPr>
            <a:cxnSpLocks/>
          </p:cNvCxnSpPr>
          <p:nvPr/>
        </p:nvCxnSpPr>
        <p:spPr>
          <a:xfrm>
            <a:off x="5826140" y="3623309"/>
            <a:ext cx="0" cy="812084"/>
          </a:xfrm>
          <a:prstGeom prst="line">
            <a:avLst/>
          </a:prstGeom>
          <a:ln w="15240">
            <a:solidFill>
              <a:srgbClr val="006896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9">
            <a:extLst>
              <a:ext uri="{FF2B5EF4-FFF2-40B4-BE49-F238E27FC236}">
                <a16:creationId xmlns:a16="http://schemas.microsoft.com/office/drawing/2014/main" id="{1A9C2FA7-C4EA-0806-B934-F60151BA9069}"/>
              </a:ext>
            </a:extLst>
          </p:cNvPr>
          <p:cNvCxnSpPr>
            <a:cxnSpLocks/>
          </p:cNvCxnSpPr>
          <p:nvPr/>
        </p:nvCxnSpPr>
        <p:spPr>
          <a:xfrm>
            <a:off x="4093044" y="4393379"/>
            <a:ext cx="1702024" cy="0"/>
          </a:xfrm>
          <a:prstGeom prst="line">
            <a:avLst/>
          </a:prstGeom>
          <a:ln w="15240">
            <a:solidFill>
              <a:srgbClr val="006896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9">
            <a:extLst>
              <a:ext uri="{FF2B5EF4-FFF2-40B4-BE49-F238E27FC236}">
                <a16:creationId xmlns:a16="http://schemas.microsoft.com/office/drawing/2014/main" id="{E13C8B5C-7CA7-D23F-6F23-2E11F130D9E7}"/>
              </a:ext>
            </a:extLst>
          </p:cNvPr>
          <p:cNvCxnSpPr>
            <a:cxnSpLocks/>
          </p:cNvCxnSpPr>
          <p:nvPr/>
        </p:nvCxnSpPr>
        <p:spPr>
          <a:xfrm flipV="1">
            <a:off x="4077508" y="3623309"/>
            <a:ext cx="0" cy="740952"/>
          </a:xfrm>
          <a:prstGeom prst="line">
            <a:avLst/>
          </a:prstGeom>
          <a:ln w="15240">
            <a:solidFill>
              <a:srgbClr val="006896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355E7F9-9E3E-6084-8190-BB3018BA5207}"/>
              </a:ext>
            </a:extLst>
          </p:cNvPr>
          <p:cNvSpPr txBox="1"/>
          <p:nvPr/>
        </p:nvSpPr>
        <p:spPr>
          <a:xfrm>
            <a:off x="4306952" y="44353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/>
              <a:t>実行結果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A1ACBE34-0F8C-29FA-6C29-B07C9579E9A3}"/>
              </a:ext>
            </a:extLst>
          </p:cNvPr>
          <p:cNvCxnSpPr>
            <a:cxnSpLocks/>
          </p:cNvCxnSpPr>
          <p:nvPr/>
        </p:nvCxnSpPr>
        <p:spPr>
          <a:xfrm>
            <a:off x="2740576" y="3263622"/>
            <a:ext cx="852401" cy="0"/>
          </a:xfrm>
          <a:prstGeom prst="line">
            <a:avLst/>
          </a:prstGeom>
          <a:ln w="15240">
            <a:solidFill>
              <a:srgbClr val="006896"/>
            </a:solidFill>
            <a:headEnd type="stealth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6A40506-48BD-275B-467F-9787FA8C81F5}"/>
              </a:ext>
            </a:extLst>
          </p:cNvPr>
          <p:cNvSpPr txBox="1"/>
          <p:nvPr/>
        </p:nvSpPr>
        <p:spPr>
          <a:xfrm>
            <a:off x="2823063" y="34290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/>
              <a:t>応答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43019-E013-1EE0-F38B-3AFE1BACD0E4}"/>
              </a:ext>
            </a:extLst>
          </p:cNvPr>
          <p:cNvSpPr txBox="1"/>
          <p:nvPr/>
        </p:nvSpPr>
        <p:spPr>
          <a:xfrm>
            <a:off x="4516467" y="2504363"/>
            <a:ext cx="96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/>
              <a:t>Tool Call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2FB5A7-5202-688C-3EA4-54ADE41BB81F}"/>
              </a:ext>
            </a:extLst>
          </p:cNvPr>
          <p:cNvSpPr txBox="1"/>
          <p:nvPr/>
        </p:nvSpPr>
        <p:spPr>
          <a:xfrm>
            <a:off x="2823063" y="1431583"/>
            <a:ext cx="2424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/>
              <a:t>LLMの呼び出しごとに</a:t>
            </a:r>
          </a:p>
          <a:p>
            <a:pPr algn="ctr"/>
            <a:r>
              <a:rPr lang="en-JP"/>
              <a:t>Token/Cost が発生</a:t>
            </a:r>
          </a:p>
        </p:txBody>
      </p:sp>
    </p:spTree>
    <p:extLst>
      <p:ext uri="{BB962C8B-B14F-4D97-AF65-F5344CB8AC3E}">
        <p14:creationId xmlns:p14="http://schemas.microsoft.com/office/powerpoint/2010/main" val="3998701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6477-20F9-8F92-FE1F-42D9756A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48F6CE-E5AE-9C95-30EC-04EC76F6E6FF}"/>
              </a:ext>
            </a:extLst>
          </p:cNvPr>
          <p:cNvSpPr/>
          <p:nvPr/>
        </p:nvSpPr>
        <p:spPr>
          <a:xfrm>
            <a:off x="673881" y="3083020"/>
            <a:ext cx="1620000" cy="900000"/>
          </a:xfrm>
          <a:prstGeom prst="rect">
            <a:avLst/>
          </a:prstGeom>
          <a:solidFill>
            <a:srgbClr val="FFFFFF"/>
          </a:solidFill>
          <a:ln w="1397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プロンプト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15A54B-E61E-86EF-8A88-A7A29E61AF12}"/>
              </a:ext>
            </a:extLst>
          </p:cNvPr>
          <p:cNvSpPr/>
          <p:nvPr/>
        </p:nvSpPr>
        <p:spPr>
          <a:xfrm>
            <a:off x="3638548" y="3083019"/>
            <a:ext cx="1620000" cy="900000"/>
          </a:xfrm>
          <a:prstGeom prst="rect">
            <a:avLst/>
          </a:prstGeom>
          <a:solidFill>
            <a:srgbClr val="FFFFFF"/>
          </a:solidFill>
          <a:ln w="1397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LLM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A74811-9A97-B87D-78CF-6BFC13E974CA}"/>
              </a:ext>
            </a:extLst>
          </p:cNvPr>
          <p:cNvSpPr/>
          <p:nvPr/>
        </p:nvSpPr>
        <p:spPr>
          <a:xfrm>
            <a:off x="9029964" y="3083019"/>
            <a:ext cx="1620000" cy="900000"/>
          </a:xfrm>
          <a:prstGeom prst="rect">
            <a:avLst/>
          </a:prstGeom>
          <a:solidFill>
            <a:srgbClr val="FFFFFF"/>
          </a:solidFill>
          <a:ln w="1397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Tool 実行</a:t>
            </a:r>
            <a:endParaRPr sz="2000">
              <a:solidFill>
                <a:schemeClr val="tx1"/>
              </a:solidFill>
            </a:endParaRPr>
          </a:p>
        </p:txBody>
      </p:sp>
      <p:cxnSp>
        <p:nvCxnSpPr>
          <p:cNvPr id="5" name="Connector 19">
            <a:extLst>
              <a:ext uri="{FF2B5EF4-FFF2-40B4-BE49-F238E27FC236}">
                <a16:creationId xmlns:a16="http://schemas.microsoft.com/office/drawing/2014/main" id="{C7DEDCF9-EFB7-6781-EE7D-654BFE4329E9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293881" y="3533019"/>
            <a:ext cx="1344667" cy="1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19">
            <a:extLst>
              <a:ext uri="{FF2B5EF4-FFF2-40B4-BE49-F238E27FC236}">
                <a16:creationId xmlns:a16="http://schemas.microsoft.com/office/drawing/2014/main" id="{36218930-9F4D-B87E-5651-5A698583FA1F}"/>
              </a:ext>
            </a:extLst>
          </p:cNvPr>
          <p:cNvCxnSpPr>
            <a:cxnSpLocks/>
          </p:cNvCxnSpPr>
          <p:nvPr/>
        </p:nvCxnSpPr>
        <p:spPr>
          <a:xfrm>
            <a:off x="5247119" y="3550880"/>
            <a:ext cx="1000469" cy="0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C82DCD9-721A-5693-45A0-6E2F106B8764}"/>
              </a:ext>
            </a:extLst>
          </p:cNvPr>
          <p:cNvSpPr txBox="1"/>
          <p:nvPr/>
        </p:nvSpPr>
        <p:spPr>
          <a:xfrm>
            <a:off x="2330863" y="3088976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000" b="1">
                <a:solidFill>
                  <a:schemeClr val="tx2"/>
                </a:solidFill>
              </a:rPr>
              <a:t>Model Call</a:t>
            </a:r>
          </a:p>
        </p:txBody>
      </p:sp>
      <p:cxnSp>
        <p:nvCxnSpPr>
          <p:cNvPr id="13" name="Connector 19">
            <a:extLst>
              <a:ext uri="{FF2B5EF4-FFF2-40B4-BE49-F238E27FC236}">
                <a16:creationId xmlns:a16="http://schemas.microsoft.com/office/drawing/2014/main" id="{78F54802-0D29-C88E-68F0-F1C8A6FAFDBF}"/>
              </a:ext>
            </a:extLst>
          </p:cNvPr>
          <p:cNvCxnSpPr>
            <a:cxnSpLocks/>
          </p:cNvCxnSpPr>
          <p:nvPr/>
        </p:nvCxnSpPr>
        <p:spPr>
          <a:xfrm>
            <a:off x="4441700" y="2279634"/>
            <a:ext cx="0" cy="776835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3C502CF-6831-295C-E45D-8C6966502367}"/>
              </a:ext>
            </a:extLst>
          </p:cNvPr>
          <p:cNvSpPr txBox="1"/>
          <p:nvPr/>
        </p:nvSpPr>
        <p:spPr>
          <a:xfrm>
            <a:off x="3089122" y="4165700"/>
            <a:ext cx="2762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altLang="ja-JP" sz="2400" b="1">
                <a:solidFill>
                  <a:schemeClr val="tx2"/>
                </a:solidFill>
              </a:rPr>
              <a:t>Model Call </a:t>
            </a:r>
            <a:r>
              <a:rPr lang="ja-JP" altLang="en-US" sz="2400"/>
              <a:t>ごと</a:t>
            </a:r>
            <a:r>
              <a:rPr lang="en-JP" sz="2400"/>
              <a:t>に</a:t>
            </a:r>
          </a:p>
          <a:p>
            <a:pPr algn="ctr"/>
            <a:r>
              <a:rPr lang="en-JP" sz="2400"/>
              <a:t>Token・Cost が発生    </a:t>
            </a:r>
          </a:p>
        </p:txBody>
      </p:sp>
      <p:cxnSp>
        <p:nvCxnSpPr>
          <p:cNvPr id="17" name="Connector 19">
            <a:extLst>
              <a:ext uri="{FF2B5EF4-FFF2-40B4-BE49-F238E27FC236}">
                <a16:creationId xmlns:a16="http://schemas.microsoft.com/office/drawing/2014/main" id="{7766A753-10A1-0511-F18C-907E517F6226}"/>
              </a:ext>
            </a:extLst>
          </p:cNvPr>
          <p:cNvCxnSpPr>
            <a:cxnSpLocks/>
          </p:cNvCxnSpPr>
          <p:nvPr/>
        </p:nvCxnSpPr>
        <p:spPr>
          <a:xfrm flipV="1">
            <a:off x="9843156" y="2582744"/>
            <a:ext cx="0" cy="473725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6EE8959-5137-7A70-C995-7E93E23904A5}"/>
              </a:ext>
            </a:extLst>
          </p:cNvPr>
          <p:cNvSpPr txBox="1"/>
          <p:nvPr/>
        </p:nvSpPr>
        <p:spPr>
          <a:xfrm>
            <a:off x="4504368" y="2474052"/>
            <a:ext cx="1353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000" b="1">
                <a:solidFill>
                  <a:schemeClr val="tx2"/>
                </a:solidFill>
              </a:rPr>
              <a:t>Model Call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B6A3A-9166-48C4-CF4F-037717341D61}"/>
              </a:ext>
            </a:extLst>
          </p:cNvPr>
          <p:cNvSpPr>
            <a:spLocks noChangeAspect="1"/>
          </p:cNvSpPr>
          <p:nvPr/>
        </p:nvSpPr>
        <p:spPr>
          <a:xfrm rot="2700000">
            <a:off x="6508543" y="2932345"/>
            <a:ext cx="1260000" cy="126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B24299-2C1F-7127-B598-55CDE3AB3A54}"/>
              </a:ext>
            </a:extLst>
          </p:cNvPr>
          <p:cNvSpPr txBox="1"/>
          <p:nvPr/>
        </p:nvSpPr>
        <p:spPr>
          <a:xfrm>
            <a:off x="6447896" y="3353514"/>
            <a:ext cx="1365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400"/>
              <a:t>Tool Call?</a:t>
            </a:r>
          </a:p>
        </p:txBody>
      </p:sp>
      <p:cxnSp>
        <p:nvCxnSpPr>
          <p:cNvPr id="32" name="Connector 19">
            <a:extLst>
              <a:ext uri="{FF2B5EF4-FFF2-40B4-BE49-F238E27FC236}">
                <a16:creationId xmlns:a16="http://schemas.microsoft.com/office/drawing/2014/main" id="{41719052-F39A-218A-0520-7E732CF23425}"/>
              </a:ext>
            </a:extLst>
          </p:cNvPr>
          <p:cNvCxnSpPr>
            <a:cxnSpLocks/>
          </p:cNvCxnSpPr>
          <p:nvPr/>
        </p:nvCxnSpPr>
        <p:spPr>
          <a:xfrm>
            <a:off x="8029498" y="3566269"/>
            <a:ext cx="1000469" cy="0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7A977A1-18BD-706B-E873-F0844B55CA33}"/>
              </a:ext>
            </a:extLst>
          </p:cNvPr>
          <p:cNvSpPr txBox="1"/>
          <p:nvPr/>
        </p:nvSpPr>
        <p:spPr>
          <a:xfrm>
            <a:off x="8088774" y="3001550"/>
            <a:ext cx="652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800"/>
              <a:t>Yes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08C3C1C-5979-46FD-F810-F0A60933C452}"/>
              </a:ext>
            </a:extLst>
          </p:cNvPr>
          <p:cNvSpPr/>
          <p:nvPr/>
        </p:nvSpPr>
        <p:spPr>
          <a:xfrm>
            <a:off x="9029964" y="1976524"/>
            <a:ext cx="1620000" cy="606220"/>
          </a:xfrm>
          <a:prstGeom prst="rect">
            <a:avLst/>
          </a:prstGeom>
          <a:solidFill>
            <a:srgbClr val="FFFFFF"/>
          </a:solidFill>
          <a:ln w="1397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実行結果</a:t>
            </a:r>
            <a:endParaRPr sz="2000">
              <a:solidFill>
                <a:schemeClr val="tx1"/>
              </a:solidFill>
            </a:endParaRPr>
          </a:p>
        </p:txBody>
      </p:sp>
      <p:cxnSp>
        <p:nvCxnSpPr>
          <p:cNvPr id="41" name="Connector 19">
            <a:extLst>
              <a:ext uri="{FF2B5EF4-FFF2-40B4-BE49-F238E27FC236}">
                <a16:creationId xmlns:a16="http://schemas.microsoft.com/office/drawing/2014/main" id="{6023DEF2-27F4-9780-11AD-75145D022951}"/>
              </a:ext>
            </a:extLst>
          </p:cNvPr>
          <p:cNvCxnSpPr>
            <a:cxnSpLocks/>
          </p:cNvCxnSpPr>
          <p:nvPr/>
        </p:nvCxnSpPr>
        <p:spPr>
          <a:xfrm>
            <a:off x="4441700" y="2279634"/>
            <a:ext cx="4588267" cy="0"/>
          </a:xfrm>
          <a:prstGeom prst="line">
            <a:avLst/>
          </a:prstGeom>
          <a:ln w="15240">
            <a:solidFill>
              <a:schemeClr val="tx1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094157C-4536-B214-7B9C-746564E8EB73}"/>
              </a:ext>
            </a:extLst>
          </p:cNvPr>
          <p:cNvSpPr/>
          <p:nvPr/>
        </p:nvSpPr>
        <p:spPr>
          <a:xfrm>
            <a:off x="6334258" y="5027004"/>
            <a:ext cx="1620000" cy="900000"/>
          </a:xfrm>
          <a:prstGeom prst="rect">
            <a:avLst/>
          </a:prstGeom>
          <a:solidFill>
            <a:srgbClr val="FFFFFF"/>
          </a:solidFill>
          <a:ln w="1397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応答</a:t>
            </a:r>
            <a:endParaRPr sz="2800">
              <a:solidFill>
                <a:schemeClr val="tx1"/>
              </a:solidFill>
            </a:endParaRPr>
          </a:p>
        </p:txBody>
      </p:sp>
      <p:cxnSp>
        <p:nvCxnSpPr>
          <p:cNvPr id="44" name="Connector 19">
            <a:extLst>
              <a:ext uri="{FF2B5EF4-FFF2-40B4-BE49-F238E27FC236}">
                <a16:creationId xmlns:a16="http://schemas.microsoft.com/office/drawing/2014/main" id="{5D427588-58FD-A2B7-3A9B-550B15FC344D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7138542" y="4453300"/>
            <a:ext cx="5716" cy="573704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F79D2B1-3015-7311-D749-ECED0E972B4A}"/>
              </a:ext>
            </a:extLst>
          </p:cNvPr>
          <p:cNvSpPr txBox="1"/>
          <p:nvPr/>
        </p:nvSpPr>
        <p:spPr>
          <a:xfrm>
            <a:off x="7257713" y="4384650"/>
            <a:ext cx="65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800"/>
              <a:t>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E1A711-567B-5FAE-5D7F-4C88C3813E61}"/>
              </a:ext>
            </a:extLst>
          </p:cNvPr>
          <p:cNvSpPr txBox="1"/>
          <p:nvPr/>
        </p:nvSpPr>
        <p:spPr>
          <a:xfrm>
            <a:off x="365760" y="237744"/>
            <a:ext cx="1133856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1回の</a:t>
            </a:r>
            <a:r>
              <a:rPr lang="en-US"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Agent</a:t>
            </a:r>
            <a:r>
              <a:rPr lang="en-US"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実行では，いつ</a:t>
            </a:r>
            <a:r>
              <a:rPr lang="en-US"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Token・Cost</a:t>
            </a:r>
            <a:r>
              <a:rPr lang="en-US"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 </a:t>
            </a:r>
            <a:r>
              <a: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が発生するのか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F2EBAF-FBE7-FC6A-8449-D63FBAAB030B}"/>
              </a:ext>
            </a:extLst>
          </p:cNvPr>
          <p:cNvSpPr txBox="1"/>
          <p:nvPr/>
        </p:nvSpPr>
        <p:spPr>
          <a:xfrm>
            <a:off x="384047" y="960120"/>
            <a:ext cx="1026591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JP" sz="2000">
                <a:solidFill>
                  <a:srgbClr val="062E87"/>
                </a:solidFill>
              </a:rPr>
              <a:t>Token・CostはModel Callごとに発生し，Model Callは1回の Run 内で複数回繰り返される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81F209-FC16-B79C-F99D-EEEA18002A56}"/>
              </a:ext>
            </a:extLst>
          </p:cNvPr>
          <p:cNvSpPr txBox="1"/>
          <p:nvPr/>
        </p:nvSpPr>
        <p:spPr>
          <a:xfrm>
            <a:off x="384047" y="1758926"/>
            <a:ext cx="3800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/>
              <a:t>1回の Run は入力から最終応答</a:t>
            </a:r>
          </a:p>
          <a:p>
            <a:r>
              <a:rPr lang="en-JP"/>
              <a:t>または停止までの1回のAgent実行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F13455-F487-5880-2B4E-D50F0666E461}"/>
              </a:ext>
            </a:extLst>
          </p:cNvPr>
          <p:cNvSpPr txBox="1"/>
          <p:nvPr/>
        </p:nvSpPr>
        <p:spPr>
          <a:xfrm>
            <a:off x="8415081" y="4384650"/>
            <a:ext cx="2696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/>
              <a:t>Agent Loop とは Run 内でModel CallとTool実行を繰り返す処理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9855B5-1ACD-2045-1ABF-AECA498420A6}"/>
              </a:ext>
            </a:extLst>
          </p:cNvPr>
          <p:cNvSpPr txBox="1"/>
          <p:nvPr/>
        </p:nvSpPr>
        <p:spPr>
          <a:xfrm>
            <a:off x="3348990" y="63207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80155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2C25D-2A92-9160-2134-D6AD5193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801C30-40FF-3FAC-A13C-713011180D20}"/>
              </a:ext>
            </a:extLst>
          </p:cNvPr>
          <p:cNvSpPr txBox="1"/>
          <p:nvPr/>
        </p:nvSpPr>
        <p:spPr>
          <a:xfrm>
            <a:off x="526363" y="240810"/>
            <a:ext cx="9201430" cy="3693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latin typeface="IPAexGothic"/>
                <a:ea typeface="IPAexGothic"/>
                <a:cs typeface="IPAexGothic"/>
              </a:rPr>
              <a:t>OpenAI Agents SDK：</a:t>
            </a:r>
            <a:r>
              <a:rPr lang="en-US" sz="2400" b="1">
                <a:latin typeface="IPAexGothic"/>
                <a:ea typeface="IPAexGothic"/>
                <a:cs typeface="IPAexGothic"/>
              </a:rPr>
              <a:t>Run 内の Model Call 回数の上限設定と停止挙動</a:t>
            </a:r>
            <a:endParaRPr sz="2400" b="1">
              <a:latin typeface="IPAexGothic"/>
              <a:ea typeface="IPAexGothic"/>
              <a:cs typeface="IPAex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FD6D3-B3B0-EA59-B3EE-BA6D0092B034}"/>
              </a:ext>
            </a:extLst>
          </p:cNvPr>
          <p:cNvSpPr txBox="1"/>
          <p:nvPr/>
        </p:nvSpPr>
        <p:spPr>
          <a:xfrm>
            <a:off x="526363" y="802827"/>
            <a:ext cx="9406036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lang="en-JP" sz="1600">
                <a:solidFill>
                  <a:srgbClr val="062E87"/>
                </a:solidFill>
              </a:rPr>
              <a:t>本来2回のModel Callを要する同一処理で、</a:t>
            </a:r>
            <a:r>
              <a:rPr lang="en-JP">
                <a:solidFill>
                  <a:srgbClr val="062E87"/>
                </a:solidFill>
              </a:rPr>
              <a:t>max_turns</a:t>
            </a:r>
            <a:r>
              <a:rPr lang="en-JP" sz="1600">
                <a:solidFill>
                  <a:srgbClr val="062E87"/>
                </a:solidFill>
              </a:rPr>
              <a:t>による実行範囲、Token数、推定Costの変化を確認</a:t>
            </a:r>
            <a:endParaRPr sz="1560">
              <a:solidFill>
                <a:srgbClr val="062E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D5BAEF-5FAB-0A3C-BA18-4A8626E6FA5E}"/>
              </a:ext>
            </a:extLst>
          </p:cNvPr>
          <p:cNvSpPr/>
          <p:nvPr/>
        </p:nvSpPr>
        <p:spPr>
          <a:xfrm>
            <a:off x="7064529" y="1743772"/>
            <a:ext cx="8021" cy="1268110"/>
          </a:xfrm>
          <a:prstGeom prst="rect">
            <a:avLst/>
          </a:prstGeom>
          <a:solidFill>
            <a:srgbClr val="A5A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1B2040-FBE0-9ADA-8C1C-A96CF77A5CF8}"/>
              </a:ext>
            </a:extLst>
          </p:cNvPr>
          <p:cNvSpPr/>
          <p:nvPr/>
        </p:nvSpPr>
        <p:spPr>
          <a:xfrm>
            <a:off x="7064529" y="3885639"/>
            <a:ext cx="8021" cy="1362854"/>
          </a:xfrm>
          <a:prstGeom prst="rect">
            <a:avLst/>
          </a:prstGeom>
          <a:solidFill>
            <a:srgbClr val="A5A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E219D0-DDD2-5A0C-AD2A-8376D52A4FEA}"/>
              </a:ext>
            </a:extLst>
          </p:cNvPr>
          <p:cNvSpPr/>
          <p:nvPr/>
        </p:nvSpPr>
        <p:spPr>
          <a:xfrm>
            <a:off x="5926998" y="2011843"/>
            <a:ext cx="896899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done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B6CFFA-5CDE-36D0-A9D2-00088D362213}"/>
              </a:ext>
            </a:extLst>
          </p:cNvPr>
          <p:cNvSpPr txBox="1"/>
          <p:nvPr/>
        </p:nvSpPr>
        <p:spPr>
          <a:xfrm>
            <a:off x="7261410" y="1838516"/>
            <a:ext cx="88646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69EF96-31F2-32FC-6A83-611838546A52}"/>
              </a:ext>
            </a:extLst>
          </p:cNvPr>
          <p:cNvSpPr txBox="1"/>
          <p:nvPr/>
        </p:nvSpPr>
        <p:spPr>
          <a:xfrm>
            <a:off x="8683323" y="1816652"/>
            <a:ext cx="349455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2</a:t>
            </a:r>
            <a:r>
              <a:rPr lang="en-JP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回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F77955-C0C0-7057-6F79-DECBE8AB8FD9}"/>
              </a:ext>
            </a:extLst>
          </p:cNvPr>
          <p:cNvSpPr txBox="1"/>
          <p:nvPr/>
        </p:nvSpPr>
        <p:spPr>
          <a:xfrm>
            <a:off x="7261410" y="2137324"/>
            <a:ext cx="933910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Total Token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5BF410-CD85-93F6-94E8-FA4A3BDC9E89}"/>
              </a:ext>
            </a:extLst>
          </p:cNvPr>
          <p:cNvSpPr txBox="1"/>
          <p:nvPr/>
        </p:nvSpPr>
        <p:spPr>
          <a:xfrm>
            <a:off x="8683323" y="2115460"/>
            <a:ext cx="351058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418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ED3988-7DBE-2ACB-1225-DB66B5872CFD}"/>
              </a:ext>
            </a:extLst>
          </p:cNvPr>
          <p:cNvSpPr txBox="1"/>
          <p:nvPr/>
        </p:nvSpPr>
        <p:spPr>
          <a:xfrm>
            <a:off x="7261410" y="2436131"/>
            <a:ext cx="775149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推定Cost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C1003F-BFA0-9D57-600A-0D85905FDC1F}"/>
              </a:ext>
            </a:extLst>
          </p:cNvPr>
          <p:cNvSpPr txBox="1"/>
          <p:nvPr/>
        </p:nvSpPr>
        <p:spPr>
          <a:xfrm>
            <a:off x="8683323" y="2414267"/>
            <a:ext cx="1231106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$0.00084625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41F7B1-E4AA-80ED-A6BA-909F484D34B2}"/>
              </a:ext>
            </a:extLst>
          </p:cNvPr>
          <p:cNvSpPr txBox="1"/>
          <p:nvPr/>
        </p:nvSpPr>
        <p:spPr>
          <a:xfrm>
            <a:off x="7261411" y="2742226"/>
            <a:ext cx="3629882" cy="43179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JP" sz="1400">
                <a:solidFill>
                  <a:schemeClr val="bg1">
                    <a:lumMod val="65000"/>
                  </a:schemeClr>
                </a:solidFill>
              </a:rPr>
              <a:t>Token数から推定Costを算出．</a:t>
            </a:r>
          </a:p>
          <a:p>
            <a:r>
              <a:rPr lang="en-JP" sz="1400">
                <a:solidFill>
                  <a:schemeClr val="bg1">
                    <a:lumMod val="65000"/>
                  </a:schemeClr>
                </a:solidFill>
              </a:rPr>
              <a:t>実際の請求額はSDKから取得できない</a:t>
            </a:r>
            <a:endParaRPr sz="1400" b="0">
              <a:solidFill>
                <a:schemeClr val="bg1">
                  <a:lumMod val="65000"/>
                </a:schemeClr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2BDF529-B515-E8C6-9198-046F6AA1858E}"/>
              </a:ext>
            </a:extLst>
          </p:cNvPr>
          <p:cNvSpPr/>
          <p:nvPr/>
        </p:nvSpPr>
        <p:spPr>
          <a:xfrm>
            <a:off x="614698" y="4126143"/>
            <a:ext cx="1406601" cy="495583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 ①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C8E757C-BF54-68EE-D59E-09BB2798A8BE}"/>
              </a:ext>
            </a:extLst>
          </p:cNvPr>
          <p:cNvSpPr/>
          <p:nvPr/>
        </p:nvSpPr>
        <p:spPr>
          <a:xfrm>
            <a:off x="2452819" y="4126143"/>
            <a:ext cx="1079196" cy="495583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Tool実行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1FD5D8-068E-D65B-2264-5C678DF48C7A}"/>
              </a:ext>
            </a:extLst>
          </p:cNvPr>
          <p:cNvSpPr/>
          <p:nvPr/>
        </p:nvSpPr>
        <p:spPr>
          <a:xfrm>
            <a:off x="3532015" y="4366647"/>
            <a:ext cx="226047" cy="16033"/>
          </a:xfrm>
          <a:prstGeom prst="rect">
            <a:avLst/>
          </a:prstGeom>
          <a:solidFill>
            <a:srgbClr val="3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299E24B-2BA5-D06C-11D6-7A099D2D24D9}"/>
              </a:ext>
            </a:extLst>
          </p:cNvPr>
          <p:cNvSpPr/>
          <p:nvPr/>
        </p:nvSpPr>
        <p:spPr>
          <a:xfrm>
            <a:off x="3721604" y="4315631"/>
            <a:ext cx="94794" cy="94743"/>
          </a:xfrm>
          <a:prstGeom prst="ellipse">
            <a:avLst/>
          </a:prstGeom>
          <a:solidFill>
            <a:srgbClr val="3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B454AD6-9141-01F9-8C8B-850063FDC4CB}"/>
              </a:ext>
            </a:extLst>
          </p:cNvPr>
          <p:cNvSpPr/>
          <p:nvPr/>
        </p:nvSpPr>
        <p:spPr>
          <a:xfrm>
            <a:off x="3758063" y="3902211"/>
            <a:ext cx="15312" cy="991166"/>
          </a:xfrm>
          <a:prstGeom prst="rect">
            <a:avLst/>
          </a:prstGeom>
          <a:solidFill>
            <a:srgbClr val="3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490FDC-6D31-7224-BA59-267839003A41}"/>
              </a:ext>
            </a:extLst>
          </p:cNvPr>
          <p:cNvSpPr txBox="1"/>
          <p:nvPr/>
        </p:nvSpPr>
        <p:spPr>
          <a:xfrm>
            <a:off x="2869245" y="5092250"/>
            <a:ext cx="1808260" cy="55399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62E87"/>
                </a:solidFill>
                <a:latin typeface="IPAexGothic"/>
                <a:ea typeface="IPAexGothic"/>
                <a:cs typeface="IPAexGothic"/>
              </a:rPr>
              <a:t>max_turns </a:t>
            </a:r>
            <a:r>
              <a:rPr lang="en-JP" b="1">
                <a:solidFill>
                  <a:srgbClr val="062E87"/>
                </a:solidFill>
                <a:latin typeface="IPAexGothic"/>
                <a:ea typeface="IPAexGothic"/>
                <a:cs typeface="IPAexGothic"/>
              </a:rPr>
              <a:t>に</a:t>
            </a:r>
            <a:r>
              <a:rPr b="1">
                <a:solidFill>
                  <a:srgbClr val="062E87"/>
                </a:solidFill>
                <a:latin typeface="IPAexGothic"/>
                <a:ea typeface="IPAexGothic"/>
                <a:cs typeface="IPAexGothic"/>
              </a:rPr>
              <a:t>到達</a:t>
            </a:r>
            <a:r>
              <a:rPr lang="en-JP" b="1">
                <a:solidFill>
                  <a:srgbClr val="062E87"/>
                </a:solidFill>
                <a:latin typeface="IPAexGothic"/>
                <a:ea typeface="IPAexGothic"/>
                <a:cs typeface="IPAexGothic"/>
              </a:rPr>
              <a:t>したため停止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FA85A54-4325-44FE-B5EA-7F6123E49B99}"/>
              </a:ext>
            </a:extLst>
          </p:cNvPr>
          <p:cNvSpPr/>
          <p:nvPr/>
        </p:nvSpPr>
        <p:spPr>
          <a:xfrm>
            <a:off x="4049737" y="4126143"/>
            <a:ext cx="1382405" cy="495583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IPAexGothic"/>
                <a:ea typeface="IPAexGothic"/>
                <a:cs typeface="IPAexGothic"/>
              </a:rPr>
              <a:t>Model Call ②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768A2CF-193C-7BE0-4E00-45CFC24D1789}"/>
              </a:ext>
            </a:extLst>
          </p:cNvPr>
          <p:cNvSpPr/>
          <p:nvPr/>
        </p:nvSpPr>
        <p:spPr>
          <a:xfrm>
            <a:off x="5926998" y="4126143"/>
            <a:ext cx="889607" cy="495583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</a:rPr>
              <a:t>done</a:t>
            </a:r>
            <a:endParaRPr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CDA292-4126-9E3C-C03F-D40E7429E46D}"/>
              </a:ext>
            </a:extLst>
          </p:cNvPr>
          <p:cNvSpPr txBox="1"/>
          <p:nvPr/>
        </p:nvSpPr>
        <p:spPr>
          <a:xfrm>
            <a:off x="7261410" y="3958519"/>
            <a:ext cx="88646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B6B414-2FDA-4F0A-4E71-21EAFA72CF99}"/>
              </a:ext>
            </a:extLst>
          </p:cNvPr>
          <p:cNvSpPr txBox="1"/>
          <p:nvPr/>
        </p:nvSpPr>
        <p:spPr>
          <a:xfrm>
            <a:off x="8683323" y="3936655"/>
            <a:ext cx="349455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1</a:t>
            </a:r>
            <a:r>
              <a:rPr lang="en-JP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回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21FDDF-9D50-8324-81C3-82468599AE9B}"/>
              </a:ext>
            </a:extLst>
          </p:cNvPr>
          <p:cNvSpPr txBox="1"/>
          <p:nvPr/>
        </p:nvSpPr>
        <p:spPr>
          <a:xfrm>
            <a:off x="7261410" y="4257327"/>
            <a:ext cx="933910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Total Token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2F8377-0DF8-E356-9DB3-BD0CEB39D671}"/>
              </a:ext>
            </a:extLst>
          </p:cNvPr>
          <p:cNvSpPr txBox="1"/>
          <p:nvPr/>
        </p:nvSpPr>
        <p:spPr>
          <a:xfrm>
            <a:off x="8683323" y="4235463"/>
            <a:ext cx="351058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200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6325917-997E-5ABE-05B0-EC2402CFCEF5}"/>
              </a:ext>
            </a:extLst>
          </p:cNvPr>
          <p:cNvSpPr txBox="1"/>
          <p:nvPr/>
        </p:nvSpPr>
        <p:spPr>
          <a:xfrm>
            <a:off x="7261410" y="4556135"/>
            <a:ext cx="775149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推定Cost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3EA3F3-094B-0A48-90DF-995EEB303949}"/>
              </a:ext>
            </a:extLst>
          </p:cNvPr>
          <p:cNvSpPr txBox="1"/>
          <p:nvPr/>
        </p:nvSpPr>
        <p:spPr>
          <a:xfrm>
            <a:off x="8683323" y="4534271"/>
            <a:ext cx="1231106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$0.00053875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41FDF3E-3DC0-C96F-0FC5-D65876C4FE7E}"/>
              </a:ext>
            </a:extLst>
          </p:cNvPr>
          <p:cNvSpPr txBox="1"/>
          <p:nvPr/>
        </p:nvSpPr>
        <p:spPr>
          <a:xfrm>
            <a:off x="1917507" y="2654770"/>
            <a:ext cx="219233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本検証用の簡易的なTool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0354029-8BE1-E320-8667-2CA369A78CA9}"/>
              </a:ext>
            </a:extLst>
          </p:cNvPr>
          <p:cNvSpPr/>
          <p:nvPr/>
        </p:nvSpPr>
        <p:spPr>
          <a:xfrm>
            <a:off x="614698" y="2011843"/>
            <a:ext cx="1406601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 ①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B59C3E2-87D9-5F17-C200-DCBB7E4E783F}"/>
              </a:ext>
            </a:extLst>
          </p:cNvPr>
          <p:cNvSpPr/>
          <p:nvPr/>
        </p:nvSpPr>
        <p:spPr>
          <a:xfrm>
            <a:off x="2452819" y="2011843"/>
            <a:ext cx="1079196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Tool実行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9E24C95-4030-1843-F7AB-0D2E22D54C24}"/>
              </a:ext>
            </a:extLst>
          </p:cNvPr>
          <p:cNvSpPr/>
          <p:nvPr/>
        </p:nvSpPr>
        <p:spPr>
          <a:xfrm>
            <a:off x="4049737" y="2011843"/>
            <a:ext cx="1406601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 ②</a:t>
            </a:r>
          </a:p>
        </p:txBody>
      </p:sp>
      <p:cxnSp>
        <p:nvCxnSpPr>
          <p:cNvPr id="85" name="Connector 19">
            <a:extLst>
              <a:ext uri="{FF2B5EF4-FFF2-40B4-BE49-F238E27FC236}">
                <a16:creationId xmlns:a16="http://schemas.microsoft.com/office/drawing/2014/main" id="{63DA996C-BF82-002F-7BAA-CE62600E9123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2021299" y="4372953"/>
            <a:ext cx="431520" cy="982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19">
            <a:extLst>
              <a:ext uri="{FF2B5EF4-FFF2-40B4-BE49-F238E27FC236}">
                <a16:creationId xmlns:a16="http://schemas.microsoft.com/office/drawing/2014/main" id="{1173CB3C-3E2A-0596-110E-C4566C69381A}"/>
              </a:ext>
            </a:extLst>
          </p:cNvPr>
          <p:cNvCxnSpPr>
            <a:cxnSpLocks/>
          </p:cNvCxnSpPr>
          <p:nvPr/>
        </p:nvCxnSpPr>
        <p:spPr>
          <a:xfrm>
            <a:off x="2027701" y="2245352"/>
            <a:ext cx="431520" cy="982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19">
            <a:extLst>
              <a:ext uri="{FF2B5EF4-FFF2-40B4-BE49-F238E27FC236}">
                <a16:creationId xmlns:a16="http://schemas.microsoft.com/office/drawing/2014/main" id="{7785D22F-65D4-F6BA-9466-92B4AE1F229F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3542302" y="2245843"/>
            <a:ext cx="507435" cy="6405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19">
            <a:extLst>
              <a:ext uri="{FF2B5EF4-FFF2-40B4-BE49-F238E27FC236}">
                <a16:creationId xmlns:a16="http://schemas.microsoft.com/office/drawing/2014/main" id="{E998D026-F806-F7CC-4559-6008F8E32A9B}"/>
              </a:ext>
            </a:extLst>
          </p:cNvPr>
          <p:cNvCxnSpPr>
            <a:cxnSpLocks/>
          </p:cNvCxnSpPr>
          <p:nvPr/>
        </p:nvCxnSpPr>
        <p:spPr>
          <a:xfrm>
            <a:off x="5456338" y="2260434"/>
            <a:ext cx="456734" cy="0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19">
            <a:extLst>
              <a:ext uri="{FF2B5EF4-FFF2-40B4-BE49-F238E27FC236}">
                <a16:creationId xmlns:a16="http://schemas.microsoft.com/office/drawing/2014/main" id="{AC94EBD3-DCDE-6780-B0FE-E0A23FE0AD5F}"/>
              </a:ext>
            </a:extLst>
          </p:cNvPr>
          <p:cNvCxnSpPr>
            <a:cxnSpLocks/>
          </p:cNvCxnSpPr>
          <p:nvPr/>
        </p:nvCxnSpPr>
        <p:spPr>
          <a:xfrm>
            <a:off x="5432142" y="4373935"/>
            <a:ext cx="456734" cy="0"/>
          </a:xfrm>
          <a:prstGeom prst="line">
            <a:avLst/>
          </a:prstGeom>
          <a:ln w="15240">
            <a:solidFill>
              <a:schemeClr val="bg1">
                <a:lumMod val="65000"/>
              </a:schemeClr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9">
            <a:extLst>
              <a:ext uri="{FF2B5EF4-FFF2-40B4-BE49-F238E27FC236}">
                <a16:creationId xmlns:a16="http://schemas.microsoft.com/office/drawing/2014/main" id="{4EF8F9F9-BF47-18DB-55F7-989CDF89AD40}"/>
              </a:ext>
            </a:extLst>
          </p:cNvPr>
          <p:cNvCxnSpPr>
            <a:cxnSpLocks/>
          </p:cNvCxnSpPr>
          <p:nvPr/>
        </p:nvCxnSpPr>
        <p:spPr>
          <a:xfrm>
            <a:off x="614698" y="3340829"/>
            <a:ext cx="10861520" cy="0"/>
          </a:xfrm>
          <a:prstGeom prst="line">
            <a:avLst/>
          </a:prstGeom>
          <a:ln w="15240">
            <a:solidFill>
              <a:schemeClr val="tx1">
                <a:alpha val="29357"/>
              </a:schemeClr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F2BFF2CD-7425-FE03-EAC8-CF316AB619F9}"/>
              </a:ext>
            </a:extLst>
          </p:cNvPr>
          <p:cNvSpPr txBox="1"/>
          <p:nvPr/>
        </p:nvSpPr>
        <p:spPr>
          <a:xfrm>
            <a:off x="533249" y="1432955"/>
            <a:ext cx="381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ベースライン（m</a:t>
            </a:r>
            <a:r>
              <a:rPr lang="en-JP" b="1"/>
              <a:t>ax_turns 未設定）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730257-FD62-72D0-FA40-0D58BA470CC7}"/>
              </a:ext>
            </a:extLst>
          </p:cNvPr>
          <p:cNvSpPr txBox="1"/>
          <p:nvPr/>
        </p:nvSpPr>
        <p:spPr>
          <a:xfrm>
            <a:off x="533249" y="3438843"/>
            <a:ext cx="293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途中停止（m</a:t>
            </a:r>
            <a:r>
              <a:rPr lang="en-JP" b="1"/>
              <a:t>ax_turns = 1）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FA6B632-4D46-5A49-BFF7-FAF6E58A0AB8}"/>
              </a:ext>
            </a:extLst>
          </p:cNvPr>
          <p:cNvSpPr txBox="1"/>
          <p:nvPr/>
        </p:nvSpPr>
        <p:spPr>
          <a:xfrm>
            <a:off x="614698" y="5773984"/>
            <a:ext cx="9954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/>
              <a:t>Model Call回数（max_turns）と各 Model Call の Output Token数（max_tokens）は制限できるが、Run 全体の累積 Token 数や USD Cost を Budget として直接制御する標準機能はない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C669103-FEA6-AEFB-A70E-FA0B9BAE6E63}"/>
              </a:ext>
            </a:extLst>
          </p:cNvPr>
          <p:cNvSpPr txBox="1"/>
          <p:nvPr/>
        </p:nvSpPr>
        <p:spPr>
          <a:xfrm>
            <a:off x="526363" y="3044855"/>
            <a:ext cx="3088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JP" sz="1200"/>
              <a:t>検証環境：OpenAI Agents SDK 0.22.0 / GPT-5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89DC6-6A78-BBA9-523D-7921C2F84081}"/>
              </a:ext>
            </a:extLst>
          </p:cNvPr>
          <p:cNvSpPr txBox="1"/>
          <p:nvPr/>
        </p:nvSpPr>
        <p:spPr>
          <a:xfrm>
            <a:off x="4241724" y="4701540"/>
            <a:ext cx="1077218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IPAexGothic"/>
                <a:ea typeface="IPAexGothic"/>
                <a:cs typeface="IPAexGothic"/>
              </a:rPr>
              <a:t>実行されない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CC747A-92EF-54D3-0ECD-C1B1FCE5571B}"/>
              </a:ext>
            </a:extLst>
          </p:cNvPr>
          <p:cNvSpPr txBox="1"/>
          <p:nvPr/>
        </p:nvSpPr>
        <p:spPr>
          <a:xfrm>
            <a:off x="5937166" y="4701540"/>
            <a:ext cx="897682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IPAexGothic"/>
                <a:ea typeface="IPAexGothic"/>
                <a:cs typeface="IPAexGothic"/>
              </a:rPr>
              <a:t>到達しない</a:t>
            </a:r>
          </a:p>
        </p:txBody>
      </p:sp>
    </p:spTree>
    <p:extLst>
      <p:ext uri="{BB962C8B-B14F-4D97-AF65-F5344CB8AC3E}">
        <p14:creationId xmlns:p14="http://schemas.microsoft.com/office/powerpoint/2010/main" val="81394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6518-C04B-65AF-FB7D-4C7A8F068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E892C-F8FB-012E-D569-C2801B1E7E37}"/>
              </a:ext>
            </a:extLst>
          </p:cNvPr>
          <p:cNvSpPr txBox="1"/>
          <p:nvPr/>
        </p:nvSpPr>
        <p:spPr>
          <a:xfrm>
            <a:off x="526363" y="240810"/>
            <a:ext cx="7905562" cy="3693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IPAexGothic"/>
                <a:ea typeface="IPAexGothic"/>
                <a:cs typeface="IPAexGothic"/>
              </a:rPr>
              <a:t>Claude</a:t>
            </a:r>
            <a:r>
              <a:rPr sz="2400" b="1">
                <a:latin typeface="IPAexGothic"/>
                <a:ea typeface="IPAexGothic"/>
                <a:cs typeface="IPAexGothic"/>
              </a:rPr>
              <a:t> Agent SDK：</a:t>
            </a:r>
            <a:r>
              <a:rPr lang="en-US" sz="2400" b="1">
                <a:latin typeface="IPAexGothic"/>
                <a:ea typeface="IPAexGothic"/>
                <a:cs typeface="IPAexGothic"/>
              </a:rPr>
              <a:t>Run 単位の USD Budget 設定と停止挙動</a:t>
            </a:r>
            <a:endParaRPr sz="2400" b="1">
              <a:latin typeface="IPAexGothic"/>
              <a:ea typeface="IPAexGothic"/>
              <a:cs typeface="IPAex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E0D8E-A8FD-3FD1-F98C-AB63EA0F10F0}"/>
              </a:ext>
            </a:extLst>
          </p:cNvPr>
          <p:cNvSpPr txBox="1"/>
          <p:nvPr/>
        </p:nvSpPr>
        <p:spPr>
          <a:xfrm>
            <a:off x="526363" y="802827"/>
            <a:ext cx="9478557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lang="en-JP" sz="1600">
                <a:solidFill>
                  <a:srgbClr val="062E87"/>
                </a:solidFill>
              </a:rPr>
              <a:t>本来2回のModel Callを要する同一処理で、max_budget_usd による実行範囲、Token数、Costの変化を確認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B923B1-66D4-E313-DD35-95CF7B4E8512}"/>
              </a:ext>
            </a:extLst>
          </p:cNvPr>
          <p:cNvSpPr/>
          <p:nvPr/>
        </p:nvSpPr>
        <p:spPr>
          <a:xfrm>
            <a:off x="7064529" y="1743772"/>
            <a:ext cx="8021" cy="1268110"/>
          </a:xfrm>
          <a:prstGeom prst="rect">
            <a:avLst/>
          </a:prstGeom>
          <a:solidFill>
            <a:srgbClr val="A5A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C35304-2642-0EDC-406A-BD5DB901ADAD}"/>
              </a:ext>
            </a:extLst>
          </p:cNvPr>
          <p:cNvSpPr/>
          <p:nvPr/>
        </p:nvSpPr>
        <p:spPr>
          <a:xfrm>
            <a:off x="7064529" y="3885639"/>
            <a:ext cx="8021" cy="1362854"/>
          </a:xfrm>
          <a:prstGeom prst="rect">
            <a:avLst/>
          </a:prstGeom>
          <a:solidFill>
            <a:srgbClr val="A5AF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2CAF0D-A724-830C-A7BD-F3B35E998DC2}"/>
              </a:ext>
            </a:extLst>
          </p:cNvPr>
          <p:cNvSpPr/>
          <p:nvPr/>
        </p:nvSpPr>
        <p:spPr>
          <a:xfrm>
            <a:off x="5926998" y="2011843"/>
            <a:ext cx="896899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done</a:t>
            </a:r>
            <a:endParaRPr sz="160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1D93DF-FA8A-F085-CC7F-F48B66971922}"/>
              </a:ext>
            </a:extLst>
          </p:cNvPr>
          <p:cNvSpPr txBox="1"/>
          <p:nvPr/>
        </p:nvSpPr>
        <p:spPr>
          <a:xfrm>
            <a:off x="7261410" y="1695295"/>
            <a:ext cx="88646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B90508-1878-890D-CD41-139855BD8BB8}"/>
              </a:ext>
            </a:extLst>
          </p:cNvPr>
          <p:cNvSpPr txBox="1"/>
          <p:nvPr/>
        </p:nvSpPr>
        <p:spPr>
          <a:xfrm>
            <a:off x="8793493" y="1673431"/>
            <a:ext cx="349455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2</a:t>
            </a:r>
            <a:r>
              <a:rPr lang="en-JP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回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5010CB-7021-8337-82C8-C67E454D34A8}"/>
              </a:ext>
            </a:extLst>
          </p:cNvPr>
          <p:cNvSpPr txBox="1"/>
          <p:nvPr/>
        </p:nvSpPr>
        <p:spPr>
          <a:xfrm>
            <a:off x="7261410" y="1994103"/>
            <a:ext cx="933910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Total Token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5D5814-5F9C-0330-2597-2B3FF25FEEF7}"/>
              </a:ext>
            </a:extLst>
          </p:cNvPr>
          <p:cNvSpPr txBox="1"/>
          <p:nvPr/>
        </p:nvSpPr>
        <p:spPr>
          <a:xfrm>
            <a:off x="8793493" y="1972239"/>
            <a:ext cx="234038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JP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64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1E5C05-A816-77D2-4ECC-437BCDEF3691}"/>
              </a:ext>
            </a:extLst>
          </p:cNvPr>
          <p:cNvSpPr txBox="1"/>
          <p:nvPr/>
        </p:nvSpPr>
        <p:spPr>
          <a:xfrm>
            <a:off x="7261410" y="2292910"/>
            <a:ext cx="1354538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SDK返却コスト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0924B8-4393-F1B1-33E3-9F4D80043F27}"/>
              </a:ext>
            </a:extLst>
          </p:cNvPr>
          <p:cNvSpPr txBox="1"/>
          <p:nvPr/>
        </p:nvSpPr>
        <p:spPr>
          <a:xfrm>
            <a:off x="8793493" y="2271046"/>
            <a:ext cx="1231106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$0.00</a:t>
            </a:r>
            <a:r>
              <a:rPr lang="en-US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730200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F51A7B-6110-5BDE-71B6-0100287B5A3C}"/>
              </a:ext>
            </a:extLst>
          </p:cNvPr>
          <p:cNvSpPr/>
          <p:nvPr/>
        </p:nvSpPr>
        <p:spPr>
          <a:xfrm>
            <a:off x="614698" y="4126143"/>
            <a:ext cx="1406601" cy="495583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 ①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0A84F75-06D3-550E-7EB3-3C003FF10C4B}"/>
              </a:ext>
            </a:extLst>
          </p:cNvPr>
          <p:cNvSpPr/>
          <p:nvPr/>
        </p:nvSpPr>
        <p:spPr>
          <a:xfrm>
            <a:off x="2452819" y="4126143"/>
            <a:ext cx="1079196" cy="495583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Tool実行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AD25CBD-12A9-4224-22FC-026BC64AB3CE}"/>
              </a:ext>
            </a:extLst>
          </p:cNvPr>
          <p:cNvSpPr/>
          <p:nvPr/>
        </p:nvSpPr>
        <p:spPr>
          <a:xfrm>
            <a:off x="3532015" y="4366647"/>
            <a:ext cx="226047" cy="16033"/>
          </a:xfrm>
          <a:prstGeom prst="rect">
            <a:avLst/>
          </a:prstGeom>
          <a:solidFill>
            <a:srgbClr val="3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6073478-CC9C-601F-07D3-BDC669118980}"/>
              </a:ext>
            </a:extLst>
          </p:cNvPr>
          <p:cNvSpPr/>
          <p:nvPr/>
        </p:nvSpPr>
        <p:spPr>
          <a:xfrm>
            <a:off x="3721604" y="4315631"/>
            <a:ext cx="94794" cy="94743"/>
          </a:xfrm>
          <a:prstGeom prst="ellipse">
            <a:avLst/>
          </a:prstGeom>
          <a:solidFill>
            <a:srgbClr val="3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38E8A5-E84D-EF8F-3ACE-80A527551A3D}"/>
              </a:ext>
            </a:extLst>
          </p:cNvPr>
          <p:cNvSpPr/>
          <p:nvPr/>
        </p:nvSpPr>
        <p:spPr>
          <a:xfrm>
            <a:off x="3758063" y="3902211"/>
            <a:ext cx="15312" cy="991166"/>
          </a:xfrm>
          <a:prstGeom prst="rect">
            <a:avLst/>
          </a:prstGeom>
          <a:solidFill>
            <a:srgbClr val="305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3EFD89-422C-09DE-0C78-881D274ADA2E}"/>
              </a:ext>
            </a:extLst>
          </p:cNvPr>
          <p:cNvSpPr txBox="1"/>
          <p:nvPr/>
        </p:nvSpPr>
        <p:spPr>
          <a:xfrm>
            <a:off x="2869245" y="5092250"/>
            <a:ext cx="2021410" cy="55399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rgbClr val="062E87"/>
                </a:solidFill>
                <a:latin typeface="IPAexGothic"/>
                <a:ea typeface="IPAexGothic"/>
                <a:cs typeface="IPAexGothic"/>
              </a:rPr>
              <a:t>Budget </a:t>
            </a:r>
            <a:r>
              <a:rPr b="1">
                <a:solidFill>
                  <a:srgbClr val="062E87"/>
                </a:solidFill>
                <a:latin typeface="IPAexGothic"/>
                <a:ea typeface="IPAexGothic"/>
                <a:cs typeface="IPAexGothic"/>
              </a:rPr>
              <a:t>到達</a:t>
            </a:r>
            <a:r>
              <a:rPr lang="en-JP" b="1">
                <a:solidFill>
                  <a:srgbClr val="062E87"/>
                </a:solidFill>
                <a:latin typeface="IPAexGothic"/>
                <a:ea typeface="IPAexGothic"/>
                <a:cs typeface="IPAexGothic"/>
              </a:rPr>
              <a:t>により途中停止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ACE45C2-F45B-4864-50C3-FFF6996791A3}"/>
              </a:ext>
            </a:extLst>
          </p:cNvPr>
          <p:cNvSpPr/>
          <p:nvPr/>
        </p:nvSpPr>
        <p:spPr>
          <a:xfrm>
            <a:off x="4049737" y="4126143"/>
            <a:ext cx="1382405" cy="495583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IPAexGothic"/>
                <a:ea typeface="IPAexGothic"/>
                <a:cs typeface="IPAexGothic"/>
              </a:rPr>
              <a:t>Model Call ②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EE7113A-521D-F874-AB8B-974D1E4E3DAB}"/>
              </a:ext>
            </a:extLst>
          </p:cNvPr>
          <p:cNvSpPr/>
          <p:nvPr/>
        </p:nvSpPr>
        <p:spPr>
          <a:xfrm>
            <a:off x="5926998" y="4126143"/>
            <a:ext cx="889607" cy="495583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</a:rPr>
              <a:t>done</a:t>
            </a:r>
            <a:endParaRPr sz="16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757C9B5-0439-0213-11B3-41C6A2A7CFE2}"/>
              </a:ext>
            </a:extLst>
          </p:cNvPr>
          <p:cNvSpPr txBox="1"/>
          <p:nvPr/>
        </p:nvSpPr>
        <p:spPr>
          <a:xfrm>
            <a:off x="4241724" y="4701540"/>
            <a:ext cx="1077218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IPAexGothic"/>
                <a:ea typeface="IPAexGothic"/>
                <a:cs typeface="IPAexGothic"/>
              </a:rPr>
              <a:t>実行されない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131C25B-354E-CA90-5C1D-84E6D9F3D879}"/>
              </a:ext>
            </a:extLst>
          </p:cNvPr>
          <p:cNvSpPr txBox="1"/>
          <p:nvPr/>
        </p:nvSpPr>
        <p:spPr>
          <a:xfrm>
            <a:off x="5937166" y="4701540"/>
            <a:ext cx="897682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C8C8C"/>
                </a:solidFill>
                <a:latin typeface="IPAexGothic"/>
                <a:ea typeface="IPAexGothic"/>
                <a:cs typeface="IPAexGothic"/>
              </a:rPr>
              <a:t>到達しない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3A5D52-11AD-2053-E3FB-003802ED3C8F}"/>
              </a:ext>
            </a:extLst>
          </p:cNvPr>
          <p:cNvSpPr txBox="1"/>
          <p:nvPr/>
        </p:nvSpPr>
        <p:spPr>
          <a:xfrm>
            <a:off x="7261410" y="3859366"/>
            <a:ext cx="88646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993E34-3A3F-177D-6564-6B942D934B51}"/>
              </a:ext>
            </a:extLst>
          </p:cNvPr>
          <p:cNvSpPr txBox="1"/>
          <p:nvPr/>
        </p:nvSpPr>
        <p:spPr>
          <a:xfrm>
            <a:off x="8793493" y="3837502"/>
            <a:ext cx="349455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1</a:t>
            </a:r>
            <a:r>
              <a:rPr lang="en-JP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回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BD11C3-F385-757B-B546-F96D51C83531}"/>
              </a:ext>
            </a:extLst>
          </p:cNvPr>
          <p:cNvSpPr txBox="1"/>
          <p:nvPr/>
        </p:nvSpPr>
        <p:spPr>
          <a:xfrm>
            <a:off x="7261410" y="4158174"/>
            <a:ext cx="933910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Total Token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EA8D34D-E269-0E16-7EAB-199269A1EC32}"/>
              </a:ext>
            </a:extLst>
          </p:cNvPr>
          <p:cNvSpPr txBox="1"/>
          <p:nvPr/>
        </p:nvSpPr>
        <p:spPr>
          <a:xfrm>
            <a:off x="8793493" y="4136310"/>
            <a:ext cx="232436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JP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0*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8ECB52-A163-72F5-E338-E445CA4CC1E0}"/>
              </a:ext>
            </a:extLst>
          </p:cNvPr>
          <p:cNvSpPr txBox="1"/>
          <p:nvPr/>
        </p:nvSpPr>
        <p:spPr>
          <a:xfrm>
            <a:off x="7261410" y="4456982"/>
            <a:ext cx="1354538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SDK返却コスト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3D6968D-C7AA-5372-F85C-F3959C98D8B0}"/>
              </a:ext>
            </a:extLst>
          </p:cNvPr>
          <p:cNvSpPr txBox="1"/>
          <p:nvPr/>
        </p:nvSpPr>
        <p:spPr>
          <a:xfrm>
            <a:off x="8793493" y="4435118"/>
            <a:ext cx="1231106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$0.00</a:t>
            </a:r>
            <a:r>
              <a:rPr lang="en-US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615375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14E464F-86DE-82ED-0511-9C31DD0CDABA}"/>
              </a:ext>
            </a:extLst>
          </p:cNvPr>
          <p:cNvSpPr txBox="1"/>
          <p:nvPr/>
        </p:nvSpPr>
        <p:spPr>
          <a:xfrm>
            <a:off x="1917507" y="2606642"/>
            <a:ext cx="219233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本検証用の簡易的なTool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EC072CE-B12C-083F-0E3E-5C3BDFB0BD09}"/>
              </a:ext>
            </a:extLst>
          </p:cNvPr>
          <p:cNvSpPr/>
          <p:nvPr/>
        </p:nvSpPr>
        <p:spPr>
          <a:xfrm>
            <a:off x="614698" y="2011843"/>
            <a:ext cx="1406601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 ①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0DAED2E-9F6A-51F4-FC18-6EEA1F785B8C}"/>
              </a:ext>
            </a:extLst>
          </p:cNvPr>
          <p:cNvSpPr/>
          <p:nvPr/>
        </p:nvSpPr>
        <p:spPr>
          <a:xfrm>
            <a:off x="2452819" y="2011843"/>
            <a:ext cx="1079196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Tool実行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7B6AF8F-86A8-C07F-F459-5D5F425D0D21}"/>
              </a:ext>
            </a:extLst>
          </p:cNvPr>
          <p:cNvSpPr/>
          <p:nvPr/>
        </p:nvSpPr>
        <p:spPr>
          <a:xfrm>
            <a:off x="4049737" y="2011843"/>
            <a:ext cx="1406601" cy="4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055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Model Call ②</a:t>
            </a:r>
          </a:p>
        </p:txBody>
      </p:sp>
      <p:cxnSp>
        <p:nvCxnSpPr>
          <p:cNvPr id="85" name="Connector 19">
            <a:extLst>
              <a:ext uri="{FF2B5EF4-FFF2-40B4-BE49-F238E27FC236}">
                <a16:creationId xmlns:a16="http://schemas.microsoft.com/office/drawing/2014/main" id="{2834C727-F46F-3BB0-614A-9083CC93B2EF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2021299" y="4372953"/>
            <a:ext cx="431520" cy="982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19">
            <a:extLst>
              <a:ext uri="{FF2B5EF4-FFF2-40B4-BE49-F238E27FC236}">
                <a16:creationId xmlns:a16="http://schemas.microsoft.com/office/drawing/2014/main" id="{B1459A6C-8210-0FA4-5C9B-65B7CE2A620F}"/>
              </a:ext>
            </a:extLst>
          </p:cNvPr>
          <p:cNvCxnSpPr>
            <a:cxnSpLocks/>
          </p:cNvCxnSpPr>
          <p:nvPr/>
        </p:nvCxnSpPr>
        <p:spPr>
          <a:xfrm>
            <a:off x="2027701" y="2245352"/>
            <a:ext cx="431520" cy="982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19">
            <a:extLst>
              <a:ext uri="{FF2B5EF4-FFF2-40B4-BE49-F238E27FC236}">
                <a16:creationId xmlns:a16="http://schemas.microsoft.com/office/drawing/2014/main" id="{C4BBADF9-E125-2A85-3563-544C87DB3E42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3542302" y="2245843"/>
            <a:ext cx="507435" cy="6405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19">
            <a:extLst>
              <a:ext uri="{FF2B5EF4-FFF2-40B4-BE49-F238E27FC236}">
                <a16:creationId xmlns:a16="http://schemas.microsoft.com/office/drawing/2014/main" id="{8E0C3D44-3063-DF69-72BE-E4D0328748AF}"/>
              </a:ext>
            </a:extLst>
          </p:cNvPr>
          <p:cNvCxnSpPr>
            <a:cxnSpLocks/>
          </p:cNvCxnSpPr>
          <p:nvPr/>
        </p:nvCxnSpPr>
        <p:spPr>
          <a:xfrm>
            <a:off x="5456338" y="2260434"/>
            <a:ext cx="456734" cy="0"/>
          </a:xfrm>
          <a:prstGeom prst="line">
            <a:avLst/>
          </a:prstGeom>
          <a:ln w="15240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19">
            <a:extLst>
              <a:ext uri="{FF2B5EF4-FFF2-40B4-BE49-F238E27FC236}">
                <a16:creationId xmlns:a16="http://schemas.microsoft.com/office/drawing/2014/main" id="{B63E98F6-AC92-ACE5-AC3C-90E32A505E62}"/>
              </a:ext>
            </a:extLst>
          </p:cNvPr>
          <p:cNvCxnSpPr>
            <a:cxnSpLocks/>
          </p:cNvCxnSpPr>
          <p:nvPr/>
        </p:nvCxnSpPr>
        <p:spPr>
          <a:xfrm>
            <a:off x="5432142" y="4373935"/>
            <a:ext cx="456734" cy="0"/>
          </a:xfrm>
          <a:prstGeom prst="line">
            <a:avLst/>
          </a:prstGeom>
          <a:ln w="15240">
            <a:solidFill>
              <a:schemeClr val="bg1">
                <a:lumMod val="65000"/>
              </a:schemeClr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9">
            <a:extLst>
              <a:ext uri="{FF2B5EF4-FFF2-40B4-BE49-F238E27FC236}">
                <a16:creationId xmlns:a16="http://schemas.microsoft.com/office/drawing/2014/main" id="{862A21DA-0497-353D-5711-847794B0FE70}"/>
              </a:ext>
            </a:extLst>
          </p:cNvPr>
          <p:cNvCxnSpPr>
            <a:cxnSpLocks/>
          </p:cNvCxnSpPr>
          <p:nvPr/>
        </p:nvCxnSpPr>
        <p:spPr>
          <a:xfrm>
            <a:off x="614698" y="3340829"/>
            <a:ext cx="10861520" cy="0"/>
          </a:xfrm>
          <a:prstGeom prst="line">
            <a:avLst/>
          </a:prstGeom>
          <a:ln w="15240">
            <a:solidFill>
              <a:schemeClr val="tx1">
                <a:alpha val="29357"/>
              </a:schemeClr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35AC69A5-9418-75ED-013C-C59E9A05AD1C}"/>
              </a:ext>
            </a:extLst>
          </p:cNvPr>
          <p:cNvSpPr txBox="1"/>
          <p:nvPr/>
        </p:nvSpPr>
        <p:spPr>
          <a:xfrm>
            <a:off x="533249" y="1432955"/>
            <a:ext cx="4492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ベースライン（ m</a:t>
            </a:r>
            <a:r>
              <a:rPr lang="en-JP" b="1"/>
              <a:t>ax_budget_usd 未設定）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7525A49-345F-53D4-23CC-998D7CBE3413}"/>
              </a:ext>
            </a:extLst>
          </p:cNvPr>
          <p:cNvSpPr txBox="1"/>
          <p:nvPr/>
        </p:nvSpPr>
        <p:spPr>
          <a:xfrm>
            <a:off x="533249" y="3438843"/>
            <a:ext cx="505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Budget 超過で停止（m</a:t>
            </a:r>
            <a:r>
              <a:rPr lang="en-JP" b="1"/>
              <a:t>ax_budget_usd = $0.004）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E092B36-7260-74AA-545B-380A6B49C369}"/>
              </a:ext>
            </a:extLst>
          </p:cNvPr>
          <p:cNvSpPr txBox="1"/>
          <p:nvPr/>
        </p:nvSpPr>
        <p:spPr>
          <a:xfrm>
            <a:off x="614699" y="5773984"/>
            <a:ext cx="8411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/>
              <a:t>max_budget_usdによりRun単位のUSD Budgetを設定し、超過時に停止できるが、設定額を厳密なHard Capとして保証するものではなく、Overshootが発生し得る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4A19CEB-5B91-2A1D-99EC-6C15FA236308}"/>
              </a:ext>
            </a:extLst>
          </p:cNvPr>
          <p:cNvSpPr txBox="1"/>
          <p:nvPr/>
        </p:nvSpPr>
        <p:spPr>
          <a:xfrm>
            <a:off x="486798" y="3044621"/>
            <a:ext cx="3081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JP" sz="1200"/>
              <a:t>検証環境：Claude Agent SDK 0.2.144 / opus5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44CC0F0-FAC6-90E2-EEF7-1FE8D5FD9A72}"/>
              </a:ext>
            </a:extLst>
          </p:cNvPr>
          <p:cNvSpPr txBox="1"/>
          <p:nvPr/>
        </p:nvSpPr>
        <p:spPr>
          <a:xfrm>
            <a:off x="7261410" y="2585453"/>
            <a:ext cx="141263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Budget</a:t>
            </a:r>
            <a:r>
              <a:rPr lang="ja-JP" alt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（上限）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73A215D-035F-5AB7-6119-B43BA66CAED7}"/>
              </a:ext>
            </a:extLst>
          </p:cNvPr>
          <p:cNvSpPr txBox="1"/>
          <p:nvPr/>
        </p:nvSpPr>
        <p:spPr>
          <a:xfrm>
            <a:off x="7261410" y="2863337"/>
            <a:ext cx="87293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Overshoot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C0E8CD7-3816-E9AE-AF5A-00A88C15D343}"/>
              </a:ext>
            </a:extLst>
          </p:cNvPr>
          <p:cNvSpPr txBox="1"/>
          <p:nvPr/>
        </p:nvSpPr>
        <p:spPr>
          <a:xfrm>
            <a:off x="7261410" y="4755790"/>
            <a:ext cx="141263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Budget</a:t>
            </a:r>
            <a:r>
              <a:rPr lang="ja-JP" alt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（上限）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0D20E5B-ED08-E0F4-EF38-47F28BD437A3}"/>
              </a:ext>
            </a:extLst>
          </p:cNvPr>
          <p:cNvSpPr txBox="1"/>
          <p:nvPr/>
        </p:nvSpPr>
        <p:spPr>
          <a:xfrm>
            <a:off x="7261410" y="5033674"/>
            <a:ext cx="872931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000000"/>
                </a:solidFill>
                <a:latin typeface="IPAexGothic"/>
                <a:ea typeface="IPAexGothic"/>
                <a:cs typeface="IPAexGothic"/>
              </a:rPr>
              <a:t>Overshoot</a:t>
            </a:r>
            <a:endParaRPr sz="1600" b="0">
              <a:solidFill>
                <a:srgbClr val="00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752FE62-DD9E-6F11-D3EF-746BAA34DCC5}"/>
              </a:ext>
            </a:extLst>
          </p:cNvPr>
          <p:cNvSpPr txBox="1"/>
          <p:nvPr/>
        </p:nvSpPr>
        <p:spPr>
          <a:xfrm>
            <a:off x="8793493" y="2578185"/>
            <a:ext cx="697307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JP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未設定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1777BE3-C0B8-9042-10D2-4D5ADCE74821}"/>
              </a:ext>
            </a:extLst>
          </p:cNvPr>
          <p:cNvSpPr txBox="1"/>
          <p:nvPr/>
        </p:nvSpPr>
        <p:spPr>
          <a:xfrm>
            <a:off x="8793493" y="4752910"/>
            <a:ext cx="646011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$0.00</a:t>
            </a:r>
            <a:r>
              <a:rPr lang="en-US" b="1">
                <a:solidFill>
                  <a:srgbClr val="052F87"/>
                </a:solidFill>
                <a:latin typeface="IPAexGothic"/>
                <a:ea typeface="IPAexGothic"/>
                <a:cs typeface="IPAexGothic"/>
              </a:rPr>
              <a:t>4</a:t>
            </a:r>
            <a:endParaRPr b="1">
              <a:solidFill>
                <a:srgbClr val="052F87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DDE3E67-0044-00BB-E75E-9957F5368060}"/>
              </a:ext>
            </a:extLst>
          </p:cNvPr>
          <p:cNvSpPr txBox="1"/>
          <p:nvPr/>
        </p:nvSpPr>
        <p:spPr>
          <a:xfrm>
            <a:off x="8688872" y="5046069"/>
            <a:ext cx="2471831" cy="2769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>
                <a:solidFill>
                  <a:srgbClr val="FF0000"/>
                </a:solidFill>
                <a:latin typeface="IPAexGothic"/>
                <a:ea typeface="IPAexGothic"/>
                <a:cs typeface="IPAexGothic"/>
              </a:rPr>
              <a:t>+</a:t>
            </a:r>
            <a:r>
              <a:rPr b="1">
                <a:solidFill>
                  <a:srgbClr val="FF0000"/>
                </a:solidFill>
                <a:latin typeface="IPAexGothic"/>
                <a:ea typeface="IPAexGothic"/>
                <a:cs typeface="IPAexGothic"/>
              </a:rPr>
              <a:t>$0.0</a:t>
            </a:r>
            <a:r>
              <a:rPr lang="en-US" b="1">
                <a:solidFill>
                  <a:srgbClr val="FF0000"/>
                </a:solidFill>
                <a:latin typeface="IPAexGothic"/>
                <a:ea typeface="IPAexGothic"/>
                <a:cs typeface="IPAexGothic"/>
              </a:rPr>
              <a:t>0215375 (+約53.8%)</a:t>
            </a:r>
            <a:endParaRPr b="1">
              <a:solidFill>
                <a:srgbClr val="FF0000"/>
              </a:solidFill>
              <a:latin typeface="IPAexGothic"/>
              <a:ea typeface="IPAexGothic"/>
              <a:cs typeface="IPAexGothic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C00D477-3E0B-CD94-9F39-33AE7B90F5E4}"/>
              </a:ext>
            </a:extLst>
          </p:cNvPr>
          <p:cNvSpPr txBox="1"/>
          <p:nvPr/>
        </p:nvSpPr>
        <p:spPr>
          <a:xfrm>
            <a:off x="9739181" y="3400711"/>
            <a:ext cx="21896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400"/>
              <a:t>* Budget 停止時は terminal payload 上の Token 数が0として返る</a:t>
            </a:r>
          </a:p>
        </p:txBody>
      </p:sp>
    </p:spTree>
    <p:extLst>
      <p:ext uri="{BB962C8B-B14F-4D97-AF65-F5344CB8AC3E}">
        <p14:creationId xmlns:p14="http://schemas.microsoft.com/office/powerpoint/2010/main" val="2034457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6EABDA-F0E1-96E2-6467-EA3D1DECE10C}"/>
              </a:ext>
            </a:extLst>
          </p:cNvPr>
          <p:cNvSpPr txBox="1"/>
          <p:nvPr/>
        </p:nvSpPr>
        <p:spPr>
          <a:xfrm>
            <a:off x="526363" y="240810"/>
            <a:ext cx="6069739" cy="36933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lang="en-JP" sz="2400" b="1"/>
              <a:t>SDK単体でどこまでCost Governanceできるか</a:t>
            </a:r>
            <a:endParaRPr sz="2400" b="1">
              <a:latin typeface="IPAexGothic"/>
              <a:ea typeface="IPAexGothic"/>
              <a:cs typeface="IPAex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CDFE5B-6B02-B03C-CFA9-0CB9E485D0C8}"/>
              </a:ext>
            </a:extLst>
          </p:cNvPr>
          <p:cNvSpPr txBox="1"/>
          <p:nvPr/>
        </p:nvSpPr>
        <p:spPr>
          <a:xfrm>
            <a:off x="526363" y="802827"/>
            <a:ext cx="7016344" cy="2462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lang="en-JP" sz="1600">
                <a:solidFill>
                  <a:srgbClr val="062E87"/>
                </a:solidFill>
              </a:rPr>
              <a:t>各SDKともRun内部では一定の制御が可能だが，制御対象と保証範囲は異なる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F30558-147A-FE7A-06DF-BE1B2AEC1E3F}"/>
              </a:ext>
            </a:extLst>
          </p:cNvPr>
          <p:cNvSpPr/>
          <p:nvPr/>
        </p:nvSpPr>
        <p:spPr>
          <a:xfrm>
            <a:off x="526363" y="1544080"/>
            <a:ext cx="3557016" cy="3200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ACEB0-AA02-48F5-089A-D5E63D474060}"/>
              </a:ext>
            </a:extLst>
          </p:cNvPr>
          <p:cNvSpPr txBox="1"/>
          <p:nvPr/>
        </p:nvSpPr>
        <p:spPr>
          <a:xfrm>
            <a:off x="526363" y="1544080"/>
            <a:ext cx="3557016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00000"/>
                </a:solidFill>
                <a:latin typeface="Yu Gothic"/>
              </a:rPr>
              <a:t>観点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F22C38-8CA2-145E-ACF9-BD448CB565FC}"/>
              </a:ext>
            </a:extLst>
          </p:cNvPr>
          <p:cNvSpPr/>
          <p:nvPr/>
        </p:nvSpPr>
        <p:spPr>
          <a:xfrm>
            <a:off x="4083379" y="1544080"/>
            <a:ext cx="3529584" cy="3200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390A01-2EB6-EC03-C4D5-3279936B38FE}"/>
              </a:ext>
            </a:extLst>
          </p:cNvPr>
          <p:cNvSpPr txBox="1"/>
          <p:nvPr/>
        </p:nvSpPr>
        <p:spPr>
          <a:xfrm>
            <a:off x="4083379" y="1544080"/>
            <a:ext cx="3529584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00000"/>
                </a:solidFill>
                <a:latin typeface="Yu Gothic"/>
              </a:rPr>
              <a:t>OpenAI Agents SDK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D55075-DCE1-DD85-23B2-3195488442C7}"/>
              </a:ext>
            </a:extLst>
          </p:cNvPr>
          <p:cNvSpPr/>
          <p:nvPr/>
        </p:nvSpPr>
        <p:spPr>
          <a:xfrm>
            <a:off x="7612963" y="1544080"/>
            <a:ext cx="3529584" cy="3200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7E4BD-DC09-2D3F-DD91-576EEC5FFDF4}"/>
              </a:ext>
            </a:extLst>
          </p:cNvPr>
          <p:cNvSpPr txBox="1"/>
          <p:nvPr/>
        </p:nvSpPr>
        <p:spPr>
          <a:xfrm>
            <a:off x="7612963" y="1544080"/>
            <a:ext cx="3529584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00000"/>
                </a:solidFill>
                <a:latin typeface="Yu Gothic"/>
              </a:rPr>
              <a:t>Claude Agent SDK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1FDA00-B8DF-4559-847A-19FED7ED872B}"/>
              </a:ext>
            </a:extLst>
          </p:cNvPr>
          <p:cNvSpPr/>
          <p:nvPr/>
        </p:nvSpPr>
        <p:spPr>
          <a:xfrm>
            <a:off x="526363" y="1864120"/>
            <a:ext cx="3557016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956631-06D8-7B96-24D4-745BA0A2A6E1}"/>
              </a:ext>
            </a:extLst>
          </p:cNvPr>
          <p:cNvSpPr txBox="1"/>
          <p:nvPr/>
        </p:nvSpPr>
        <p:spPr>
          <a:xfrm>
            <a:off x="526363" y="1864120"/>
            <a:ext cx="3557016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tIns="0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Yu Gothic"/>
              </a:rPr>
              <a:t>Token数の取得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CF81EB-5FC1-1A85-50AF-D79B43F13E20}"/>
              </a:ext>
            </a:extLst>
          </p:cNvPr>
          <p:cNvSpPr/>
          <p:nvPr/>
        </p:nvSpPr>
        <p:spPr>
          <a:xfrm>
            <a:off x="4083379" y="186412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B469C-9E56-6926-2ECB-065F901B3C54}"/>
              </a:ext>
            </a:extLst>
          </p:cNvPr>
          <p:cNvSpPr txBox="1"/>
          <p:nvPr/>
        </p:nvSpPr>
        <p:spPr>
          <a:xfrm>
            <a:off x="4083379" y="190718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Yu Gothic"/>
              </a:rPr>
              <a:t>可能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71F4DE-CFA3-8722-EAFD-98E61FD6B932}"/>
              </a:ext>
            </a:extLst>
          </p:cNvPr>
          <p:cNvSpPr/>
          <p:nvPr/>
        </p:nvSpPr>
        <p:spPr>
          <a:xfrm>
            <a:off x="7612963" y="186412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4695E0-2807-4B74-4689-46E639898CAE}"/>
              </a:ext>
            </a:extLst>
          </p:cNvPr>
          <p:cNvSpPr txBox="1"/>
          <p:nvPr/>
        </p:nvSpPr>
        <p:spPr>
          <a:xfrm>
            <a:off x="7612963" y="190718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Yu Gothic"/>
              </a:rPr>
              <a:t>可能※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8CA33F-57AF-B3A2-C1A1-0D51D5735FA1}"/>
              </a:ext>
            </a:extLst>
          </p:cNvPr>
          <p:cNvSpPr/>
          <p:nvPr/>
        </p:nvSpPr>
        <p:spPr>
          <a:xfrm>
            <a:off x="526363" y="2184160"/>
            <a:ext cx="3557016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8F8EDD-1C3D-4320-FA5A-4EDEE12230BA}"/>
              </a:ext>
            </a:extLst>
          </p:cNvPr>
          <p:cNvSpPr txBox="1"/>
          <p:nvPr/>
        </p:nvSpPr>
        <p:spPr>
          <a:xfrm>
            <a:off x="526363" y="2184160"/>
            <a:ext cx="3557016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tIns="0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Yu Gothic"/>
              </a:rPr>
              <a:t>USD Costの取得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EC769A-6AB5-532B-A008-C1D9F77A4584}"/>
              </a:ext>
            </a:extLst>
          </p:cNvPr>
          <p:cNvSpPr/>
          <p:nvPr/>
        </p:nvSpPr>
        <p:spPr>
          <a:xfrm>
            <a:off x="4083379" y="218416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SDKから</a:t>
            </a:r>
            <a:r>
              <a:rPr lang="en-US" sz="1200">
                <a:solidFill>
                  <a:srgbClr val="FF0000"/>
                </a:solidFill>
              </a:rPr>
              <a:t>直接取得不可</a:t>
            </a:r>
            <a:r>
              <a:rPr lang="en-US" sz="1200">
                <a:solidFill>
                  <a:schemeClr val="tx1"/>
                </a:solidFill>
                <a:latin typeface="Yu Gothic"/>
              </a:rPr>
              <a:t>（Token数から推定）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45A95F-F2FA-CC7C-8006-E3F1EC36602B}"/>
              </a:ext>
            </a:extLst>
          </p:cNvPr>
          <p:cNvSpPr/>
          <p:nvPr/>
        </p:nvSpPr>
        <p:spPr>
          <a:xfrm>
            <a:off x="7612963" y="218416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124424-8266-DAB7-B3E2-B1DF7D2EEA32}"/>
              </a:ext>
            </a:extLst>
          </p:cNvPr>
          <p:cNvSpPr txBox="1"/>
          <p:nvPr/>
        </p:nvSpPr>
        <p:spPr>
          <a:xfrm>
            <a:off x="7612963" y="222722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Yu Gothic"/>
              </a:rPr>
              <a:t>可能（SDKが返却）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5C3CC3-481C-5227-677D-CF1BC199ACFA}"/>
              </a:ext>
            </a:extLst>
          </p:cNvPr>
          <p:cNvSpPr/>
          <p:nvPr/>
        </p:nvSpPr>
        <p:spPr>
          <a:xfrm>
            <a:off x="526363" y="2504200"/>
            <a:ext cx="3557016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E4CC5B-FE08-57F7-FCAA-B696D43502E7}"/>
              </a:ext>
            </a:extLst>
          </p:cNvPr>
          <p:cNvSpPr txBox="1"/>
          <p:nvPr/>
        </p:nvSpPr>
        <p:spPr>
          <a:xfrm>
            <a:off x="526363" y="2504200"/>
            <a:ext cx="3557016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tIns="0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Yu Gothic"/>
              </a:rPr>
              <a:t>主なRun内制限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C53F72-0C90-0DB5-10A6-69C8191FE989}"/>
              </a:ext>
            </a:extLst>
          </p:cNvPr>
          <p:cNvSpPr/>
          <p:nvPr/>
        </p:nvSpPr>
        <p:spPr>
          <a:xfrm>
            <a:off x="4083379" y="250420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691181-8355-6834-3FEC-26AA779C6780}"/>
              </a:ext>
            </a:extLst>
          </p:cNvPr>
          <p:cNvSpPr txBox="1"/>
          <p:nvPr/>
        </p:nvSpPr>
        <p:spPr>
          <a:xfrm>
            <a:off x="4083379" y="254726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Yu Gothic"/>
              </a:rPr>
              <a:t>max_turns</a:t>
            </a:r>
            <a:r>
              <a:rPr lang="en-US" sz="1400">
                <a:latin typeface="Yu Gothic"/>
              </a:rPr>
              <a:t>, </a:t>
            </a:r>
            <a:r>
              <a:rPr sz="1400">
                <a:latin typeface="Yu Gothic"/>
              </a:rPr>
              <a:t>max_tokens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1105E2-D486-2BE0-44C3-D3333CA81DF0}"/>
              </a:ext>
            </a:extLst>
          </p:cNvPr>
          <p:cNvSpPr/>
          <p:nvPr/>
        </p:nvSpPr>
        <p:spPr>
          <a:xfrm>
            <a:off x="7612963" y="250420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109BBA-D251-2E87-FB4A-5E4CD67BAD37}"/>
              </a:ext>
            </a:extLst>
          </p:cNvPr>
          <p:cNvSpPr txBox="1"/>
          <p:nvPr/>
        </p:nvSpPr>
        <p:spPr>
          <a:xfrm>
            <a:off x="7612963" y="254726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>
                <a:latin typeface="Yu Gothic"/>
              </a:rPr>
              <a:t>max_turns, </a:t>
            </a:r>
            <a:r>
              <a:rPr sz="1400">
                <a:latin typeface="Yu Gothic"/>
              </a:rPr>
              <a:t>max_budget_usd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B549B8-F37B-D60D-33B2-0C1348400CB1}"/>
              </a:ext>
            </a:extLst>
          </p:cNvPr>
          <p:cNvSpPr/>
          <p:nvPr/>
        </p:nvSpPr>
        <p:spPr>
          <a:xfrm>
            <a:off x="526363" y="2824240"/>
            <a:ext cx="3557016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E8615D-DD50-56E0-C32F-F3FFE744B27E}"/>
              </a:ext>
            </a:extLst>
          </p:cNvPr>
          <p:cNvSpPr txBox="1"/>
          <p:nvPr/>
        </p:nvSpPr>
        <p:spPr>
          <a:xfrm>
            <a:off x="526363" y="2859610"/>
            <a:ext cx="3557016" cy="2492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tIns="0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Yu Gothic"/>
              </a:rPr>
              <a:t>Run全体の累積Token数</a:t>
            </a:r>
            <a:r>
              <a:rPr lang="en-JP" sz="1500" b="0">
                <a:solidFill>
                  <a:srgbClr val="000000"/>
                </a:solidFill>
                <a:latin typeface="Yu Gothic"/>
              </a:rPr>
              <a:t>・</a:t>
            </a:r>
            <a:r>
              <a:rPr sz="1500" b="0">
                <a:solidFill>
                  <a:srgbClr val="000000"/>
                </a:solidFill>
                <a:latin typeface="Yu Gothic"/>
              </a:rPr>
              <a:t>Budget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D95F95-F2B7-3485-8EC2-DF5F174684F5}"/>
              </a:ext>
            </a:extLst>
          </p:cNvPr>
          <p:cNvSpPr/>
          <p:nvPr/>
        </p:nvSpPr>
        <p:spPr>
          <a:xfrm>
            <a:off x="4083379" y="282424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B86221-2FBE-31D9-7973-C2029CD53B46}"/>
              </a:ext>
            </a:extLst>
          </p:cNvPr>
          <p:cNvSpPr txBox="1"/>
          <p:nvPr/>
        </p:nvSpPr>
        <p:spPr>
          <a:xfrm>
            <a:off x="4083379" y="286730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solidFill>
                  <a:srgbClr val="FF0000"/>
                </a:solidFill>
                <a:latin typeface="Yu Gothic"/>
              </a:rPr>
              <a:t>標準機能なし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7CB667-DEC2-900F-01E6-CD701478D0D9}"/>
              </a:ext>
            </a:extLst>
          </p:cNvPr>
          <p:cNvSpPr/>
          <p:nvPr/>
        </p:nvSpPr>
        <p:spPr>
          <a:xfrm>
            <a:off x="7612963" y="282424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BDEDB7-3E99-6854-7DF6-7BCFCD7B67AC}"/>
              </a:ext>
            </a:extLst>
          </p:cNvPr>
          <p:cNvSpPr txBox="1"/>
          <p:nvPr/>
        </p:nvSpPr>
        <p:spPr>
          <a:xfrm>
            <a:off x="7612963" y="286730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solidFill>
                  <a:srgbClr val="FF0000"/>
                </a:solidFill>
                <a:latin typeface="Yu Gothic"/>
              </a:rPr>
              <a:t>標準機能なし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D4F26A-F119-D300-398B-F5A857BD7A4C}"/>
              </a:ext>
            </a:extLst>
          </p:cNvPr>
          <p:cNvSpPr/>
          <p:nvPr/>
        </p:nvSpPr>
        <p:spPr>
          <a:xfrm>
            <a:off x="526363" y="3144280"/>
            <a:ext cx="3557016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AB69C0-BA8B-9767-21CB-A1CD253C86D6}"/>
              </a:ext>
            </a:extLst>
          </p:cNvPr>
          <p:cNvSpPr txBox="1"/>
          <p:nvPr/>
        </p:nvSpPr>
        <p:spPr>
          <a:xfrm>
            <a:off x="526363" y="3144280"/>
            <a:ext cx="3557016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tIns="0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Yu Gothic"/>
              </a:rPr>
              <a:t>Run単位のUSD Budget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411A77-72F0-9CA2-E868-3EBF824B9F36}"/>
              </a:ext>
            </a:extLst>
          </p:cNvPr>
          <p:cNvSpPr/>
          <p:nvPr/>
        </p:nvSpPr>
        <p:spPr>
          <a:xfrm>
            <a:off x="4083379" y="314428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2CEB4D-C58E-ECB1-FB20-2ACDD33800AE}"/>
              </a:ext>
            </a:extLst>
          </p:cNvPr>
          <p:cNvSpPr txBox="1"/>
          <p:nvPr/>
        </p:nvSpPr>
        <p:spPr>
          <a:xfrm>
            <a:off x="4083379" y="318734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solidFill>
                  <a:srgbClr val="FF0000"/>
                </a:solidFill>
                <a:latin typeface="Yu Gothic"/>
              </a:rPr>
              <a:t>標準機能なし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1D4B0B-E213-040D-FF84-8B7C9843F58F}"/>
              </a:ext>
            </a:extLst>
          </p:cNvPr>
          <p:cNvSpPr/>
          <p:nvPr/>
        </p:nvSpPr>
        <p:spPr>
          <a:xfrm>
            <a:off x="7612963" y="314428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C6C8AA-BBFF-90D8-23AE-0C80CEEAB292}"/>
              </a:ext>
            </a:extLst>
          </p:cNvPr>
          <p:cNvSpPr txBox="1"/>
          <p:nvPr/>
        </p:nvSpPr>
        <p:spPr>
          <a:xfrm>
            <a:off x="7612963" y="318734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Yu Gothic"/>
              </a:rPr>
              <a:t>可能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9E071D-86E3-B22C-5CD3-218B4103EC5B}"/>
              </a:ext>
            </a:extLst>
          </p:cNvPr>
          <p:cNvSpPr/>
          <p:nvPr/>
        </p:nvSpPr>
        <p:spPr>
          <a:xfrm>
            <a:off x="526363" y="3464320"/>
            <a:ext cx="3557016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5F5F2E-7827-8942-D18B-269A1FF5DB49}"/>
              </a:ext>
            </a:extLst>
          </p:cNvPr>
          <p:cNvSpPr txBox="1"/>
          <p:nvPr/>
        </p:nvSpPr>
        <p:spPr>
          <a:xfrm>
            <a:off x="526363" y="3464320"/>
            <a:ext cx="3557016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tIns="0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Yu Gothic"/>
              </a:rPr>
              <a:t>Budget超過時の停止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1B118C-D9B6-DE33-1B01-E32208D20BE0}"/>
              </a:ext>
            </a:extLst>
          </p:cNvPr>
          <p:cNvSpPr/>
          <p:nvPr/>
        </p:nvSpPr>
        <p:spPr>
          <a:xfrm>
            <a:off x="4083379" y="346432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2B0B9-DD2D-C6A0-B310-B78B8191AB26}"/>
              </a:ext>
            </a:extLst>
          </p:cNvPr>
          <p:cNvSpPr txBox="1"/>
          <p:nvPr/>
        </p:nvSpPr>
        <p:spPr>
          <a:xfrm>
            <a:off x="4083379" y="350738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solidFill>
                  <a:srgbClr val="FF0000"/>
                </a:solidFill>
                <a:latin typeface="Yu Gothic"/>
              </a:rPr>
              <a:t>標準機能なし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254247-82A6-1661-E28C-E2615E41EF5C}"/>
              </a:ext>
            </a:extLst>
          </p:cNvPr>
          <p:cNvSpPr/>
          <p:nvPr/>
        </p:nvSpPr>
        <p:spPr>
          <a:xfrm>
            <a:off x="7612963" y="346432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094A6-0E59-EABA-917A-08171813457A}"/>
              </a:ext>
            </a:extLst>
          </p:cNvPr>
          <p:cNvSpPr txBox="1"/>
          <p:nvPr/>
        </p:nvSpPr>
        <p:spPr>
          <a:xfrm>
            <a:off x="7612963" y="350738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Yu Gothic"/>
              </a:rPr>
              <a:t>可能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F12AFC-3F35-FB5B-B1E5-E16D166CFE47}"/>
              </a:ext>
            </a:extLst>
          </p:cNvPr>
          <p:cNvSpPr/>
          <p:nvPr/>
        </p:nvSpPr>
        <p:spPr>
          <a:xfrm>
            <a:off x="526363" y="3784360"/>
            <a:ext cx="3557016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71013E-ED07-5405-DF43-47265C4F7CA4}"/>
              </a:ext>
            </a:extLst>
          </p:cNvPr>
          <p:cNvSpPr txBox="1"/>
          <p:nvPr/>
        </p:nvSpPr>
        <p:spPr>
          <a:xfrm>
            <a:off x="526363" y="3784360"/>
            <a:ext cx="3557016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tIns="0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Yu Gothic"/>
              </a:rPr>
              <a:t>Hard Cap保証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845160F-643B-052E-BED0-95AAAA1F1471}"/>
              </a:ext>
            </a:extLst>
          </p:cNvPr>
          <p:cNvSpPr/>
          <p:nvPr/>
        </p:nvSpPr>
        <p:spPr>
          <a:xfrm>
            <a:off x="4083379" y="378436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298EFD-BE25-8A56-88DC-98907E82D9CE}"/>
              </a:ext>
            </a:extLst>
          </p:cNvPr>
          <p:cNvSpPr txBox="1"/>
          <p:nvPr/>
        </p:nvSpPr>
        <p:spPr>
          <a:xfrm>
            <a:off x="4083379" y="382742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solidFill>
                  <a:srgbClr val="FF0000"/>
                </a:solidFill>
                <a:latin typeface="Yu Gothic"/>
              </a:rPr>
              <a:t>該当なし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BDF734-A0EA-94F1-15EE-102EC86E534B}"/>
              </a:ext>
            </a:extLst>
          </p:cNvPr>
          <p:cNvSpPr/>
          <p:nvPr/>
        </p:nvSpPr>
        <p:spPr>
          <a:xfrm>
            <a:off x="7612963" y="378436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09F6F4-78D1-3779-6ED9-784C09E0AA5C}"/>
              </a:ext>
            </a:extLst>
          </p:cNvPr>
          <p:cNvSpPr txBox="1"/>
          <p:nvPr/>
        </p:nvSpPr>
        <p:spPr>
          <a:xfrm>
            <a:off x="7612963" y="382742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JP" sz="1400" b="1">
                <a:latin typeface="Yu Gothic"/>
              </a:rPr>
              <a:t>保証なし</a:t>
            </a:r>
            <a:r>
              <a:rPr sz="1400" b="1">
                <a:latin typeface="Yu Gothic"/>
              </a:rPr>
              <a:t>（Overshoot</a:t>
            </a:r>
            <a:r>
              <a:rPr lang="en-US" sz="1400" b="1">
                <a:latin typeface="Yu Gothic"/>
              </a:rPr>
              <a:t>発生し得る</a:t>
            </a:r>
            <a:r>
              <a:rPr sz="1400" b="1">
                <a:latin typeface="Yu Gothic"/>
              </a:rPr>
              <a:t>）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2A1AC94-947A-224A-B04D-3FCFB4F3418B}"/>
              </a:ext>
            </a:extLst>
          </p:cNvPr>
          <p:cNvSpPr/>
          <p:nvPr/>
        </p:nvSpPr>
        <p:spPr>
          <a:xfrm>
            <a:off x="526363" y="4104400"/>
            <a:ext cx="3557016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E6E6B0-0EB3-A8B4-933D-7475C0BF7A4E}"/>
              </a:ext>
            </a:extLst>
          </p:cNvPr>
          <p:cNvSpPr txBox="1"/>
          <p:nvPr/>
        </p:nvSpPr>
        <p:spPr>
          <a:xfrm>
            <a:off x="526363" y="4104400"/>
            <a:ext cx="3557016" cy="32004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tIns="0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Yu Gothic"/>
              </a:rPr>
              <a:t>主な管理範囲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F8DD8F-BA26-9698-4FE3-DC113EB03305}"/>
              </a:ext>
            </a:extLst>
          </p:cNvPr>
          <p:cNvSpPr/>
          <p:nvPr/>
        </p:nvSpPr>
        <p:spPr>
          <a:xfrm>
            <a:off x="4083379" y="410440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31A87D-6A1C-4BAB-4968-090CD18F6E1F}"/>
              </a:ext>
            </a:extLst>
          </p:cNvPr>
          <p:cNvSpPr txBox="1"/>
          <p:nvPr/>
        </p:nvSpPr>
        <p:spPr>
          <a:xfrm>
            <a:off x="4083379" y="414746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Yu Gothic"/>
              </a:rPr>
              <a:t>1回のRun内部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6E1B787-7D54-E7E5-622A-DA7EC71E1A29}"/>
              </a:ext>
            </a:extLst>
          </p:cNvPr>
          <p:cNvSpPr/>
          <p:nvPr/>
        </p:nvSpPr>
        <p:spPr>
          <a:xfrm>
            <a:off x="7612963" y="4104400"/>
            <a:ext cx="3529584" cy="320040"/>
          </a:xfrm>
          <a:prstGeom prst="rect">
            <a:avLst/>
          </a:prstGeom>
          <a:solidFill>
            <a:srgbClr val="FFFFFF"/>
          </a:solidFill>
          <a:ln w="1206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61847A-9385-E19A-EEC9-F7E94B94D937}"/>
              </a:ext>
            </a:extLst>
          </p:cNvPr>
          <p:cNvSpPr txBox="1"/>
          <p:nvPr/>
        </p:nvSpPr>
        <p:spPr>
          <a:xfrm>
            <a:off x="7612963" y="4147465"/>
            <a:ext cx="3529584" cy="2339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8288" tIns="0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>
                <a:latin typeface="Yu Gothic"/>
              </a:rPr>
              <a:t>1回のRun内部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B7F79E-2206-8CF4-B4E3-6CF885E3C374}"/>
              </a:ext>
            </a:extLst>
          </p:cNvPr>
          <p:cNvSpPr txBox="1"/>
          <p:nvPr/>
        </p:nvSpPr>
        <p:spPr>
          <a:xfrm>
            <a:off x="7402724" y="4495828"/>
            <a:ext cx="3950062" cy="400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0000"/>
                </a:solidFill>
                <a:latin typeface="Yu Gothic"/>
              </a:rPr>
              <a:t>※ ClaudeではBudget停止時</a:t>
            </a:r>
            <a:r>
              <a:rPr lang="en-US" sz="1300">
                <a:solidFill>
                  <a:srgbClr val="000000"/>
                </a:solidFill>
                <a:latin typeface="Yu Gothic"/>
              </a:rPr>
              <a:t>、t</a:t>
            </a:r>
            <a:r>
              <a:rPr sz="1300" b="0">
                <a:solidFill>
                  <a:srgbClr val="000000"/>
                </a:solidFill>
                <a:latin typeface="Yu Gothic"/>
              </a:rPr>
              <a:t>erminal payload上のToken数が0として返る挙動に注意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189A21-C508-A341-C128-A20541B34B5D}"/>
              </a:ext>
            </a:extLst>
          </p:cNvPr>
          <p:cNvSpPr txBox="1"/>
          <p:nvPr/>
        </p:nvSpPr>
        <p:spPr>
          <a:xfrm>
            <a:off x="526363" y="5288834"/>
            <a:ext cx="10960116" cy="875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JP"/>
              <a:t>SDK単体でもRun内の利用量把握・制限は可能だが、複数Runをまたぐ累積 Budget は標準機能では扱えない</a:t>
            </a:r>
          </a:p>
          <a:p>
            <a:pPr>
              <a:lnSpc>
                <a:spcPct val="150000"/>
              </a:lnSpc>
            </a:pPr>
            <a:r>
              <a:rPr lang="en-JP" b="1">
                <a:solidFill>
                  <a:srgbClr val="062E87"/>
                </a:solidFill>
              </a:rPr>
              <a:t>では、複数Run・複数Agentをまとめて管理するには？</a:t>
            </a:r>
          </a:p>
        </p:txBody>
      </p:sp>
    </p:spTree>
    <p:extLst>
      <p:ext uri="{BB962C8B-B14F-4D97-AF65-F5344CB8AC3E}">
        <p14:creationId xmlns:p14="http://schemas.microsoft.com/office/powerpoint/2010/main" val="791159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6AD8F-86C6-6B67-DA00-906C929B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55AD9989-416D-8E42-0CFB-D9EEB877C290}"/>
              </a:ext>
            </a:extLst>
          </p:cNvPr>
          <p:cNvSpPr txBox="1"/>
          <p:nvPr/>
        </p:nvSpPr>
        <p:spPr>
          <a:xfrm>
            <a:off x="320040" y="182880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000000"/>
                </a:solidFill>
                <a:latin typeface="Noto Sans CJK JP"/>
              </a:rPr>
              <a:t>複数Run・複数Agentをまとめて管理するには？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CFDD86-11ED-2C24-8460-325C5C648CAD}"/>
              </a:ext>
            </a:extLst>
          </p:cNvPr>
          <p:cNvSpPr txBox="1"/>
          <p:nvPr/>
        </p:nvSpPr>
        <p:spPr>
          <a:xfrm>
            <a:off x="393192" y="896112"/>
            <a:ext cx="10972800" cy="258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80" b="1">
                <a:solidFill>
                  <a:srgbClr val="1D439B"/>
                </a:solidFill>
                <a:latin typeface="Noto Sans CJK JP"/>
              </a:rPr>
              <a:t>SDK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 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の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 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Run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 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内制限だけでは，Run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 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をまた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ぐ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累積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 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Cost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 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や複数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 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Agent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 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全体の</a:t>
            </a:r>
            <a:r>
              <a:rPr lang="en-US" sz="1680" b="1">
                <a:solidFill>
                  <a:srgbClr val="1D439B"/>
                </a:solidFill>
                <a:latin typeface="Noto Sans CJK JP"/>
              </a:rPr>
              <a:t> 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Budget</a:t>
            </a:r>
            <a:r>
              <a:rPr lang="en-JP" sz="1680" b="1">
                <a:solidFill>
                  <a:srgbClr val="1D439B"/>
                </a:solidFill>
                <a:latin typeface="Noto Sans CJK JP"/>
              </a:rPr>
              <a:t>を直接</a:t>
            </a:r>
            <a:r>
              <a:rPr sz="1680" b="1">
                <a:solidFill>
                  <a:srgbClr val="1D439B"/>
                </a:solidFill>
                <a:latin typeface="Noto Sans CJK JP"/>
              </a:rPr>
              <a:t>管理</a:t>
            </a:r>
            <a:r>
              <a:rPr lang="en-JP" sz="1680" b="1">
                <a:solidFill>
                  <a:srgbClr val="1D439B"/>
                </a:solidFill>
                <a:latin typeface="Noto Sans CJK JP"/>
              </a:rPr>
              <a:t>できない</a:t>
            </a:r>
            <a:endParaRPr sz="1680" b="1">
              <a:solidFill>
                <a:srgbClr val="1D439B"/>
              </a:solidFill>
              <a:latin typeface="Noto Sans CJK JP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D078FD-89CF-BEE9-FF64-BE197AC86411}"/>
              </a:ext>
            </a:extLst>
          </p:cNvPr>
          <p:cNvSpPr txBox="1"/>
          <p:nvPr/>
        </p:nvSpPr>
        <p:spPr>
          <a:xfrm>
            <a:off x="530352" y="1600200"/>
            <a:ext cx="2926080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Noto Sans CJK JP"/>
              </a:rPr>
              <a:t>① 複数Runを横断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E2F5F7-51CE-665D-4892-8D41D7CD0B17}"/>
              </a:ext>
            </a:extLst>
          </p:cNvPr>
          <p:cNvSpPr txBox="1"/>
          <p:nvPr/>
        </p:nvSpPr>
        <p:spPr>
          <a:xfrm>
            <a:off x="5925312" y="1600200"/>
            <a:ext cx="2926080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00000"/>
                </a:solidFill>
                <a:latin typeface="Noto Sans CJK JP"/>
              </a:rPr>
              <a:t>② 複数Agentを横断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669B9EB-2902-641F-9BCB-468F6857B621}"/>
              </a:ext>
            </a:extLst>
          </p:cNvPr>
          <p:cNvSpPr/>
          <p:nvPr/>
        </p:nvSpPr>
        <p:spPr>
          <a:xfrm>
            <a:off x="713232" y="2130552"/>
            <a:ext cx="1920240" cy="2015744"/>
          </a:xfrm>
          <a:prstGeom prst="rect">
            <a:avLst/>
          </a:prstGeom>
          <a:solidFill>
            <a:srgbClr val="FFFFFF"/>
          </a:solidFill>
          <a:ln w="14604">
            <a:solidFill>
              <a:srgbClr val="406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B97368-5CDD-4D41-9C96-497E7B44931B}"/>
              </a:ext>
            </a:extLst>
          </p:cNvPr>
          <p:cNvSpPr txBox="1"/>
          <p:nvPr/>
        </p:nvSpPr>
        <p:spPr>
          <a:xfrm>
            <a:off x="987552" y="2304288"/>
            <a:ext cx="137160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0000"/>
                </a:solidFill>
                <a:latin typeface="Noto Sans CJK JP"/>
              </a:rPr>
              <a:t>agent-a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3D35ADB-1E8E-768E-1A2F-C828791C4A35}"/>
              </a:ext>
            </a:extLst>
          </p:cNvPr>
          <p:cNvSpPr txBox="1"/>
          <p:nvPr/>
        </p:nvSpPr>
        <p:spPr>
          <a:xfrm>
            <a:off x="941832" y="2743200"/>
            <a:ext cx="73152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Run 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D716B8-A567-751F-285E-E4CE369F94BE}"/>
              </a:ext>
            </a:extLst>
          </p:cNvPr>
          <p:cNvSpPr txBox="1"/>
          <p:nvPr/>
        </p:nvSpPr>
        <p:spPr>
          <a:xfrm>
            <a:off x="1737360" y="2743200"/>
            <a:ext cx="68580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$3</a:t>
            </a:r>
            <a:r>
              <a:rPr lang="en-US" sz="1550" b="0">
                <a:solidFill>
                  <a:srgbClr val="000000"/>
                </a:solidFill>
                <a:latin typeface="Noto Sans CJK JP"/>
              </a:rPr>
              <a:t>.1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9BE5D8B-D3CD-7D09-EF42-B53AD61FEA29}"/>
              </a:ext>
            </a:extLst>
          </p:cNvPr>
          <p:cNvSpPr txBox="1"/>
          <p:nvPr/>
        </p:nvSpPr>
        <p:spPr>
          <a:xfrm>
            <a:off x="941832" y="3017520"/>
            <a:ext cx="73152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Run 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144C55-FF13-2885-DDB2-E6BAB1EC0A97}"/>
              </a:ext>
            </a:extLst>
          </p:cNvPr>
          <p:cNvSpPr txBox="1"/>
          <p:nvPr/>
        </p:nvSpPr>
        <p:spPr>
          <a:xfrm>
            <a:off x="1737360" y="3017520"/>
            <a:ext cx="68580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$4</a:t>
            </a:r>
            <a:r>
              <a:rPr lang="en-US" sz="1550" b="0">
                <a:solidFill>
                  <a:srgbClr val="000000"/>
                </a:solidFill>
                <a:latin typeface="Noto Sans CJK JP"/>
              </a:rPr>
              <a:t>.5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7123B0-5B7C-42C9-687D-234139714D94}"/>
              </a:ext>
            </a:extLst>
          </p:cNvPr>
          <p:cNvSpPr txBox="1"/>
          <p:nvPr/>
        </p:nvSpPr>
        <p:spPr>
          <a:xfrm>
            <a:off x="941832" y="3291840"/>
            <a:ext cx="73152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Run 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C7DB57-4B68-088F-493E-B9AC36053406}"/>
              </a:ext>
            </a:extLst>
          </p:cNvPr>
          <p:cNvSpPr txBox="1"/>
          <p:nvPr/>
        </p:nvSpPr>
        <p:spPr>
          <a:xfrm>
            <a:off x="1737360" y="3291840"/>
            <a:ext cx="68580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$</a:t>
            </a:r>
            <a:r>
              <a:rPr lang="en-US" sz="1550" b="0">
                <a:solidFill>
                  <a:srgbClr val="000000"/>
                </a:solidFill>
                <a:latin typeface="Noto Sans CJK JP"/>
              </a:rPr>
              <a:t>4.3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EC6E3DD-1980-DD80-74D4-07EBB14C6EF9}"/>
              </a:ext>
            </a:extLst>
          </p:cNvPr>
          <p:cNvSpPr/>
          <p:nvPr/>
        </p:nvSpPr>
        <p:spPr>
          <a:xfrm>
            <a:off x="896112" y="3685032"/>
            <a:ext cx="1554480" cy="12700"/>
          </a:xfrm>
          <a:prstGeom prst="rect">
            <a:avLst/>
          </a:prstGeom>
          <a:solidFill>
            <a:srgbClr val="00000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BCBC37-74A1-9145-5331-652BC9C4AF1D}"/>
              </a:ext>
            </a:extLst>
          </p:cNvPr>
          <p:cNvSpPr txBox="1"/>
          <p:nvPr/>
        </p:nvSpPr>
        <p:spPr>
          <a:xfrm>
            <a:off x="941832" y="3803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Total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6A6A1DA-73AA-F49B-F5E2-4F840E0B780B}"/>
              </a:ext>
            </a:extLst>
          </p:cNvPr>
          <p:cNvSpPr txBox="1"/>
          <p:nvPr/>
        </p:nvSpPr>
        <p:spPr>
          <a:xfrm>
            <a:off x="1737360" y="3803904"/>
            <a:ext cx="68580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$1</a:t>
            </a:r>
            <a:r>
              <a:rPr lang="en-US" sz="1550" b="0">
                <a:solidFill>
                  <a:srgbClr val="000000"/>
                </a:solidFill>
                <a:latin typeface="Noto Sans CJK JP"/>
              </a:rPr>
              <a:t>1.9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20DBD80-4073-4E6E-DEF0-2D50B4789CAD}"/>
              </a:ext>
            </a:extLst>
          </p:cNvPr>
          <p:cNvGrpSpPr/>
          <p:nvPr/>
        </p:nvGrpSpPr>
        <p:grpSpPr>
          <a:xfrm>
            <a:off x="3332936" y="2473400"/>
            <a:ext cx="1901952" cy="1225296"/>
            <a:chOff x="3291840" y="2432304"/>
            <a:chExt cx="1901952" cy="1225296"/>
          </a:xfrm>
          <a:effectLst/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C16BB30-D8C0-4AD7-0749-3015DD52089A}"/>
                </a:ext>
              </a:extLst>
            </p:cNvPr>
            <p:cNvSpPr/>
            <p:nvPr/>
          </p:nvSpPr>
          <p:spPr>
            <a:xfrm>
              <a:off x="3291840" y="2432304"/>
              <a:ext cx="1901952" cy="1225296"/>
            </a:xfrm>
            <a:prstGeom prst="rect">
              <a:avLst/>
            </a:prstGeom>
            <a:solidFill>
              <a:srgbClr val="FFFFFF"/>
            </a:solidFill>
            <a:ln w="14604">
              <a:solidFill>
                <a:srgbClr val="4062C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82C5B9F-6190-F0AB-A2BF-E6B2F4273508}"/>
                </a:ext>
              </a:extLst>
            </p:cNvPr>
            <p:cNvSpPr txBox="1"/>
            <p:nvPr/>
          </p:nvSpPr>
          <p:spPr>
            <a:xfrm>
              <a:off x="3593592" y="2697480"/>
              <a:ext cx="1298448" cy="1737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20" b="0">
                  <a:solidFill>
                    <a:srgbClr val="000000"/>
                  </a:solidFill>
                  <a:latin typeface="Noto Sans CJK JP"/>
                </a:rPr>
                <a:t>Agent Budget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B8A5D40-35F8-0B35-455B-FAA464585B65}"/>
                </a:ext>
              </a:extLst>
            </p:cNvPr>
            <p:cNvSpPr txBox="1"/>
            <p:nvPr/>
          </p:nvSpPr>
          <p:spPr>
            <a:xfrm>
              <a:off x="3749039" y="3172968"/>
              <a:ext cx="987552" cy="3462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0">
                  <a:solidFill>
                    <a:srgbClr val="1D439B"/>
                  </a:solidFill>
                  <a:latin typeface="Noto Sans CJK JP"/>
                </a:rPr>
                <a:t>$1</a:t>
              </a:r>
              <a:r>
                <a:rPr lang="en-US" sz="2250" b="0">
                  <a:solidFill>
                    <a:srgbClr val="1D439B"/>
                  </a:solidFill>
                  <a:latin typeface="Noto Sans CJK JP"/>
                </a:rPr>
                <a:t>3</a:t>
              </a:r>
              <a:endParaRPr sz="2250" b="0">
                <a:solidFill>
                  <a:srgbClr val="1D439B"/>
                </a:solidFill>
                <a:latin typeface="Noto Sans CJK JP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EF9550C7-E743-1F6A-72B4-07A3214CEEB7}"/>
              </a:ext>
            </a:extLst>
          </p:cNvPr>
          <p:cNvSpPr txBox="1"/>
          <p:nvPr/>
        </p:nvSpPr>
        <p:spPr>
          <a:xfrm>
            <a:off x="1133855" y="4644739"/>
            <a:ext cx="393130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>
                <a:solidFill>
                  <a:srgbClr val="000000"/>
                </a:solidFill>
                <a:latin typeface="Noto Sans CJK JP"/>
              </a:rPr>
              <a:t>複数RunのCostを合算し，</a:t>
            </a:r>
          </a:p>
          <a:p>
            <a:pPr algn="ctr">
              <a:lnSpc>
                <a:spcPct val="100000"/>
              </a:lnSpc>
            </a:pPr>
            <a:r>
              <a:rPr b="0">
                <a:solidFill>
                  <a:srgbClr val="000000"/>
                </a:solidFill>
                <a:latin typeface="Noto Sans CJK JP"/>
              </a:rPr>
              <a:t>Agent単位でBudgetを適用できるか？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D26EAE1-475D-62F9-2306-6B23AC7BE14F}"/>
              </a:ext>
            </a:extLst>
          </p:cNvPr>
          <p:cNvGrpSpPr/>
          <p:nvPr/>
        </p:nvGrpSpPr>
        <p:grpSpPr>
          <a:xfrm>
            <a:off x="8713920" y="2473400"/>
            <a:ext cx="2606040" cy="1207008"/>
            <a:chOff x="8672824" y="2468880"/>
            <a:chExt cx="2606040" cy="1207008"/>
          </a:xfrm>
          <a:effectLst/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CB2C377-9F2F-2047-F683-1A111D5DDCB2}"/>
                </a:ext>
              </a:extLst>
            </p:cNvPr>
            <p:cNvSpPr/>
            <p:nvPr/>
          </p:nvSpPr>
          <p:spPr>
            <a:xfrm>
              <a:off x="8672824" y="2468880"/>
              <a:ext cx="2606040" cy="1207008"/>
            </a:xfrm>
            <a:prstGeom prst="rect">
              <a:avLst/>
            </a:prstGeom>
            <a:solidFill>
              <a:srgbClr val="FFFFFF"/>
            </a:solidFill>
            <a:ln w="14604">
              <a:solidFill>
                <a:srgbClr val="4062C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89E4A2C-6099-82A6-82A4-D339E3E8F8C3}"/>
                </a:ext>
              </a:extLst>
            </p:cNvPr>
            <p:cNvSpPr txBox="1"/>
            <p:nvPr/>
          </p:nvSpPr>
          <p:spPr>
            <a:xfrm>
              <a:off x="8892280" y="2697480"/>
              <a:ext cx="2148840" cy="1737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540" b="0">
                  <a:solidFill>
                    <a:srgbClr val="000000"/>
                  </a:solidFill>
                  <a:latin typeface="Noto Sans CJK JP"/>
                </a:rPr>
                <a:t>Organization Budget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0E25EB6-1487-DF85-882E-AF4809A053F5}"/>
                </a:ext>
              </a:extLst>
            </p:cNvPr>
            <p:cNvSpPr txBox="1"/>
            <p:nvPr/>
          </p:nvSpPr>
          <p:spPr>
            <a:xfrm>
              <a:off x="9514072" y="3172968"/>
              <a:ext cx="914400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endParaRPr sz="2000" b="0">
                <a:solidFill>
                  <a:srgbClr val="1D439B"/>
                </a:solidFill>
                <a:latin typeface="Noto Sans CJK JP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14FA18AD-5877-06F0-4949-51D042CA9ED9}"/>
              </a:ext>
            </a:extLst>
          </p:cNvPr>
          <p:cNvSpPr txBox="1"/>
          <p:nvPr/>
        </p:nvSpPr>
        <p:spPr>
          <a:xfrm>
            <a:off x="6144768" y="4644739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0">
                <a:solidFill>
                  <a:srgbClr val="000000"/>
                </a:solidFill>
                <a:latin typeface="Noto Sans CJK JP"/>
              </a:rPr>
              <a:t>複数AgentのCostを合算し，</a:t>
            </a:r>
          </a:p>
          <a:p>
            <a:pPr algn="ctr">
              <a:lnSpc>
                <a:spcPct val="100000"/>
              </a:lnSpc>
            </a:pPr>
            <a:r>
              <a:rPr b="0">
                <a:solidFill>
                  <a:srgbClr val="000000"/>
                </a:solidFill>
                <a:latin typeface="Noto Sans CJK JP"/>
              </a:rPr>
              <a:t>Organization全体でBudgetを適用できるか？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CEE98E-BAA5-31DD-0024-E244C1E1674C}"/>
              </a:ext>
            </a:extLst>
          </p:cNvPr>
          <p:cNvSpPr txBox="1"/>
          <p:nvPr/>
        </p:nvSpPr>
        <p:spPr>
          <a:xfrm>
            <a:off x="1627632" y="5705856"/>
            <a:ext cx="89976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latin typeface="Noto Sans CJK JP"/>
              </a:rPr>
              <a:t>→ 次に，Task・Agent・Organization</a:t>
            </a:r>
            <a:r>
              <a:rPr lang="en-US" sz="2000" b="1">
                <a:latin typeface="Noto Sans CJK JP"/>
              </a:rPr>
              <a:t> </a:t>
            </a:r>
            <a:r>
              <a:rPr lang="en-JP" sz="2000" b="1"/>
              <a:t>単位のBudgetを扱うAGT CostGuardを紹介</a:t>
            </a:r>
            <a:endParaRPr lang="en-JP" sz="2000"/>
          </a:p>
        </p:txBody>
      </p:sp>
      <p:cxnSp>
        <p:nvCxnSpPr>
          <p:cNvPr id="90" name="Connector 19">
            <a:extLst>
              <a:ext uri="{FF2B5EF4-FFF2-40B4-BE49-F238E27FC236}">
                <a16:creationId xmlns:a16="http://schemas.microsoft.com/office/drawing/2014/main" id="{F9D0CC09-8C69-18C0-2728-E8C90F210B23}"/>
              </a:ext>
            </a:extLst>
          </p:cNvPr>
          <p:cNvCxnSpPr>
            <a:cxnSpLocks/>
          </p:cNvCxnSpPr>
          <p:nvPr/>
        </p:nvCxnSpPr>
        <p:spPr>
          <a:xfrm>
            <a:off x="5659309" y="1346678"/>
            <a:ext cx="0" cy="3636288"/>
          </a:xfrm>
          <a:prstGeom prst="line">
            <a:avLst/>
          </a:prstGeom>
          <a:ln w="15240">
            <a:solidFill>
              <a:schemeClr val="tx1">
                <a:alpha val="29357"/>
              </a:schemeClr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25C6FF4-21D0-0160-8719-56589A9B624F}"/>
              </a:ext>
            </a:extLst>
          </p:cNvPr>
          <p:cNvGrpSpPr/>
          <p:nvPr/>
        </p:nvGrpSpPr>
        <p:grpSpPr>
          <a:xfrm rot="10800000">
            <a:off x="8183282" y="2825386"/>
            <a:ext cx="205688" cy="672835"/>
            <a:chOff x="3634688" y="3745313"/>
            <a:chExt cx="286171" cy="921004"/>
          </a:xfrm>
          <a:effectLst/>
        </p:grpSpPr>
        <p:sp>
          <p:nvSpPr>
            <p:cNvPr id="117" name="Triangle 116">
              <a:extLst>
                <a:ext uri="{FF2B5EF4-FFF2-40B4-BE49-F238E27FC236}">
                  <a16:creationId xmlns:a16="http://schemas.microsoft.com/office/drawing/2014/main" id="{062CFE88-F5EF-3B75-189F-DE869CBD5D97}"/>
                </a:ext>
              </a:extLst>
            </p:cNvPr>
            <p:cNvSpPr/>
            <p:nvPr/>
          </p:nvSpPr>
          <p:spPr>
            <a:xfrm rot="5400000">
              <a:off x="3316539" y="4063462"/>
              <a:ext cx="921003" cy="284706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n>
                  <a:solidFill>
                    <a:srgbClr val="062E87"/>
                  </a:solidFill>
                </a:ln>
              </a:endParaRP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DED9ECE7-4536-909B-B3FD-4FC81BA35366}"/>
                </a:ext>
              </a:extLst>
            </p:cNvPr>
            <p:cNvCxnSpPr>
              <a:cxnSpLocks/>
              <a:stCxn id="117" idx="2"/>
            </p:cNvCxnSpPr>
            <p:nvPr/>
          </p:nvCxnSpPr>
          <p:spPr>
            <a:xfrm>
              <a:off x="3634688" y="3745314"/>
              <a:ext cx="286171" cy="462154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4B720ABB-9816-64A1-3F30-6A80BBCFC9C7}"/>
                </a:ext>
              </a:extLst>
            </p:cNvPr>
            <p:cNvCxnSpPr>
              <a:cxnSpLocks/>
              <a:stCxn id="117" idx="4"/>
              <a:endCxn id="117" idx="0"/>
            </p:cNvCxnSpPr>
            <p:nvPr/>
          </p:nvCxnSpPr>
          <p:spPr>
            <a:xfrm flipV="1">
              <a:off x="3634688" y="4205816"/>
              <a:ext cx="284706" cy="46050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DC7A90C-4C1E-B6DA-10FD-0A157BA85A07}"/>
              </a:ext>
            </a:extLst>
          </p:cNvPr>
          <p:cNvGrpSpPr/>
          <p:nvPr/>
        </p:nvGrpSpPr>
        <p:grpSpPr>
          <a:xfrm rot="10800000">
            <a:off x="2836899" y="2824662"/>
            <a:ext cx="205688" cy="672835"/>
            <a:chOff x="3634688" y="3745313"/>
            <a:chExt cx="286171" cy="921004"/>
          </a:xfrm>
          <a:effectLst/>
        </p:grpSpPr>
        <p:sp>
          <p:nvSpPr>
            <p:cNvPr id="122" name="Triangle 121">
              <a:extLst>
                <a:ext uri="{FF2B5EF4-FFF2-40B4-BE49-F238E27FC236}">
                  <a16:creationId xmlns:a16="http://schemas.microsoft.com/office/drawing/2014/main" id="{88654D2F-245F-59BB-7126-47B5C9F96346}"/>
                </a:ext>
              </a:extLst>
            </p:cNvPr>
            <p:cNvSpPr/>
            <p:nvPr/>
          </p:nvSpPr>
          <p:spPr>
            <a:xfrm rot="5400000">
              <a:off x="3316539" y="4063462"/>
              <a:ext cx="921003" cy="284706"/>
            </a:xfrm>
            <a:prstGeom prst="triangle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n>
                  <a:solidFill>
                    <a:srgbClr val="062E87"/>
                  </a:solidFill>
                </a:ln>
              </a:endParaRP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0FA58B8-A1E2-65F4-0466-8B2E5D722515}"/>
                </a:ext>
              </a:extLst>
            </p:cNvPr>
            <p:cNvCxnSpPr>
              <a:cxnSpLocks/>
              <a:stCxn id="122" idx="2"/>
            </p:cNvCxnSpPr>
            <p:nvPr/>
          </p:nvCxnSpPr>
          <p:spPr>
            <a:xfrm>
              <a:off x="3634688" y="3745314"/>
              <a:ext cx="286171" cy="462154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953E6103-8D82-69B8-6614-037FC7485DED}"/>
                </a:ext>
              </a:extLst>
            </p:cNvPr>
            <p:cNvCxnSpPr>
              <a:cxnSpLocks/>
              <a:stCxn id="122" idx="4"/>
              <a:endCxn id="122" idx="0"/>
            </p:cNvCxnSpPr>
            <p:nvPr/>
          </p:nvCxnSpPr>
          <p:spPr>
            <a:xfrm flipV="1">
              <a:off x="3634688" y="4205816"/>
              <a:ext cx="284706" cy="46050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4E6D8E8-A7D7-D324-3BCA-0877895EF390}"/>
              </a:ext>
            </a:extLst>
          </p:cNvPr>
          <p:cNvSpPr/>
          <p:nvPr/>
        </p:nvSpPr>
        <p:spPr>
          <a:xfrm>
            <a:off x="6025298" y="2130552"/>
            <a:ext cx="1920240" cy="2015744"/>
          </a:xfrm>
          <a:prstGeom prst="rect">
            <a:avLst/>
          </a:prstGeom>
          <a:solidFill>
            <a:srgbClr val="FFFFFF"/>
          </a:solidFill>
          <a:ln w="14604">
            <a:solidFill>
              <a:srgbClr val="406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4DE56-0B8A-0FC2-1D2C-137450371030}"/>
              </a:ext>
            </a:extLst>
          </p:cNvPr>
          <p:cNvSpPr txBox="1"/>
          <p:nvPr/>
        </p:nvSpPr>
        <p:spPr>
          <a:xfrm>
            <a:off x="6299618" y="2304288"/>
            <a:ext cx="1371600" cy="27699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>
                <a:solidFill>
                  <a:srgbClr val="000000"/>
                </a:solidFill>
                <a:latin typeface="Noto Sans CJK JP"/>
              </a:rPr>
              <a:t>Organization</a:t>
            </a:r>
            <a:endParaRPr sz="1800" b="1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A3AA1-8148-B47C-7D0E-294618A782E4}"/>
              </a:ext>
            </a:extLst>
          </p:cNvPr>
          <p:cNvSpPr txBox="1"/>
          <p:nvPr/>
        </p:nvSpPr>
        <p:spPr>
          <a:xfrm>
            <a:off x="6253898" y="2743200"/>
            <a:ext cx="73152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50">
                <a:solidFill>
                  <a:srgbClr val="000000"/>
                </a:solidFill>
                <a:latin typeface="Noto Sans CJK JP"/>
              </a:rPr>
              <a:t>Agent-a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D4544F-189F-B452-7043-B393D9FA3FBA}"/>
              </a:ext>
            </a:extLst>
          </p:cNvPr>
          <p:cNvSpPr txBox="1"/>
          <p:nvPr/>
        </p:nvSpPr>
        <p:spPr>
          <a:xfrm>
            <a:off x="7049426" y="2743200"/>
            <a:ext cx="68580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$</a:t>
            </a:r>
            <a:r>
              <a:rPr lang="en-US" sz="1550" b="0">
                <a:solidFill>
                  <a:srgbClr val="000000"/>
                </a:solidFill>
                <a:latin typeface="Noto Sans CJK JP"/>
              </a:rPr>
              <a:t>11.9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8CC4FD-6472-03A0-6FAF-B3D3F95267E7}"/>
              </a:ext>
            </a:extLst>
          </p:cNvPr>
          <p:cNvSpPr txBox="1"/>
          <p:nvPr/>
        </p:nvSpPr>
        <p:spPr>
          <a:xfrm>
            <a:off x="6253898" y="3017520"/>
            <a:ext cx="73152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50">
                <a:solidFill>
                  <a:srgbClr val="000000"/>
                </a:solidFill>
                <a:latin typeface="Noto Sans CJK JP"/>
              </a:rPr>
              <a:t>Agent-b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C879C-AF33-881E-3637-DC1F08DCDDD0}"/>
              </a:ext>
            </a:extLst>
          </p:cNvPr>
          <p:cNvSpPr txBox="1"/>
          <p:nvPr/>
        </p:nvSpPr>
        <p:spPr>
          <a:xfrm>
            <a:off x="7049426" y="3017520"/>
            <a:ext cx="68580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$</a:t>
            </a:r>
            <a:r>
              <a:rPr lang="en-US" sz="1550" b="0">
                <a:solidFill>
                  <a:srgbClr val="000000"/>
                </a:solidFill>
                <a:latin typeface="Noto Sans CJK JP"/>
              </a:rPr>
              <a:t>1</a:t>
            </a:r>
            <a:r>
              <a:rPr sz="1550" b="0">
                <a:solidFill>
                  <a:srgbClr val="000000"/>
                </a:solidFill>
                <a:latin typeface="Noto Sans CJK JP"/>
              </a:rPr>
              <a:t>4</a:t>
            </a:r>
            <a:r>
              <a:rPr lang="en-US" sz="1550" b="0">
                <a:solidFill>
                  <a:srgbClr val="000000"/>
                </a:solidFill>
                <a:latin typeface="Noto Sans CJK JP"/>
              </a:rPr>
              <a:t>.5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7E3F5-1158-8D19-77AC-7A155356D15D}"/>
              </a:ext>
            </a:extLst>
          </p:cNvPr>
          <p:cNvSpPr txBox="1"/>
          <p:nvPr/>
        </p:nvSpPr>
        <p:spPr>
          <a:xfrm>
            <a:off x="6253898" y="3291840"/>
            <a:ext cx="73152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550">
                <a:solidFill>
                  <a:srgbClr val="000000"/>
                </a:solidFill>
                <a:latin typeface="Noto Sans CJK JP"/>
              </a:rPr>
              <a:t>Agent-c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C9C21C-9680-D46B-DE6F-908752577CD4}"/>
              </a:ext>
            </a:extLst>
          </p:cNvPr>
          <p:cNvSpPr txBox="1"/>
          <p:nvPr/>
        </p:nvSpPr>
        <p:spPr>
          <a:xfrm>
            <a:off x="7049426" y="3291840"/>
            <a:ext cx="68580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$</a:t>
            </a:r>
            <a:r>
              <a:rPr lang="en-US" sz="1550" b="0">
                <a:solidFill>
                  <a:srgbClr val="000000"/>
                </a:solidFill>
                <a:latin typeface="Noto Sans CJK JP"/>
              </a:rPr>
              <a:t>24.3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974DB7-1F0B-6056-EF43-64CE6F25A734}"/>
              </a:ext>
            </a:extLst>
          </p:cNvPr>
          <p:cNvSpPr/>
          <p:nvPr/>
        </p:nvSpPr>
        <p:spPr>
          <a:xfrm>
            <a:off x="6208178" y="3685032"/>
            <a:ext cx="1554480" cy="12700"/>
          </a:xfrm>
          <a:prstGeom prst="rect">
            <a:avLst/>
          </a:prstGeom>
          <a:solidFill>
            <a:srgbClr val="000000"/>
          </a:solidFill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C9F524-144D-D4B7-49D4-B72FE3BE53B8}"/>
              </a:ext>
            </a:extLst>
          </p:cNvPr>
          <p:cNvSpPr txBox="1"/>
          <p:nvPr/>
        </p:nvSpPr>
        <p:spPr>
          <a:xfrm>
            <a:off x="6253898" y="3803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Total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96867-F9E5-70AF-C01C-944078311CE1}"/>
              </a:ext>
            </a:extLst>
          </p:cNvPr>
          <p:cNvSpPr txBox="1"/>
          <p:nvPr/>
        </p:nvSpPr>
        <p:spPr>
          <a:xfrm>
            <a:off x="7049426" y="3803904"/>
            <a:ext cx="685800" cy="23852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550" b="0">
                <a:solidFill>
                  <a:srgbClr val="000000"/>
                </a:solidFill>
                <a:latin typeface="Noto Sans CJK JP"/>
              </a:rPr>
              <a:t>$</a:t>
            </a:r>
            <a:r>
              <a:rPr lang="en-US" sz="1550" b="0">
                <a:solidFill>
                  <a:srgbClr val="000000"/>
                </a:solidFill>
                <a:latin typeface="Noto Sans CJK JP"/>
              </a:rPr>
              <a:t>50.7</a:t>
            </a:r>
            <a:endParaRPr sz="1550" b="0">
              <a:solidFill>
                <a:srgbClr val="000000"/>
              </a:solidFill>
              <a:latin typeface="Noto Sans CJK JP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6A696-0856-7A5F-0E20-7151A4ED9BA6}"/>
              </a:ext>
            </a:extLst>
          </p:cNvPr>
          <p:cNvSpPr txBox="1"/>
          <p:nvPr/>
        </p:nvSpPr>
        <p:spPr>
          <a:xfrm>
            <a:off x="9467088" y="3184777"/>
            <a:ext cx="987552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1D439B"/>
                </a:solidFill>
                <a:latin typeface="Noto Sans CJK JP"/>
              </a:rPr>
              <a:t>$</a:t>
            </a:r>
            <a:r>
              <a:rPr lang="en-US" sz="2250" b="0">
                <a:solidFill>
                  <a:srgbClr val="1D439B"/>
                </a:solidFill>
                <a:latin typeface="Noto Sans CJK JP"/>
              </a:rPr>
              <a:t>65</a:t>
            </a:r>
            <a:endParaRPr sz="2250" b="0">
              <a:solidFill>
                <a:srgbClr val="1D439B"/>
              </a:solidFill>
              <a:latin typeface="Noto Sans CJK JP"/>
            </a:endParaRPr>
          </a:p>
        </p:txBody>
      </p:sp>
    </p:spTree>
    <p:extLst>
      <p:ext uri="{BB962C8B-B14F-4D97-AF65-F5344CB8AC3E}">
        <p14:creationId xmlns:p14="http://schemas.microsoft.com/office/powerpoint/2010/main" val="1399187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2ADD60-F777-4790-7C7C-991FCFC91FC5}"/>
              </a:ext>
            </a:extLst>
          </p:cNvPr>
          <p:cNvSpPr txBox="1"/>
          <p:nvPr/>
        </p:nvSpPr>
        <p:spPr>
          <a:xfrm>
            <a:off x="292608" y="164592"/>
            <a:ext cx="11612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80" b="1">
                <a:solidFill>
                  <a:srgbClr val="000000"/>
                </a:solidFill>
                <a:latin typeface="Noto Sans CJK JP"/>
              </a:rPr>
              <a:t>AGT CostGuard：Task・Agent・Organization単位のBudget管理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2BCEC-8D98-3660-F6ED-0900C235AA82}"/>
              </a:ext>
            </a:extLst>
          </p:cNvPr>
          <p:cNvSpPr txBox="1"/>
          <p:nvPr/>
        </p:nvSpPr>
        <p:spPr>
          <a:xfrm>
            <a:off x="292608" y="713712"/>
            <a:ext cx="1161288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60" b="1">
                <a:solidFill>
                  <a:srgbClr val="1F54BF"/>
                </a:solidFill>
                <a:latin typeface="Noto Sans CJK JP"/>
              </a:rPr>
              <a:t>CostGuardでは，Task・Agent・Organizationの3つのScopeで累積Costを管理し，Budgetを適用できる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A3F2B2-0694-B5F1-5FB9-8FD4D716CA79}"/>
              </a:ext>
            </a:extLst>
          </p:cNvPr>
          <p:cNvSpPr/>
          <p:nvPr/>
        </p:nvSpPr>
        <p:spPr>
          <a:xfrm>
            <a:off x="384048" y="1325880"/>
            <a:ext cx="1536192" cy="365760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196936-4668-064F-0637-280C7CABB557}"/>
              </a:ext>
            </a:extLst>
          </p:cNvPr>
          <p:cNvSpPr txBox="1"/>
          <p:nvPr/>
        </p:nvSpPr>
        <p:spPr>
          <a:xfrm>
            <a:off x="384048" y="1325880"/>
            <a:ext cx="1536192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20" b="0">
                <a:solidFill>
                  <a:srgbClr val="000000"/>
                </a:solidFill>
                <a:latin typeface="Noto Sans CJK JP"/>
              </a:rPr>
              <a:t>Task実行要求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60430A-045D-DD64-EE65-3B3028B304C2}"/>
              </a:ext>
            </a:extLst>
          </p:cNvPr>
          <p:cNvSpPr/>
          <p:nvPr/>
        </p:nvSpPr>
        <p:spPr>
          <a:xfrm>
            <a:off x="2487168" y="1261872"/>
            <a:ext cx="1481328" cy="512064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F477F-FCD5-E9BB-EECB-3CB301BB85DA}"/>
              </a:ext>
            </a:extLst>
          </p:cNvPr>
          <p:cNvSpPr txBox="1"/>
          <p:nvPr/>
        </p:nvSpPr>
        <p:spPr>
          <a:xfrm>
            <a:off x="2487168" y="1261872"/>
            <a:ext cx="1481328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Noto Sans CJK JP"/>
              </a:rPr>
              <a:t>CostGuardで</a:t>
            </a:r>
          </a:p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Noto Sans CJK JP"/>
              </a:rPr>
              <a:t>Budget判定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B56A89-A1C5-C70D-8E82-F0102379BF86}"/>
              </a:ext>
            </a:extLst>
          </p:cNvPr>
          <p:cNvSpPr/>
          <p:nvPr/>
        </p:nvSpPr>
        <p:spPr>
          <a:xfrm>
            <a:off x="4572000" y="1133856"/>
            <a:ext cx="1051560" cy="365760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1F7A65-F423-FC9D-1330-4158E5D71A38}"/>
              </a:ext>
            </a:extLst>
          </p:cNvPr>
          <p:cNvSpPr txBox="1"/>
          <p:nvPr/>
        </p:nvSpPr>
        <p:spPr>
          <a:xfrm>
            <a:off x="4572000" y="1133856"/>
            <a:ext cx="1051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Noto Sans CJK JP"/>
              </a:rPr>
              <a:t>Deny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E0A1D6-DB08-59DC-FAB3-614AA0A9E7BC}"/>
              </a:ext>
            </a:extLst>
          </p:cNvPr>
          <p:cNvSpPr/>
          <p:nvPr/>
        </p:nvSpPr>
        <p:spPr>
          <a:xfrm>
            <a:off x="6007608" y="1133856"/>
            <a:ext cx="1097280" cy="365760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DF6245-66B8-5B22-3D77-99170E11A55A}"/>
              </a:ext>
            </a:extLst>
          </p:cNvPr>
          <p:cNvSpPr txBox="1"/>
          <p:nvPr/>
        </p:nvSpPr>
        <p:spPr>
          <a:xfrm>
            <a:off x="6007608" y="1133856"/>
            <a:ext cx="109728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Noto Sans CJK JP"/>
              </a:rPr>
              <a:t>停止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C8602B-CB82-7C29-4A4A-3FBF2DF5D43A}"/>
              </a:ext>
            </a:extLst>
          </p:cNvPr>
          <p:cNvSpPr/>
          <p:nvPr/>
        </p:nvSpPr>
        <p:spPr>
          <a:xfrm>
            <a:off x="4572000" y="1645920"/>
            <a:ext cx="1051560" cy="365760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163DD1-1EF9-75B1-F553-00AEE23FE067}"/>
              </a:ext>
            </a:extLst>
          </p:cNvPr>
          <p:cNvSpPr txBox="1"/>
          <p:nvPr/>
        </p:nvSpPr>
        <p:spPr>
          <a:xfrm>
            <a:off x="4572000" y="1645920"/>
            <a:ext cx="10515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0000"/>
                </a:solidFill>
                <a:latin typeface="Noto Sans CJK JP"/>
              </a:rPr>
              <a:t>Allow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AFB9A9-6F1D-9899-9349-4930192657A2}"/>
              </a:ext>
            </a:extLst>
          </p:cNvPr>
          <p:cNvSpPr/>
          <p:nvPr/>
        </p:nvSpPr>
        <p:spPr>
          <a:xfrm>
            <a:off x="6007608" y="1645920"/>
            <a:ext cx="1389888" cy="365760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A5247-6D30-E020-06E9-BF4AA22B8D20}"/>
              </a:ext>
            </a:extLst>
          </p:cNvPr>
          <p:cNvSpPr txBox="1"/>
          <p:nvPr/>
        </p:nvSpPr>
        <p:spPr>
          <a:xfrm>
            <a:off x="6007608" y="1645920"/>
            <a:ext cx="1389888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60" b="0">
                <a:solidFill>
                  <a:srgbClr val="000000"/>
                </a:solidFill>
                <a:latin typeface="Noto Sans CJK JP"/>
              </a:rPr>
              <a:t>Provider API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57A0BE-D56A-CEED-ED3D-E0FB49464D38}"/>
              </a:ext>
            </a:extLst>
          </p:cNvPr>
          <p:cNvSpPr/>
          <p:nvPr/>
        </p:nvSpPr>
        <p:spPr>
          <a:xfrm>
            <a:off x="8101583" y="1645920"/>
            <a:ext cx="1316736" cy="365760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9C68A2-9280-ADC5-61D7-A05968ED7965}"/>
              </a:ext>
            </a:extLst>
          </p:cNvPr>
          <p:cNvSpPr txBox="1"/>
          <p:nvPr/>
        </p:nvSpPr>
        <p:spPr>
          <a:xfrm>
            <a:off x="8101583" y="1645920"/>
            <a:ext cx="1316736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60" b="0">
                <a:solidFill>
                  <a:srgbClr val="000000"/>
                </a:solidFill>
                <a:latin typeface="Noto Sans CJK JP"/>
              </a:rPr>
              <a:t>Costを記録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08AF53-DA67-3FC5-E50B-BCA69C6AA28D}"/>
              </a:ext>
            </a:extLst>
          </p:cNvPr>
          <p:cNvSpPr/>
          <p:nvPr/>
        </p:nvSpPr>
        <p:spPr>
          <a:xfrm>
            <a:off x="10085832" y="1645920"/>
            <a:ext cx="1517904" cy="365760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526A61-FC5C-2ED9-B156-0E98747C18F9}"/>
              </a:ext>
            </a:extLst>
          </p:cNvPr>
          <p:cNvSpPr txBox="1"/>
          <p:nvPr/>
        </p:nvSpPr>
        <p:spPr>
          <a:xfrm>
            <a:off x="10085832" y="1645920"/>
            <a:ext cx="1517904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60" b="0">
                <a:solidFill>
                  <a:srgbClr val="000000"/>
                </a:solidFill>
                <a:latin typeface="Noto Sans CJK JP"/>
              </a:rPr>
              <a:t>次の判定へ反映</a:t>
            </a:r>
          </a:p>
        </p:txBody>
      </p:sp>
      <p:cxnSp>
        <p:nvCxnSpPr>
          <p:cNvPr id="23" name="Connector 19">
            <a:extLst>
              <a:ext uri="{FF2B5EF4-FFF2-40B4-BE49-F238E27FC236}">
                <a16:creationId xmlns:a16="http://schemas.microsoft.com/office/drawing/2014/main" id="{513D2043-8236-38D6-7200-73E10ED8845D}"/>
              </a:ext>
            </a:extLst>
          </p:cNvPr>
          <p:cNvCxnSpPr/>
          <p:nvPr/>
        </p:nvCxnSpPr>
        <p:spPr>
          <a:xfrm>
            <a:off x="1920240" y="1508760"/>
            <a:ext cx="484632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0">
            <a:extLst>
              <a:ext uri="{FF2B5EF4-FFF2-40B4-BE49-F238E27FC236}">
                <a16:creationId xmlns:a16="http://schemas.microsoft.com/office/drawing/2014/main" id="{508E040A-B057-5842-241C-EAE7FC9795C0}"/>
              </a:ext>
            </a:extLst>
          </p:cNvPr>
          <p:cNvSpPr/>
          <p:nvPr/>
        </p:nvSpPr>
        <p:spPr>
          <a:xfrm rot="5400000">
            <a:off x="2404872" y="1474470"/>
            <a:ext cx="82296" cy="68580"/>
          </a:xfrm>
          <a:prstGeom prst="triangle">
            <a:avLst/>
          </a:prstGeom>
          <a:solidFill>
            <a:srgbClr val="2D5AC8"/>
          </a:solidFill>
          <a:ln w="635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1">
            <a:extLst>
              <a:ext uri="{FF2B5EF4-FFF2-40B4-BE49-F238E27FC236}">
                <a16:creationId xmlns:a16="http://schemas.microsoft.com/office/drawing/2014/main" id="{3E43F070-A738-DAEE-3B13-63288776FA27}"/>
              </a:ext>
            </a:extLst>
          </p:cNvPr>
          <p:cNvCxnSpPr/>
          <p:nvPr/>
        </p:nvCxnSpPr>
        <p:spPr>
          <a:xfrm>
            <a:off x="3968496" y="1517904"/>
            <a:ext cx="283464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2">
            <a:extLst>
              <a:ext uri="{FF2B5EF4-FFF2-40B4-BE49-F238E27FC236}">
                <a16:creationId xmlns:a16="http://schemas.microsoft.com/office/drawing/2014/main" id="{38FE32AA-1508-1205-C2A7-D4564CFE4B16}"/>
              </a:ext>
            </a:extLst>
          </p:cNvPr>
          <p:cNvCxnSpPr/>
          <p:nvPr/>
        </p:nvCxnSpPr>
        <p:spPr>
          <a:xfrm flipV="1">
            <a:off x="4251960" y="1316736"/>
            <a:ext cx="0" cy="201168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3">
            <a:extLst>
              <a:ext uri="{FF2B5EF4-FFF2-40B4-BE49-F238E27FC236}">
                <a16:creationId xmlns:a16="http://schemas.microsoft.com/office/drawing/2014/main" id="{C5FCD12B-2013-0569-359D-BD8F363DBD74}"/>
              </a:ext>
            </a:extLst>
          </p:cNvPr>
          <p:cNvCxnSpPr/>
          <p:nvPr/>
        </p:nvCxnSpPr>
        <p:spPr>
          <a:xfrm>
            <a:off x="4251960" y="1517904"/>
            <a:ext cx="0" cy="310896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4">
            <a:extLst>
              <a:ext uri="{FF2B5EF4-FFF2-40B4-BE49-F238E27FC236}">
                <a16:creationId xmlns:a16="http://schemas.microsoft.com/office/drawing/2014/main" id="{0257BD1D-EFA2-DE2C-C388-43D04B9EB3A8}"/>
              </a:ext>
            </a:extLst>
          </p:cNvPr>
          <p:cNvCxnSpPr/>
          <p:nvPr/>
        </p:nvCxnSpPr>
        <p:spPr>
          <a:xfrm>
            <a:off x="4251960" y="1316736"/>
            <a:ext cx="237744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5">
            <a:extLst>
              <a:ext uri="{FF2B5EF4-FFF2-40B4-BE49-F238E27FC236}">
                <a16:creationId xmlns:a16="http://schemas.microsoft.com/office/drawing/2014/main" id="{976D5C98-E2D3-F5C3-7FE3-7AA1F01A01A8}"/>
              </a:ext>
            </a:extLst>
          </p:cNvPr>
          <p:cNvSpPr/>
          <p:nvPr/>
        </p:nvSpPr>
        <p:spPr>
          <a:xfrm rot="5400000">
            <a:off x="4489704" y="1282446"/>
            <a:ext cx="82296" cy="68580"/>
          </a:xfrm>
          <a:prstGeom prst="triangle">
            <a:avLst/>
          </a:prstGeom>
          <a:solidFill>
            <a:srgbClr val="2D5AC8"/>
          </a:solidFill>
          <a:ln w="635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6">
            <a:extLst>
              <a:ext uri="{FF2B5EF4-FFF2-40B4-BE49-F238E27FC236}">
                <a16:creationId xmlns:a16="http://schemas.microsoft.com/office/drawing/2014/main" id="{8DDE80F2-3D49-E3EB-E1A3-10171F3A8D39}"/>
              </a:ext>
            </a:extLst>
          </p:cNvPr>
          <p:cNvCxnSpPr/>
          <p:nvPr/>
        </p:nvCxnSpPr>
        <p:spPr>
          <a:xfrm>
            <a:off x="4251960" y="1828800"/>
            <a:ext cx="237744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27">
            <a:extLst>
              <a:ext uri="{FF2B5EF4-FFF2-40B4-BE49-F238E27FC236}">
                <a16:creationId xmlns:a16="http://schemas.microsoft.com/office/drawing/2014/main" id="{4A6B8EAB-C714-103A-9B81-BABB93FDCC42}"/>
              </a:ext>
            </a:extLst>
          </p:cNvPr>
          <p:cNvSpPr/>
          <p:nvPr/>
        </p:nvSpPr>
        <p:spPr>
          <a:xfrm rot="5400000">
            <a:off x="4489704" y="1794510"/>
            <a:ext cx="82296" cy="68580"/>
          </a:xfrm>
          <a:prstGeom prst="triangle">
            <a:avLst/>
          </a:prstGeom>
          <a:solidFill>
            <a:srgbClr val="2D5AC8"/>
          </a:solidFill>
          <a:ln w="635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28">
            <a:extLst>
              <a:ext uri="{FF2B5EF4-FFF2-40B4-BE49-F238E27FC236}">
                <a16:creationId xmlns:a16="http://schemas.microsoft.com/office/drawing/2014/main" id="{F4223E48-18F0-2ABF-140D-CAD6198987CC}"/>
              </a:ext>
            </a:extLst>
          </p:cNvPr>
          <p:cNvCxnSpPr/>
          <p:nvPr/>
        </p:nvCxnSpPr>
        <p:spPr>
          <a:xfrm>
            <a:off x="5623560" y="1316736"/>
            <a:ext cx="301752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29">
            <a:extLst>
              <a:ext uri="{FF2B5EF4-FFF2-40B4-BE49-F238E27FC236}">
                <a16:creationId xmlns:a16="http://schemas.microsoft.com/office/drawing/2014/main" id="{109D0444-B73A-B90E-D0CB-B85BDDD6D700}"/>
              </a:ext>
            </a:extLst>
          </p:cNvPr>
          <p:cNvSpPr/>
          <p:nvPr/>
        </p:nvSpPr>
        <p:spPr>
          <a:xfrm rot="5400000">
            <a:off x="5925312" y="1282446"/>
            <a:ext cx="82296" cy="68580"/>
          </a:xfrm>
          <a:prstGeom prst="triangle">
            <a:avLst/>
          </a:prstGeom>
          <a:solidFill>
            <a:srgbClr val="2D5AC8"/>
          </a:solidFill>
          <a:ln w="635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0">
            <a:extLst>
              <a:ext uri="{FF2B5EF4-FFF2-40B4-BE49-F238E27FC236}">
                <a16:creationId xmlns:a16="http://schemas.microsoft.com/office/drawing/2014/main" id="{A6CA0D8C-4BCE-CA2E-C455-A50EBAF72ADB}"/>
              </a:ext>
            </a:extLst>
          </p:cNvPr>
          <p:cNvCxnSpPr/>
          <p:nvPr/>
        </p:nvCxnSpPr>
        <p:spPr>
          <a:xfrm>
            <a:off x="5623560" y="1828800"/>
            <a:ext cx="301752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1">
            <a:extLst>
              <a:ext uri="{FF2B5EF4-FFF2-40B4-BE49-F238E27FC236}">
                <a16:creationId xmlns:a16="http://schemas.microsoft.com/office/drawing/2014/main" id="{6E5C23BD-7602-6168-BCF2-29C8FDE0602B}"/>
              </a:ext>
            </a:extLst>
          </p:cNvPr>
          <p:cNvSpPr/>
          <p:nvPr/>
        </p:nvSpPr>
        <p:spPr>
          <a:xfrm rot="5400000">
            <a:off x="5925312" y="1794510"/>
            <a:ext cx="82296" cy="68580"/>
          </a:xfrm>
          <a:prstGeom prst="triangle">
            <a:avLst/>
          </a:prstGeom>
          <a:solidFill>
            <a:srgbClr val="2D5AC8"/>
          </a:solidFill>
          <a:ln w="635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2">
            <a:extLst>
              <a:ext uri="{FF2B5EF4-FFF2-40B4-BE49-F238E27FC236}">
                <a16:creationId xmlns:a16="http://schemas.microsoft.com/office/drawing/2014/main" id="{BF632CB9-1AC5-CE63-46E4-505F49415EEB}"/>
              </a:ext>
            </a:extLst>
          </p:cNvPr>
          <p:cNvCxnSpPr/>
          <p:nvPr/>
        </p:nvCxnSpPr>
        <p:spPr>
          <a:xfrm>
            <a:off x="7397496" y="1828800"/>
            <a:ext cx="621791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3">
            <a:extLst>
              <a:ext uri="{FF2B5EF4-FFF2-40B4-BE49-F238E27FC236}">
                <a16:creationId xmlns:a16="http://schemas.microsoft.com/office/drawing/2014/main" id="{DA91BCA1-3822-A5BB-08FE-E39D9CE89CEC}"/>
              </a:ext>
            </a:extLst>
          </p:cNvPr>
          <p:cNvSpPr/>
          <p:nvPr/>
        </p:nvSpPr>
        <p:spPr>
          <a:xfrm rot="5400000">
            <a:off x="8019287" y="1794510"/>
            <a:ext cx="82296" cy="68580"/>
          </a:xfrm>
          <a:prstGeom prst="triangle">
            <a:avLst/>
          </a:prstGeom>
          <a:solidFill>
            <a:srgbClr val="2D5AC8"/>
          </a:solidFill>
          <a:ln w="635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4">
            <a:extLst>
              <a:ext uri="{FF2B5EF4-FFF2-40B4-BE49-F238E27FC236}">
                <a16:creationId xmlns:a16="http://schemas.microsoft.com/office/drawing/2014/main" id="{103180C6-6309-9471-8DCB-B1D442EE5E14}"/>
              </a:ext>
            </a:extLst>
          </p:cNvPr>
          <p:cNvCxnSpPr/>
          <p:nvPr/>
        </p:nvCxnSpPr>
        <p:spPr>
          <a:xfrm>
            <a:off x="9418320" y="1828800"/>
            <a:ext cx="585216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5">
            <a:extLst>
              <a:ext uri="{FF2B5EF4-FFF2-40B4-BE49-F238E27FC236}">
                <a16:creationId xmlns:a16="http://schemas.microsoft.com/office/drawing/2014/main" id="{520EF6FE-FD66-9174-68DC-7C5337B1B669}"/>
              </a:ext>
            </a:extLst>
          </p:cNvPr>
          <p:cNvSpPr/>
          <p:nvPr/>
        </p:nvSpPr>
        <p:spPr>
          <a:xfrm rot="5400000">
            <a:off x="10003536" y="1794510"/>
            <a:ext cx="82296" cy="68580"/>
          </a:xfrm>
          <a:prstGeom prst="triangle">
            <a:avLst/>
          </a:prstGeom>
          <a:solidFill>
            <a:srgbClr val="2D5AC8"/>
          </a:solidFill>
          <a:ln w="635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9137F9-680A-5B1D-2174-2A0AE29E7BAC}"/>
              </a:ext>
            </a:extLst>
          </p:cNvPr>
          <p:cNvSpPr txBox="1"/>
          <p:nvPr/>
        </p:nvSpPr>
        <p:spPr>
          <a:xfrm>
            <a:off x="475488" y="2270535"/>
            <a:ext cx="2011680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latin typeface="Noto Sans CJK JP"/>
              </a:rPr>
              <a:t>管理対象の構造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FBA6BD-85BA-9C8B-845E-6160C1A1A2DD}"/>
              </a:ext>
            </a:extLst>
          </p:cNvPr>
          <p:cNvSpPr/>
          <p:nvPr/>
        </p:nvSpPr>
        <p:spPr>
          <a:xfrm>
            <a:off x="4852892" y="2424506"/>
            <a:ext cx="1417317" cy="3108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Organization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EFFAAB-C548-2712-EFA2-E366859B336C}"/>
              </a:ext>
            </a:extLst>
          </p:cNvPr>
          <p:cNvSpPr/>
          <p:nvPr/>
        </p:nvSpPr>
        <p:spPr>
          <a:xfrm>
            <a:off x="3617219" y="2964708"/>
            <a:ext cx="1005840" cy="310896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agent-a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5A49BD-8833-ABD1-8935-E4EC988707FD}"/>
              </a:ext>
            </a:extLst>
          </p:cNvPr>
          <p:cNvSpPr/>
          <p:nvPr/>
        </p:nvSpPr>
        <p:spPr>
          <a:xfrm>
            <a:off x="6342131" y="2964708"/>
            <a:ext cx="1005840" cy="310896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agent-b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8184BF5-E107-5F74-3280-EC1B66A23D00}"/>
              </a:ext>
            </a:extLst>
          </p:cNvPr>
          <p:cNvSpPr/>
          <p:nvPr/>
        </p:nvSpPr>
        <p:spPr>
          <a:xfrm>
            <a:off x="2757683" y="3513348"/>
            <a:ext cx="1115568" cy="310896"/>
          </a:xfrm>
          <a:prstGeom prst="rect">
            <a:avLst/>
          </a:prstGeom>
          <a:solidFill>
            <a:schemeClr val="bg1">
              <a:lumMod val="85000"/>
            </a:schemeClr>
          </a:solidFill>
          <a:ln w="14604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task-a-1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F82AA8-31C1-9F6D-A59A-B5EB6A0EAE04}"/>
              </a:ext>
            </a:extLst>
          </p:cNvPr>
          <p:cNvSpPr/>
          <p:nvPr/>
        </p:nvSpPr>
        <p:spPr>
          <a:xfrm>
            <a:off x="4046986" y="3513348"/>
            <a:ext cx="1115568" cy="310896"/>
          </a:xfrm>
          <a:prstGeom prst="rect">
            <a:avLst/>
          </a:prstGeom>
          <a:solidFill>
            <a:schemeClr val="bg1">
              <a:lumMod val="85000"/>
            </a:schemeClr>
          </a:solidFill>
          <a:ln w="14604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task-a-2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E9FDDDD-4766-77BF-164A-DC0AC4C8D5C7}"/>
              </a:ext>
            </a:extLst>
          </p:cNvPr>
          <p:cNvSpPr/>
          <p:nvPr/>
        </p:nvSpPr>
        <p:spPr>
          <a:xfrm>
            <a:off x="5811779" y="3513348"/>
            <a:ext cx="1115568" cy="310896"/>
          </a:xfrm>
          <a:prstGeom prst="rect">
            <a:avLst/>
          </a:prstGeom>
          <a:solidFill>
            <a:schemeClr val="bg1">
              <a:lumMod val="85000"/>
            </a:schemeClr>
          </a:solidFill>
          <a:ln w="14604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>
                <a:solidFill>
                  <a:srgbClr val="000000"/>
                </a:solidFill>
                <a:latin typeface="Noto Sans CJK JP"/>
              </a:rPr>
              <a:t>task-b-1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EF29D7F-4268-24F4-455A-A0EE300820B2}"/>
              </a:ext>
            </a:extLst>
          </p:cNvPr>
          <p:cNvSpPr/>
          <p:nvPr/>
        </p:nvSpPr>
        <p:spPr>
          <a:xfrm>
            <a:off x="7101083" y="3513348"/>
            <a:ext cx="1115568" cy="310896"/>
          </a:xfrm>
          <a:prstGeom prst="rect">
            <a:avLst/>
          </a:prstGeom>
          <a:solidFill>
            <a:schemeClr val="bg1">
              <a:lumMod val="85000"/>
            </a:schemeClr>
          </a:solidFill>
          <a:ln w="14604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task-b-2</a:t>
            </a:r>
          </a:p>
        </p:txBody>
      </p:sp>
      <p:cxnSp>
        <p:nvCxnSpPr>
          <p:cNvPr id="56" name="Connector 52">
            <a:extLst>
              <a:ext uri="{FF2B5EF4-FFF2-40B4-BE49-F238E27FC236}">
                <a16:creationId xmlns:a16="http://schemas.microsoft.com/office/drawing/2014/main" id="{B1029C18-4B16-A5B6-6999-86B5CBC33E62}"/>
              </a:ext>
            </a:extLst>
          </p:cNvPr>
          <p:cNvCxnSpPr/>
          <p:nvPr/>
        </p:nvCxnSpPr>
        <p:spPr>
          <a:xfrm>
            <a:off x="5564891" y="2721334"/>
            <a:ext cx="0" cy="146304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3">
            <a:extLst>
              <a:ext uri="{FF2B5EF4-FFF2-40B4-BE49-F238E27FC236}">
                <a16:creationId xmlns:a16="http://schemas.microsoft.com/office/drawing/2014/main" id="{8EC21463-5E4A-0F2D-5BF2-E022522CAE9E}"/>
              </a:ext>
            </a:extLst>
          </p:cNvPr>
          <p:cNvCxnSpPr/>
          <p:nvPr/>
        </p:nvCxnSpPr>
        <p:spPr>
          <a:xfrm>
            <a:off x="4120138" y="2874672"/>
            <a:ext cx="2724913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4">
            <a:extLst>
              <a:ext uri="{FF2B5EF4-FFF2-40B4-BE49-F238E27FC236}">
                <a16:creationId xmlns:a16="http://schemas.microsoft.com/office/drawing/2014/main" id="{31206A66-0D92-E9E5-6897-D02A03AA6C50}"/>
              </a:ext>
            </a:extLst>
          </p:cNvPr>
          <p:cNvCxnSpPr/>
          <p:nvPr/>
        </p:nvCxnSpPr>
        <p:spPr>
          <a:xfrm flipV="1">
            <a:off x="4120138" y="2865221"/>
            <a:ext cx="0" cy="94871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6">
            <a:extLst>
              <a:ext uri="{FF2B5EF4-FFF2-40B4-BE49-F238E27FC236}">
                <a16:creationId xmlns:a16="http://schemas.microsoft.com/office/drawing/2014/main" id="{34E42D61-4F94-0960-8763-1987854789CD}"/>
              </a:ext>
            </a:extLst>
          </p:cNvPr>
          <p:cNvCxnSpPr/>
          <p:nvPr/>
        </p:nvCxnSpPr>
        <p:spPr>
          <a:xfrm>
            <a:off x="4120138" y="3275604"/>
            <a:ext cx="0" cy="146304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57">
            <a:extLst>
              <a:ext uri="{FF2B5EF4-FFF2-40B4-BE49-F238E27FC236}">
                <a16:creationId xmlns:a16="http://schemas.microsoft.com/office/drawing/2014/main" id="{EC3D8579-EED9-6977-5F03-DF0E2619A824}"/>
              </a:ext>
            </a:extLst>
          </p:cNvPr>
          <p:cNvCxnSpPr/>
          <p:nvPr/>
        </p:nvCxnSpPr>
        <p:spPr>
          <a:xfrm>
            <a:off x="6845051" y="3275604"/>
            <a:ext cx="0" cy="146304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58">
            <a:extLst>
              <a:ext uri="{FF2B5EF4-FFF2-40B4-BE49-F238E27FC236}">
                <a16:creationId xmlns:a16="http://schemas.microsoft.com/office/drawing/2014/main" id="{A5373A8B-4758-A9E4-D5AF-6622FF8CE536}"/>
              </a:ext>
            </a:extLst>
          </p:cNvPr>
          <p:cNvCxnSpPr/>
          <p:nvPr/>
        </p:nvCxnSpPr>
        <p:spPr>
          <a:xfrm>
            <a:off x="3315467" y="3421908"/>
            <a:ext cx="1289304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59">
            <a:extLst>
              <a:ext uri="{FF2B5EF4-FFF2-40B4-BE49-F238E27FC236}">
                <a16:creationId xmlns:a16="http://schemas.microsoft.com/office/drawing/2014/main" id="{A4473608-416E-09C8-FA1A-30B6654F61F4}"/>
              </a:ext>
            </a:extLst>
          </p:cNvPr>
          <p:cNvCxnSpPr/>
          <p:nvPr/>
        </p:nvCxnSpPr>
        <p:spPr>
          <a:xfrm>
            <a:off x="6369563" y="3421908"/>
            <a:ext cx="1289304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0">
            <a:extLst>
              <a:ext uri="{FF2B5EF4-FFF2-40B4-BE49-F238E27FC236}">
                <a16:creationId xmlns:a16="http://schemas.microsoft.com/office/drawing/2014/main" id="{407BEE3D-033B-52B8-8775-924DF6367A55}"/>
              </a:ext>
            </a:extLst>
          </p:cNvPr>
          <p:cNvCxnSpPr/>
          <p:nvPr/>
        </p:nvCxnSpPr>
        <p:spPr>
          <a:xfrm>
            <a:off x="3315467" y="3421908"/>
            <a:ext cx="0" cy="9144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1">
            <a:extLst>
              <a:ext uri="{FF2B5EF4-FFF2-40B4-BE49-F238E27FC236}">
                <a16:creationId xmlns:a16="http://schemas.microsoft.com/office/drawing/2014/main" id="{14D48F8B-B065-A0AE-81C8-A686A165298B}"/>
              </a:ext>
            </a:extLst>
          </p:cNvPr>
          <p:cNvCxnSpPr/>
          <p:nvPr/>
        </p:nvCxnSpPr>
        <p:spPr>
          <a:xfrm>
            <a:off x="4604771" y="3421908"/>
            <a:ext cx="0" cy="9144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2">
            <a:extLst>
              <a:ext uri="{FF2B5EF4-FFF2-40B4-BE49-F238E27FC236}">
                <a16:creationId xmlns:a16="http://schemas.microsoft.com/office/drawing/2014/main" id="{21BD7CC7-D342-0A38-726B-1074CF1B228E}"/>
              </a:ext>
            </a:extLst>
          </p:cNvPr>
          <p:cNvCxnSpPr/>
          <p:nvPr/>
        </p:nvCxnSpPr>
        <p:spPr>
          <a:xfrm>
            <a:off x="6369563" y="3421908"/>
            <a:ext cx="0" cy="9144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3">
            <a:extLst>
              <a:ext uri="{FF2B5EF4-FFF2-40B4-BE49-F238E27FC236}">
                <a16:creationId xmlns:a16="http://schemas.microsoft.com/office/drawing/2014/main" id="{DD367730-B147-4DD0-A89C-686687C5E087}"/>
              </a:ext>
            </a:extLst>
          </p:cNvPr>
          <p:cNvCxnSpPr/>
          <p:nvPr/>
        </p:nvCxnSpPr>
        <p:spPr>
          <a:xfrm>
            <a:off x="7658867" y="3421908"/>
            <a:ext cx="0" cy="9144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13A6F8C-04AD-7ABA-A4CE-17CF06B34F85}"/>
              </a:ext>
            </a:extLst>
          </p:cNvPr>
          <p:cNvSpPr txBox="1"/>
          <p:nvPr/>
        </p:nvSpPr>
        <p:spPr>
          <a:xfrm>
            <a:off x="475488" y="2700973"/>
            <a:ext cx="3010015" cy="492443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Noto Sans CJK JP"/>
              </a:rPr>
              <a:t>Organizationの下に複数Agent，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Noto Sans CJK JP"/>
              </a:rPr>
              <a:t>各Agentの下に複数Taskが存在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D63C57-BD94-2E5E-FFE4-84DF9EC2BCC9}"/>
              </a:ext>
            </a:extLst>
          </p:cNvPr>
          <p:cNvSpPr txBox="1"/>
          <p:nvPr/>
        </p:nvSpPr>
        <p:spPr>
          <a:xfrm>
            <a:off x="1147210" y="4525764"/>
            <a:ext cx="1572768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0" b="0">
                <a:solidFill>
                  <a:srgbClr val="000000"/>
                </a:solidFill>
                <a:latin typeface="Noto Sans CJK JP"/>
              </a:rPr>
              <a:t>Task Budget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861A88-34C9-0769-0441-D18E3FCA7724}"/>
              </a:ext>
            </a:extLst>
          </p:cNvPr>
          <p:cNvSpPr txBox="1"/>
          <p:nvPr/>
        </p:nvSpPr>
        <p:spPr>
          <a:xfrm>
            <a:off x="4620674" y="4525764"/>
            <a:ext cx="178308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0" b="0">
                <a:solidFill>
                  <a:srgbClr val="000000"/>
                </a:solidFill>
                <a:latin typeface="Noto Sans CJK JP"/>
              </a:rPr>
              <a:t>Agent Budget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76DBF5-0398-D814-3839-503FBC13C141}"/>
              </a:ext>
            </a:extLst>
          </p:cNvPr>
          <p:cNvSpPr txBox="1"/>
          <p:nvPr/>
        </p:nvSpPr>
        <p:spPr>
          <a:xfrm>
            <a:off x="7976098" y="4525764"/>
            <a:ext cx="274320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20" b="0">
                <a:solidFill>
                  <a:srgbClr val="000000"/>
                </a:solidFill>
                <a:latin typeface="Noto Sans CJK JP"/>
              </a:rPr>
              <a:t>Organization Budget</a:t>
            </a:r>
          </a:p>
        </p:txBody>
      </p:sp>
      <p:cxnSp>
        <p:nvCxnSpPr>
          <p:cNvPr id="73" name="Connector 69">
            <a:extLst>
              <a:ext uri="{FF2B5EF4-FFF2-40B4-BE49-F238E27FC236}">
                <a16:creationId xmlns:a16="http://schemas.microsoft.com/office/drawing/2014/main" id="{26F19ED7-1C49-FBBD-27BB-B7AD6CD71BD8}"/>
              </a:ext>
            </a:extLst>
          </p:cNvPr>
          <p:cNvCxnSpPr/>
          <p:nvPr/>
        </p:nvCxnSpPr>
        <p:spPr>
          <a:xfrm>
            <a:off x="3675887" y="4726932"/>
            <a:ext cx="0" cy="1517904"/>
          </a:xfrm>
          <a:prstGeom prst="line">
            <a:avLst/>
          </a:prstGeom>
          <a:ln w="12700">
            <a:solidFill>
              <a:srgbClr val="C1D3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0">
            <a:extLst>
              <a:ext uri="{FF2B5EF4-FFF2-40B4-BE49-F238E27FC236}">
                <a16:creationId xmlns:a16="http://schemas.microsoft.com/office/drawing/2014/main" id="{B95634D8-F901-9162-A411-7BF36DFE4007}"/>
              </a:ext>
            </a:extLst>
          </p:cNvPr>
          <p:cNvCxnSpPr/>
          <p:nvPr/>
        </p:nvCxnSpPr>
        <p:spPr>
          <a:xfrm>
            <a:off x="7607808" y="4726932"/>
            <a:ext cx="0" cy="1517904"/>
          </a:xfrm>
          <a:prstGeom prst="line">
            <a:avLst/>
          </a:prstGeom>
          <a:ln w="12700">
            <a:solidFill>
              <a:srgbClr val="C1D3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E61CF072-D973-5537-04B0-0CC69C9348B4}"/>
              </a:ext>
            </a:extLst>
          </p:cNvPr>
          <p:cNvSpPr/>
          <p:nvPr/>
        </p:nvSpPr>
        <p:spPr>
          <a:xfrm>
            <a:off x="1243584" y="5469752"/>
            <a:ext cx="1325880" cy="329184"/>
          </a:xfrm>
          <a:prstGeom prst="rect">
            <a:avLst/>
          </a:prstGeom>
          <a:solidFill>
            <a:schemeClr val="bg1">
              <a:lumMod val="85000"/>
            </a:schemeClr>
          </a:solidFill>
          <a:ln w="14604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task-a-1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A0ADD22-D015-61AA-7571-1AD795F1C600}"/>
              </a:ext>
            </a:extLst>
          </p:cNvPr>
          <p:cNvSpPr/>
          <p:nvPr/>
        </p:nvSpPr>
        <p:spPr>
          <a:xfrm>
            <a:off x="1243584" y="5888220"/>
            <a:ext cx="1325880" cy="329184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Budget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BF6862-6DE2-537C-D206-40EB139CB259}"/>
              </a:ext>
            </a:extLst>
          </p:cNvPr>
          <p:cNvSpPr txBox="1"/>
          <p:nvPr/>
        </p:nvSpPr>
        <p:spPr>
          <a:xfrm>
            <a:off x="868680" y="6327028"/>
            <a:ext cx="202996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Noto Sans CJK JP"/>
              </a:rPr>
              <a:t>1 Taskごとに個別判定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44A8D5D-D715-A47D-C29D-158B05182775}"/>
              </a:ext>
            </a:extLst>
          </p:cNvPr>
          <p:cNvSpPr/>
          <p:nvPr/>
        </p:nvSpPr>
        <p:spPr>
          <a:xfrm>
            <a:off x="4892040" y="4957688"/>
            <a:ext cx="1243584" cy="310896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agent-a</a:t>
            </a:r>
          </a:p>
        </p:txBody>
      </p:sp>
      <p:cxnSp>
        <p:nvCxnSpPr>
          <p:cNvPr id="82" name="Connector 78">
            <a:extLst>
              <a:ext uri="{FF2B5EF4-FFF2-40B4-BE49-F238E27FC236}">
                <a16:creationId xmlns:a16="http://schemas.microsoft.com/office/drawing/2014/main" id="{CF2BE723-11B5-02EC-E400-CFD7D73BEB33}"/>
              </a:ext>
            </a:extLst>
          </p:cNvPr>
          <p:cNvCxnSpPr/>
          <p:nvPr/>
        </p:nvCxnSpPr>
        <p:spPr>
          <a:xfrm>
            <a:off x="5513832" y="5268584"/>
            <a:ext cx="0" cy="82296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79">
            <a:extLst>
              <a:ext uri="{FF2B5EF4-FFF2-40B4-BE49-F238E27FC236}">
                <a16:creationId xmlns:a16="http://schemas.microsoft.com/office/drawing/2014/main" id="{ADB67792-3E6F-8A88-6355-5EEB0BA9E670}"/>
              </a:ext>
            </a:extLst>
          </p:cNvPr>
          <p:cNvCxnSpPr/>
          <p:nvPr/>
        </p:nvCxnSpPr>
        <p:spPr>
          <a:xfrm>
            <a:off x="4882896" y="5350880"/>
            <a:ext cx="1261872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0">
            <a:extLst>
              <a:ext uri="{FF2B5EF4-FFF2-40B4-BE49-F238E27FC236}">
                <a16:creationId xmlns:a16="http://schemas.microsoft.com/office/drawing/2014/main" id="{E05A289C-AC6F-8D44-B237-7EF79A0B556C}"/>
              </a:ext>
            </a:extLst>
          </p:cNvPr>
          <p:cNvCxnSpPr/>
          <p:nvPr/>
        </p:nvCxnSpPr>
        <p:spPr>
          <a:xfrm>
            <a:off x="4882896" y="5350880"/>
            <a:ext cx="0" cy="100584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1">
            <a:extLst>
              <a:ext uri="{FF2B5EF4-FFF2-40B4-BE49-F238E27FC236}">
                <a16:creationId xmlns:a16="http://schemas.microsoft.com/office/drawing/2014/main" id="{40C791B6-FEDD-CB4F-C98B-6DDB8B15DE68}"/>
              </a:ext>
            </a:extLst>
          </p:cNvPr>
          <p:cNvCxnSpPr/>
          <p:nvPr/>
        </p:nvCxnSpPr>
        <p:spPr>
          <a:xfrm>
            <a:off x="6144768" y="5350880"/>
            <a:ext cx="0" cy="100584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FD306BD4-DD67-CD4C-0F1D-9DC0BE216F19}"/>
              </a:ext>
            </a:extLst>
          </p:cNvPr>
          <p:cNvSpPr/>
          <p:nvPr/>
        </p:nvSpPr>
        <p:spPr>
          <a:xfrm>
            <a:off x="4242816" y="5451464"/>
            <a:ext cx="1051560" cy="310896"/>
          </a:xfrm>
          <a:prstGeom prst="rect">
            <a:avLst/>
          </a:prstGeom>
          <a:solidFill>
            <a:schemeClr val="bg1">
              <a:lumMod val="85000"/>
            </a:schemeClr>
          </a:solidFill>
          <a:ln w="14604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task-a-1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BC957C5-2318-CBA8-B10B-B8E1EE7B1FF4}"/>
              </a:ext>
            </a:extLst>
          </p:cNvPr>
          <p:cNvSpPr/>
          <p:nvPr/>
        </p:nvSpPr>
        <p:spPr>
          <a:xfrm>
            <a:off x="5650992" y="5451464"/>
            <a:ext cx="1051560" cy="310896"/>
          </a:xfrm>
          <a:prstGeom prst="rect">
            <a:avLst/>
          </a:prstGeom>
          <a:solidFill>
            <a:schemeClr val="bg1">
              <a:lumMod val="85000"/>
            </a:schemeClr>
          </a:solidFill>
          <a:ln w="14604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task-a-2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CCF292F-97D2-7004-756B-589188F7D7A6}"/>
              </a:ext>
            </a:extLst>
          </p:cNvPr>
          <p:cNvSpPr/>
          <p:nvPr/>
        </p:nvSpPr>
        <p:spPr>
          <a:xfrm>
            <a:off x="4251960" y="5851644"/>
            <a:ext cx="2488470" cy="365760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Budget（agent-a</a:t>
            </a:r>
            <a:r>
              <a:rPr lang="ja-JP" altLang="en-US">
                <a:solidFill>
                  <a:srgbClr val="000000"/>
                </a:solidFill>
                <a:latin typeface="Noto Sans CJK JP"/>
              </a:rPr>
              <a:t>用）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6DC3711-295B-4385-ABBD-EBD3B32562F1}"/>
              </a:ext>
            </a:extLst>
          </p:cNvPr>
          <p:cNvSpPr txBox="1"/>
          <p:nvPr/>
        </p:nvSpPr>
        <p:spPr>
          <a:xfrm>
            <a:off x="4114800" y="6327028"/>
            <a:ext cx="2697480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Noto Sans CJK JP"/>
              </a:rPr>
              <a:t>同じAgent内のTaskを合算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F17E819-E93E-0436-BA00-A234EFAB5456}"/>
              </a:ext>
            </a:extLst>
          </p:cNvPr>
          <p:cNvSpPr/>
          <p:nvPr/>
        </p:nvSpPr>
        <p:spPr>
          <a:xfrm>
            <a:off x="8778240" y="4994264"/>
            <a:ext cx="1280160" cy="3108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4604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Noto Sans CJK JP"/>
              </a:rPr>
              <a:t>Organization</a:t>
            </a:r>
          </a:p>
        </p:txBody>
      </p:sp>
      <p:cxnSp>
        <p:nvCxnSpPr>
          <p:cNvPr id="95" name="Connector 91">
            <a:extLst>
              <a:ext uri="{FF2B5EF4-FFF2-40B4-BE49-F238E27FC236}">
                <a16:creationId xmlns:a16="http://schemas.microsoft.com/office/drawing/2014/main" id="{E8F743B3-6C01-5C6E-6461-1FA5B191ECAF}"/>
              </a:ext>
            </a:extLst>
          </p:cNvPr>
          <p:cNvCxnSpPr/>
          <p:nvPr/>
        </p:nvCxnSpPr>
        <p:spPr>
          <a:xfrm>
            <a:off x="9418320" y="5305160"/>
            <a:ext cx="0" cy="82296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2">
            <a:extLst>
              <a:ext uri="{FF2B5EF4-FFF2-40B4-BE49-F238E27FC236}">
                <a16:creationId xmlns:a16="http://schemas.microsoft.com/office/drawing/2014/main" id="{EB4833B9-61C7-BC4E-2194-6AAB863BE69E}"/>
              </a:ext>
            </a:extLst>
          </p:cNvPr>
          <p:cNvCxnSpPr/>
          <p:nvPr/>
        </p:nvCxnSpPr>
        <p:spPr>
          <a:xfrm>
            <a:off x="8613648" y="5387456"/>
            <a:ext cx="1609344" cy="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3">
            <a:extLst>
              <a:ext uri="{FF2B5EF4-FFF2-40B4-BE49-F238E27FC236}">
                <a16:creationId xmlns:a16="http://schemas.microsoft.com/office/drawing/2014/main" id="{9B871A95-61BC-1233-2F8C-72DE47D77921}"/>
              </a:ext>
            </a:extLst>
          </p:cNvPr>
          <p:cNvCxnSpPr/>
          <p:nvPr/>
        </p:nvCxnSpPr>
        <p:spPr>
          <a:xfrm>
            <a:off x="8613648" y="5387456"/>
            <a:ext cx="0" cy="100584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4">
            <a:extLst>
              <a:ext uri="{FF2B5EF4-FFF2-40B4-BE49-F238E27FC236}">
                <a16:creationId xmlns:a16="http://schemas.microsoft.com/office/drawing/2014/main" id="{C62C035B-2909-4E50-6BC9-F126DC00168F}"/>
              </a:ext>
            </a:extLst>
          </p:cNvPr>
          <p:cNvCxnSpPr/>
          <p:nvPr/>
        </p:nvCxnSpPr>
        <p:spPr>
          <a:xfrm>
            <a:off x="10222992" y="5387456"/>
            <a:ext cx="0" cy="100584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064838D8-3E90-4CB0-E9A1-D35AEAE639B7}"/>
              </a:ext>
            </a:extLst>
          </p:cNvPr>
          <p:cNvSpPr/>
          <p:nvPr/>
        </p:nvSpPr>
        <p:spPr>
          <a:xfrm>
            <a:off x="7973568" y="5488040"/>
            <a:ext cx="1060704" cy="310896"/>
          </a:xfrm>
          <a:prstGeom prst="rect">
            <a:avLst/>
          </a:prstGeom>
          <a:solidFill>
            <a:schemeClr val="bg1"/>
          </a:solidFill>
          <a:ln w="14604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agent-a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DA3B585-A534-1629-13F1-50696AEB8FD9}"/>
              </a:ext>
            </a:extLst>
          </p:cNvPr>
          <p:cNvSpPr/>
          <p:nvPr/>
        </p:nvSpPr>
        <p:spPr>
          <a:xfrm>
            <a:off x="9802368" y="5488040"/>
            <a:ext cx="1060704" cy="310896"/>
          </a:xfrm>
          <a:prstGeom prst="rect">
            <a:avLst/>
          </a:prstGeom>
          <a:solidFill>
            <a:schemeClr val="bg1"/>
          </a:solidFill>
          <a:ln w="14604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agent-b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D804764-50AF-5BD6-565C-5146720D74FE}"/>
              </a:ext>
            </a:extLst>
          </p:cNvPr>
          <p:cNvSpPr/>
          <p:nvPr/>
        </p:nvSpPr>
        <p:spPr>
          <a:xfrm>
            <a:off x="7976098" y="5851644"/>
            <a:ext cx="2893960" cy="365760"/>
          </a:xfrm>
          <a:prstGeom prst="rect">
            <a:avLst/>
          </a:prstGeom>
          <a:solidFill>
            <a:srgbClr val="FFFFFF"/>
          </a:solidFill>
          <a:ln w="14604">
            <a:solidFill>
              <a:srgbClr val="2D5A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  <a:latin typeface="Noto Sans CJK JP"/>
              </a:rPr>
              <a:t>Budget（Organization</a:t>
            </a:r>
            <a:r>
              <a:rPr lang="ja-JP" altLang="en-US">
                <a:solidFill>
                  <a:srgbClr val="000000"/>
                </a:solidFill>
                <a:latin typeface="Noto Sans CJK JP"/>
              </a:rPr>
              <a:t>用）</a:t>
            </a:r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9F2C083-CE9C-6664-4274-23DACE2B0A35}"/>
              </a:ext>
            </a:extLst>
          </p:cNvPr>
          <p:cNvSpPr txBox="1"/>
          <p:nvPr/>
        </p:nvSpPr>
        <p:spPr>
          <a:xfrm>
            <a:off x="8193024" y="6327028"/>
            <a:ext cx="2377440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000000"/>
                </a:solidFill>
                <a:latin typeface="Noto Sans CJK JP"/>
              </a:rPr>
              <a:t>全AgentのTaskを合算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E612AD6-85F1-3FC1-F785-F939BC230223}"/>
              </a:ext>
            </a:extLst>
          </p:cNvPr>
          <p:cNvSpPr txBox="1"/>
          <p:nvPr/>
        </p:nvSpPr>
        <p:spPr>
          <a:xfrm>
            <a:off x="531119" y="4133057"/>
            <a:ext cx="10561320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600">
                <a:latin typeface="Noto Sans CJK JP"/>
              </a:rPr>
              <a:t>AGT CostGuardでは，Task → Agent → OrganizationとBudgetの管理Scopeを広げられる</a:t>
            </a:r>
          </a:p>
        </p:txBody>
      </p:sp>
      <p:cxnSp>
        <p:nvCxnSpPr>
          <p:cNvPr id="107" name="Connector 19">
            <a:extLst>
              <a:ext uri="{FF2B5EF4-FFF2-40B4-BE49-F238E27FC236}">
                <a16:creationId xmlns:a16="http://schemas.microsoft.com/office/drawing/2014/main" id="{45408484-48D0-7B40-3460-E7AD99B62F79}"/>
              </a:ext>
            </a:extLst>
          </p:cNvPr>
          <p:cNvCxnSpPr>
            <a:cxnSpLocks/>
          </p:cNvCxnSpPr>
          <p:nvPr/>
        </p:nvCxnSpPr>
        <p:spPr>
          <a:xfrm>
            <a:off x="569990" y="2197829"/>
            <a:ext cx="10861520" cy="0"/>
          </a:xfrm>
          <a:prstGeom prst="line">
            <a:avLst/>
          </a:prstGeom>
          <a:ln w="15240">
            <a:solidFill>
              <a:schemeClr val="tx1">
                <a:alpha val="29357"/>
              </a:schemeClr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9">
            <a:extLst>
              <a:ext uri="{FF2B5EF4-FFF2-40B4-BE49-F238E27FC236}">
                <a16:creationId xmlns:a16="http://schemas.microsoft.com/office/drawing/2014/main" id="{6CF25B2C-430D-603F-CA6D-27B785A881D2}"/>
              </a:ext>
            </a:extLst>
          </p:cNvPr>
          <p:cNvCxnSpPr>
            <a:cxnSpLocks/>
          </p:cNvCxnSpPr>
          <p:nvPr/>
        </p:nvCxnSpPr>
        <p:spPr>
          <a:xfrm>
            <a:off x="614698" y="3999967"/>
            <a:ext cx="10861520" cy="0"/>
          </a:xfrm>
          <a:prstGeom prst="line">
            <a:avLst/>
          </a:prstGeom>
          <a:ln w="15240">
            <a:solidFill>
              <a:schemeClr val="tx1">
                <a:alpha val="29357"/>
              </a:schemeClr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54">
            <a:extLst>
              <a:ext uri="{FF2B5EF4-FFF2-40B4-BE49-F238E27FC236}">
                <a16:creationId xmlns:a16="http://schemas.microsoft.com/office/drawing/2014/main" id="{7DFE44E7-E3CC-278F-CEE3-2224AEEC0D45}"/>
              </a:ext>
            </a:extLst>
          </p:cNvPr>
          <p:cNvCxnSpPr/>
          <p:nvPr/>
        </p:nvCxnSpPr>
        <p:spPr>
          <a:xfrm flipV="1">
            <a:off x="6846928" y="2862873"/>
            <a:ext cx="0" cy="94871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921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C64327-EF3E-7391-0AF2-28AF35D499B1}"/>
              </a:ext>
            </a:extLst>
          </p:cNvPr>
          <p:cNvSpPr txBox="1"/>
          <p:nvPr/>
        </p:nvSpPr>
        <p:spPr>
          <a:xfrm>
            <a:off x="256032" y="128016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00000"/>
                </a:solidFill>
                <a:latin typeface="Noto Sans CJK JP"/>
              </a:rPr>
              <a:t>Cost Governanceの整理と推奨構成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F642D-B1F4-7412-748A-E01A0DAD19D5}"/>
              </a:ext>
            </a:extLst>
          </p:cNvPr>
          <p:cNvSpPr txBox="1"/>
          <p:nvPr/>
        </p:nvSpPr>
        <p:spPr>
          <a:xfrm>
            <a:off x="283464" y="731520"/>
            <a:ext cx="11430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60" b="1">
                <a:solidFill>
                  <a:srgbClr val="1F54BF"/>
                </a:solidFill>
                <a:latin typeface="Noto Sans CJK JP"/>
              </a:rPr>
              <a:t>実験・調査の結果を，4つの観点で整理し，実運用で推奨するCost Governanceの構成を示す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17735-E2E8-253D-A24B-70A7616CAB74}"/>
              </a:ext>
            </a:extLst>
          </p:cNvPr>
          <p:cNvSpPr txBox="1"/>
          <p:nvPr/>
        </p:nvSpPr>
        <p:spPr>
          <a:xfrm>
            <a:off x="283464" y="1143000"/>
            <a:ext cx="3657600" cy="2410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80" b="1">
                <a:latin typeface="Noto Sans CJK JP"/>
              </a:rPr>
              <a:t>4つの問いへの回答（結論）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4BCAFA-93CE-3DBD-9F17-962092E7B479}"/>
              </a:ext>
            </a:extLst>
          </p:cNvPr>
          <p:cNvSpPr/>
          <p:nvPr/>
        </p:nvSpPr>
        <p:spPr>
          <a:xfrm>
            <a:off x="301752" y="1389888"/>
            <a:ext cx="2724912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DC535D-0DBF-762C-4BD8-EC4414672624}"/>
              </a:ext>
            </a:extLst>
          </p:cNvPr>
          <p:cNvSpPr/>
          <p:nvPr/>
        </p:nvSpPr>
        <p:spPr>
          <a:xfrm>
            <a:off x="3163824" y="1389888"/>
            <a:ext cx="2724912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449357-FF6F-C93B-20B6-A2C3DB3C13E5}"/>
              </a:ext>
            </a:extLst>
          </p:cNvPr>
          <p:cNvSpPr/>
          <p:nvPr/>
        </p:nvSpPr>
        <p:spPr>
          <a:xfrm>
            <a:off x="6025896" y="1389888"/>
            <a:ext cx="2724912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9D3223-8BA0-15FC-859E-808F1ABD8831}"/>
              </a:ext>
            </a:extLst>
          </p:cNvPr>
          <p:cNvSpPr/>
          <p:nvPr/>
        </p:nvSpPr>
        <p:spPr>
          <a:xfrm>
            <a:off x="8887968" y="1389888"/>
            <a:ext cx="2724912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6F4B93-EF5C-FC1D-0642-FBB293CBDE2E}"/>
              </a:ext>
            </a:extLst>
          </p:cNvPr>
          <p:cNvSpPr txBox="1"/>
          <p:nvPr/>
        </p:nvSpPr>
        <p:spPr>
          <a:xfrm>
            <a:off x="437935" y="1499616"/>
            <a:ext cx="914400" cy="2778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700" b="1">
                <a:latin typeface="Noto Sans CJK JP"/>
              </a:rPr>
              <a:t>(1) </a:t>
            </a:r>
            <a:r>
              <a:rPr sz="1700" b="1">
                <a:latin typeface="Noto Sans CJK JP"/>
              </a:rPr>
              <a:t>取得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0CB3DE-73F6-F031-5522-D65CB391B7F1}"/>
              </a:ext>
            </a:extLst>
          </p:cNvPr>
          <p:cNvSpPr txBox="1"/>
          <p:nvPr/>
        </p:nvSpPr>
        <p:spPr>
          <a:xfrm>
            <a:off x="448056" y="1938528"/>
            <a:ext cx="2450592" cy="663130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20" b="0">
                <a:latin typeface="Noto Sans CJK JP"/>
              </a:rPr>
              <a:t>• Token数はSDKから取得可能</a:t>
            </a:r>
          </a:p>
          <a:p>
            <a:pPr algn="l">
              <a:lnSpc>
                <a:spcPct val="108000"/>
              </a:lnSpc>
            </a:pPr>
            <a:r>
              <a:rPr sz="1320" b="0">
                <a:latin typeface="Noto Sans CJK JP"/>
              </a:rPr>
              <a:t>• CostはClaudeでは取得可能，</a:t>
            </a:r>
          </a:p>
          <a:p>
            <a:pPr algn="l">
              <a:lnSpc>
                <a:spcPct val="108000"/>
              </a:lnSpc>
            </a:pPr>
            <a:r>
              <a:rPr sz="1320" b="0">
                <a:latin typeface="Noto Sans CJK JP"/>
              </a:rPr>
              <a:t>  OpenAIではToken数から推定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3B9743-FFB3-3C03-15FB-22B4B0F7ACB7}"/>
              </a:ext>
            </a:extLst>
          </p:cNvPr>
          <p:cNvSpPr txBox="1"/>
          <p:nvPr/>
        </p:nvSpPr>
        <p:spPr>
          <a:xfrm>
            <a:off x="3300008" y="1499616"/>
            <a:ext cx="1371600" cy="2778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700" b="1">
                <a:latin typeface="Noto Sans CJK JP"/>
              </a:rPr>
              <a:t>(2) </a:t>
            </a:r>
            <a:r>
              <a:rPr sz="1700" b="1">
                <a:latin typeface="Noto Sans CJK JP"/>
              </a:rPr>
              <a:t>上限設定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C17D99-81E8-38D0-F53A-A2FD923BEEE5}"/>
              </a:ext>
            </a:extLst>
          </p:cNvPr>
          <p:cNvSpPr txBox="1"/>
          <p:nvPr/>
        </p:nvSpPr>
        <p:spPr>
          <a:xfrm>
            <a:off x="3310128" y="1920240"/>
            <a:ext cx="2468880" cy="1031757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80" b="0">
                <a:latin typeface="Noto Sans CJK JP"/>
              </a:rPr>
              <a:t>• 回数（max_turns など），</a:t>
            </a:r>
          </a:p>
          <a:p>
            <a:pPr algn="l">
              <a:lnSpc>
                <a:spcPct val="104000"/>
              </a:lnSpc>
            </a:pPr>
            <a:r>
              <a:rPr sz="1280" b="0">
                <a:latin typeface="Noto Sans CJK JP"/>
              </a:rPr>
              <a:t>  Output Token数，USD Budget等を</a:t>
            </a:r>
          </a:p>
          <a:p>
            <a:pPr algn="l">
              <a:lnSpc>
                <a:spcPct val="104000"/>
              </a:lnSpc>
            </a:pPr>
            <a:r>
              <a:rPr sz="1280" b="0">
                <a:latin typeface="Noto Sans CJK JP"/>
              </a:rPr>
              <a:t>  設定可能</a:t>
            </a:r>
          </a:p>
          <a:p>
            <a:pPr algn="l">
              <a:lnSpc>
                <a:spcPct val="104000"/>
              </a:lnSpc>
            </a:pPr>
            <a:r>
              <a:rPr sz="1280" b="0">
                <a:latin typeface="Noto Sans CJK JP"/>
              </a:rPr>
              <a:t>• 設定できる対象はSDKごとに異なる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EF2008-1F01-D1A7-952D-9335263588B6}"/>
              </a:ext>
            </a:extLst>
          </p:cNvPr>
          <p:cNvSpPr txBox="1"/>
          <p:nvPr/>
        </p:nvSpPr>
        <p:spPr>
          <a:xfrm>
            <a:off x="6162080" y="1499616"/>
            <a:ext cx="868680" cy="2778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700" b="1">
                <a:latin typeface="Noto Sans CJK JP"/>
              </a:rPr>
              <a:t>(3) </a:t>
            </a:r>
            <a:r>
              <a:rPr sz="1700" b="1">
                <a:latin typeface="Noto Sans CJK JP"/>
              </a:rPr>
              <a:t>停止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9AA761-AAAC-0FA7-E886-80817C9998B4}"/>
              </a:ext>
            </a:extLst>
          </p:cNvPr>
          <p:cNvSpPr txBox="1"/>
          <p:nvPr/>
        </p:nvSpPr>
        <p:spPr>
          <a:xfrm>
            <a:off x="6172200" y="1920240"/>
            <a:ext cx="2450592" cy="848117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90" b="0">
                <a:latin typeface="Noto Sans CJK JP"/>
              </a:rPr>
              <a:t>• 上限に到達した際に</a:t>
            </a:r>
          </a:p>
          <a:p>
            <a:pPr algn="l">
              <a:lnSpc>
                <a:spcPct val="106000"/>
              </a:lnSpc>
            </a:pPr>
            <a:r>
              <a:rPr sz="1290" b="0">
                <a:latin typeface="Noto Sans CJK JP"/>
              </a:rPr>
              <a:t>  Runを停止できる</a:t>
            </a:r>
          </a:p>
          <a:p>
            <a:pPr algn="l">
              <a:lnSpc>
                <a:spcPct val="106000"/>
              </a:lnSpc>
            </a:pPr>
            <a:r>
              <a:rPr sz="1290" b="0">
                <a:latin typeface="Noto Sans CJK JP"/>
              </a:rPr>
              <a:t>• ただしUSD Budgetでは</a:t>
            </a:r>
          </a:p>
          <a:p>
            <a:pPr algn="l">
              <a:lnSpc>
                <a:spcPct val="106000"/>
              </a:lnSpc>
            </a:pPr>
            <a:r>
              <a:rPr sz="1290" b="0">
                <a:latin typeface="Noto Sans CJK JP"/>
              </a:rPr>
              <a:t>  Overshoot（超過）が発生し得る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8C2F88-539C-40CB-D45D-3BEF79143171}"/>
              </a:ext>
            </a:extLst>
          </p:cNvPr>
          <p:cNvSpPr txBox="1"/>
          <p:nvPr/>
        </p:nvSpPr>
        <p:spPr>
          <a:xfrm>
            <a:off x="9024152" y="1499616"/>
            <a:ext cx="1234440" cy="2778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1700" b="1">
                <a:latin typeface="Noto Sans CJK JP"/>
              </a:rPr>
              <a:t>(4) </a:t>
            </a:r>
            <a:r>
              <a:rPr sz="1700" b="1">
                <a:latin typeface="Noto Sans CJK JP"/>
              </a:rPr>
              <a:t>管理単位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38D530-4494-608A-1E54-1C0980D5E2F5}"/>
              </a:ext>
            </a:extLst>
          </p:cNvPr>
          <p:cNvSpPr txBox="1"/>
          <p:nvPr/>
        </p:nvSpPr>
        <p:spPr>
          <a:xfrm>
            <a:off x="9034272" y="1920240"/>
            <a:ext cx="2432304" cy="982064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40" b="0">
                <a:latin typeface="Noto Sans CJK JP"/>
              </a:rPr>
              <a:t>• SDK：主にRun内部を管理</a:t>
            </a:r>
          </a:p>
          <a:p>
            <a:pPr algn="l">
              <a:lnSpc>
                <a:spcPct val="102000"/>
              </a:lnSpc>
            </a:pPr>
            <a:r>
              <a:rPr sz="1240" b="0">
                <a:latin typeface="Noto Sans CJK JP"/>
              </a:rPr>
              <a:t>• AGT：Task・Agent・Organization</a:t>
            </a:r>
          </a:p>
          <a:p>
            <a:pPr algn="l">
              <a:lnSpc>
                <a:spcPct val="102000"/>
              </a:lnSpc>
            </a:pPr>
            <a:r>
              <a:rPr sz="1240" b="0">
                <a:latin typeface="Noto Sans CJK JP"/>
              </a:rPr>
              <a:t>  まで拡張可能</a:t>
            </a:r>
          </a:p>
          <a:p>
            <a:pPr algn="l">
              <a:lnSpc>
                <a:spcPct val="102000"/>
              </a:lnSpc>
            </a:pPr>
            <a:r>
              <a:rPr sz="1240" b="0">
                <a:latin typeface="Noto Sans CJK JP"/>
              </a:rPr>
              <a:t>• 複数Process・長期管理には</a:t>
            </a:r>
          </a:p>
          <a:p>
            <a:pPr algn="l">
              <a:lnSpc>
                <a:spcPct val="102000"/>
              </a:lnSpc>
            </a:pPr>
            <a:r>
              <a:rPr sz="1240" b="0">
                <a:latin typeface="Noto Sans CJK JP"/>
              </a:rPr>
              <a:t>  追加の基盤が必要</a:t>
            </a: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E4122E99-D6EB-C178-1C44-A3E010D3728E}"/>
              </a:ext>
            </a:extLst>
          </p:cNvPr>
          <p:cNvCxnSpPr/>
          <p:nvPr/>
        </p:nvCxnSpPr>
        <p:spPr>
          <a:xfrm>
            <a:off x="201168" y="3191256"/>
            <a:ext cx="11649456" cy="0"/>
          </a:xfrm>
          <a:prstGeom prst="line">
            <a:avLst/>
          </a:prstGeom>
          <a:ln w="12700">
            <a:solidFill>
              <a:srgbClr val="D2D2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0417CEE-FC9D-351F-D1CF-9381BA46F4CA}"/>
              </a:ext>
            </a:extLst>
          </p:cNvPr>
          <p:cNvSpPr txBox="1"/>
          <p:nvPr/>
        </p:nvSpPr>
        <p:spPr>
          <a:xfrm>
            <a:off x="301752" y="3310128"/>
            <a:ext cx="4389120" cy="247119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>
                <a:latin typeface="Noto Sans CJK JP"/>
              </a:rPr>
              <a:t>実運用で推奨するCost Governance構成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84B780-2C1D-61FE-5C70-A2F9FCF6E274}"/>
              </a:ext>
            </a:extLst>
          </p:cNvPr>
          <p:cNvSpPr/>
          <p:nvPr/>
        </p:nvSpPr>
        <p:spPr>
          <a:xfrm>
            <a:off x="420136" y="381304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112D7B-BE25-E258-6E10-52B6F6770172}"/>
              </a:ext>
            </a:extLst>
          </p:cNvPr>
          <p:cNvSpPr txBox="1"/>
          <p:nvPr/>
        </p:nvSpPr>
        <p:spPr>
          <a:xfrm>
            <a:off x="420136" y="3824782"/>
            <a:ext cx="256032" cy="2325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>
                <a:latin typeface="Noto Sans CJK JP"/>
              </a:rPr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5D06B5C-CEC5-68F2-E638-D1A321869294}"/>
              </a:ext>
            </a:extLst>
          </p:cNvPr>
          <p:cNvSpPr/>
          <p:nvPr/>
        </p:nvSpPr>
        <p:spPr>
          <a:xfrm>
            <a:off x="420136" y="4735632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E82F05-4132-E0A4-FDBE-37C50C678E49}"/>
              </a:ext>
            </a:extLst>
          </p:cNvPr>
          <p:cNvSpPr txBox="1"/>
          <p:nvPr/>
        </p:nvSpPr>
        <p:spPr>
          <a:xfrm>
            <a:off x="420136" y="4747366"/>
            <a:ext cx="256032" cy="2325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>
                <a:latin typeface="Noto Sans CJK JP"/>
              </a:rPr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2392D46-0E40-99EA-7FFE-19BE1896D29C}"/>
              </a:ext>
            </a:extLst>
          </p:cNvPr>
          <p:cNvSpPr/>
          <p:nvPr/>
        </p:nvSpPr>
        <p:spPr>
          <a:xfrm>
            <a:off x="420136" y="561008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105463-C2ED-F693-6D05-3C2448C1F7E1}"/>
              </a:ext>
            </a:extLst>
          </p:cNvPr>
          <p:cNvSpPr txBox="1"/>
          <p:nvPr/>
        </p:nvSpPr>
        <p:spPr>
          <a:xfrm>
            <a:off x="420136" y="5621822"/>
            <a:ext cx="256032" cy="23256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>
                <a:latin typeface="Noto Sans CJK JP"/>
              </a:rPr>
              <a:t>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702F8A-805C-C15A-AC56-6B6BC9ECCD9A}"/>
              </a:ext>
            </a:extLst>
          </p:cNvPr>
          <p:cNvSpPr/>
          <p:nvPr/>
        </p:nvSpPr>
        <p:spPr>
          <a:xfrm>
            <a:off x="804184" y="3657600"/>
            <a:ext cx="60167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C71ABAE3-EEF1-7CC6-2F7A-B0210A8BC0B5}"/>
              </a:ext>
            </a:extLst>
          </p:cNvPr>
          <p:cNvCxnSpPr/>
          <p:nvPr/>
        </p:nvCxnSpPr>
        <p:spPr>
          <a:xfrm>
            <a:off x="3309640" y="3749039"/>
            <a:ext cx="0" cy="457201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F304EFC-4C8F-48CB-8BA4-C04099D891BA}"/>
              </a:ext>
            </a:extLst>
          </p:cNvPr>
          <p:cNvSpPr txBox="1"/>
          <p:nvPr/>
        </p:nvSpPr>
        <p:spPr>
          <a:xfrm>
            <a:off x="996207" y="3758184"/>
            <a:ext cx="2240280" cy="242759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70">
                <a:latin typeface="Noto Sans CJK JP"/>
              </a:rPr>
              <a:t>SDK（Agent SDK）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1C5F43-BF2F-2B8A-484A-79D9A8F1B943}"/>
              </a:ext>
            </a:extLst>
          </p:cNvPr>
          <p:cNvSpPr txBox="1"/>
          <p:nvPr/>
        </p:nvSpPr>
        <p:spPr>
          <a:xfrm>
            <a:off x="1270528" y="4041648"/>
            <a:ext cx="1554480" cy="216791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>
                <a:latin typeface="Noto Sans CJK JP"/>
              </a:rPr>
              <a:t>Run内の制限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128EAE-5B32-526D-FD44-9FCC499B3F94}"/>
              </a:ext>
            </a:extLst>
          </p:cNvPr>
          <p:cNvSpPr txBox="1"/>
          <p:nvPr/>
        </p:nvSpPr>
        <p:spPr>
          <a:xfrm>
            <a:off x="3647968" y="3692248"/>
            <a:ext cx="2423160" cy="235514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>
                <a:latin typeface="Noto Sans CJK JP"/>
              </a:rPr>
              <a:t>max_turns / max_tokens /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06D53A-F349-F036-07F7-6EEEA29DB4DC}"/>
              </a:ext>
            </a:extLst>
          </p:cNvPr>
          <p:cNvSpPr txBox="1"/>
          <p:nvPr/>
        </p:nvSpPr>
        <p:spPr>
          <a:xfrm>
            <a:off x="3647968" y="3859248"/>
            <a:ext cx="1554480" cy="235514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>
                <a:latin typeface="Noto Sans CJK JP"/>
              </a:rPr>
              <a:t>max_budget_usd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36DEC1-58CD-163F-A7DC-89D7E75FA4F6}"/>
              </a:ext>
            </a:extLst>
          </p:cNvPr>
          <p:cNvSpPr txBox="1"/>
          <p:nvPr/>
        </p:nvSpPr>
        <p:spPr>
          <a:xfrm>
            <a:off x="3666256" y="4050791"/>
            <a:ext cx="2651760" cy="232051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>
                <a:latin typeface="Noto Sans CJK JP"/>
              </a:rPr>
              <a:t>などで1 Run内部を制御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9F5210-B031-FFD7-F188-0B4D1C32156F}"/>
              </a:ext>
            </a:extLst>
          </p:cNvPr>
          <p:cNvSpPr txBox="1"/>
          <p:nvPr/>
        </p:nvSpPr>
        <p:spPr>
          <a:xfrm>
            <a:off x="7131832" y="3813048"/>
            <a:ext cx="384048" cy="3911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>
                <a:latin typeface="Noto Sans CJK JP"/>
              </a:rPr>
              <a:t>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E7C2F8-AA41-FF16-25E9-110688AFDD1E}"/>
              </a:ext>
            </a:extLst>
          </p:cNvPr>
          <p:cNvSpPr txBox="1"/>
          <p:nvPr/>
        </p:nvSpPr>
        <p:spPr>
          <a:xfrm>
            <a:off x="7698760" y="3776472"/>
            <a:ext cx="2724912" cy="4272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90">
                <a:latin typeface="Noto Sans CJK JP"/>
              </a:rPr>
              <a:t>役割：1 Run内部を制御し，</a:t>
            </a:r>
          </a:p>
          <a:p>
            <a:pPr algn="l">
              <a:lnSpc>
                <a:spcPct val="106000"/>
              </a:lnSpc>
            </a:pPr>
            <a:r>
              <a:rPr sz="1290">
                <a:latin typeface="Noto Sans CJK JP"/>
              </a:rPr>
              <a:t>無駄なCallや過剰な出力を抑止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F92DD1-AE66-9280-26E5-8C861BD47FDE}"/>
              </a:ext>
            </a:extLst>
          </p:cNvPr>
          <p:cNvSpPr txBox="1"/>
          <p:nvPr/>
        </p:nvSpPr>
        <p:spPr>
          <a:xfrm>
            <a:off x="1910608" y="4267844"/>
            <a:ext cx="182880" cy="293029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>
                <a:latin typeface="Noto Sans CJK JP"/>
              </a:rPr>
              <a:t>＋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BE6594C-BDD2-8650-5E07-1BF05CDEEA38}"/>
              </a:ext>
            </a:extLst>
          </p:cNvPr>
          <p:cNvSpPr/>
          <p:nvPr/>
        </p:nvSpPr>
        <p:spPr>
          <a:xfrm>
            <a:off x="804184" y="4580184"/>
            <a:ext cx="60167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268B3001-CCF4-24CB-63B5-8B1642D29A40}"/>
              </a:ext>
            </a:extLst>
          </p:cNvPr>
          <p:cNvCxnSpPr/>
          <p:nvPr/>
        </p:nvCxnSpPr>
        <p:spPr>
          <a:xfrm>
            <a:off x="3309640" y="4671623"/>
            <a:ext cx="0" cy="457200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89D1928-908A-0CA1-265A-0FB33CCF1D1B}"/>
              </a:ext>
            </a:extLst>
          </p:cNvPr>
          <p:cNvSpPr txBox="1"/>
          <p:nvPr/>
        </p:nvSpPr>
        <p:spPr>
          <a:xfrm>
            <a:off x="1078504" y="4680768"/>
            <a:ext cx="2029968" cy="255711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30">
                <a:latin typeface="Noto Sans CJK JP"/>
              </a:rPr>
              <a:t>AGT CostGuard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77EC54-B605-76CD-98F9-7012E0C57FF3}"/>
              </a:ext>
            </a:extLst>
          </p:cNvPr>
          <p:cNvSpPr txBox="1"/>
          <p:nvPr/>
        </p:nvSpPr>
        <p:spPr>
          <a:xfrm>
            <a:off x="1169944" y="4964232"/>
            <a:ext cx="1700784" cy="216791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>
                <a:latin typeface="Noto Sans CJK JP"/>
              </a:rPr>
              <a:t>横断Budgetの適用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4A7691-47F0-3DF6-8638-1D9324B3F4A9}"/>
              </a:ext>
            </a:extLst>
          </p:cNvPr>
          <p:cNvSpPr txBox="1"/>
          <p:nvPr/>
        </p:nvSpPr>
        <p:spPr>
          <a:xfrm>
            <a:off x="3647968" y="4735632"/>
            <a:ext cx="2834640" cy="203069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10">
                <a:latin typeface="Noto Sans CJK JP"/>
              </a:rPr>
              <a:t>Task・Agent・Organization単位で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46FC94-94B6-10E7-C92E-66B50593A07F}"/>
              </a:ext>
            </a:extLst>
          </p:cNvPr>
          <p:cNvSpPr txBox="1"/>
          <p:nvPr/>
        </p:nvSpPr>
        <p:spPr>
          <a:xfrm>
            <a:off x="3666256" y="4964232"/>
            <a:ext cx="2743200" cy="206147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>
                <a:latin typeface="Noto Sans CJK JP"/>
              </a:rPr>
              <a:t>累積Costを管理し，Budgetを適用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B5CA0A-AB83-EC28-563E-0847E02F6DA9}"/>
              </a:ext>
            </a:extLst>
          </p:cNvPr>
          <p:cNvSpPr txBox="1"/>
          <p:nvPr/>
        </p:nvSpPr>
        <p:spPr>
          <a:xfrm>
            <a:off x="7131832" y="4663440"/>
            <a:ext cx="384048" cy="3911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>
                <a:latin typeface="Noto Sans CJK JP"/>
              </a:rPr>
              <a:t>⇒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36ABD5-AB4C-08E3-C240-391A5E6EF2FA}"/>
              </a:ext>
            </a:extLst>
          </p:cNvPr>
          <p:cNvSpPr txBox="1"/>
          <p:nvPr/>
        </p:nvSpPr>
        <p:spPr>
          <a:xfrm>
            <a:off x="7698760" y="4626864"/>
            <a:ext cx="2743200" cy="4272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90">
                <a:latin typeface="Noto Sans CJK JP"/>
              </a:rPr>
              <a:t>役割：複数Task・Agentを横断して</a:t>
            </a:r>
          </a:p>
          <a:p>
            <a:pPr algn="l">
              <a:lnSpc>
                <a:spcPct val="106000"/>
              </a:lnSpc>
            </a:pPr>
            <a:r>
              <a:rPr sz="1290">
                <a:latin typeface="Noto Sans CJK JP"/>
              </a:rPr>
              <a:t>Budgetを一元的に管理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651CEF-EC8D-054C-DB66-47657B8EC688}"/>
              </a:ext>
            </a:extLst>
          </p:cNvPr>
          <p:cNvSpPr txBox="1"/>
          <p:nvPr/>
        </p:nvSpPr>
        <p:spPr>
          <a:xfrm>
            <a:off x="1910608" y="5185840"/>
            <a:ext cx="182880" cy="293029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>
                <a:latin typeface="Noto Sans CJK JP"/>
              </a:rPr>
              <a:t>＋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839F080-2A67-AFBE-D65E-79847B2BA271}"/>
              </a:ext>
            </a:extLst>
          </p:cNvPr>
          <p:cNvSpPr/>
          <p:nvPr/>
        </p:nvSpPr>
        <p:spPr>
          <a:xfrm>
            <a:off x="804184" y="5454640"/>
            <a:ext cx="60167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cxnSp>
        <p:nvCxnSpPr>
          <p:cNvPr id="53" name="Connector 52">
            <a:extLst>
              <a:ext uri="{FF2B5EF4-FFF2-40B4-BE49-F238E27FC236}">
                <a16:creationId xmlns:a16="http://schemas.microsoft.com/office/drawing/2014/main" id="{335A121C-5D1F-D08F-765B-AF62B065C666}"/>
              </a:ext>
            </a:extLst>
          </p:cNvPr>
          <p:cNvCxnSpPr/>
          <p:nvPr/>
        </p:nvCxnSpPr>
        <p:spPr>
          <a:xfrm>
            <a:off x="3309640" y="5546080"/>
            <a:ext cx="0" cy="566928"/>
          </a:xfrm>
          <a:prstGeom prst="line">
            <a:avLst/>
          </a:prstGeom>
          <a:ln w="12700">
            <a:solidFill>
              <a:srgbClr val="2D5A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B1888E8-B1F1-30B7-DAC5-691D9F04F533}"/>
              </a:ext>
            </a:extLst>
          </p:cNvPr>
          <p:cNvSpPr txBox="1"/>
          <p:nvPr/>
        </p:nvSpPr>
        <p:spPr>
          <a:xfrm>
            <a:off x="1005352" y="5518648"/>
            <a:ext cx="2139696" cy="430759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410">
                <a:latin typeface="Noto Sans CJK JP"/>
              </a:rPr>
              <a:t>永続Cost Ledger／</a:t>
            </a:r>
          </a:p>
          <a:p>
            <a:pPr algn="ctr">
              <a:lnSpc>
                <a:spcPct val="95000"/>
              </a:lnSpc>
            </a:pPr>
            <a:r>
              <a:rPr sz="1410">
                <a:latin typeface="Noto Sans CJK JP"/>
              </a:rPr>
              <a:t>Provider Billing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BAB622-4CA0-758D-AE27-DB3E37E648E8}"/>
              </a:ext>
            </a:extLst>
          </p:cNvPr>
          <p:cNvSpPr txBox="1"/>
          <p:nvPr/>
        </p:nvSpPr>
        <p:spPr>
          <a:xfrm>
            <a:off x="1041928" y="5975848"/>
            <a:ext cx="2029968" cy="212174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70">
                <a:latin typeface="Noto Sans CJK JP"/>
              </a:rPr>
              <a:t>長期・分散環境の管理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AC4E45-6716-6DFF-F9D5-BDA1662ADF07}"/>
              </a:ext>
            </a:extLst>
          </p:cNvPr>
          <p:cNvSpPr txBox="1"/>
          <p:nvPr/>
        </p:nvSpPr>
        <p:spPr>
          <a:xfrm>
            <a:off x="3647968" y="5655808"/>
            <a:ext cx="2907792" cy="395429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latin typeface="Noto Sans CJK JP"/>
              </a:rPr>
              <a:t>複数Process・長期のCostを保存・集計し，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C515A5-3C4E-97CD-D1CE-4F7B28B8AE8C}"/>
              </a:ext>
            </a:extLst>
          </p:cNvPr>
          <p:cNvSpPr txBox="1"/>
          <p:nvPr/>
        </p:nvSpPr>
        <p:spPr>
          <a:xfrm>
            <a:off x="3666256" y="5884408"/>
            <a:ext cx="2377440" cy="206147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>
                <a:latin typeface="Noto Sans CJK JP"/>
              </a:rPr>
              <a:t>Providerの実請求と照合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EAB1A7-6911-062C-7389-5BBD5C015E07}"/>
              </a:ext>
            </a:extLst>
          </p:cNvPr>
          <p:cNvSpPr txBox="1"/>
          <p:nvPr/>
        </p:nvSpPr>
        <p:spPr>
          <a:xfrm>
            <a:off x="7131832" y="5568696"/>
            <a:ext cx="384048" cy="3911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>
                <a:latin typeface="Noto Sans CJK JP"/>
              </a:rPr>
              <a:t>⇒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BEC38F-D8DA-F54B-06EF-EF96E33ADDFB}"/>
              </a:ext>
            </a:extLst>
          </p:cNvPr>
          <p:cNvSpPr txBox="1"/>
          <p:nvPr/>
        </p:nvSpPr>
        <p:spPr>
          <a:xfrm>
            <a:off x="7698760" y="5522976"/>
            <a:ext cx="2743200" cy="427233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90">
                <a:latin typeface="Noto Sans CJK JP"/>
              </a:rPr>
              <a:t>役割：長期・分散環境を管理し，</a:t>
            </a:r>
          </a:p>
          <a:p>
            <a:pPr algn="l">
              <a:lnSpc>
                <a:spcPct val="106000"/>
              </a:lnSpc>
            </a:pPr>
            <a:r>
              <a:rPr sz="1290">
                <a:latin typeface="Noto Sans CJK JP"/>
              </a:rPr>
              <a:t>実請求との整合性を確保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E3FBA73-D5FA-DB09-AA0D-A62473E2BBF1}"/>
              </a:ext>
            </a:extLst>
          </p:cNvPr>
          <p:cNvSpPr/>
          <p:nvPr/>
        </p:nvSpPr>
        <p:spPr>
          <a:xfrm>
            <a:off x="301752" y="6300216"/>
            <a:ext cx="1137513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980293-2D6B-727A-59F7-B1CC5B4D3656}"/>
              </a:ext>
            </a:extLst>
          </p:cNvPr>
          <p:cNvSpPr txBox="1"/>
          <p:nvPr/>
        </p:nvSpPr>
        <p:spPr>
          <a:xfrm>
            <a:off x="493776" y="6382512"/>
            <a:ext cx="11009376" cy="233525"/>
          </a:xfrm>
          <a:prstGeom prst="rect">
            <a:avLst/>
          </a:prstGeom>
          <a:noFill/>
          <a:effectLst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10">
                <a:latin typeface="Noto Sans CJK JP"/>
              </a:rPr>
              <a:t>SDK・AGT・永続Cost管理は代替ではなく，それぞれ異なる管理Scopeを補完することで，実運用でのCost Governanceを実現する</a:t>
            </a:r>
          </a:p>
        </p:txBody>
      </p:sp>
    </p:spTree>
    <p:extLst>
      <p:ext uri="{BB962C8B-B14F-4D97-AF65-F5344CB8AC3E}">
        <p14:creationId xmlns:p14="http://schemas.microsoft.com/office/powerpoint/2010/main" val="3909683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1"/>
          </a:solidFill>
        </a:ln>
        <a:effectLst/>
      </a:spPr>
      <a:bodyPr wrap="square" tIns="0" rIns="18288" bIns="18288" anchor="ctr">
        <a:spAutoFit/>
      </a:bodyPr>
      <a:lstStyle>
        <a:defPPr algn="l">
          <a:lnSpc>
            <a:spcPct val="100000"/>
          </a:lnSpc>
          <a:defRPr sz="1500" b="0">
            <a:solidFill>
              <a:srgbClr val="000000"/>
            </a:solidFill>
            <a:latin typeface="Yu Gothic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3013</Words>
  <Application>Microsoft Macintosh PowerPoint</Application>
  <PresentationFormat>Widescreen</PresentationFormat>
  <Paragraphs>741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DejaVu Sans Mono</vt:lpstr>
      <vt:lpstr>Hiragino Kaku Gothic Pro W3</vt:lpstr>
      <vt:lpstr>Hiragino Sans</vt:lpstr>
      <vt:lpstr>IPAexGothic</vt:lpstr>
      <vt:lpstr>Liberation Mono</vt:lpstr>
      <vt:lpstr>Meiryo</vt:lpstr>
      <vt:lpstr>Noto Sans CJK JP</vt:lpstr>
      <vt:lpstr>Yu Gothic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ccwa4782</cp:lastModifiedBy>
  <cp:revision>12</cp:revision>
  <dcterms:created xsi:type="dcterms:W3CDTF">2013-01-27T09:14:16Z</dcterms:created>
  <dcterms:modified xsi:type="dcterms:W3CDTF">2026-09-03T20:31:08Z</dcterms:modified>
  <cp:category/>
</cp:coreProperties>
</file>