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58"/>
  </p:normalViewPr>
  <p:slideViewPr>
    <p:cSldViewPr snapToGrid="0" snapToObjects="1">
      <p:cViewPr varScale="1">
        <p:scale>
          <a:sx n="116" d="100"/>
          <a:sy n="116" d="100"/>
        </p:scale>
        <p:origin x="2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E5A8-AA9C-4FCB-BBAB-94CFB8EA8F7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BB85A798-9B59-4DDC-8A98-917EB3C524D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1EF8319C-15A5-4636-94CC-5388E2A1596B}"/>
              </a:ext>
            </a:extLst>
          </p:cNvPr>
          <p:cNvSpPr>
            <a:spLocks noGrp="1"/>
          </p:cNvSpPr>
          <p:nvPr>
            <p:ph type="dt" idx="10"/>
          </p:nvPr>
        </p:nvSpPr>
        <p:spPr/>
        <p:txBody>
          <a:body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796962B2-C03A-4BDD-9C4E-2DB46CDCE05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326C315-43A0-4AA5-84A0-71AAA123ADD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68CA1-133D-4B22-A242-3A2C505688A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F332DA-BAB8-49FE-B3B9-53FB4DDA5193}"/>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8485EAB-FD6B-4379-8C00-07C60522261E}"/>
              </a:ext>
            </a:extLst>
          </p:cNvPr>
          <p:cNvSpPr>
            <a:spLocks noGrp="1"/>
          </p:cNvSpPr>
          <p:nvPr>
            <p:ph type="dt" idx="10"/>
          </p:nvPr>
        </p:nvSpPr>
        <p:spPr/>
        <p:txBody>
          <a:body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AD831B91-36CA-473C-8030-FCCAC9EA4EE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BC09D6F-97B0-4DC6-A28A-8328D8F3846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6F2A-185D-4A8C-8E94-FB26BFAD5A2D}"/>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FABD82A-9712-4186-A3B3-C3301AEDD13C}"/>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2C5B73E-DE23-4883-B6B1-A42FF8C31DE1}"/>
              </a:ext>
            </a:extLst>
          </p:cNvPr>
          <p:cNvSpPr>
            <a:spLocks noGrp="1"/>
          </p:cNvSpPr>
          <p:nvPr>
            <p:ph type="dt" idx="10"/>
          </p:nvPr>
        </p:nvSpPr>
        <p:spPr/>
        <p:txBody>
          <a:body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D96589D2-7176-4EB3-8BE1-59BCFAF98E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95799F5-85F5-441C-820B-D10D2118DF3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7FB92-E6B4-425D-901D-DB113E8E560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C7124BE-4B5B-4270-8690-906D32C27788}"/>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54889F5-871C-49BE-BE0A-EB86E187FD3C}"/>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60A2A22-49BE-4485-AF25-F809E0DE1EBD}"/>
              </a:ext>
            </a:extLst>
          </p:cNvPr>
          <p:cNvSpPr>
            <a:spLocks noGrp="1"/>
          </p:cNvSpPr>
          <p:nvPr>
            <p:ph type="dt" idx="10"/>
          </p:nvPr>
        </p:nvSpPr>
        <p:spPr/>
        <p:txBody>
          <a:bodyPr/>
          <a:lstStyle/>
          <a:p>
            <a:fld id="{5BCAD085-E8A6-8845-BD4E-CB4CCA059FC4}" type="datetimeFigureOut">
              <a:t>2026/09/03</a:t>
            </a:fld>
            <a:endParaRPr/>
          </a:p>
        </p:txBody>
      </p:sp>
      <p:sp>
        <p:nvSpPr>
          <p:cNvPr id="6" name="Footer Placeholder 5">
            <a:extLst>
              <a:ext uri="{FF2B5EF4-FFF2-40B4-BE49-F238E27FC236}">
                <a16:creationId xmlns:a16="http://schemas.microsoft.com/office/drawing/2014/main" id="{DE602D9B-35EB-4CF6-8966-F05A1894FE1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64F6585-B077-4E31-AC77-C04676764C2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F679-97D5-4813-B2E6-B8C25109706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87DE6DE1-3B52-4E75-8033-C28F0CB92F11}"/>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CD09251-7543-430C-A087-7C4BDA16866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71E0440-5432-4B1C-B96A-608BB59A80BB}"/>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FEE9739A-0AC4-4933-A572-42AAC214A79B}"/>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AB87273-780C-4809-8C82-F3E8380714DC}"/>
              </a:ext>
            </a:extLst>
          </p:cNvPr>
          <p:cNvSpPr>
            <a:spLocks noGrp="1"/>
          </p:cNvSpPr>
          <p:nvPr>
            <p:ph type="dt" idx="10"/>
          </p:nvPr>
        </p:nvSpPr>
        <p:spPr/>
        <p:txBody>
          <a:bodyPr/>
          <a:lstStyle/>
          <a:p>
            <a:fld id="{5BCAD085-E8A6-8845-BD4E-CB4CCA059FC4}" type="datetimeFigureOut">
              <a:t>2026/09/03</a:t>
            </a:fld>
            <a:endParaRPr/>
          </a:p>
        </p:txBody>
      </p:sp>
      <p:sp>
        <p:nvSpPr>
          <p:cNvPr id="8" name="Footer Placeholder 7">
            <a:extLst>
              <a:ext uri="{FF2B5EF4-FFF2-40B4-BE49-F238E27FC236}">
                <a16:creationId xmlns:a16="http://schemas.microsoft.com/office/drawing/2014/main" id="{682CA1BD-6AD5-499C-90A8-D383FCBF9B76}"/>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B642353-AE29-4B51-822D-8722A10020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D0C53-0910-43BA-ACAA-2DF9B7199E10}"/>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609DAC8F-893C-4C82-92B0-41B0C17C5D00}"/>
              </a:ext>
            </a:extLst>
          </p:cNvPr>
          <p:cNvSpPr>
            <a:spLocks noGrp="1"/>
          </p:cNvSpPr>
          <p:nvPr>
            <p:ph type="dt" idx="10"/>
          </p:nvPr>
        </p:nvSpPr>
        <p:spPr/>
        <p:txBody>
          <a:bodyPr/>
          <a:lstStyle/>
          <a:p>
            <a:fld id="{5BCAD085-E8A6-8845-BD4E-CB4CCA059FC4}" type="datetimeFigureOut">
              <a:t>2026/09/03</a:t>
            </a:fld>
            <a:endParaRPr/>
          </a:p>
        </p:txBody>
      </p:sp>
      <p:sp>
        <p:nvSpPr>
          <p:cNvPr id="4" name="Footer Placeholder 3">
            <a:extLst>
              <a:ext uri="{FF2B5EF4-FFF2-40B4-BE49-F238E27FC236}">
                <a16:creationId xmlns:a16="http://schemas.microsoft.com/office/drawing/2014/main" id="{593DAD5D-78A6-42D4-B905-BAF04998BC7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0935481C-59C7-4DE6-B479-58E0DE9CEA0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085ACE-4583-47BB-B651-1D9AEB44EDA1}"/>
              </a:ext>
            </a:extLst>
          </p:cNvPr>
          <p:cNvSpPr>
            <a:spLocks noGrp="1"/>
          </p:cNvSpPr>
          <p:nvPr>
            <p:ph type="dt" idx="10"/>
          </p:nvPr>
        </p:nvSpPr>
        <p:spPr/>
        <p:txBody>
          <a:bodyPr/>
          <a:lstStyle/>
          <a:p>
            <a:fld id="{5BCAD085-E8A6-8845-BD4E-CB4CCA059FC4}" type="datetimeFigureOut">
              <a:t>2026/09/03</a:t>
            </a:fld>
            <a:endParaRPr/>
          </a:p>
        </p:txBody>
      </p:sp>
      <p:sp>
        <p:nvSpPr>
          <p:cNvPr id="3" name="Footer Placeholder 2">
            <a:extLst>
              <a:ext uri="{FF2B5EF4-FFF2-40B4-BE49-F238E27FC236}">
                <a16:creationId xmlns:a16="http://schemas.microsoft.com/office/drawing/2014/main" id="{D2501A7B-9D39-4C15-AB42-1BBD0F5DA3D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2A9B554-AA22-4D35-AD7F-5B4C491B450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D89D-0859-4A91-AD7B-371745CB48EC}"/>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B99BE16-CCF6-4234-B77E-1DDA113BDCA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F3AE2D8-B530-4F85-8F75-8B2FE988DCD1}"/>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6DF90A7-8168-4A8B-B51F-8BB527804DF6}"/>
              </a:ext>
            </a:extLst>
          </p:cNvPr>
          <p:cNvSpPr>
            <a:spLocks noGrp="1"/>
          </p:cNvSpPr>
          <p:nvPr>
            <p:ph type="dt" idx="10"/>
          </p:nvPr>
        </p:nvSpPr>
        <p:spPr/>
        <p:txBody>
          <a:bodyPr/>
          <a:lstStyle/>
          <a:p>
            <a:fld id="{5BCAD085-E8A6-8845-BD4E-CB4CCA059FC4}" type="datetimeFigureOut">
              <a:t>2026/09/03</a:t>
            </a:fld>
            <a:endParaRPr/>
          </a:p>
        </p:txBody>
      </p:sp>
      <p:sp>
        <p:nvSpPr>
          <p:cNvPr id="6" name="Footer Placeholder 5">
            <a:extLst>
              <a:ext uri="{FF2B5EF4-FFF2-40B4-BE49-F238E27FC236}">
                <a16:creationId xmlns:a16="http://schemas.microsoft.com/office/drawing/2014/main" id="{45F50AC6-B82C-47AB-9C0A-486AA53C5D2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C43EA36-6B54-4B7A-B40E-63F86EE6BFF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13070-299E-40AE-8D47-BD02E2BFBB26}"/>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E43F030E-D18A-4800-B01B-8D67495B95D0}"/>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BBD61E8-47A3-4C47-9130-2BDE6C7D1D6B}"/>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301E8194-BFE2-49E1-982E-C663AB6A0812}"/>
              </a:ext>
            </a:extLst>
          </p:cNvPr>
          <p:cNvSpPr>
            <a:spLocks noGrp="1"/>
          </p:cNvSpPr>
          <p:nvPr>
            <p:ph type="dt" idx="10"/>
          </p:nvPr>
        </p:nvSpPr>
        <p:spPr/>
        <p:txBody>
          <a:bodyPr/>
          <a:lstStyle/>
          <a:p>
            <a:fld id="{5BCAD085-E8A6-8845-BD4E-CB4CCA059FC4}" type="datetimeFigureOut">
              <a:t>2026/09/03</a:t>
            </a:fld>
            <a:endParaRPr/>
          </a:p>
        </p:txBody>
      </p:sp>
      <p:sp>
        <p:nvSpPr>
          <p:cNvPr id="6" name="Footer Placeholder 5">
            <a:extLst>
              <a:ext uri="{FF2B5EF4-FFF2-40B4-BE49-F238E27FC236}">
                <a16:creationId xmlns:a16="http://schemas.microsoft.com/office/drawing/2014/main" id="{C922BF45-216A-44EF-A189-0B880277AE0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739D51F-AB2E-47B6-B8EF-73087CBD7F8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34DA-ACC2-430B-B006-695D1934BD2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C3154E8-9A34-4C15-9826-0FDE4570753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CCB5B67-C489-4B82-A8AD-49D9AE5914F6}"/>
              </a:ext>
            </a:extLst>
          </p:cNvPr>
          <p:cNvSpPr>
            <a:spLocks noGrp="1"/>
          </p:cNvSpPr>
          <p:nvPr>
            <p:ph type="dt" idx="10"/>
          </p:nvPr>
        </p:nvSpPr>
        <p:spPr/>
        <p:txBody>
          <a:body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AA00701D-AF54-4E64-96CF-33D323CE153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D6ED5BA-4B07-4C4C-A80E-015C52097A6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F9BE2-B0A4-427C-A39A-92E5075B60C8}"/>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F9FFF4A-BF77-4FAB-A4A5-A7F4FC95646A}"/>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483497A-ADCF-4BC6-9543-DCB7BB70E618}"/>
              </a:ext>
            </a:extLst>
          </p:cNvPr>
          <p:cNvSpPr>
            <a:spLocks noGrp="1"/>
          </p:cNvSpPr>
          <p:nvPr>
            <p:ph type="dt" idx="10"/>
          </p:nvPr>
        </p:nvSpPr>
        <p:spPr/>
        <p:txBody>
          <a:body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0337CF05-EFF9-46D4-BCA1-A8C78693EA4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704F337-7688-4AEF-BD4E-943538A1E63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527EFE-5EA2-4CBB-B45A-AF4B57CC5E48}"/>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DB4A5CE-8E5A-4CFA-9AB1-68467A733C1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F3C2E33-E8C4-4688-B9D2-E198C451DB3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2026/09/03</a:t>
            </a:fld>
            <a:endParaRPr/>
          </a:p>
        </p:txBody>
      </p:sp>
      <p:sp>
        <p:nvSpPr>
          <p:cNvPr id="5" name="Footer Placeholder 4">
            <a:extLst>
              <a:ext uri="{FF2B5EF4-FFF2-40B4-BE49-F238E27FC236}">
                <a16:creationId xmlns:a16="http://schemas.microsoft.com/office/drawing/2014/main" id="{DE2EC3F2-FF73-41AA-B6AA-D9B877DDB7F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8AC144D-62C6-4C41-8A53-6E81FA838DD8}"/>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2F62C5-20F8-41B2-8B03-AAA9EDBB7482}"/>
              </a:ext>
            </a:extLst>
          </p:cNvPr>
          <p:cNvSpPr>
            <a:spLocks noGrp="1"/>
          </p:cNvSpPr>
          <p:nvPr/>
        </p:nvSpPr>
        <p:spPr>
          <a:xfrm>
            <a:off x="182880" y="91440"/>
            <a:ext cx="9601200" cy="274320"/>
          </a:xfrm>
          <a:prstGeom prst="rect">
            <a:avLst/>
          </a:prstGeom>
          <a:noFill/>
          <a:effectLst/>
        </p:spPr>
        <p:txBody>
          <a:bodyPr wrap="none" lIns="36576" tIns="0" rIns="36576" bIns="0" anchor="ctr">
            <a:spAutoFit/>
          </a:bodyPr>
          <a:lstStyle/>
          <a:p>
            <a:pPr algn="l">
              <a:buNone/>
            </a:pPr>
            <a:r>
              <a:rPr sz="1820" b="1">
                <a:solidFill>
                  <a:srgbClr val="141414"/>
                </a:solidFill>
                <a:latin typeface="Noto Sans CJK JP"/>
                <a:ea typeface="Noto Sans CJK JP"/>
                <a:cs typeface="Noto Sans CJK JP"/>
              </a:rPr>
              <a:t>Appendix A1． OpenAI Agents SDK / Claude Agent SDKのガバナンス機能全体像</a:t>
            </a:r>
          </a:p>
        </p:txBody>
      </p:sp>
      <p:sp>
        <p:nvSpPr>
          <p:cNvPr id="4" name="Rectangle 3">
            <a:extLst>
              <a:ext uri="{FF2B5EF4-FFF2-40B4-BE49-F238E27FC236}">
                <a16:creationId xmlns:a16="http://schemas.microsoft.com/office/drawing/2014/main" id="{3E53BBD5-F750-4A32-8888-CBE923E34A2A}"/>
              </a:ext>
            </a:extLst>
          </p:cNvPr>
          <p:cNvSpPr>
            <a:spLocks noGrp="1"/>
          </p:cNvSpPr>
          <p:nvPr/>
        </p:nvSpPr>
        <p:spPr>
          <a:xfrm>
            <a:off x="246888" y="603504"/>
            <a:ext cx="1371600" cy="41148"/>
          </a:xfrm>
          <a:prstGeom prst="rect">
            <a:avLst/>
          </a:prstGeom>
          <a:solidFill>
            <a:srgbClr val="265FD6"/>
          </a:solidFill>
          <a:ln>
            <a:solidFill>
              <a:srgbClr val="265FD6"/>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81D61C-3080-43BA-871C-68057E1CF658}"/>
              </a:ext>
            </a:extLst>
          </p:cNvPr>
          <p:cNvSpPr>
            <a:spLocks noGrp="1"/>
          </p:cNvSpPr>
          <p:nvPr/>
        </p:nvSpPr>
        <p:spPr>
          <a:xfrm>
            <a:off x="8247888" y="512064"/>
            <a:ext cx="3749039" cy="201168"/>
          </a:xfrm>
          <a:prstGeom prst="rect">
            <a:avLst/>
          </a:prstGeom>
          <a:noFill/>
          <a:effectLst/>
        </p:spPr>
        <p:txBody>
          <a:bodyPr wrap="none" lIns="36576" tIns="0" rIns="36576" bIns="0" anchor="ctr">
            <a:spAutoFit/>
          </a:bodyPr>
          <a:lstStyle/>
          <a:p>
            <a:pPr algn="l">
              <a:buNone/>
            </a:pPr>
            <a:r>
              <a:rPr sz="1060" b="0">
                <a:solidFill>
                  <a:srgbClr val="505050"/>
                </a:solidFill>
                <a:latin typeface="Noto Sans CJK JP"/>
                <a:ea typeface="Noto Sans CJK JP"/>
                <a:cs typeface="Noto Sans CJK JP"/>
              </a:rPr>
              <a:t>OpenAI Agents SDK 0.22.0 / Claude Agent SDK 0.2.144</a:t>
            </a:r>
          </a:p>
        </p:txBody>
      </p:sp>
      <p:sp>
        <p:nvSpPr>
          <p:cNvPr id="6" name="TextBox 5">
            <a:extLst>
              <a:ext uri="{FF2B5EF4-FFF2-40B4-BE49-F238E27FC236}">
                <a16:creationId xmlns:a16="http://schemas.microsoft.com/office/drawing/2014/main" id="{A6DB5166-85EF-4E64-BC04-B8E049FA7AB7}"/>
              </a:ext>
            </a:extLst>
          </p:cNvPr>
          <p:cNvSpPr>
            <a:spLocks noGrp="1"/>
          </p:cNvSpPr>
          <p:nvPr/>
        </p:nvSpPr>
        <p:spPr>
          <a:xfrm>
            <a:off x="356616" y="877824"/>
            <a:ext cx="7498079" cy="219456"/>
          </a:xfrm>
          <a:prstGeom prst="rect">
            <a:avLst/>
          </a:prstGeom>
          <a:noFill/>
          <a:effectLst/>
        </p:spPr>
        <p:txBody>
          <a:bodyPr wrap="none" lIns="36576" tIns="0" rIns="36576" bIns="0" anchor="ctr">
            <a:spAutoFit/>
          </a:bodyPr>
          <a:lstStyle/>
          <a:p>
            <a:pPr algn="l">
              <a:buNone/>
            </a:pPr>
            <a:r>
              <a:rPr sz="1280" b="1">
                <a:solidFill>
                  <a:srgbClr val="141414"/>
                </a:solidFill>
                <a:latin typeface="Noto Sans CJK JP"/>
                <a:ea typeface="Noto Sans CJK JP"/>
                <a:cs typeface="Noto Sans CJK JP"/>
              </a:rPr>
              <a:t>両SDKとも多様なガバナンス機能を持つが，中心となる仕組みは異なる</a:t>
            </a:r>
          </a:p>
        </p:txBody>
      </p:sp>
      <p:sp>
        <p:nvSpPr>
          <p:cNvPr id="7" name="TextBox 6">
            <a:extLst>
              <a:ext uri="{FF2B5EF4-FFF2-40B4-BE49-F238E27FC236}">
                <a16:creationId xmlns:a16="http://schemas.microsoft.com/office/drawing/2014/main" id="{C7A5077B-AAB7-4C42-ABE8-B79980F76D66}"/>
              </a:ext>
            </a:extLst>
          </p:cNvPr>
          <p:cNvSpPr>
            <a:spLocks noGrp="1"/>
          </p:cNvSpPr>
          <p:nvPr/>
        </p:nvSpPr>
        <p:spPr>
          <a:xfrm>
            <a:off x="365760" y="1197864"/>
            <a:ext cx="749808" cy="182880"/>
          </a:xfrm>
          <a:prstGeom prst="rect">
            <a:avLst/>
          </a:prstGeom>
          <a:noFill/>
          <a:effectLst/>
        </p:spPr>
        <p:txBody>
          <a:bodyPr wrap="none" lIns="36576" tIns="0" rIns="36576" bIns="0" anchor="ctr">
            <a:spAutoFit/>
          </a:bodyPr>
          <a:lstStyle/>
          <a:p>
            <a:pPr algn="l">
              <a:buNone/>
            </a:pPr>
            <a:r>
              <a:rPr sz="1270" b="1">
                <a:solidFill>
                  <a:srgbClr val="265FD6"/>
                </a:solidFill>
                <a:latin typeface="Noto Sans CJK JP"/>
                <a:ea typeface="Noto Sans CJK JP"/>
                <a:cs typeface="Noto Sans CJK JP"/>
              </a:rPr>
              <a:t>OpenAI</a:t>
            </a:r>
          </a:p>
        </p:txBody>
      </p:sp>
      <p:sp>
        <p:nvSpPr>
          <p:cNvPr id="8" name="TextBox 7">
            <a:extLst>
              <a:ext uri="{FF2B5EF4-FFF2-40B4-BE49-F238E27FC236}">
                <a16:creationId xmlns:a16="http://schemas.microsoft.com/office/drawing/2014/main" id="{E044C849-0C5F-4078-8A45-EEC26114FC7D}"/>
              </a:ext>
            </a:extLst>
          </p:cNvPr>
          <p:cNvSpPr>
            <a:spLocks noGrp="1"/>
          </p:cNvSpPr>
          <p:nvPr/>
        </p:nvSpPr>
        <p:spPr>
          <a:xfrm>
            <a:off x="1051560" y="1197864"/>
            <a:ext cx="3017520" cy="182880"/>
          </a:xfrm>
          <a:prstGeom prst="rect">
            <a:avLst/>
          </a:prstGeom>
          <a:noFill/>
          <a:effectLst/>
        </p:spPr>
        <p:txBody>
          <a:bodyPr wrap="none" lIns="36576" tIns="0" rIns="36576" bIns="0" anchor="ctr">
            <a:spAutoFit/>
          </a:bodyPr>
          <a:lstStyle/>
          <a:p>
            <a:pPr algn="l">
              <a:buNone/>
            </a:pPr>
            <a:r>
              <a:rPr sz="1240" b="0">
                <a:solidFill>
                  <a:srgbClr val="141414"/>
                </a:solidFill>
                <a:latin typeface="Noto Sans CJK JP"/>
                <a:ea typeface="Noto Sans CJK JP"/>
                <a:cs typeface="Noto Sans CJK JP"/>
              </a:rPr>
              <a:t>： Guardrail， Approvalを中心に構成</a:t>
            </a:r>
          </a:p>
        </p:txBody>
      </p:sp>
      <p:sp>
        <p:nvSpPr>
          <p:cNvPr id="9" name="TextBox 8">
            <a:extLst>
              <a:ext uri="{FF2B5EF4-FFF2-40B4-BE49-F238E27FC236}">
                <a16:creationId xmlns:a16="http://schemas.microsoft.com/office/drawing/2014/main" id="{54FEC660-FD11-492C-8FF4-22CDC32041C7}"/>
              </a:ext>
            </a:extLst>
          </p:cNvPr>
          <p:cNvSpPr>
            <a:spLocks noGrp="1"/>
          </p:cNvSpPr>
          <p:nvPr/>
        </p:nvSpPr>
        <p:spPr>
          <a:xfrm>
            <a:off x="3959352" y="1197864"/>
            <a:ext cx="731520" cy="182880"/>
          </a:xfrm>
          <a:prstGeom prst="rect">
            <a:avLst/>
          </a:prstGeom>
          <a:noFill/>
          <a:effectLst/>
        </p:spPr>
        <p:txBody>
          <a:bodyPr wrap="none" lIns="36576" tIns="0" rIns="36576" bIns="0" anchor="ctr">
            <a:spAutoFit/>
          </a:bodyPr>
          <a:lstStyle/>
          <a:p>
            <a:pPr algn="l">
              <a:buNone/>
            </a:pPr>
            <a:r>
              <a:rPr sz="1270" b="1">
                <a:solidFill>
                  <a:srgbClr val="265FD6"/>
                </a:solidFill>
                <a:latin typeface="Noto Sans CJK JP"/>
                <a:ea typeface="Noto Sans CJK JP"/>
                <a:cs typeface="Noto Sans CJK JP"/>
              </a:rPr>
              <a:t>Claude</a:t>
            </a:r>
          </a:p>
        </p:txBody>
      </p:sp>
      <p:sp>
        <p:nvSpPr>
          <p:cNvPr id="10" name="TextBox 9">
            <a:extLst>
              <a:ext uri="{FF2B5EF4-FFF2-40B4-BE49-F238E27FC236}">
                <a16:creationId xmlns:a16="http://schemas.microsoft.com/office/drawing/2014/main" id="{2CFA2055-0E8B-4701-A312-FB18ABC6A99C}"/>
              </a:ext>
            </a:extLst>
          </p:cNvPr>
          <p:cNvSpPr>
            <a:spLocks noGrp="1"/>
          </p:cNvSpPr>
          <p:nvPr/>
        </p:nvSpPr>
        <p:spPr>
          <a:xfrm>
            <a:off x="4553712" y="1197864"/>
            <a:ext cx="3886200" cy="182880"/>
          </a:xfrm>
          <a:prstGeom prst="rect">
            <a:avLst/>
          </a:prstGeom>
          <a:noFill/>
          <a:effectLst/>
        </p:spPr>
        <p:txBody>
          <a:bodyPr wrap="none" lIns="36576" tIns="0" rIns="36576" bIns="0" anchor="ctr">
            <a:spAutoFit/>
          </a:bodyPr>
          <a:lstStyle/>
          <a:p>
            <a:pPr algn="l">
              <a:buNone/>
            </a:pPr>
            <a:r>
              <a:rPr sz="1240" b="0">
                <a:solidFill>
                  <a:srgbClr val="141414"/>
                </a:solidFill>
                <a:latin typeface="Noto Sans CJK JP"/>
              </a:rPr>
              <a:t>： Permission System，Hooksを中心に構成</a:t>
            </a:r>
          </a:p>
        </p:txBody>
      </p:sp>
      <p:sp>
        <p:nvSpPr>
          <p:cNvPr id="11" name="Rectangle 10">
            <a:extLst>
              <a:ext uri="{FF2B5EF4-FFF2-40B4-BE49-F238E27FC236}">
                <a16:creationId xmlns:a16="http://schemas.microsoft.com/office/drawing/2014/main" id="{816C306B-1180-457E-A374-C43FDC30C9FC}"/>
              </a:ext>
            </a:extLst>
          </p:cNvPr>
          <p:cNvSpPr>
            <a:spLocks noGrp="1"/>
          </p:cNvSpPr>
          <p:nvPr/>
        </p:nvSpPr>
        <p:spPr>
          <a:xfrm>
            <a:off x="338328" y="1673352"/>
            <a:ext cx="2633472" cy="347472"/>
          </a:xfrm>
          <a:prstGeom prst="rect">
            <a:avLst/>
          </a:prstGeom>
          <a:solidFill>
            <a:srgbClr val="EEF2F7"/>
          </a:solidFill>
          <a:ln w="1016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A22D985-F367-40A4-9B83-20F7FEA6B730}"/>
              </a:ext>
            </a:extLst>
          </p:cNvPr>
          <p:cNvSpPr>
            <a:spLocks noGrp="1"/>
          </p:cNvSpPr>
          <p:nvPr/>
        </p:nvSpPr>
        <p:spPr>
          <a:xfrm>
            <a:off x="2971800" y="1673352"/>
            <a:ext cx="2395728" cy="347472"/>
          </a:xfrm>
          <a:prstGeom prst="rect">
            <a:avLst/>
          </a:prstGeom>
          <a:solidFill>
            <a:srgbClr val="EEF2F7"/>
          </a:solidFill>
          <a:ln w="1016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D973AE25-11A8-4E9C-AF04-4FB031B3BD8D}"/>
              </a:ext>
            </a:extLst>
          </p:cNvPr>
          <p:cNvSpPr>
            <a:spLocks noGrp="1"/>
          </p:cNvSpPr>
          <p:nvPr/>
        </p:nvSpPr>
        <p:spPr>
          <a:xfrm>
            <a:off x="5367528" y="1673352"/>
            <a:ext cx="3063240" cy="347472"/>
          </a:xfrm>
          <a:prstGeom prst="rect">
            <a:avLst/>
          </a:prstGeom>
          <a:solidFill>
            <a:srgbClr val="EEF2F7"/>
          </a:solidFill>
          <a:ln w="1016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B7C56D08-7EDC-45D0-98DE-389799A5812C}"/>
              </a:ext>
            </a:extLst>
          </p:cNvPr>
          <p:cNvSpPr>
            <a:spLocks noGrp="1"/>
          </p:cNvSpPr>
          <p:nvPr/>
        </p:nvSpPr>
        <p:spPr>
          <a:xfrm>
            <a:off x="8430768" y="1673352"/>
            <a:ext cx="2999232" cy="347472"/>
          </a:xfrm>
          <a:prstGeom prst="rect">
            <a:avLst/>
          </a:prstGeom>
          <a:solidFill>
            <a:srgbClr val="EEF2F7"/>
          </a:solidFill>
          <a:ln w="1016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9DA30C0-BF72-41FD-B129-3A60EA9C3B74}"/>
              </a:ext>
            </a:extLst>
          </p:cNvPr>
          <p:cNvSpPr>
            <a:spLocks noGrp="1"/>
          </p:cNvSpPr>
          <p:nvPr/>
        </p:nvSpPr>
        <p:spPr>
          <a:xfrm>
            <a:off x="338328" y="1682496"/>
            <a:ext cx="2633472" cy="329184"/>
          </a:xfrm>
          <a:prstGeom prst="rect">
            <a:avLst/>
          </a:prstGeom>
          <a:noFill/>
          <a:effectLst/>
        </p:spPr>
        <p:txBody>
          <a:bodyPr wrap="none" lIns="36576" tIns="0" rIns="36576" bIns="0" anchor="ctr">
            <a:spAutoFit/>
          </a:bodyPr>
          <a:lstStyle/>
          <a:p>
            <a:pPr algn="ctr">
              <a:buNone/>
            </a:pPr>
            <a:r>
              <a:rPr sz="1410" b="1">
                <a:solidFill>
                  <a:srgbClr val="141414"/>
                </a:solidFill>
                <a:latin typeface="Noto Sans CJK JP"/>
                <a:ea typeface="Noto Sans CJK JP"/>
                <a:cs typeface="Noto Sans CJK JP"/>
              </a:rPr>
              <a:t>ガバナンス領域</a:t>
            </a:r>
          </a:p>
        </p:txBody>
      </p:sp>
      <p:sp>
        <p:nvSpPr>
          <p:cNvPr id="16" name="TextBox 15">
            <a:extLst>
              <a:ext uri="{FF2B5EF4-FFF2-40B4-BE49-F238E27FC236}">
                <a16:creationId xmlns:a16="http://schemas.microsoft.com/office/drawing/2014/main" id="{6AE96F61-1706-4A7A-AF4C-E55ADBF26C96}"/>
              </a:ext>
            </a:extLst>
          </p:cNvPr>
          <p:cNvSpPr>
            <a:spLocks noGrp="1"/>
          </p:cNvSpPr>
          <p:nvPr/>
        </p:nvSpPr>
        <p:spPr>
          <a:xfrm>
            <a:off x="2971800" y="1682496"/>
            <a:ext cx="2395728" cy="329184"/>
          </a:xfrm>
          <a:prstGeom prst="rect">
            <a:avLst/>
          </a:prstGeom>
          <a:noFill/>
          <a:effectLst/>
        </p:spPr>
        <p:txBody>
          <a:bodyPr wrap="none" lIns="36576" tIns="0" rIns="36576" bIns="0" anchor="ctr">
            <a:spAutoFit/>
          </a:bodyPr>
          <a:lstStyle/>
          <a:p>
            <a:pPr algn="ctr">
              <a:buNone/>
            </a:pPr>
            <a:r>
              <a:rPr sz="1410" b="1">
                <a:solidFill>
                  <a:srgbClr val="141414"/>
                </a:solidFill>
                <a:latin typeface="Noto Sans CJK JP"/>
                <a:ea typeface="Noto Sans CJK JP"/>
                <a:cs typeface="Noto Sans CJK JP"/>
              </a:rPr>
              <a:t>主な目的</a:t>
            </a:r>
          </a:p>
        </p:txBody>
      </p:sp>
      <p:sp>
        <p:nvSpPr>
          <p:cNvPr id="17" name="TextBox 16">
            <a:extLst>
              <a:ext uri="{FF2B5EF4-FFF2-40B4-BE49-F238E27FC236}">
                <a16:creationId xmlns:a16="http://schemas.microsoft.com/office/drawing/2014/main" id="{78C404FB-42E0-46A5-AFB1-FAA369CA9D2E}"/>
              </a:ext>
            </a:extLst>
          </p:cNvPr>
          <p:cNvSpPr>
            <a:spLocks noGrp="1"/>
          </p:cNvSpPr>
          <p:nvPr/>
        </p:nvSpPr>
        <p:spPr>
          <a:xfrm>
            <a:off x="5367528" y="1682496"/>
            <a:ext cx="3063240" cy="329184"/>
          </a:xfrm>
          <a:prstGeom prst="rect">
            <a:avLst/>
          </a:prstGeom>
          <a:noFill/>
          <a:effectLst/>
        </p:spPr>
        <p:txBody>
          <a:bodyPr wrap="none" lIns="36576" tIns="0" rIns="36576" bIns="0" anchor="ctr">
            <a:spAutoFit/>
          </a:bodyPr>
          <a:lstStyle/>
          <a:p>
            <a:pPr algn="ctr">
              <a:buNone/>
            </a:pPr>
            <a:r>
              <a:rPr sz="1410" b="1">
                <a:solidFill>
                  <a:srgbClr val="141414"/>
                </a:solidFill>
                <a:latin typeface="Noto Sans CJK JP"/>
                <a:ea typeface="Noto Sans CJK JP"/>
                <a:cs typeface="Noto Sans CJK JP"/>
              </a:rPr>
              <a:t>OpenAI Agents SDK</a:t>
            </a:r>
          </a:p>
        </p:txBody>
      </p:sp>
      <p:sp>
        <p:nvSpPr>
          <p:cNvPr id="18" name="TextBox 17">
            <a:extLst>
              <a:ext uri="{FF2B5EF4-FFF2-40B4-BE49-F238E27FC236}">
                <a16:creationId xmlns:a16="http://schemas.microsoft.com/office/drawing/2014/main" id="{E01897C8-3D6D-4944-B9CB-26549D73F1A9}"/>
              </a:ext>
            </a:extLst>
          </p:cNvPr>
          <p:cNvSpPr>
            <a:spLocks noGrp="1"/>
          </p:cNvSpPr>
          <p:nvPr/>
        </p:nvSpPr>
        <p:spPr>
          <a:xfrm>
            <a:off x="8430768" y="1682496"/>
            <a:ext cx="2999232" cy="329184"/>
          </a:xfrm>
          <a:prstGeom prst="rect">
            <a:avLst/>
          </a:prstGeom>
          <a:noFill/>
          <a:effectLst/>
        </p:spPr>
        <p:txBody>
          <a:bodyPr wrap="none" lIns="36576" tIns="0" rIns="36576" bIns="0" anchor="ctr">
            <a:spAutoFit/>
          </a:bodyPr>
          <a:lstStyle/>
          <a:p>
            <a:pPr algn="ctr">
              <a:buNone/>
            </a:pPr>
            <a:r>
              <a:rPr sz="1410" b="1">
                <a:solidFill>
                  <a:srgbClr val="141414"/>
                </a:solidFill>
                <a:latin typeface="Noto Sans CJK JP"/>
                <a:ea typeface="Noto Sans CJK JP"/>
                <a:cs typeface="Noto Sans CJK JP"/>
              </a:rPr>
              <a:t>Claude Agent SDK</a:t>
            </a:r>
          </a:p>
        </p:txBody>
      </p:sp>
      <p:sp>
        <p:nvSpPr>
          <p:cNvPr id="19" name="Rectangle 18">
            <a:extLst>
              <a:ext uri="{FF2B5EF4-FFF2-40B4-BE49-F238E27FC236}">
                <a16:creationId xmlns:a16="http://schemas.microsoft.com/office/drawing/2014/main" id="{08770F32-211A-4217-BA21-61CDB516C743}"/>
              </a:ext>
            </a:extLst>
          </p:cNvPr>
          <p:cNvSpPr>
            <a:spLocks noGrp="1"/>
          </p:cNvSpPr>
          <p:nvPr/>
        </p:nvSpPr>
        <p:spPr>
          <a:xfrm>
            <a:off x="338328" y="2020824"/>
            <a:ext cx="1078992" cy="1837944"/>
          </a:xfrm>
          <a:prstGeom prst="rect">
            <a:avLst/>
          </a:prstGeom>
          <a:solidFill>
            <a:srgbClr val="FFFFFF"/>
          </a:solidFill>
          <a:ln w="889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B4D112EB-4C3F-432F-9047-D7C0386E78F1}"/>
              </a:ext>
            </a:extLst>
          </p:cNvPr>
          <p:cNvSpPr>
            <a:spLocks noGrp="1"/>
          </p:cNvSpPr>
          <p:nvPr/>
        </p:nvSpPr>
        <p:spPr>
          <a:xfrm>
            <a:off x="396058" y="2727430"/>
            <a:ext cx="963532" cy="424732"/>
          </a:xfrm>
          <a:prstGeom prst="rect">
            <a:avLst/>
          </a:prstGeom>
          <a:noFill/>
          <a:effectLst/>
        </p:spPr>
        <p:txBody>
          <a:bodyPr wrap="none" lIns="36576" tIns="0" rIns="36576" bIns="0" anchor="ctr">
            <a:spAutoFit/>
          </a:bodyPr>
          <a:lstStyle/>
          <a:p>
            <a:pPr algn="ctr">
              <a:buNone/>
            </a:pPr>
            <a:r>
              <a:rPr sz="1380" b="1">
                <a:solidFill>
                  <a:srgbClr val="141414"/>
                </a:solidFill>
                <a:latin typeface="Noto Sans CJK JP"/>
                <a:ea typeface="Noto Sans CJK JP"/>
                <a:cs typeface="Noto Sans CJK JP"/>
              </a:rPr>
              <a:t>行動・権限</a:t>
            </a:r>
            <a:endParaRPr lang="en-US" sz="1380" b="1">
              <a:solidFill>
                <a:srgbClr val="141414"/>
              </a:solidFill>
              <a:latin typeface="Noto Sans CJK JP"/>
              <a:ea typeface="Noto Sans CJK JP"/>
              <a:cs typeface="Noto Sans CJK JP"/>
            </a:endParaRPr>
          </a:p>
          <a:p>
            <a:pPr algn="ctr">
              <a:buNone/>
            </a:pPr>
            <a:r>
              <a:rPr sz="1380" b="1">
                <a:solidFill>
                  <a:srgbClr val="141414"/>
                </a:solidFill>
                <a:latin typeface="Noto Sans CJK JP"/>
                <a:ea typeface="Noto Sans CJK JP"/>
                <a:cs typeface="Noto Sans CJK JP"/>
              </a:rPr>
              <a:t>制御</a:t>
            </a:r>
          </a:p>
        </p:txBody>
      </p:sp>
      <p:sp>
        <p:nvSpPr>
          <p:cNvPr id="21" name="Rectangle 20">
            <a:extLst>
              <a:ext uri="{FF2B5EF4-FFF2-40B4-BE49-F238E27FC236}">
                <a16:creationId xmlns:a16="http://schemas.microsoft.com/office/drawing/2014/main" id="{0ACADA3E-4000-49E1-8FE6-E739C9FE7161}"/>
              </a:ext>
            </a:extLst>
          </p:cNvPr>
          <p:cNvSpPr>
            <a:spLocks noGrp="1"/>
          </p:cNvSpPr>
          <p:nvPr/>
        </p:nvSpPr>
        <p:spPr>
          <a:xfrm>
            <a:off x="338328" y="3858768"/>
            <a:ext cx="1078992" cy="918972"/>
          </a:xfrm>
          <a:prstGeom prst="rect">
            <a:avLst/>
          </a:prstGeom>
          <a:solidFill>
            <a:srgbClr val="FFFFFF"/>
          </a:solidFill>
          <a:ln w="889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E2D0035A-CBA3-4231-A9FC-EA0C17F9F5C4}"/>
              </a:ext>
            </a:extLst>
          </p:cNvPr>
          <p:cNvSpPr>
            <a:spLocks noGrp="1"/>
          </p:cNvSpPr>
          <p:nvPr/>
        </p:nvSpPr>
        <p:spPr>
          <a:xfrm>
            <a:off x="356616" y="3858768"/>
            <a:ext cx="1042416" cy="918972"/>
          </a:xfrm>
          <a:prstGeom prst="rect">
            <a:avLst/>
          </a:prstGeom>
          <a:noFill/>
          <a:effectLst/>
        </p:spPr>
        <p:txBody>
          <a:bodyPr wrap="none" lIns="36576" tIns="0" rIns="36576" bIns="0" anchor="ctr">
            <a:spAutoFit/>
          </a:bodyPr>
          <a:lstStyle/>
          <a:p>
            <a:pPr algn="ctr">
              <a:buNone/>
            </a:pPr>
            <a:r>
              <a:rPr sz="1380" b="1">
                <a:solidFill>
                  <a:srgbClr val="141414"/>
                </a:solidFill>
                <a:latin typeface="Noto Sans CJK JP"/>
                <a:ea typeface="Noto Sans CJK JP"/>
                <a:cs typeface="Noto Sans CJK JP"/>
              </a:rPr>
              <a:t>リソース統制</a:t>
            </a:r>
          </a:p>
        </p:txBody>
      </p:sp>
      <p:sp>
        <p:nvSpPr>
          <p:cNvPr id="23" name="Rectangle 22">
            <a:extLst>
              <a:ext uri="{FF2B5EF4-FFF2-40B4-BE49-F238E27FC236}">
                <a16:creationId xmlns:a16="http://schemas.microsoft.com/office/drawing/2014/main" id="{8FFADDC5-1B43-4FFD-8082-3BBAF9BAAA95}"/>
              </a:ext>
            </a:extLst>
          </p:cNvPr>
          <p:cNvSpPr>
            <a:spLocks noGrp="1"/>
          </p:cNvSpPr>
          <p:nvPr/>
        </p:nvSpPr>
        <p:spPr>
          <a:xfrm>
            <a:off x="338328" y="4777740"/>
            <a:ext cx="1078992" cy="918972"/>
          </a:xfrm>
          <a:prstGeom prst="rect">
            <a:avLst/>
          </a:prstGeom>
          <a:solidFill>
            <a:srgbClr val="FFFFFF"/>
          </a:solidFill>
          <a:ln w="889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5846034C-5875-4940-B206-E2F2E7396D4B}"/>
              </a:ext>
            </a:extLst>
          </p:cNvPr>
          <p:cNvSpPr>
            <a:spLocks noGrp="1"/>
          </p:cNvSpPr>
          <p:nvPr/>
        </p:nvSpPr>
        <p:spPr>
          <a:xfrm>
            <a:off x="356616" y="4777740"/>
            <a:ext cx="1042416" cy="918972"/>
          </a:xfrm>
          <a:prstGeom prst="rect">
            <a:avLst/>
          </a:prstGeom>
          <a:noFill/>
          <a:effectLst/>
        </p:spPr>
        <p:txBody>
          <a:bodyPr wrap="none" lIns="36576" tIns="0" rIns="36576" bIns="0" anchor="ctr">
            <a:spAutoFit/>
          </a:bodyPr>
          <a:lstStyle/>
          <a:p>
            <a:pPr algn="ctr">
              <a:buNone/>
            </a:pPr>
            <a:r>
              <a:rPr sz="1380" b="1">
                <a:solidFill>
                  <a:srgbClr val="141414"/>
                </a:solidFill>
                <a:latin typeface="Noto Sans CJK JP"/>
                <a:ea typeface="Noto Sans CJK JP"/>
                <a:cs typeface="Noto Sans CJK JP"/>
              </a:rPr>
              <a:t>実行環境</a:t>
            </a:r>
          </a:p>
        </p:txBody>
      </p:sp>
      <p:sp>
        <p:nvSpPr>
          <p:cNvPr id="25" name="Rectangle 24">
            <a:extLst>
              <a:ext uri="{FF2B5EF4-FFF2-40B4-BE49-F238E27FC236}">
                <a16:creationId xmlns:a16="http://schemas.microsoft.com/office/drawing/2014/main" id="{CEDC9396-DA2C-48E5-BDB7-808CAF222684}"/>
              </a:ext>
            </a:extLst>
          </p:cNvPr>
          <p:cNvSpPr>
            <a:spLocks noGrp="1"/>
          </p:cNvSpPr>
          <p:nvPr/>
        </p:nvSpPr>
        <p:spPr>
          <a:xfrm>
            <a:off x="338328" y="5696712"/>
            <a:ext cx="1078992" cy="306324"/>
          </a:xfrm>
          <a:prstGeom prst="rect">
            <a:avLst/>
          </a:prstGeom>
          <a:solidFill>
            <a:srgbClr val="FFFFFF"/>
          </a:solidFill>
          <a:ln w="889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8E4D8B3-3F4B-48AA-B942-C5B63B859414}"/>
              </a:ext>
            </a:extLst>
          </p:cNvPr>
          <p:cNvSpPr>
            <a:spLocks noGrp="1"/>
          </p:cNvSpPr>
          <p:nvPr/>
        </p:nvSpPr>
        <p:spPr>
          <a:xfrm>
            <a:off x="356616" y="5696712"/>
            <a:ext cx="1042416" cy="306324"/>
          </a:xfrm>
          <a:prstGeom prst="rect">
            <a:avLst/>
          </a:prstGeom>
          <a:noFill/>
          <a:effectLst/>
        </p:spPr>
        <p:txBody>
          <a:bodyPr wrap="none" lIns="36576" tIns="0" rIns="36576" bIns="0" anchor="ctr">
            <a:spAutoFit/>
          </a:bodyPr>
          <a:lstStyle/>
          <a:p>
            <a:pPr algn="ctr">
              <a:buNone/>
            </a:pPr>
            <a:r>
              <a:rPr sz="1380" b="1">
                <a:solidFill>
                  <a:srgbClr val="141414"/>
                </a:solidFill>
                <a:latin typeface="Noto Sans CJK JP"/>
                <a:ea typeface="Noto Sans CJK JP"/>
                <a:cs typeface="Noto Sans CJK JP"/>
              </a:rPr>
              <a:t>記録・監査</a:t>
            </a:r>
          </a:p>
        </p:txBody>
      </p:sp>
      <p:sp>
        <p:nvSpPr>
          <p:cNvPr id="27" name="Rectangle 26">
            <a:extLst>
              <a:ext uri="{FF2B5EF4-FFF2-40B4-BE49-F238E27FC236}">
                <a16:creationId xmlns:a16="http://schemas.microsoft.com/office/drawing/2014/main" id="{B9C4A9C5-83ED-42FC-97CE-ADD5781853BA}"/>
              </a:ext>
            </a:extLst>
          </p:cNvPr>
          <p:cNvSpPr>
            <a:spLocks noGrp="1"/>
          </p:cNvSpPr>
          <p:nvPr/>
        </p:nvSpPr>
        <p:spPr>
          <a:xfrm>
            <a:off x="1417320" y="2020824"/>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FE5191C3-65E6-4C3B-A2FF-3BF69F43F34A}"/>
              </a:ext>
            </a:extLst>
          </p:cNvPr>
          <p:cNvSpPr>
            <a:spLocks noGrp="1"/>
          </p:cNvSpPr>
          <p:nvPr/>
        </p:nvSpPr>
        <p:spPr>
          <a:xfrm>
            <a:off x="2971800" y="2020824"/>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ectangle 28">
            <a:extLst>
              <a:ext uri="{FF2B5EF4-FFF2-40B4-BE49-F238E27FC236}">
                <a16:creationId xmlns:a16="http://schemas.microsoft.com/office/drawing/2014/main" id="{4583505E-1140-42EA-B9A2-F81127F81754}"/>
              </a:ext>
            </a:extLst>
          </p:cNvPr>
          <p:cNvSpPr>
            <a:spLocks noGrp="1"/>
          </p:cNvSpPr>
          <p:nvPr/>
        </p:nvSpPr>
        <p:spPr>
          <a:xfrm>
            <a:off x="5367528" y="2020824"/>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CF11D3FD-4E3C-4F28-8CD4-1DE307EDEE00}"/>
              </a:ext>
            </a:extLst>
          </p:cNvPr>
          <p:cNvSpPr>
            <a:spLocks noGrp="1"/>
          </p:cNvSpPr>
          <p:nvPr/>
        </p:nvSpPr>
        <p:spPr>
          <a:xfrm>
            <a:off x="8430768" y="2020824"/>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A0BA1934-CD06-46F6-AAD3-08DD1421E98B}"/>
              </a:ext>
            </a:extLst>
          </p:cNvPr>
          <p:cNvSpPr>
            <a:spLocks noGrp="1"/>
          </p:cNvSpPr>
          <p:nvPr/>
        </p:nvSpPr>
        <p:spPr>
          <a:xfrm>
            <a:off x="1545336" y="2029967"/>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入力制御</a:t>
            </a:r>
          </a:p>
        </p:txBody>
      </p:sp>
      <p:sp>
        <p:nvSpPr>
          <p:cNvPr id="32" name="TextBox 31">
            <a:extLst>
              <a:ext uri="{FF2B5EF4-FFF2-40B4-BE49-F238E27FC236}">
                <a16:creationId xmlns:a16="http://schemas.microsoft.com/office/drawing/2014/main" id="{AC08862B-5C53-4C23-A20C-BB39795127A5}"/>
              </a:ext>
            </a:extLst>
          </p:cNvPr>
          <p:cNvSpPr>
            <a:spLocks noGrp="1"/>
          </p:cNvSpPr>
          <p:nvPr/>
        </p:nvSpPr>
        <p:spPr>
          <a:xfrm>
            <a:off x="3136392" y="2029967"/>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入力内容を検査</a:t>
            </a:r>
          </a:p>
        </p:txBody>
      </p:sp>
      <p:sp>
        <p:nvSpPr>
          <p:cNvPr id="33" name="TextBox 32">
            <a:extLst>
              <a:ext uri="{FF2B5EF4-FFF2-40B4-BE49-F238E27FC236}">
                <a16:creationId xmlns:a16="http://schemas.microsoft.com/office/drawing/2014/main" id="{7ADDE0E3-AC61-49E9-A0F7-850C00B2047E}"/>
              </a:ext>
            </a:extLst>
          </p:cNvPr>
          <p:cNvSpPr>
            <a:spLocks noGrp="1"/>
          </p:cNvSpPr>
          <p:nvPr/>
        </p:nvSpPr>
        <p:spPr>
          <a:xfrm>
            <a:off x="5532120" y="2029967"/>
            <a:ext cx="2843784"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Input Guardrail</a:t>
            </a:r>
          </a:p>
        </p:txBody>
      </p:sp>
      <p:sp>
        <p:nvSpPr>
          <p:cNvPr id="34" name="TextBox 33">
            <a:extLst>
              <a:ext uri="{FF2B5EF4-FFF2-40B4-BE49-F238E27FC236}">
                <a16:creationId xmlns:a16="http://schemas.microsoft.com/office/drawing/2014/main" id="{F2443B3D-508E-4B66-8F47-7E68B788B3D7}"/>
              </a:ext>
            </a:extLst>
          </p:cNvPr>
          <p:cNvSpPr>
            <a:spLocks noGrp="1"/>
          </p:cNvSpPr>
          <p:nvPr/>
        </p:nvSpPr>
        <p:spPr>
          <a:xfrm>
            <a:off x="8595360" y="2029967"/>
            <a:ext cx="2779776"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UserPromptSubmit</a:t>
            </a:r>
          </a:p>
        </p:txBody>
      </p:sp>
      <p:sp>
        <p:nvSpPr>
          <p:cNvPr id="35" name="Rectangle 34">
            <a:extLst>
              <a:ext uri="{FF2B5EF4-FFF2-40B4-BE49-F238E27FC236}">
                <a16:creationId xmlns:a16="http://schemas.microsoft.com/office/drawing/2014/main" id="{86BB917B-33BC-426A-B094-CB782382F372}"/>
              </a:ext>
            </a:extLst>
          </p:cNvPr>
          <p:cNvSpPr>
            <a:spLocks noGrp="1"/>
          </p:cNvSpPr>
          <p:nvPr/>
        </p:nvSpPr>
        <p:spPr>
          <a:xfrm>
            <a:off x="1417320" y="2327148"/>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ctangle 35">
            <a:extLst>
              <a:ext uri="{FF2B5EF4-FFF2-40B4-BE49-F238E27FC236}">
                <a16:creationId xmlns:a16="http://schemas.microsoft.com/office/drawing/2014/main" id="{C5611D5F-0F83-428D-A135-795E1ECCA056}"/>
              </a:ext>
            </a:extLst>
          </p:cNvPr>
          <p:cNvSpPr>
            <a:spLocks noGrp="1"/>
          </p:cNvSpPr>
          <p:nvPr/>
        </p:nvSpPr>
        <p:spPr>
          <a:xfrm>
            <a:off x="2971800" y="2327148"/>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00A86D9E-8E15-49D2-9B0F-5EE1449D73D8}"/>
              </a:ext>
            </a:extLst>
          </p:cNvPr>
          <p:cNvSpPr>
            <a:spLocks noGrp="1"/>
          </p:cNvSpPr>
          <p:nvPr/>
        </p:nvSpPr>
        <p:spPr>
          <a:xfrm>
            <a:off x="5367528" y="2327148"/>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5F40FD26-2474-4396-BB1B-52A1D776607E}"/>
              </a:ext>
            </a:extLst>
          </p:cNvPr>
          <p:cNvSpPr>
            <a:spLocks noGrp="1"/>
          </p:cNvSpPr>
          <p:nvPr/>
        </p:nvSpPr>
        <p:spPr>
          <a:xfrm>
            <a:off x="8430768" y="2327148"/>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E30C0FD-5433-4806-81B3-8A68B76A9B3A}"/>
              </a:ext>
            </a:extLst>
          </p:cNvPr>
          <p:cNvSpPr>
            <a:spLocks noGrp="1"/>
          </p:cNvSpPr>
          <p:nvPr/>
        </p:nvSpPr>
        <p:spPr>
          <a:xfrm>
            <a:off x="1545336" y="2336291"/>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Tool実行制御</a:t>
            </a:r>
          </a:p>
        </p:txBody>
      </p:sp>
      <p:sp>
        <p:nvSpPr>
          <p:cNvPr id="40" name="TextBox 39">
            <a:extLst>
              <a:ext uri="{FF2B5EF4-FFF2-40B4-BE49-F238E27FC236}">
                <a16:creationId xmlns:a16="http://schemas.microsoft.com/office/drawing/2014/main" id="{DFE03FE4-DAC3-4DD5-B1CF-725E56BD8E65}"/>
              </a:ext>
            </a:extLst>
          </p:cNvPr>
          <p:cNvSpPr>
            <a:spLocks noGrp="1"/>
          </p:cNvSpPr>
          <p:nvPr/>
        </p:nvSpPr>
        <p:spPr>
          <a:xfrm>
            <a:off x="3136392" y="2336291"/>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Tool実行前に検査</a:t>
            </a:r>
          </a:p>
        </p:txBody>
      </p:sp>
      <p:sp>
        <p:nvSpPr>
          <p:cNvPr id="41" name="TextBox 40">
            <a:extLst>
              <a:ext uri="{FF2B5EF4-FFF2-40B4-BE49-F238E27FC236}">
                <a16:creationId xmlns:a16="http://schemas.microsoft.com/office/drawing/2014/main" id="{A16D4245-8407-44F3-89A0-C8057F646183}"/>
              </a:ext>
            </a:extLst>
          </p:cNvPr>
          <p:cNvSpPr>
            <a:spLocks noGrp="1"/>
          </p:cNvSpPr>
          <p:nvPr/>
        </p:nvSpPr>
        <p:spPr>
          <a:xfrm>
            <a:off x="5532120" y="2336291"/>
            <a:ext cx="2843784"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Tool Input Guardrail</a:t>
            </a:r>
          </a:p>
        </p:txBody>
      </p:sp>
      <p:sp>
        <p:nvSpPr>
          <p:cNvPr id="42" name="TextBox 41">
            <a:extLst>
              <a:ext uri="{FF2B5EF4-FFF2-40B4-BE49-F238E27FC236}">
                <a16:creationId xmlns:a16="http://schemas.microsoft.com/office/drawing/2014/main" id="{5700F2D6-D1E8-4A3D-B93B-E032B615E92E}"/>
              </a:ext>
            </a:extLst>
          </p:cNvPr>
          <p:cNvSpPr>
            <a:spLocks noGrp="1"/>
          </p:cNvSpPr>
          <p:nvPr/>
        </p:nvSpPr>
        <p:spPr>
          <a:xfrm>
            <a:off x="8595360" y="2336291"/>
            <a:ext cx="2779776"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Permission System / PreToolUse</a:t>
            </a:r>
          </a:p>
        </p:txBody>
      </p:sp>
      <p:sp>
        <p:nvSpPr>
          <p:cNvPr id="43" name="Rectangle 42">
            <a:extLst>
              <a:ext uri="{FF2B5EF4-FFF2-40B4-BE49-F238E27FC236}">
                <a16:creationId xmlns:a16="http://schemas.microsoft.com/office/drawing/2014/main" id="{071ADC7B-108A-4545-B73F-2521EA274F8E}"/>
              </a:ext>
            </a:extLst>
          </p:cNvPr>
          <p:cNvSpPr>
            <a:spLocks noGrp="1"/>
          </p:cNvSpPr>
          <p:nvPr/>
        </p:nvSpPr>
        <p:spPr>
          <a:xfrm>
            <a:off x="1417320" y="2633472"/>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F33B6715-5512-4FF3-8EDD-B966DD23E9AD}"/>
              </a:ext>
            </a:extLst>
          </p:cNvPr>
          <p:cNvSpPr>
            <a:spLocks noGrp="1"/>
          </p:cNvSpPr>
          <p:nvPr/>
        </p:nvSpPr>
        <p:spPr>
          <a:xfrm>
            <a:off x="2971800" y="2633472"/>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9CBC6629-EEF4-4447-BAD9-BEABC376BB5E}"/>
              </a:ext>
            </a:extLst>
          </p:cNvPr>
          <p:cNvSpPr>
            <a:spLocks noGrp="1"/>
          </p:cNvSpPr>
          <p:nvPr/>
        </p:nvSpPr>
        <p:spPr>
          <a:xfrm>
            <a:off x="5367528" y="2633472"/>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EA141176-0983-4548-AD7E-FF081CD5F3F8}"/>
              </a:ext>
            </a:extLst>
          </p:cNvPr>
          <p:cNvSpPr>
            <a:spLocks noGrp="1"/>
          </p:cNvSpPr>
          <p:nvPr/>
        </p:nvSpPr>
        <p:spPr>
          <a:xfrm>
            <a:off x="8430768" y="2633472"/>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65EEB0C7-987C-4EC1-ABBA-6F4810412585}"/>
              </a:ext>
            </a:extLst>
          </p:cNvPr>
          <p:cNvSpPr>
            <a:spLocks noGrp="1"/>
          </p:cNvSpPr>
          <p:nvPr/>
        </p:nvSpPr>
        <p:spPr>
          <a:xfrm>
            <a:off x="1545336" y="2642615"/>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Tool結果制御</a:t>
            </a:r>
          </a:p>
        </p:txBody>
      </p:sp>
      <p:sp>
        <p:nvSpPr>
          <p:cNvPr id="48" name="TextBox 47">
            <a:extLst>
              <a:ext uri="{FF2B5EF4-FFF2-40B4-BE49-F238E27FC236}">
                <a16:creationId xmlns:a16="http://schemas.microsoft.com/office/drawing/2014/main" id="{8A66D09F-8657-4CB0-B7B1-73107C789723}"/>
              </a:ext>
            </a:extLst>
          </p:cNvPr>
          <p:cNvSpPr>
            <a:spLocks noGrp="1"/>
          </p:cNvSpPr>
          <p:nvPr/>
        </p:nvSpPr>
        <p:spPr>
          <a:xfrm>
            <a:off x="3136392" y="2642615"/>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Tool結果を検査</a:t>
            </a:r>
          </a:p>
        </p:txBody>
      </p:sp>
      <p:sp>
        <p:nvSpPr>
          <p:cNvPr id="49" name="TextBox 48">
            <a:extLst>
              <a:ext uri="{FF2B5EF4-FFF2-40B4-BE49-F238E27FC236}">
                <a16:creationId xmlns:a16="http://schemas.microsoft.com/office/drawing/2014/main" id="{7277D1EF-1C24-442B-8219-190EC07BBCD4}"/>
              </a:ext>
            </a:extLst>
          </p:cNvPr>
          <p:cNvSpPr>
            <a:spLocks noGrp="1"/>
          </p:cNvSpPr>
          <p:nvPr/>
        </p:nvSpPr>
        <p:spPr>
          <a:xfrm>
            <a:off x="5532120" y="2642615"/>
            <a:ext cx="2843784"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Tool Output Guardrail</a:t>
            </a:r>
          </a:p>
        </p:txBody>
      </p:sp>
      <p:sp>
        <p:nvSpPr>
          <p:cNvPr id="50" name="TextBox 49">
            <a:extLst>
              <a:ext uri="{FF2B5EF4-FFF2-40B4-BE49-F238E27FC236}">
                <a16:creationId xmlns:a16="http://schemas.microsoft.com/office/drawing/2014/main" id="{118E8857-24AE-4400-A39F-B44E60167F63}"/>
              </a:ext>
            </a:extLst>
          </p:cNvPr>
          <p:cNvSpPr>
            <a:spLocks noGrp="1"/>
          </p:cNvSpPr>
          <p:nvPr/>
        </p:nvSpPr>
        <p:spPr>
          <a:xfrm>
            <a:off x="8595360" y="2642615"/>
            <a:ext cx="2779776"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PostToolUse</a:t>
            </a:r>
          </a:p>
        </p:txBody>
      </p:sp>
      <p:sp>
        <p:nvSpPr>
          <p:cNvPr id="51" name="Rectangle 50">
            <a:extLst>
              <a:ext uri="{FF2B5EF4-FFF2-40B4-BE49-F238E27FC236}">
                <a16:creationId xmlns:a16="http://schemas.microsoft.com/office/drawing/2014/main" id="{B77BF408-C78A-4C25-90AA-B4604F07A60B}"/>
              </a:ext>
            </a:extLst>
          </p:cNvPr>
          <p:cNvSpPr>
            <a:spLocks noGrp="1"/>
          </p:cNvSpPr>
          <p:nvPr/>
        </p:nvSpPr>
        <p:spPr>
          <a:xfrm>
            <a:off x="1417320" y="2939796"/>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Rectangle 51">
            <a:extLst>
              <a:ext uri="{FF2B5EF4-FFF2-40B4-BE49-F238E27FC236}">
                <a16:creationId xmlns:a16="http://schemas.microsoft.com/office/drawing/2014/main" id="{FFDE4F61-62E5-43F3-AA1D-82B189D2FF54}"/>
              </a:ext>
            </a:extLst>
          </p:cNvPr>
          <p:cNvSpPr>
            <a:spLocks noGrp="1"/>
          </p:cNvSpPr>
          <p:nvPr/>
        </p:nvSpPr>
        <p:spPr>
          <a:xfrm>
            <a:off x="2971800" y="2939796"/>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Rectangle 52">
            <a:extLst>
              <a:ext uri="{FF2B5EF4-FFF2-40B4-BE49-F238E27FC236}">
                <a16:creationId xmlns:a16="http://schemas.microsoft.com/office/drawing/2014/main" id="{F1E59223-049C-44D2-BB01-5EA03E08ED4C}"/>
              </a:ext>
            </a:extLst>
          </p:cNvPr>
          <p:cNvSpPr>
            <a:spLocks noGrp="1"/>
          </p:cNvSpPr>
          <p:nvPr/>
        </p:nvSpPr>
        <p:spPr>
          <a:xfrm>
            <a:off x="5367528" y="2939796"/>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Rectangle 53">
            <a:extLst>
              <a:ext uri="{FF2B5EF4-FFF2-40B4-BE49-F238E27FC236}">
                <a16:creationId xmlns:a16="http://schemas.microsoft.com/office/drawing/2014/main" id="{6599ADD6-A8D0-4FB2-9F3B-A6C5A3A2011A}"/>
              </a:ext>
            </a:extLst>
          </p:cNvPr>
          <p:cNvSpPr>
            <a:spLocks noGrp="1"/>
          </p:cNvSpPr>
          <p:nvPr/>
        </p:nvSpPr>
        <p:spPr>
          <a:xfrm>
            <a:off x="8430768" y="2939796"/>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818CA5F-E92E-40A4-94DF-7CA5C672D69B}"/>
              </a:ext>
            </a:extLst>
          </p:cNvPr>
          <p:cNvSpPr>
            <a:spLocks noGrp="1"/>
          </p:cNvSpPr>
          <p:nvPr/>
        </p:nvSpPr>
        <p:spPr>
          <a:xfrm>
            <a:off x="1545336" y="2948939"/>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Human Approval</a:t>
            </a:r>
          </a:p>
        </p:txBody>
      </p:sp>
      <p:sp>
        <p:nvSpPr>
          <p:cNvPr id="56" name="TextBox 55">
            <a:extLst>
              <a:ext uri="{FF2B5EF4-FFF2-40B4-BE49-F238E27FC236}">
                <a16:creationId xmlns:a16="http://schemas.microsoft.com/office/drawing/2014/main" id="{D9CC463E-7578-49D4-8D4F-7D0C7CFB809D}"/>
              </a:ext>
            </a:extLst>
          </p:cNvPr>
          <p:cNvSpPr>
            <a:spLocks noGrp="1"/>
          </p:cNvSpPr>
          <p:nvPr/>
        </p:nvSpPr>
        <p:spPr>
          <a:xfrm>
            <a:off x="3136392" y="2948939"/>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高リスク操作を承認</a:t>
            </a:r>
          </a:p>
        </p:txBody>
      </p:sp>
      <p:sp>
        <p:nvSpPr>
          <p:cNvPr id="57" name="TextBox 56">
            <a:extLst>
              <a:ext uri="{FF2B5EF4-FFF2-40B4-BE49-F238E27FC236}">
                <a16:creationId xmlns:a16="http://schemas.microsoft.com/office/drawing/2014/main" id="{AF875DF7-A8DB-4F1B-A5B8-0670D871623B}"/>
              </a:ext>
            </a:extLst>
          </p:cNvPr>
          <p:cNvSpPr>
            <a:spLocks noGrp="1"/>
          </p:cNvSpPr>
          <p:nvPr/>
        </p:nvSpPr>
        <p:spPr>
          <a:xfrm>
            <a:off x="5532120" y="2948939"/>
            <a:ext cx="2843784"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needs_approval</a:t>
            </a:r>
          </a:p>
        </p:txBody>
      </p:sp>
      <p:sp>
        <p:nvSpPr>
          <p:cNvPr id="58" name="TextBox 57">
            <a:extLst>
              <a:ext uri="{FF2B5EF4-FFF2-40B4-BE49-F238E27FC236}">
                <a16:creationId xmlns:a16="http://schemas.microsoft.com/office/drawing/2014/main" id="{9732A5A4-E20E-4C7E-80AE-BC7098F9297C}"/>
              </a:ext>
            </a:extLst>
          </p:cNvPr>
          <p:cNvSpPr>
            <a:spLocks noGrp="1"/>
          </p:cNvSpPr>
          <p:nvPr/>
        </p:nvSpPr>
        <p:spPr>
          <a:xfrm>
            <a:off x="8595360" y="2948939"/>
            <a:ext cx="2779776"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can_use_tool</a:t>
            </a:r>
          </a:p>
        </p:txBody>
      </p:sp>
      <p:sp>
        <p:nvSpPr>
          <p:cNvPr id="59" name="Rectangle 58">
            <a:extLst>
              <a:ext uri="{FF2B5EF4-FFF2-40B4-BE49-F238E27FC236}">
                <a16:creationId xmlns:a16="http://schemas.microsoft.com/office/drawing/2014/main" id="{4AC2747F-0CD3-41AF-9A02-0251291C90A8}"/>
              </a:ext>
            </a:extLst>
          </p:cNvPr>
          <p:cNvSpPr>
            <a:spLocks noGrp="1"/>
          </p:cNvSpPr>
          <p:nvPr/>
        </p:nvSpPr>
        <p:spPr>
          <a:xfrm>
            <a:off x="1417320" y="3246120"/>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0" name="Rectangle 59">
            <a:extLst>
              <a:ext uri="{FF2B5EF4-FFF2-40B4-BE49-F238E27FC236}">
                <a16:creationId xmlns:a16="http://schemas.microsoft.com/office/drawing/2014/main" id="{6710A6E7-2AED-49D7-A9DA-3A30511CA076}"/>
              </a:ext>
            </a:extLst>
          </p:cNvPr>
          <p:cNvSpPr>
            <a:spLocks noGrp="1"/>
          </p:cNvSpPr>
          <p:nvPr/>
        </p:nvSpPr>
        <p:spPr>
          <a:xfrm>
            <a:off x="2971800" y="3246120"/>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Rectangle 60">
            <a:extLst>
              <a:ext uri="{FF2B5EF4-FFF2-40B4-BE49-F238E27FC236}">
                <a16:creationId xmlns:a16="http://schemas.microsoft.com/office/drawing/2014/main" id="{6F29EA37-BB2B-4D21-9C96-40A63E595162}"/>
              </a:ext>
            </a:extLst>
          </p:cNvPr>
          <p:cNvSpPr>
            <a:spLocks noGrp="1"/>
          </p:cNvSpPr>
          <p:nvPr/>
        </p:nvSpPr>
        <p:spPr>
          <a:xfrm>
            <a:off x="5367528" y="3246120"/>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Rectangle 61">
            <a:extLst>
              <a:ext uri="{FF2B5EF4-FFF2-40B4-BE49-F238E27FC236}">
                <a16:creationId xmlns:a16="http://schemas.microsoft.com/office/drawing/2014/main" id="{78B1431D-4EAC-4016-A695-9C867AE6E8A6}"/>
              </a:ext>
            </a:extLst>
          </p:cNvPr>
          <p:cNvSpPr>
            <a:spLocks noGrp="1"/>
          </p:cNvSpPr>
          <p:nvPr/>
        </p:nvSpPr>
        <p:spPr>
          <a:xfrm>
            <a:off x="8430768" y="3246120"/>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63E1BD7B-5858-427F-8C4D-FD9F04462113}"/>
              </a:ext>
            </a:extLst>
          </p:cNvPr>
          <p:cNvSpPr>
            <a:spLocks noGrp="1"/>
          </p:cNvSpPr>
          <p:nvPr/>
        </p:nvSpPr>
        <p:spPr>
          <a:xfrm>
            <a:off x="1545336" y="3255263"/>
            <a:ext cx="1389888" cy="288036"/>
          </a:xfrm>
          <a:prstGeom prst="rect">
            <a:avLst/>
          </a:prstGeom>
          <a:noFill/>
          <a:effectLst/>
        </p:spPr>
        <p:txBody>
          <a:bodyPr wrap="none" lIns="36576" tIns="0" rIns="36576" bIns="0" anchor="ctr">
            <a:spAutoFit/>
          </a:bodyPr>
          <a:lstStyle/>
          <a:p>
            <a:pPr algn="ctr">
              <a:buNone/>
            </a:pPr>
            <a:r>
              <a:rPr sz="1280" b="0">
                <a:solidFill>
                  <a:srgbClr val="141414"/>
                </a:solidFill>
                <a:latin typeface="Noto Sans CJK JP"/>
              </a:rPr>
              <a:t>Tool Visibility</a:t>
            </a:r>
          </a:p>
        </p:txBody>
      </p:sp>
      <p:sp>
        <p:nvSpPr>
          <p:cNvPr id="64" name="TextBox 63">
            <a:extLst>
              <a:ext uri="{FF2B5EF4-FFF2-40B4-BE49-F238E27FC236}">
                <a16:creationId xmlns:a16="http://schemas.microsoft.com/office/drawing/2014/main" id="{7742371A-8101-49C0-84E7-8609BFED8D3C}"/>
              </a:ext>
            </a:extLst>
          </p:cNvPr>
          <p:cNvSpPr>
            <a:spLocks noGrp="1"/>
          </p:cNvSpPr>
          <p:nvPr/>
        </p:nvSpPr>
        <p:spPr>
          <a:xfrm>
            <a:off x="3136392" y="3255263"/>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利用可能なToolを限定</a:t>
            </a:r>
          </a:p>
        </p:txBody>
      </p:sp>
      <p:sp>
        <p:nvSpPr>
          <p:cNvPr id="65" name="TextBox 64">
            <a:extLst>
              <a:ext uri="{FF2B5EF4-FFF2-40B4-BE49-F238E27FC236}">
                <a16:creationId xmlns:a16="http://schemas.microsoft.com/office/drawing/2014/main" id="{F8727949-A7EA-406F-B090-38574592C94E}"/>
              </a:ext>
            </a:extLst>
          </p:cNvPr>
          <p:cNvSpPr>
            <a:spLocks noGrp="1"/>
          </p:cNvSpPr>
          <p:nvPr/>
        </p:nvSpPr>
        <p:spPr>
          <a:xfrm>
            <a:off x="5532120" y="3255263"/>
            <a:ext cx="2843784"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is_enabled / MCP Tool Filter</a:t>
            </a:r>
          </a:p>
        </p:txBody>
      </p:sp>
      <p:sp>
        <p:nvSpPr>
          <p:cNvPr id="66" name="TextBox 65">
            <a:extLst>
              <a:ext uri="{FF2B5EF4-FFF2-40B4-BE49-F238E27FC236}">
                <a16:creationId xmlns:a16="http://schemas.microsoft.com/office/drawing/2014/main" id="{A363D6D5-C7CE-4007-B303-A874B9403B42}"/>
              </a:ext>
            </a:extLst>
          </p:cNvPr>
          <p:cNvSpPr>
            <a:spLocks noGrp="1"/>
          </p:cNvSpPr>
          <p:nvPr/>
        </p:nvSpPr>
        <p:spPr>
          <a:xfrm>
            <a:off x="8595360" y="3255263"/>
            <a:ext cx="2779776"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tools / allowed_tools / disallowed_tools</a:t>
            </a:r>
          </a:p>
        </p:txBody>
      </p:sp>
      <p:sp>
        <p:nvSpPr>
          <p:cNvPr id="67" name="Rectangle 66">
            <a:extLst>
              <a:ext uri="{FF2B5EF4-FFF2-40B4-BE49-F238E27FC236}">
                <a16:creationId xmlns:a16="http://schemas.microsoft.com/office/drawing/2014/main" id="{CFE2F9B8-5983-4397-A4DE-38CB56F3F033}"/>
              </a:ext>
            </a:extLst>
          </p:cNvPr>
          <p:cNvSpPr>
            <a:spLocks noGrp="1"/>
          </p:cNvSpPr>
          <p:nvPr/>
        </p:nvSpPr>
        <p:spPr>
          <a:xfrm>
            <a:off x="1417320" y="3552444"/>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Rectangle 67">
            <a:extLst>
              <a:ext uri="{FF2B5EF4-FFF2-40B4-BE49-F238E27FC236}">
                <a16:creationId xmlns:a16="http://schemas.microsoft.com/office/drawing/2014/main" id="{D4E38C2A-72C2-4883-A0E7-9AF68FBDFC2D}"/>
              </a:ext>
            </a:extLst>
          </p:cNvPr>
          <p:cNvSpPr>
            <a:spLocks noGrp="1"/>
          </p:cNvSpPr>
          <p:nvPr/>
        </p:nvSpPr>
        <p:spPr>
          <a:xfrm>
            <a:off x="2971800" y="3552444"/>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Rectangle 68">
            <a:extLst>
              <a:ext uri="{FF2B5EF4-FFF2-40B4-BE49-F238E27FC236}">
                <a16:creationId xmlns:a16="http://schemas.microsoft.com/office/drawing/2014/main" id="{E9F63214-4066-48F2-B555-EF88563990FA}"/>
              </a:ext>
            </a:extLst>
          </p:cNvPr>
          <p:cNvSpPr>
            <a:spLocks noGrp="1"/>
          </p:cNvSpPr>
          <p:nvPr/>
        </p:nvSpPr>
        <p:spPr>
          <a:xfrm>
            <a:off x="5367528" y="3552444"/>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Rectangle 69">
            <a:extLst>
              <a:ext uri="{FF2B5EF4-FFF2-40B4-BE49-F238E27FC236}">
                <a16:creationId xmlns:a16="http://schemas.microsoft.com/office/drawing/2014/main" id="{F4A8052A-B8E9-473B-BE75-9F1CEFE5A828}"/>
              </a:ext>
            </a:extLst>
          </p:cNvPr>
          <p:cNvSpPr>
            <a:spLocks noGrp="1"/>
          </p:cNvSpPr>
          <p:nvPr/>
        </p:nvSpPr>
        <p:spPr>
          <a:xfrm>
            <a:off x="8430768" y="3552444"/>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TextBox 70">
            <a:extLst>
              <a:ext uri="{FF2B5EF4-FFF2-40B4-BE49-F238E27FC236}">
                <a16:creationId xmlns:a16="http://schemas.microsoft.com/office/drawing/2014/main" id="{48604396-EB08-4E10-91EB-5CCC10CD17E5}"/>
              </a:ext>
            </a:extLst>
          </p:cNvPr>
          <p:cNvSpPr>
            <a:spLocks noGrp="1"/>
          </p:cNvSpPr>
          <p:nvPr/>
        </p:nvSpPr>
        <p:spPr>
          <a:xfrm>
            <a:off x="1545336" y="3561587"/>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MCP制御</a:t>
            </a:r>
          </a:p>
        </p:txBody>
      </p:sp>
      <p:sp>
        <p:nvSpPr>
          <p:cNvPr id="72" name="TextBox 71">
            <a:extLst>
              <a:ext uri="{FF2B5EF4-FFF2-40B4-BE49-F238E27FC236}">
                <a16:creationId xmlns:a16="http://schemas.microsoft.com/office/drawing/2014/main" id="{7D25D505-E169-4E1B-A213-6BB2B920B7B5}"/>
              </a:ext>
            </a:extLst>
          </p:cNvPr>
          <p:cNvSpPr>
            <a:spLocks noGrp="1"/>
          </p:cNvSpPr>
          <p:nvPr/>
        </p:nvSpPr>
        <p:spPr>
          <a:xfrm>
            <a:off x="3136392" y="3561587"/>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MCPの利用を制御</a:t>
            </a:r>
          </a:p>
        </p:txBody>
      </p:sp>
      <p:sp>
        <p:nvSpPr>
          <p:cNvPr id="73" name="TextBox 72">
            <a:extLst>
              <a:ext uri="{FF2B5EF4-FFF2-40B4-BE49-F238E27FC236}">
                <a16:creationId xmlns:a16="http://schemas.microsoft.com/office/drawing/2014/main" id="{957990C4-9405-4397-BDE3-708AA2C995DA}"/>
              </a:ext>
            </a:extLst>
          </p:cNvPr>
          <p:cNvSpPr>
            <a:spLocks noGrp="1"/>
          </p:cNvSpPr>
          <p:nvPr/>
        </p:nvSpPr>
        <p:spPr>
          <a:xfrm>
            <a:off x="5532120" y="3561587"/>
            <a:ext cx="2843784"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Tool filtering / approval</a:t>
            </a:r>
          </a:p>
        </p:txBody>
      </p:sp>
      <p:sp>
        <p:nvSpPr>
          <p:cNvPr id="74" name="TextBox 73">
            <a:extLst>
              <a:ext uri="{FF2B5EF4-FFF2-40B4-BE49-F238E27FC236}">
                <a16:creationId xmlns:a16="http://schemas.microsoft.com/office/drawing/2014/main" id="{B689BD33-ABF2-4354-9A94-7E54CF982BD4}"/>
              </a:ext>
            </a:extLst>
          </p:cNvPr>
          <p:cNvSpPr>
            <a:spLocks noGrp="1"/>
          </p:cNvSpPr>
          <p:nvPr/>
        </p:nvSpPr>
        <p:spPr>
          <a:xfrm>
            <a:off x="8595360" y="3561587"/>
            <a:ext cx="2779776"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Permission / allowed_tools等</a:t>
            </a:r>
          </a:p>
        </p:txBody>
      </p:sp>
      <p:sp>
        <p:nvSpPr>
          <p:cNvPr id="75" name="Rectangle 74">
            <a:extLst>
              <a:ext uri="{FF2B5EF4-FFF2-40B4-BE49-F238E27FC236}">
                <a16:creationId xmlns:a16="http://schemas.microsoft.com/office/drawing/2014/main" id="{25993862-38BF-4773-A2D0-D74F55B3469B}"/>
              </a:ext>
            </a:extLst>
          </p:cNvPr>
          <p:cNvSpPr>
            <a:spLocks noGrp="1"/>
          </p:cNvSpPr>
          <p:nvPr/>
        </p:nvSpPr>
        <p:spPr>
          <a:xfrm>
            <a:off x="1417320" y="3858768"/>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6" name="Rectangle 75">
            <a:extLst>
              <a:ext uri="{FF2B5EF4-FFF2-40B4-BE49-F238E27FC236}">
                <a16:creationId xmlns:a16="http://schemas.microsoft.com/office/drawing/2014/main" id="{5A311805-4C25-495F-861D-8C388843D03B}"/>
              </a:ext>
            </a:extLst>
          </p:cNvPr>
          <p:cNvSpPr>
            <a:spLocks noGrp="1"/>
          </p:cNvSpPr>
          <p:nvPr/>
        </p:nvSpPr>
        <p:spPr>
          <a:xfrm>
            <a:off x="2971800" y="3858768"/>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7" name="Rectangle 76">
            <a:extLst>
              <a:ext uri="{FF2B5EF4-FFF2-40B4-BE49-F238E27FC236}">
                <a16:creationId xmlns:a16="http://schemas.microsoft.com/office/drawing/2014/main" id="{CCED54C3-1A62-46DE-ACE6-709C66F0FA57}"/>
              </a:ext>
            </a:extLst>
          </p:cNvPr>
          <p:cNvSpPr>
            <a:spLocks noGrp="1"/>
          </p:cNvSpPr>
          <p:nvPr/>
        </p:nvSpPr>
        <p:spPr>
          <a:xfrm>
            <a:off x="5367528" y="3858768"/>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 name="Rectangle 77">
            <a:extLst>
              <a:ext uri="{FF2B5EF4-FFF2-40B4-BE49-F238E27FC236}">
                <a16:creationId xmlns:a16="http://schemas.microsoft.com/office/drawing/2014/main" id="{75DA3B6B-08C0-49FB-8EE6-18FE729B4177}"/>
              </a:ext>
            </a:extLst>
          </p:cNvPr>
          <p:cNvSpPr>
            <a:spLocks noGrp="1"/>
          </p:cNvSpPr>
          <p:nvPr/>
        </p:nvSpPr>
        <p:spPr>
          <a:xfrm>
            <a:off x="8430768" y="3858768"/>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9" name="TextBox 78">
            <a:extLst>
              <a:ext uri="{FF2B5EF4-FFF2-40B4-BE49-F238E27FC236}">
                <a16:creationId xmlns:a16="http://schemas.microsoft.com/office/drawing/2014/main" id="{31C63BE5-B474-48DD-8AC9-B6FDF601A316}"/>
              </a:ext>
            </a:extLst>
          </p:cNvPr>
          <p:cNvSpPr>
            <a:spLocks noGrp="1"/>
          </p:cNvSpPr>
          <p:nvPr/>
        </p:nvSpPr>
        <p:spPr>
          <a:xfrm>
            <a:off x="1545336" y="3867911"/>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Agent Loop制御</a:t>
            </a:r>
          </a:p>
        </p:txBody>
      </p:sp>
      <p:sp>
        <p:nvSpPr>
          <p:cNvPr id="80" name="TextBox 79">
            <a:extLst>
              <a:ext uri="{FF2B5EF4-FFF2-40B4-BE49-F238E27FC236}">
                <a16:creationId xmlns:a16="http://schemas.microsoft.com/office/drawing/2014/main" id="{A371EECF-E249-4598-9836-6A699C7F7C47}"/>
              </a:ext>
            </a:extLst>
          </p:cNvPr>
          <p:cNvSpPr>
            <a:spLocks noGrp="1"/>
          </p:cNvSpPr>
          <p:nvPr/>
        </p:nvSpPr>
        <p:spPr>
          <a:xfrm>
            <a:off x="3136392" y="3867911"/>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実行回数を制限</a:t>
            </a:r>
          </a:p>
        </p:txBody>
      </p:sp>
      <p:sp>
        <p:nvSpPr>
          <p:cNvPr id="81" name="TextBox 80">
            <a:extLst>
              <a:ext uri="{FF2B5EF4-FFF2-40B4-BE49-F238E27FC236}">
                <a16:creationId xmlns:a16="http://schemas.microsoft.com/office/drawing/2014/main" id="{BEB78741-AD05-425E-8534-84F6E518FA46}"/>
              </a:ext>
            </a:extLst>
          </p:cNvPr>
          <p:cNvSpPr>
            <a:spLocks noGrp="1"/>
          </p:cNvSpPr>
          <p:nvPr/>
        </p:nvSpPr>
        <p:spPr>
          <a:xfrm>
            <a:off x="5532120" y="3867911"/>
            <a:ext cx="2843784"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max_turns</a:t>
            </a:r>
          </a:p>
        </p:txBody>
      </p:sp>
      <p:sp>
        <p:nvSpPr>
          <p:cNvPr id="82" name="TextBox 81">
            <a:extLst>
              <a:ext uri="{FF2B5EF4-FFF2-40B4-BE49-F238E27FC236}">
                <a16:creationId xmlns:a16="http://schemas.microsoft.com/office/drawing/2014/main" id="{41CFABEA-768D-4C96-AC9D-EACEF0D0F7D9}"/>
              </a:ext>
            </a:extLst>
          </p:cNvPr>
          <p:cNvSpPr>
            <a:spLocks noGrp="1"/>
          </p:cNvSpPr>
          <p:nvPr/>
        </p:nvSpPr>
        <p:spPr>
          <a:xfrm>
            <a:off x="8595360" y="3867911"/>
            <a:ext cx="2779776" cy="288036"/>
          </a:xfrm>
          <a:prstGeom prst="rect">
            <a:avLst/>
          </a:prstGeom>
          <a:noFill/>
          <a:effectLst/>
        </p:spPr>
        <p:txBody>
          <a:bodyPr wrap="none" lIns="36576" tIns="0" rIns="36576" bIns="0" anchor="ctr">
            <a:spAutoFit/>
          </a:bodyPr>
          <a:lstStyle/>
          <a:p>
            <a:pPr algn="l">
              <a:buNone/>
            </a:pPr>
            <a:r>
              <a:rPr sz="1250" b="1">
                <a:solidFill>
                  <a:srgbClr val="141414"/>
                </a:solidFill>
                <a:latin typeface="Noto Sans CJK JP"/>
                <a:ea typeface="Noto Sans CJK JP"/>
                <a:cs typeface="Noto Sans CJK JP"/>
              </a:rPr>
              <a:t>max_turns</a:t>
            </a:r>
          </a:p>
        </p:txBody>
      </p:sp>
      <p:sp>
        <p:nvSpPr>
          <p:cNvPr id="83" name="Rectangle 82">
            <a:extLst>
              <a:ext uri="{FF2B5EF4-FFF2-40B4-BE49-F238E27FC236}">
                <a16:creationId xmlns:a16="http://schemas.microsoft.com/office/drawing/2014/main" id="{200730CE-02D8-4BAC-A3B8-9E9596A51DA4}"/>
              </a:ext>
            </a:extLst>
          </p:cNvPr>
          <p:cNvSpPr>
            <a:spLocks noGrp="1"/>
          </p:cNvSpPr>
          <p:nvPr/>
        </p:nvSpPr>
        <p:spPr>
          <a:xfrm>
            <a:off x="1417320" y="4165091"/>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Rectangle 83">
            <a:extLst>
              <a:ext uri="{FF2B5EF4-FFF2-40B4-BE49-F238E27FC236}">
                <a16:creationId xmlns:a16="http://schemas.microsoft.com/office/drawing/2014/main" id="{DE084FB7-B00C-40E7-8F72-9B9B7A4F4C2A}"/>
              </a:ext>
            </a:extLst>
          </p:cNvPr>
          <p:cNvSpPr>
            <a:spLocks noGrp="1"/>
          </p:cNvSpPr>
          <p:nvPr/>
        </p:nvSpPr>
        <p:spPr>
          <a:xfrm>
            <a:off x="2971800" y="4165091"/>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5" name="Rectangle 84">
            <a:extLst>
              <a:ext uri="{FF2B5EF4-FFF2-40B4-BE49-F238E27FC236}">
                <a16:creationId xmlns:a16="http://schemas.microsoft.com/office/drawing/2014/main" id="{B65444D3-076A-4016-8049-98A0A0AE3037}"/>
              </a:ext>
            </a:extLst>
          </p:cNvPr>
          <p:cNvSpPr>
            <a:spLocks noGrp="1"/>
          </p:cNvSpPr>
          <p:nvPr/>
        </p:nvSpPr>
        <p:spPr>
          <a:xfrm>
            <a:off x="5367528" y="4165091"/>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6" name="Rectangle 85">
            <a:extLst>
              <a:ext uri="{FF2B5EF4-FFF2-40B4-BE49-F238E27FC236}">
                <a16:creationId xmlns:a16="http://schemas.microsoft.com/office/drawing/2014/main" id="{2BB8D36C-3CA9-434A-89A2-7F5328DF4569}"/>
              </a:ext>
            </a:extLst>
          </p:cNvPr>
          <p:cNvSpPr>
            <a:spLocks noGrp="1"/>
          </p:cNvSpPr>
          <p:nvPr/>
        </p:nvSpPr>
        <p:spPr>
          <a:xfrm>
            <a:off x="8430768" y="4165091"/>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7" name="TextBox 86">
            <a:extLst>
              <a:ext uri="{FF2B5EF4-FFF2-40B4-BE49-F238E27FC236}">
                <a16:creationId xmlns:a16="http://schemas.microsoft.com/office/drawing/2014/main" id="{87551063-C4A2-4F5C-A7B2-29047DC2A605}"/>
              </a:ext>
            </a:extLst>
          </p:cNvPr>
          <p:cNvSpPr>
            <a:spLocks noGrp="1"/>
          </p:cNvSpPr>
          <p:nvPr/>
        </p:nvSpPr>
        <p:spPr>
          <a:xfrm>
            <a:off x="1545336" y="4174235"/>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Token制御／計測</a:t>
            </a:r>
          </a:p>
        </p:txBody>
      </p:sp>
      <p:sp>
        <p:nvSpPr>
          <p:cNvPr id="88" name="TextBox 87">
            <a:extLst>
              <a:ext uri="{FF2B5EF4-FFF2-40B4-BE49-F238E27FC236}">
                <a16:creationId xmlns:a16="http://schemas.microsoft.com/office/drawing/2014/main" id="{E7BD7C6B-C75F-43EF-A5EF-336357639ACC}"/>
              </a:ext>
            </a:extLst>
          </p:cNvPr>
          <p:cNvSpPr>
            <a:spLocks noGrp="1"/>
          </p:cNvSpPr>
          <p:nvPr/>
        </p:nvSpPr>
        <p:spPr>
          <a:xfrm>
            <a:off x="3136392" y="4174235"/>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Token使用量を管理・計測</a:t>
            </a:r>
          </a:p>
        </p:txBody>
      </p:sp>
      <p:sp>
        <p:nvSpPr>
          <p:cNvPr id="89" name="TextBox 88">
            <a:extLst>
              <a:ext uri="{FF2B5EF4-FFF2-40B4-BE49-F238E27FC236}">
                <a16:creationId xmlns:a16="http://schemas.microsoft.com/office/drawing/2014/main" id="{51C0656A-2F7D-441C-84B4-FCDE02333AEF}"/>
              </a:ext>
            </a:extLst>
          </p:cNvPr>
          <p:cNvSpPr>
            <a:spLocks noGrp="1"/>
          </p:cNvSpPr>
          <p:nvPr/>
        </p:nvSpPr>
        <p:spPr>
          <a:xfrm>
            <a:off x="5532120" y="4174235"/>
            <a:ext cx="2843784"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Usage</a:t>
            </a:r>
          </a:p>
        </p:txBody>
      </p:sp>
      <p:sp>
        <p:nvSpPr>
          <p:cNvPr id="90" name="TextBox 89">
            <a:extLst>
              <a:ext uri="{FF2B5EF4-FFF2-40B4-BE49-F238E27FC236}">
                <a16:creationId xmlns:a16="http://schemas.microsoft.com/office/drawing/2014/main" id="{8F354BA8-85C6-472B-A712-8F0CC415233D}"/>
              </a:ext>
            </a:extLst>
          </p:cNvPr>
          <p:cNvSpPr>
            <a:spLocks noGrp="1"/>
          </p:cNvSpPr>
          <p:nvPr/>
        </p:nvSpPr>
        <p:spPr>
          <a:xfrm>
            <a:off x="8595360" y="4174235"/>
            <a:ext cx="2779776"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Usage / task_budget</a:t>
            </a:r>
          </a:p>
        </p:txBody>
      </p:sp>
      <p:sp>
        <p:nvSpPr>
          <p:cNvPr id="91" name="Rectangle 90">
            <a:extLst>
              <a:ext uri="{FF2B5EF4-FFF2-40B4-BE49-F238E27FC236}">
                <a16:creationId xmlns:a16="http://schemas.microsoft.com/office/drawing/2014/main" id="{2ABD96E5-D7AC-4CDC-A4A6-13FF2E859125}"/>
              </a:ext>
            </a:extLst>
          </p:cNvPr>
          <p:cNvSpPr>
            <a:spLocks noGrp="1"/>
          </p:cNvSpPr>
          <p:nvPr/>
        </p:nvSpPr>
        <p:spPr>
          <a:xfrm>
            <a:off x="1417320" y="4471416"/>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2" name="Rectangle 91">
            <a:extLst>
              <a:ext uri="{FF2B5EF4-FFF2-40B4-BE49-F238E27FC236}">
                <a16:creationId xmlns:a16="http://schemas.microsoft.com/office/drawing/2014/main" id="{C7091D1C-C606-46EE-BF78-D67F8A71C2E3}"/>
              </a:ext>
            </a:extLst>
          </p:cNvPr>
          <p:cNvSpPr>
            <a:spLocks noGrp="1"/>
          </p:cNvSpPr>
          <p:nvPr/>
        </p:nvSpPr>
        <p:spPr>
          <a:xfrm>
            <a:off x="2971800" y="4471416"/>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3" name="Rectangle 92">
            <a:extLst>
              <a:ext uri="{FF2B5EF4-FFF2-40B4-BE49-F238E27FC236}">
                <a16:creationId xmlns:a16="http://schemas.microsoft.com/office/drawing/2014/main" id="{DFD378F5-D111-4E4A-82E4-D48EB8A8E55A}"/>
              </a:ext>
            </a:extLst>
          </p:cNvPr>
          <p:cNvSpPr>
            <a:spLocks noGrp="1"/>
          </p:cNvSpPr>
          <p:nvPr/>
        </p:nvSpPr>
        <p:spPr>
          <a:xfrm>
            <a:off x="5367528" y="4471416"/>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4" name="Rectangle 93">
            <a:extLst>
              <a:ext uri="{FF2B5EF4-FFF2-40B4-BE49-F238E27FC236}">
                <a16:creationId xmlns:a16="http://schemas.microsoft.com/office/drawing/2014/main" id="{F0EE0B63-0AA8-40B2-8F46-095E21814778}"/>
              </a:ext>
            </a:extLst>
          </p:cNvPr>
          <p:cNvSpPr>
            <a:spLocks noGrp="1"/>
          </p:cNvSpPr>
          <p:nvPr/>
        </p:nvSpPr>
        <p:spPr>
          <a:xfrm>
            <a:off x="8430768" y="4471416"/>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5" name="TextBox 94">
            <a:extLst>
              <a:ext uri="{FF2B5EF4-FFF2-40B4-BE49-F238E27FC236}">
                <a16:creationId xmlns:a16="http://schemas.microsoft.com/office/drawing/2014/main" id="{E0BEF42F-9D29-4B9B-8E89-21B3B507D1EA}"/>
              </a:ext>
            </a:extLst>
          </p:cNvPr>
          <p:cNvSpPr>
            <a:spLocks noGrp="1"/>
          </p:cNvSpPr>
          <p:nvPr/>
        </p:nvSpPr>
        <p:spPr>
          <a:xfrm>
            <a:off x="1545336" y="4480559"/>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Cost制御／計測</a:t>
            </a:r>
          </a:p>
        </p:txBody>
      </p:sp>
      <p:sp>
        <p:nvSpPr>
          <p:cNvPr id="96" name="TextBox 95">
            <a:extLst>
              <a:ext uri="{FF2B5EF4-FFF2-40B4-BE49-F238E27FC236}">
                <a16:creationId xmlns:a16="http://schemas.microsoft.com/office/drawing/2014/main" id="{0042AEFB-89C7-449C-8C5F-9FE26187CB7F}"/>
              </a:ext>
            </a:extLst>
          </p:cNvPr>
          <p:cNvSpPr>
            <a:spLocks noGrp="1"/>
          </p:cNvSpPr>
          <p:nvPr/>
        </p:nvSpPr>
        <p:spPr>
          <a:xfrm>
            <a:off x="3136392" y="4480559"/>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コストを管理・計測</a:t>
            </a:r>
          </a:p>
        </p:txBody>
      </p:sp>
      <p:sp>
        <p:nvSpPr>
          <p:cNvPr id="97" name="TextBox 96">
            <a:extLst>
              <a:ext uri="{FF2B5EF4-FFF2-40B4-BE49-F238E27FC236}">
                <a16:creationId xmlns:a16="http://schemas.microsoft.com/office/drawing/2014/main" id="{98B6181C-B480-4D44-AA2E-E4DE05D29599}"/>
              </a:ext>
            </a:extLst>
          </p:cNvPr>
          <p:cNvSpPr>
            <a:spLocks noGrp="1"/>
          </p:cNvSpPr>
          <p:nvPr/>
        </p:nvSpPr>
        <p:spPr>
          <a:xfrm>
            <a:off x="5532120" y="4480559"/>
            <a:ext cx="2843784"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UsageからApplication側算出</a:t>
            </a:r>
          </a:p>
        </p:txBody>
      </p:sp>
      <p:sp>
        <p:nvSpPr>
          <p:cNvPr id="98" name="TextBox 97">
            <a:extLst>
              <a:ext uri="{FF2B5EF4-FFF2-40B4-BE49-F238E27FC236}">
                <a16:creationId xmlns:a16="http://schemas.microsoft.com/office/drawing/2014/main" id="{4BE78AA2-9A8C-4865-965D-387AB45B07B6}"/>
              </a:ext>
            </a:extLst>
          </p:cNvPr>
          <p:cNvSpPr>
            <a:spLocks noGrp="1"/>
          </p:cNvSpPr>
          <p:nvPr/>
        </p:nvSpPr>
        <p:spPr>
          <a:xfrm>
            <a:off x="8595360" y="4480559"/>
            <a:ext cx="2779776"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total_cost_usd / max_budget_usd</a:t>
            </a:r>
          </a:p>
        </p:txBody>
      </p:sp>
      <p:sp>
        <p:nvSpPr>
          <p:cNvPr id="99" name="Rectangle 98">
            <a:extLst>
              <a:ext uri="{FF2B5EF4-FFF2-40B4-BE49-F238E27FC236}">
                <a16:creationId xmlns:a16="http://schemas.microsoft.com/office/drawing/2014/main" id="{4BB7DF04-E01E-477E-8046-4DAEBB140176}"/>
              </a:ext>
            </a:extLst>
          </p:cNvPr>
          <p:cNvSpPr>
            <a:spLocks noGrp="1"/>
          </p:cNvSpPr>
          <p:nvPr/>
        </p:nvSpPr>
        <p:spPr>
          <a:xfrm>
            <a:off x="1417320" y="4777740"/>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0" name="Rectangle 99">
            <a:extLst>
              <a:ext uri="{FF2B5EF4-FFF2-40B4-BE49-F238E27FC236}">
                <a16:creationId xmlns:a16="http://schemas.microsoft.com/office/drawing/2014/main" id="{BAD3955E-11CB-4BA9-A2F3-8CC601EEFBCD}"/>
              </a:ext>
            </a:extLst>
          </p:cNvPr>
          <p:cNvSpPr>
            <a:spLocks noGrp="1"/>
          </p:cNvSpPr>
          <p:nvPr/>
        </p:nvSpPr>
        <p:spPr>
          <a:xfrm>
            <a:off x="2971800" y="4777740"/>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1" name="Rectangle 100">
            <a:extLst>
              <a:ext uri="{FF2B5EF4-FFF2-40B4-BE49-F238E27FC236}">
                <a16:creationId xmlns:a16="http://schemas.microsoft.com/office/drawing/2014/main" id="{E11D586C-3DF8-4FCE-85DE-EA49FE3FE9C7}"/>
              </a:ext>
            </a:extLst>
          </p:cNvPr>
          <p:cNvSpPr>
            <a:spLocks noGrp="1"/>
          </p:cNvSpPr>
          <p:nvPr/>
        </p:nvSpPr>
        <p:spPr>
          <a:xfrm>
            <a:off x="5367528" y="4777740"/>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2" name="Rectangle 101">
            <a:extLst>
              <a:ext uri="{FF2B5EF4-FFF2-40B4-BE49-F238E27FC236}">
                <a16:creationId xmlns:a16="http://schemas.microsoft.com/office/drawing/2014/main" id="{E5EB24BD-C4EE-4DA0-93C6-324F59A3936E}"/>
              </a:ext>
            </a:extLst>
          </p:cNvPr>
          <p:cNvSpPr>
            <a:spLocks noGrp="1"/>
          </p:cNvSpPr>
          <p:nvPr/>
        </p:nvSpPr>
        <p:spPr>
          <a:xfrm>
            <a:off x="8430768" y="4777740"/>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3" name="TextBox 102">
            <a:extLst>
              <a:ext uri="{FF2B5EF4-FFF2-40B4-BE49-F238E27FC236}">
                <a16:creationId xmlns:a16="http://schemas.microsoft.com/office/drawing/2014/main" id="{2518232A-2427-4E8D-BA01-3832E3F6736E}"/>
              </a:ext>
            </a:extLst>
          </p:cNvPr>
          <p:cNvSpPr>
            <a:spLocks noGrp="1"/>
          </p:cNvSpPr>
          <p:nvPr/>
        </p:nvSpPr>
        <p:spPr>
          <a:xfrm>
            <a:off x="1545336" y="4786883"/>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実行環境分離</a:t>
            </a:r>
          </a:p>
        </p:txBody>
      </p:sp>
      <p:sp>
        <p:nvSpPr>
          <p:cNvPr id="104" name="TextBox 103">
            <a:extLst>
              <a:ext uri="{FF2B5EF4-FFF2-40B4-BE49-F238E27FC236}">
                <a16:creationId xmlns:a16="http://schemas.microsoft.com/office/drawing/2014/main" id="{2FEE1871-55B5-4C8D-B7E0-94F5D538D720}"/>
              </a:ext>
            </a:extLst>
          </p:cNvPr>
          <p:cNvSpPr>
            <a:spLocks noGrp="1"/>
          </p:cNvSpPr>
          <p:nvPr/>
        </p:nvSpPr>
        <p:spPr>
          <a:xfrm>
            <a:off x="3136392" y="4786883"/>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実行環境を分離・制御</a:t>
            </a:r>
          </a:p>
        </p:txBody>
      </p:sp>
      <p:sp>
        <p:nvSpPr>
          <p:cNvPr id="105" name="TextBox 104">
            <a:extLst>
              <a:ext uri="{FF2B5EF4-FFF2-40B4-BE49-F238E27FC236}">
                <a16:creationId xmlns:a16="http://schemas.microsoft.com/office/drawing/2014/main" id="{EAD468B1-CFBB-407A-A513-F0666510B00A}"/>
              </a:ext>
            </a:extLst>
          </p:cNvPr>
          <p:cNvSpPr>
            <a:spLocks noGrp="1"/>
          </p:cNvSpPr>
          <p:nvPr/>
        </p:nvSpPr>
        <p:spPr>
          <a:xfrm>
            <a:off x="5532120" y="4786883"/>
            <a:ext cx="2843784"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Sandbox Agents（Beta）</a:t>
            </a:r>
          </a:p>
        </p:txBody>
      </p:sp>
      <p:sp>
        <p:nvSpPr>
          <p:cNvPr id="106" name="TextBox 105">
            <a:extLst>
              <a:ext uri="{FF2B5EF4-FFF2-40B4-BE49-F238E27FC236}">
                <a16:creationId xmlns:a16="http://schemas.microsoft.com/office/drawing/2014/main" id="{A9D0D155-A646-4C0B-886D-D551960E5334}"/>
              </a:ext>
            </a:extLst>
          </p:cNvPr>
          <p:cNvSpPr>
            <a:spLocks noGrp="1"/>
          </p:cNvSpPr>
          <p:nvPr/>
        </p:nvSpPr>
        <p:spPr>
          <a:xfrm>
            <a:off x="8595360" y="4786883"/>
            <a:ext cx="2779776"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SandboxSettings</a:t>
            </a:r>
          </a:p>
        </p:txBody>
      </p:sp>
      <p:sp>
        <p:nvSpPr>
          <p:cNvPr id="107" name="Rectangle 106">
            <a:extLst>
              <a:ext uri="{FF2B5EF4-FFF2-40B4-BE49-F238E27FC236}">
                <a16:creationId xmlns:a16="http://schemas.microsoft.com/office/drawing/2014/main" id="{166A4E5E-3089-46BD-9028-D76E8D35C27F}"/>
              </a:ext>
            </a:extLst>
          </p:cNvPr>
          <p:cNvSpPr>
            <a:spLocks noGrp="1"/>
          </p:cNvSpPr>
          <p:nvPr/>
        </p:nvSpPr>
        <p:spPr>
          <a:xfrm>
            <a:off x="1417320" y="5084064"/>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8" name="Rectangle 107">
            <a:extLst>
              <a:ext uri="{FF2B5EF4-FFF2-40B4-BE49-F238E27FC236}">
                <a16:creationId xmlns:a16="http://schemas.microsoft.com/office/drawing/2014/main" id="{398DE1AB-F2BC-4A3E-8A27-70FB79B7E74B}"/>
              </a:ext>
            </a:extLst>
          </p:cNvPr>
          <p:cNvSpPr>
            <a:spLocks noGrp="1"/>
          </p:cNvSpPr>
          <p:nvPr/>
        </p:nvSpPr>
        <p:spPr>
          <a:xfrm>
            <a:off x="2971800" y="5084064"/>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9" name="Rectangle 108">
            <a:extLst>
              <a:ext uri="{FF2B5EF4-FFF2-40B4-BE49-F238E27FC236}">
                <a16:creationId xmlns:a16="http://schemas.microsoft.com/office/drawing/2014/main" id="{1AEEC1EB-1F67-4747-BCB1-19ACF4121163}"/>
              </a:ext>
            </a:extLst>
          </p:cNvPr>
          <p:cNvSpPr>
            <a:spLocks noGrp="1"/>
          </p:cNvSpPr>
          <p:nvPr/>
        </p:nvSpPr>
        <p:spPr>
          <a:xfrm>
            <a:off x="5367528" y="5084064"/>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0" name="Rectangle 109">
            <a:extLst>
              <a:ext uri="{FF2B5EF4-FFF2-40B4-BE49-F238E27FC236}">
                <a16:creationId xmlns:a16="http://schemas.microsoft.com/office/drawing/2014/main" id="{40819C5D-C2C0-4E5A-B3DA-24B553583055}"/>
              </a:ext>
            </a:extLst>
          </p:cNvPr>
          <p:cNvSpPr>
            <a:spLocks noGrp="1"/>
          </p:cNvSpPr>
          <p:nvPr/>
        </p:nvSpPr>
        <p:spPr>
          <a:xfrm>
            <a:off x="8430768" y="5084064"/>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1" name="TextBox 110">
            <a:extLst>
              <a:ext uri="{FF2B5EF4-FFF2-40B4-BE49-F238E27FC236}">
                <a16:creationId xmlns:a16="http://schemas.microsoft.com/office/drawing/2014/main" id="{BF77B6CD-E571-448E-BA52-ABF701FEF93F}"/>
              </a:ext>
            </a:extLst>
          </p:cNvPr>
          <p:cNvSpPr>
            <a:spLocks noGrp="1"/>
          </p:cNvSpPr>
          <p:nvPr/>
        </p:nvSpPr>
        <p:spPr>
          <a:xfrm>
            <a:off x="1545336" y="5093207"/>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設定分離</a:t>
            </a:r>
          </a:p>
        </p:txBody>
      </p:sp>
      <p:sp>
        <p:nvSpPr>
          <p:cNvPr id="112" name="TextBox 111">
            <a:extLst>
              <a:ext uri="{FF2B5EF4-FFF2-40B4-BE49-F238E27FC236}">
                <a16:creationId xmlns:a16="http://schemas.microsoft.com/office/drawing/2014/main" id="{759DAB09-89CD-4F0B-96EA-CB12A789BE41}"/>
              </a:ext>
            </a:extLst>
          </p:cNvPr>
          <p:cNvSpPr>
            <a:spLocks noGrp="1"/>
          </p:cNvSpPr>
          <p:nvPr/>
        </p:nvSpPr>
        <p:spPr>
          <a:xfrm>
            <a:off x="3136392" y="5093207"/>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設定・シークレットを分離</a:t>
            </a:r>
          </a:p>
        </p:txBody>
      </p:sp>
      <p:sp>
        <p:nvSpPr>
          <p:cNvPr id="113" name="TextBox 112">
            <a:extLst>
              <a:ext uri="{FF2B5EF4-FFF2-40B4-BE49-F238E27FC236}">
                <a16:creationId xmlns:a16="http://schemas.microsoft.com/office/drawing/2014/main" id="{0CA9F03E-C675-4E6B-8130-678DC823E0E9}"/>
              </a:ext>
            </a:extLst>
          </p:cNvPr>
          <p:cNvSpPr>
            <a:spLocks noGrp="1"/>
          </p:cNvSpPr>
          <p:nvPr/>
        </p:nvSpPr>
        <p:spPr>
          <a:xfrm>
            <a:off x="5532120" y="5093207"/>
            <a:ext cx="2843784"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Application構成 / 環境変数</a:t>
            </a:r>
          </a:p>
        </p:txBody>
      </p:sp>
      <p:sp>
        <p:nvSpPr>
          <p:cNvPr id="114" name="TextBox 113">
            <a:extLst>
              <a:ext uri="{FF2B5EF4-FFF2-40B4-BE49-F238E27FC236}">
                <a16:creationId xmlns:a16="http://schemas.microsoft.com/office/drawing/2014/main" id="{0758AEA1-6561-4320-8933-AA7DF14DCA3D}"/>
              </a:ext>
            </a:extLst>
          </p:cNvPr>
          <p:cNvSpPr>
            <a:spLocks noGrp="1"/>
          </p:cNvSpPr>
          <p:nvPr/>
        </p:nvSpPr>
        <p:spPr>
          <a:xfrm>
            <a:off x="8595360" y="5093207"/>
            <a:ext cx="2779776"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setting_sources / Settings管理</a:t>
            </a:r>
          </a:p>
        </p:txBody>
      </p:sp>
      <p:sp>
        <p:nvSpPr>
          <p:cNvPr id="115" name="Rectangle 114">
            <a:extLst>
              <a:ext uri="{FF2B5EF4-FFF2-40B4-BE49-F238E27FC236}">
                <a16:creationId xmlns:a16="http://schemas.microsoft.com/office/drawing/2014/main" id="{92789054-0A53-4106-80E1-76DF9211B589}"/>
              </a:ext>
            </a:extLst>
          </p:cNvPr>
          <p:cNvSpPr>
            <a:spLocks noGrp="1"/>
          </p:cNvSpPr>
          <p:nvPr/>
        </p:nvSpPr>
        <p:spPr>
          <a:xfrm>
            <a:off x="1417320" y="5390388"/>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6" name="Rectangle 115">
            <a:extLst>
              <a:ext uri="{FF2B5EF4-FFF2-40B4-BE49-F238E27FC236}">
                <a16:creationId xmlns:a16="http://schemas.microsoft.com/office/drawing/2014/main" id="{75078A53-8D15-488D-9357-A34D37669CD1}"/>
              </a:ext>
            </a:extLst>
          </p:cNvPr>
          <p:cNvSpPr>
            <a:spLocks noGrp="1"/>
          </p:cNvSpPr>
          <p:nvPr/>
        </p:nvSpPr>
        <p:spPr>
          <a:xfrm>
            <a:off x="2971800" y="5390388"/>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7" name="Rectangle 116">
            <a:extLst>
              <a:ext uri="{FF2B5EF4-FFF2-40B4-BE49-F238E27FC236}">
                <a16:creationId xmlns:a16="http://schemas.microsoft.com/office/drawing/2014/main" id="{758D565F-8F13-457C-8CA5-8BBA61E96E8F}"/>
              </a:ext>
            </a:extLst>
          </p:cNvPr>
          <p:cNvSpPr>
            <a:spLocks noGrp="1"/>
          </p:cNvSpPr>
          <p:nvPr/>
        </p:nvSpPr>
        <p:spPr>
          <a:xfrm>
            <a:off x="5367528" y="5390388"/>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8" name="Rectangle 117">
            <a:extLst>
              <a:ext uri="{FF2B5EF4-FFF2-40B4-BE49-F238E27FC236}">
                <a16:creationId xmlns:a16="http://schemas.microsoft.com/office/drawing/2014/main" id="{BCA65A6C-6B11-46FC-B981-3976D29061C2}"/>
              </a:ext>
            </a:extLst>
          </p:cNvPr>
          <p:cNvSpPr>
            <a:spLocks noGrp="1"/>
          </p:cNvSpPr>
          <p:nvPr/>
        </p:nvSpPr>
        <p:spPr>
          <a:xfrm>
            <a:off x="8430768" y="5390388"/>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9" name="TextBox 118">
            <a:extLst>
              <a:ext uri="{FF2B5EF4-FFF2-40B4-BE49-F238E27FC236}">
                <a16:creationId xmlns:a16="http://schemas.microsoft.com/office/drawing/2014/main" id="{F6F194CD-B58F-4DDB-842C-78252C58FF15}"/>
              </a:ext>
            </a:extLst>
          </p:cNvPr>
          <p:cNvSpPr>
            <a:spLocks noGrp="1"/>
          </p:cNvSpPr>
          <p:nvPr/>
        </p:nvSpPr>
        <p:spPr>
          <a:xfrm>
            <a:off x="1545336" y="5399531"/>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Recovery</a:t>
            </a:r>
          </a:p>
        </p:txBody>
      </p:sp>
      <p:sp>
        <p:nvSpPr>
          <p:cNvPr id="120" name="TextBox 119">
            <a:extLst>
              <a:ext uri="{FF2B5EF4-FFF2-40B4-BE49-F238E27FC236}">
                <a16:creationId xmlns:a16="http://schemas.microsoft.com/office/drawing/2014/main" id="{9DF05645-3FD0-4F97-9C58-D173CE9EF332}"/>
              </a:ext>
            </a:extLst>
          </p:cNvPr>
          <p:cNvSpPr>
            <a:spLocks noGrp="1"/>
          </p:cNvSpPr>
          <p:nvPr/>
        </p:nvSpPr>
        <p:spPr>
          <a:xfrm>
            <a:off x="3136392" y="5399531"/>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障害時のリカバリ</a:t>
            </a:r>
          </a:p>
        </p:txBody>
      </p:sp>
      <p:sp>
        <p:nvSpPr>
          <p:cNvPr id="121" name="TextBox 120">
            <a:extLst>
              <a:ext uri="{FF2B5EF4-FFF2-40B4-BE49-F238E27FC236}">
                <a16:creationId xmlns:a16="http://schemas.microsoft.com/office/drawing/2014/main" id="{8847FD19-77A4-4C32-A042-622BC28DBE2C}"/>
              </a:ext>
            </a:extLst>
          </p:cNvPr>
          <p:cNvSpPr>
            <a:spLocks noGrp="1"/>
          </p:cNvSpPr>
          <p:nvPr/>
        </p:nvSpPr>
        <p:spPr>
          <a:xfrm>
            <a:off x="5532120" y="5399531"/>
            <a:ext cx="2843784" cy="288036"/>
          </a:xfrm>
          <a:prstGeom prst="rect">
            <a:avLst/>
          </a:prstGeom>
          <a:noFill/>
          <a:effectLst/>
        </p:spPr>
        <p:txBody>
          <a:bodyPr wrap="none" lIns="36576" tIns="0" rIns="36576" bIns="0" anchor="ctr">
            <a:spAutoFit/>
          </a:bodyPr>
          <a:lstStyle/>
          <a:p>
            <a:pPr algn="ctr">
              <a:buNone/>
            </a:pPr>
            <a:r>
              <a:rPr sz="1250" b="0">
                <a:solidFill>
                  <a:srgbClr val="141414"/>
                </a:solidFill>
                <a:latin typeface="Noto Sans CJK JP"/>
              </a:rPr>
              <a:t>（今回未確認）</a:t>
            </a:r>
          </a:p>
        </p:txBody>
      </p:sp>
      <p:sp>
        <p:nvSpPr>
          <p:cNvPr id="122" name="TextBox 121">
            <a:extLst>
              <a:ext uri="{FF2B5EF4-FFF2-40B4-BE49-F238E27FC236}">
                <a16:creationId xmlns:a16="http://schemas.microsoft.com/office/drawing/2014/main" id="{DFCC6DEF-56BD-48B1-B037-AEB0F1506D2C}"/>
              </a:ext>
            </a:extLst>
          </p:cNvPr>
          <p:cNvSpPr>
            <a:spLocks noGrp="1"/>
          </p:cNvSpPr>
          <p:nvPr/>
        </p:nvSpPr>
        <p:spPr>
          <a:xfrm>
            <a:off x="8595360" y="5399531"/>
            <a:ext cx="2779776" cy="288036"/>
          </a:xfrm>
          <a:prstGeom prst="rect">
            <a:avLst/>
          </a:prstGeom>
          <a:noFill/>
          <a:effectLst/>
        </p:spPr>
        <p:txBody>
          <a:bodyPr wrap="none" lIns="36576" tIns="0" rIns="36576" bIns="0" anchor="ctr">
            <a:spAutoFit/>
          </a:bodyPr>
          <a:lstStyle/>
          <a:p>
            <a:pPr algn="ctr">
              <a:buNone/>
            </a:pPr>
            <a:r>
              <a:rPr sz="750" b="0">
                <a:solidFill>
                  <a:srgbClr val="141414"/>
                </a:solidFill>
                <a:latin typeface="Noto Sans CJK JP"/>
              </a:rPr>
              <a:t>File Checkpointing</a:t>
            </a:r>
          </a:p>
        </p:txBody>
      </p:sp>
      <p:sp>
        <p:nvSpPr>
          <p:cNvPr id="123" name="Rectangle 122">
            <a:extLst>
              <a:ext uri="{FF2B5EF4-FFF2-40B4-BE49-F238E27FC236}">
                <a16:creationId xmlns:a16="http://schemas.microsoft.com/office/drawing/2014/main" id="{522F35E9-E865-4D03-B65A-F30F6935F2D2}"/>
              </a:ext>
            </a:extLst>
          </p:cNvPr>
          <p:cNvSpPr>
            <a:spLocks noGrp="1"/>
          </p:cNvSpPr>
          <p:nvPr/>
        </p:nvSpPr>
        <p:spPr>
          <a:xfrm>
            <a:off x="1417320" y="5696712"/>
            <a:ext cx="155448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4" name="Rectangle 123">
            <a:extLst>
              <a:ext uri="{FF2B5EF4-FFF2-40B4-BE49-F238E27FC236}">
                <a16:creationId xmlns:a16="http://schemas.microsoft.com/office/drawing/2014/main" id="{D04B60BF-1F82-40C4-A5CB-80D196BC94E7}"/>
              </a:ext>
            </a:extLst>
          </p:cNvPr>
          <p:cNvSpPr>
            <a:spLocks noGrp="1"/>
          </p:cNvSpPr>
          <p:nvPr/>
        </p:nvSpPr>
        <p:spPr>
          <a:xfrm>
            <a:off x="2971800" y="5696712"/>
            <a:ext cx="2395728"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5" name="Rectangle 124">
            <a:extLst>
              <a:ext uri="{FF2B5EF4-FFF2-40B4-BE49-F238E27FC236}">
                <a16:creationId xmlns:a16="http://schemas.microsoft.com/office/drawing/2014/main" id="{6F2894B4-7E77-4D2A-8C6E-AF455EEC1872}"/>
              </a:ext>
            </a:extLst>
          </p:cNvPr>
          <p:cNvSpPr>
            <a:spLocks noGrp="1"/>
          </p:cNvSpPr>
          <p:nvPr/>
        </p:nvSpPr>
        <p:spPr>
          <a:xfrm>
            <a:off x="5367528" y="5696712"/>
            <a:ext cx="3063240"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6" name="Rectangle 125">
            <a:extLst>
              <a:ext uri="{FF2B5EF4-FFF2-40B4-BE49-F238E27FC236}">
                <a16:creationId xmlns:a16="http://schemas.microsoft.com/office/drawing/2014/main" id="{22579FCC-7F49-40D4-9321-8447A2B83478}"/>
              </a:ext>
            </a:extLst>
          </p:cNvPr>
          <p:cNvSpPr>
            <a:spLocks noGrp="1"/>
          </p:cNvSpPr>
          <p:nvPr/>
        </p:nvSpPr>
        <p:spPr>
          <a:xfrm>
            <a:off x="8430768" y="5696712"/>
            <a:ext cx="2999232" cy="306324"/>
          </a:xfrm>
          <a:prstGeom prst="rect">
            <a:avLst/>
          </a:prstGeom>
          <a:solidFill>
            <a:srgbClr val="FFFFFF"/>
          </a:solidFill>
          <a:ln w="7620">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7" name="TextBox 126">
            <a:extLst>
              <a:ext uri="{FF2B5EF4-FFF2-40B4-BE49-F238E27FC236}">
                <a16:creationId xmlns:a16="http://schemas.microsoft.com/office/drawing/2014/main" id="{EC9CD329-E9E3-47C7-86E3-76AA6A8DE14D}"/>
              </a:ext>
            </a:extLst>
          </p:cNvPr>
          <p:cNvSpPr>
            <a:spLocks noGrp="1"/>
          </p:cNvSpPr>
          <p:nvPr/>
        </p:nvSpPr>
        <p:spPr>
          <a:xfrm>
            <a:off x="1545336" y="5705855"/>
            <a:ext cx="1389888" cy="288036"/>
          </a:xfrm>
          <a:prstGeom prst="rect">
            <a:avLst/>
          </a:prstGeom>
          <a:noFill/>
          <a:effectLst/>
        </p:spPr>
        <p:txBody>
          <a:bodyPr wrap="none" lIns="36576" tIns="0" rIns="36576" bIns="0" anchor="ctr">
            <a:spAutoFit/>
          </a:bodyPr>
          <a:lstStyle/>
          <a:p>
            <a:pPr algn="l">
              <a:buNone/>
            </a:pPr>
            <a:r>
              <a:rPr sz="1280" b="0">
                <a:solidFill>
                  <a:srgbClr val="141414"/>
                </a:solidFill>
                <a:latin typeface="Noto Sans CJK JP"/>
                <a:ea typeface="Noto Sans CJK JP"/>
                <a:cs typeface="Noto Sans CJK JP"/>
              </a:rPr>
              <a:t>Observability</a:t>
            </a:r>
          </a:p>
        </p:txBody>
      </p:sp>
      <p:sp>
        <p:nvSpPr>
          <p:cNvPr id="128" name="TextBox 127">
            <a:extLst>
              <a:ext uri="{FF2B5EF4-FFF2-40B4-BE49-F238E27FC236}">
                <a16:creationId xmlns:a16="http://schemas.microsoft.com/office/drawing/2014/main" id="{97234768-D3CD-4AF6-9225-0E81F7338C24}"/>
              </a:ext>
            </a:extLst>
          </p:cNvPr>
          <p:cNvSpPr>
            <a:spLocks noGrp="1"/>
          </p:cNvSpPr>
          <p:nvPr/>
        </p:nvSpPr>
        <p:spPr>
          <a:xfrm>
            <a:off x="3136392" y="5705855"/>
            <a:ext cx="2176272" cy="288036"/>
          </a:xfrm>
          <a:prstGeom prst="rect">
            <a:avLst/>
          </a:prstGeom>
          <a:noFill/>
          <a:effectLst/>
        </p:spPr>
        <p:txBody>
          <a:bodyPr wrap="none" lIns="36576" tIns="0" rIns="36576" bIns="0" anchor="ctr">
            <a:spAutoFit/>
          </a:bodyPr>
          <a:lstStyle/>
          <a:p>
            <a:pPr algn="l">
              <a:buNone/>
            </a:pPr>
            <a:r>
              <a:rPr sz="1260" b="0">
                <a:solidFill>
                  <a:srgbClr val="141414"/>
                </a:solidFill>
                <a:latin typeface="Noto Sans CJK JP"/>
                <a:ea typeface="Noto Sans CJK JP"/>
                <a:cs typeface="Noto Sans CJK JP"/>
              </a:rPr>
              <a:t>実行ログ・監査証跡の取得</a:t>
            </a:r>
          </a:p>
        </p:txBody>
      </p:sp>
      <p:sp>
        <p:nvSpPr>
          <p:cNvPr id="129" name="TextBox 128">
            <a:extLst>
              <a:ext uri="{FF2B5EF4-FFF2-40B4-BE49-F238E27FC236}">
                <a16:creationId xmlns:a16="http://schemas.microsoft.com/office/drawing/2014/main" id="{C77C45FD-5B82-4257-9025-A0ECB2F28DD0}"/>
              </a:ext>
            </a:extLst>
          </p:cNvPr>
          <p:cNvSpPr>
            <a:spLocks noGrp="1"/>
          </p:cNvSpPr>
          <p:nvPr/>
        </p:nvSpPr>
        <p:spPr>
          <a:xfrm>
            <a:off x="5532120" y="5705855"/>
            <a:ext cx="2843784"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Tracing / Monitoring / Logs</a:t>
            </a:r>
          </a:p>
        </p:txBody>
      </p:sp>
      <p:sp>
        <p:nvSpPr>
          <p:cNvPr id="130" name="TextBox 129">
            <a:extLst>
              <a:ext uri="{FF2B5EF4-FFF2-40B4-BE49-F238E27FC236}">
                <a16:creationId xmlns:a16="http://schemas.microsoft.com/office/drawing/2014/main" id="{B6DF960B-DD75-479C-B5FA-CA4881A5A396}"/>
              </a:ext>
            </a:extLst>
          </p:cNvPr>
          <p:cNvSpPr>
            <a:spLocks noGrp="1"/>
          </p:cNvSpPr>
          <p:nvPr/>
        </p:nvSpPr>
        <p:spPr>
          <a:xfrm>
            <a:off x="8595360" y="5705855"/>
            <a:ext cx="2779776" cy="288036"/>
          </a:xfrm>
          <a:prstGeom prst="rect">
            <a:avLst/>
          </a:prstGeom>
          <a:noFill/>
          <a:effectLst/>
        </p:spPr>
        <p:txBody>
          <a:bodyPr wrap="none" lIns="36576" tIns="0" rIns="36576" bIns="0" anchor="ctr">
            <a:spAutoFit/>
          </a:bodyPr>
          <a:lstStyle/>
          <a:p>
            <a:pPr algn="l">
              <a:buNone/>
            </a:pPr>
            <a:r>
              <a:rPr sz="1250" b="0">
                <a:solidFill>
                  <a:srgbClr val="141414"/>
                </a:solidFill>
                <a:latin typeface="Noto Sans CJK JP"/>
                <a:ea typeface="Noto Sans CJK JP"/>
                <a:cs typeface="Noto Sans CJK JP"/>
              </a:rPr>
              <a:t>Tracing / Logs / Audit Logs</a:t>
            </a:r>
          </a:p>
        </p:txBody>
      </p:sp>
      <p:sp>
        <p:nvSpPr>
          <p:cNvPr id="131" name="Rectangle 130">
            <a:extLst>
              <a:ext uri="{FF2B5EF4-FFF2-40B4-BE49-F238E27FC236}">
                <a16:creationId xmlns:a16="http://schemas.microsoft.com/office/drawing/2014/main" id="{780D785A-E8EE-4418-B19C-96FED5143465}"/>
              </a:ext>
            </a:extLst>
          </p:cNvPr>
          <p:cNvSpPr>
            <a:spLocks noGrp="1"/>
          </p:cNvSpPr>
          <p:nvPr/>
        </p:nvSpPr>
        <p:spPr>
          <a:xfrm>
            <a:off x="338328" y="3856024"/>
            <a:ext cx="11091672" cy="5486"/>
          </a:xfrm>
          <a:prstGeom prst="rect">
            <a:avLst/>
          </a:prstGeom>
          <a:solidFill>
            <a:srgbClr val="B2B2B2"/>
          </a:solidFill>
          <a:ln>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2" name="Rectangle 131">
            <a:extLst>
              <a:ext uri="{FF2B5EF4-FFF2-40B4-BE49-F238E27FC236}">
                <a16:creationId xmlns:a16="http://schemas.microsoft.com/office/drawing/2014/main" id="{898290AB-7451-4D95-9D3D-8C30DBB772A9}"/>
              </a:ext>
            </a:extLst>
          </p:cNvPr>
          <p:cNvSpPr>
            <a:spLocks noGrp="1"/>
          </p:cNvSpPr>
          <p:nvPr/>
        </p:nvSpPr>
        <p:spPr>
          <a:xfrm>
            <a:off x="338328" y="4774996"/>
            <a:ext cx="11091672" cy="5486"/>
          </a:xfrm>
          <a:prstGeom prst="rect">
            <a:avLst/>
          </a:prstGeom>
          <a:solidFill>
            <a:srgbClr val="B2B2B2"/>
          </a:solidFill>
          <a:ln>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3" name="Rectangle 132">
            <a:extLst>
              <a:ext uri="{FF2B5EF4-FFF2-40B4-BE49-F238E27FC236}">
                <a16:creationId xmlns:a16="http://schemas.microsoft.com/office/drawing/2014/main" id="{4479DB7E-AF50-416A-AE0E-17A20B92BCA4}"/>
              </a:ext>
            </a:extLst>
          </p:cNvPr>
          <p:cNvSpPr>
            <a:spLocks noGrp="1"/>
          </p:cNvSpPr>
          <p:nvPr/>
        </p:nvSpPr>
        <p:spPr>
          <a:xfrm>
            <a:off x="338328" y="5693968"/>
            <a:ext cx="11091672" cy="5486"/>
          </a:xfrm>
          <a:prstGeom prst="rect">
            <a:avLst/>
          </a:prstGeom>
          <a:solidFill>
            <a:srgbClr val="B2B2B2"/>
          </a:solidFill>
          <a:ln>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4" name="Rectangle 133">
            <a:extLst>
              <a:ext uri="{FF2B5EF4-FFF2-40B4-BE49-F238E27FC236}">
                <a16:creationId xmlns:a16="http://schemas.microsoft.com/office/drawing/2014/main" id="{1ADFBBF0-6B4F-446E-80B0-14CE035C5BFA}"/>
              </a:ext>
            </a:extLst>
          </p:cNvPr>
          <p:cNvSpPr>
            <a:spLocks noGrp="1"/>
          </p:cNvSpPr>
          <p:nvPr/>
        </p:nvSpPr>
        <p:spPr>
          <a:xfrm>
            <a:off x="338328" y="6000292"/>
            <a:ext cx="11091672" cy="5486"/>
          </a:xfrm>
          <a:prstGeom prst="rect">
            <a:avLst/>
          </a:prstGeom>
          <a:solidFill>
            <a:srgbClr val="B2B2B2"/>
          </a:solidFill>
          <a:ln>
            <a:solidFill>
              <a:srgbClr val="B2B2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5" name="TextBox 134">
            <a:extLst>
              <a:ext uri="{FF2B5EF4-FFF2-40B4-BE49-F238E27FC236}">
                <a16:creationId xmlns:a16="http://schemas.microsoft.com/office/drawing/2014/main" id="{BAFD9211-5ABD-464C-B836-9CDFEA1077A5}"/>
              </a:ext>
            </a:extLst>
          </p:cNvPr>
          <p:cNvSpPr>
            <a:spLocks noGrp="1"/>
          </p:cNvSpPr>
          <p:nvPr/>
        </p:nvSpPr>
        <p:spPr>
          <a:xfrm>
            <a:off x="384048" y="6492240"/>
            <a:ext cx="6949440" cy="182880"/>
          </a:xfrm>
          <a:prstGeom prst="rect">
            <a:avLst/>
          </a:prstGeom>
          <a:noFill/>
          <a:effectLst/>
        </p:spPr>
        <p:txBody>
          <a:bodyPr wrap="none" lIns="36576" tIns="0" rIns="36576" bIns="0" anchor="ctr">
            <a:spAutoFit/>
          </a:bodyPr>
          <a:lstStyle/>
          <a:p>
            <a:pPr algn="l">
              <a:buNone/>
            </a:pPr>
            <a:r>
              <a:rPr sz="1080" b="0">
                <a:solidFill>
                  <a:srgbClr val="505050"/>
                </a:solidFill>
                <a:latin typeface="Noto Sans CJK JP"/>
              </a:rPr>
              <a:t>注：Platform側の組織管理機能は含めず，主にSDKレベルの機能を整理．</a:t>
            </a:r>
          </a:p>
        </p:txBody>
      </p:sp>
      <p:sp>
        <p:nvSpPr>
          <p:cNvPr id="136" name="TextBox 135">
            <a:extLst>
              <a:ext uri="{FF2B5EF4-FFF2-40B4-BE49-F238E27FC236}">
                <a16:creationId xmlns:a16="http://schemas.microsoft.com/office/drawing/2014/main" id="{7BC0CEA1-69A0-430B-8F71-992F610F8960}"/>
              </a:ext>
            </a:extLst>
          </p:cNvPr>
          <p:cNvSpPr>
            <a:spLocks noGrp="1"/>
          </p:cNvSpPr>
          <p:nvPr/>
        </p:nvSpPr>
        <p:spPr>
          <a:xfrm>
            <a:off x="11475720" y="6473952"/>
            <a:ext cx="292608" cy="201168"/>
          </a:xfrm>
          <a:prstGeom prst="rect">
            <a:avLst/>
          </a:prstGeom>
          <a:noFill/>
          <a:effectLst/>
        </p:spPr>
        <p:txBody>
          <a:bodyPr wrap="none" lIns="36576" tIns="0" rIns="36576" bIns="0" anchor="ctr">
            <a:spAutoFit/>
          </a:bodyPr>
          <a:lstStyle/>
          <a:p>
            <a:pPr algn="l">
              <a:buNone/>
            </a:pPr>
            <a:r>
              <a:rPr sz="1220" b="0">
                <a:solidFill>
                  <a:srgbClr val="505050"/>
                </a:solidFill>
                <a:latin typeface="Noto Sans CJK JP"/>
                <a:ea typeface="Noto Sans CJK JP"/>
                <a:cs typeface="Noto Sans CJK JP"/>
              </a:rPr>
              <a:t>A1</a:t>
            </a:r>
          </a:p>
        </p:txBody>
      </p:sp>
    </p:spTree>
    <p:extLst>
      <p:ext uri="{BB962C8B-B14F-4D97-AF65-F5344CB8AC3E}">
        <p14:creationId xmlns:p14="http://schemas.microsoft.com/office/powerpoint/2010/main" val="1609845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10DFD3-F331-4378-880F-40D14BDD597C}"/>
              </a:ext>
            </a:extLst>
          </p:cNvPr>
          <p:cNvSpPr>
            <a:spLocks noGrp="1"/>
          </p:cNvSpPr>
          <p:nvPr/>
        </p:nvSpPr>
        <p:spPr>
          <a:xfrm>
            <a:off x="182880" y="118872"/>
            <a:ext cx="7863840" cy="310896"/>
          </a:xfrm>
          <a:prstGeom prst="rect">
            <a:avLst/>
          </a:prstGeom>
          <a:noFill/>
          <a:effectLst/>
        </p:spPr>
        <p:txBody>
          <a:bodyPr wrap="square" lIns="45720" tIns="0" rIns="45720" bIns="0" anchor="ctr">
            <a:spAutoFit/>
          </a:bodyPr>
          <a:lstStyle/>
          <a:p>
            <a:pPr algn="l">
              <a:buNone/>
            </a:pPr>
            <a:r>
              <a:rPr sz="2220" b="1">
                <a:solidFill>
                  <a:srgbClr val="0B3691"/>
                </a:solidFill>
                <a:latin typeface="IPAexGothic"/>
                <a:ea typeface="IPAexGothic"/>
                <a:cs typeface="IPAexGothic"/>
              </a:rPr>
              <a:t>Appendix A2． 入力制御（エージェントへの入力検査）</a:t>
            </a:r>
          </a:p>
        </p:txBody>
      </p:sp>
      <p:sp>
        <p:nvSpPr>
          <p:cNvPr id="4" name="TextBox 3">
            <a:extLst>
              <a:ext uri="{FF2B5EF4-FFF2-40B4-BE49-F238E27FC236}">
                <a16:creationId xmlns:a16="http://schemas.microsoft.com/office/drawing/2014/main" id="{B2ECAC1C-482B-4294-862F-9924284741E9}"/>
              </a:ext>
            </a:extLst>
          </p:cNvPr>
          <p:cNvSpPr>
            <a:spLocks noGrp="1"/>
          </p:cNvSpPr>
          <p:nvPr/>
        </p:nvSpPr>
        <p:spPr>
          <a:xfrm>
            <a:off x="10927080" y="155448"/>
            <a:ext cx="1051560" cy="210312"/>
          </a:xfrm>
          <a:prstGeom prst="rect">
            <a:avLst/>
          </a:prstGeom>
          <a:noFill/>
          <a:effectLst/>
        </p:spPr>
        <p:txBody>
          <a:bodyPr wrap="square" lIns="45720" tIns="0" rIns="45720" bIns="0" anchor="ctr">
            <a:spAutoFit/>
          </a:bodyPr>
          <a:lstStyle/>
          <a:p>
            <a:pPr algn="ctr">
              <a:buNone/>
            </a:pPr>
            <a:r>
              <a:rPr sz="1270" b="1">
                <a:solidFill>
                  <a:srgbClr val="0B3691"/>
                </a:solidFill>
                <a:latin typeface="IPAexGothic"/>
                <a:ea typeface="IPAexGothic"/>
                <a:cs typeface="IPAexGothic"/>
              </a:rPr>
              <a:t>行動・権限制御</a:t>
            </a:r>
          </a:p>
        </p:txBody>
      </p:sp>
      <p:sp>
        <p:nvSpPr>
          <p:cNvPr id="5" name="Rectangle 4">
            <a:extLst>
              <a:ext uri="{FF2B5EF4-FFF2-40B4-BE49-F238E27FC236}">
                <a16:creationId xmlns:a16="http://schemas.microsoft.com/office/drawing/2014/main" id="{2C043A97-65B1-4D98-B246-6CC7EF6ED1B7}"/>
              </a:ext>
            </a:extLst>
          </p:cNvPr>
          <p:cNvSpPr>
            <a:spLocks noGrp="1"/>
          </p:cNvSpPr>
          <p:nvPr/>
        </p:nvSpPr>
        <p:spPr>
          <a:xfrm>
            <a:off x="210312" y="585216"/>
            <a:ext cx="11750040" cy="13716"/>
          </a:xfrm>
          <a:prstGeom prst="rect">
            <a:avLst/>
          </a:prstGeom>
          <a:solidFill>
            <a:srgbClr val="0B3691"/>
          </a:solidFill>
          <a:ln>
            <a:solidFill>
              <a:srgbClr val="0B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7487F32-9B3B-42B1-8B91-AE2FAB91138E}"/>
              </a:ext>
            </a:extLst>
          </p:cNvPr>
          <p:cNvSpPr>
            <a:spLocks noGrp="1"/>
          </p:cNvSpPr>
          <p:nvPr/>
        </p:nvSpPr>
        <p:spPr>
          <a:xfrm>
            <a:off x="347472" y="731520"/>
            <a:ext cx="11384280" cy="329184"/>
          </a:xfrm>
          <a:prstGeom prst="rect">
            <a:avLst/>
          </a:prstGeom>
          <a:noFill/>
          <a:effectLst/>
        </p:spPr>
        <p:txBody>
          <a:bodyPr wrap="square" lIns="45720" tIns="0" rIns="45720" bIns="0" anchor="ctr">
            <a:spAutoFit/>
          </a:bodyPr>
          <a:lstStyle/>
          <a:p>
            <a:pPr algn="l">
              <a:buNone/>
            </a:pPr>
            <a:r>
              <a:rPr sz="1450" b="1">
                <a:solidFill>
                  <a:srgbClr val="121923"/>
                </a:solidFill>
                <a:latin typeface="IPAexGothic"/>
                <a:ea typeface="IPAexGothic"/>
                <a:cs typeface="IPAexGothic"/>
              </a:rPr>
              <a:t>Agentが処理を開始する前に，ユーザーからの入力を検査し，不適切な依頼やポリシー違反を早い段階で検出する．</a:t>
            </a:r>
          </a:p>
          <a:p>
            <a:pPr algn="l">
              <a:buNone/>
            </a:pPr>
            <a:r>
              <a:rPr sz="1450" b="1">
                <a:solidFill>
                  <a:srgbClr val="121923"/>
                </a:solidFill>
                <a:latin typeface="IPAexGothic"/>
                <a:ea typeface="IPAexGothic"/>
                <a:cs typeface="IPAexGothic"/>
              </a:rPr>
              <a:t>OpenAIは専用のInput Guardrailを持つ一方，ClaudeはLifecycle Hookを利用して入力時の検査を組み込む．</a:t>
            </a:r>
          </a:p>
        </p:txBody>
      </p:sp>
      <p:sp>
        <p:nvSpPr>
          <p:cNvPr id="7" name="Rectangle 6">
            <a:extLst>
              <a:ext uri="{FF2B5EF4-FFF2-40B4-BE49-F238E27FC236}">
                <a16:creationId xmlns:a16="http://schemas.microsoft.com/office/drawing/2014/main" id="{0A489F8D-9828-4D1C-AC4D-1B7F961A04D8}"/>
              </a:ext>
            </a:extLst>
          </p:cNvPr>
          <p:cNvSpPr>
            <a:spLocks noGrp="1"/>
          </p:cNvSpPr>
          <p:nvPr/>
        </p:nvSpPr>
        <p:spPr>
          <a:xfrm>
            <a:off x="338328" y="1216152"/>
            <a:ext cx="1938528" cy="274320"/>
          </a:xfrm>
          <a:prstGeom prst="rect">
            <a:avLst/>
          </a:prstGeom>
          <a:solidFill>
            <a:srgbClr val="EEF2F7"/>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DE7322FA-E108-4733-BD86-3BF30A24B730}"/>
              </a:ext>
            </a:extLst>
          </p:cNvPr>
          <p:cNvSpPr>
            <a:spLocks noGrp="1"/>
          </p:cNvSpPr>
          <p:nvPr/>
        </p:nvSpPr>
        <p:spPr>
          <a:xfrm>
            <a:off x="338328" y="1216152"/>
            <a:ext cx="1938528" cy="274320"/>
          </a:xfrm>
          <a:prstGeom prst="rect">
            <a:avLst/>
          </a:prstGeom>
          <a:noFill/>
          <a:effectLst/>
        </p:spPr>
        <p:txBody>
          <a:bodyPr wrap="square" lIns="45720" tIns="0" rIns="45720" bIns="0" anchor="ctr">
            <a:spAutoFit/>
          </a:bodyPr>
          <a:lstStyle/>
          <a:p>
            <a:pPr algn="ctr">
              <a:buNone/>
            </a:pPr>
            <a:r>
              <a:rPr sz="1280" b="1">
                <a:solidFill>
                  <a:srgbClr val="0B3691"/>
                </a:solidFill>
                <a:latin typeface="IPAexGothic"/>
                <a:ea typeface="IPAexGothic"/>
                <a:cs typeface="IPAexGothic"/>
              </a:rPr>
              <a:t>観点</a:t>
            </a:r>
          </a:p>
        </p:txBody>
      </p:sp>
      <p:sp>
        <p:nvSpPr>
          <p:cNvPr id="9" name="Rectangle 8">
            <a:extLst>
              <a:ext uri="{FF2B5EF4-FFF2-40B4-BE49-F238E27FC236}">
                <a16:creationId xmlns:a16="http://schemas.microsoft.com/office/drawing/2014/main" id="{FB9CBA86-B1B1-4B21-A9A3-485E668AD3B0}"/>
              </a:ext>
            </a:extLst>
          </p:cNvPr>
          <p:cNvSpPr>
            <a:spLocks noGrp="1"/>
          </p:cNvSpPr>
          <p:nvPr/>
        </p:nvSpPr>
        <p:spPr>
          <a:xfrm>
            <a:off x="2276856" y="1216152"/>
            <a:ext cx="4654296" cy="274320"/>
          </a:xfrm>
          <a:prstGeom prst="rect">
            <a:avLst/>
          </a:prstGeom>
          <a:solidFill>
            <a:srgbClr val="EEF2F7"/>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CFFEAAD-C466-486A-86A8-9C8D06B2B6FF}"/>
              </a:ext>
            </a:extLst>
          </p:cNvPr>
          <p:cNvSpPr>
            <a:spLocks noGrp="1"/>
          </p:cNvSpPr>
          <p:nvPr/>
        </p:nvSpPr>
        <p:spPr>
          <a:xfrm>
            <a:off x="2276856" y="1216152"/>
            <a:ext cx="4654296" cy="274320"/>
          </a:xfrm>
          <a:prstGeom prst="rect">
            <a:avLst/>
          </a:prstGeom>
          <a:noFill/>
          <a:effectLst/>
        </p:spPr>
        <p:txBody>
          <a:bodyPr wrap="square" lIns="45720" tIns="0" rIns="45720" bIns="0" anchor="ctr">
            <a:spAutoFit/>
          </a:bodyPr>
          <a:lstStyle/>
          <a:p>
            <a:pPr algn="ctr">
              <a:buNone/>
            </a:pPr>
            <a:r>
              <a:rPr sz="1280" b="1">
                <a:solidFill>
                  <a:srgbClr val="0B3691"/>
                </a:solidFill>
                <a:latin typeface="IPAexGothic"/>
                <a:ea typeface="IPAexGothic"/>
                <a:cs typeface="IPAexGothic"/>
              </a:rPr>
              <a:t>OpenAI Agents SDK</a:t>
            </a:r>
          </a:p>
        </p:txBody>
      </p:sp>
      <p:sp>
        <p:nvSpPr>
          <p:cNvPr id="11" name="Rectangle 10">
            <a:extLst>
              <a:ext uri="{FF2B5EF4-FFF2-40B4-BE49-F238E27FC236}">
                <a16:creationId xmlns:a16="http://schemas.microsoft.com/office/drawing/2014/main" id="{A3FF373F-A59D-4A29-97B7-2A5DED864906}"/>
              </a:ext>
            </a:extLst>
          </p:cNvPr>
          <p:cNvSpPr>
            <a:spLocks noGrp="1"/>
          </p:cNvSpPr>
          <p:nvPr/>
        </p:nvSpPr>
        <p:spPr>
          <a:xfrm>
            <a:off x="6931152" y="1216152"/>
            <a:ext cx="4791456" cy="274320"/>
          </a:xfrm>
          <a:prstGeom prst="rect">
            <a:avLst/>
          </a:prstGeom>
          <a:solidFill>
            <a:srgbClr val="EEF2F7"/>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B4F783F-7715-44E9-B912-C16BC6D78EDF}"/>
              </a:ext>
            </a:extLst>
          </p:cNvPr>
          <p:cNvSpPr>
            <a:spLocks noGrp="1"/>
          </p:cNvSpPr>
          <p:nvPr/>
        </p:nvSpPr>
        <p:spPr>
          <a:xfrm>
            <a:off x="6931152" y="1216152"/>
            <a:ext cx="4791456" cy="274320"/>
          </a:xfrm>
          <a:prstGeom prst="rect">
            <a:avLst/>
          </a:prstGeom>
          <a:noFill/>
          <a:effectLst/>
        </p:spPr>
        <p:txBody>
          <a:bodyPr wrap="square" lIns="45720" tIns="0" rIns="45720" bIns="0" anchor="ctr">
            <a:spAutoFit/>
          </a:bodyPr>
          <a:lstStyle/>
          <a:p>
            <a:pPr algn="ctr">
              <a:buNone/>
            </a:pPr>
            <a:r>
              <a:rPr sz="1280" b="1">
                <a:solidFill>
                  <a:srgbClr val="0B3691"/>
                </a:solidFill>
                <a:latin typeface="IPAexGothic"/>
                <a:ea typeface="IPAexGothic"/>
                <a:cs typeface="IPAexGothic"/>
              </a:rPr>
              <a:t>Claude Agent SDK</a:t>
            </a:r>
          </a:p>
        </p:txBody>
      </p:sp>
      <p:sp>
        <p:nvSpPr>
          <p:cNvPr id="13" name="Rectangle 12">
            <a:extLst>
              <a:ext uri="{FF2B5EF4-FFF2-40B4-BE49-F238E27FC236}">
                <a16:creationId xmlns:a16="http://schemas.microsoft.com/office/drawing/2014/main" id="{B473799A-880F-4D15-B5AD-8F25D735E83F}"/>
              </a:ext>
            </a:extLst>
          </p:cNvPr>
          <p:cNvSpPr>
            <a:spLocks noGrp="1"/>
          </p:cNvSpPr>
          <p:nvPr/>
        </p:nvSpPr>
        <p:spPr>
          <a:xfrm>
            <a:off x="338328" y="1490472"/>
            <a:ext cx="1938528" cy="31089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65EDC9B5-053A-4452-A126-6512EA1A2CF0}"/>
              </a:ext>
            </a:extLst>
          </p:cNvPr>
          <p:cNvSpPr>
            <a:spLocks noGrp="1"/>
          </p:cNvSpPr>
          <p:nvPr/>
        </p:nvSpPr>
        <p:spPr>
          <a:xfrm>
            <a:off x="2276856" y="1490472"/>
            <a:ext cx="4654296" cy="31089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24309627-6402-45C5-B899-83C3ED176019}"/>
              </a:ext>
            </a:extLst>
          </p:cNvPr>
          <p:cNvSpPr>
            <a:spLocks noGrp="1"/>
          </p:cNvSpPr>
          <p:nvPr/>
        </p:nvSpPr>
        <p:spPr>
          <a:xfrm>
            <a:off x="6931152" y="1490472"/>
            <a:ext cx="4791456" cy="31089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A8E8C2E9-C4E7-47E7-A213-284616C22999}"/>
              </a:ext>
            </a:extLst>
          </p:cNvPr>
          <p:cNvSpPr>
            <a:spLocks noGrp="1"/>
          </p:cNvSpPr>
          <p:nvPr/>
        </p:nvSpPr>
        <p:spPr>
          <a:xfrm>
            <a:off x="429768" y="1490472"/>
            <a:ext cx="1801368" cy="31089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主な機能</a:t>
            </a:r>
          </a:p>
        </p:txBody>
      </p:sp>
      <p:sp>
        <p:nvSpPr>
          <p:cNvPr id="17" name="TextBox 16">
            <a:extLst>
              <a:ext uri="{FF2B5EF4-FFF2-40B4-BE49-F238E27FC236}">
                <a16:creationId xmlns:a16="http://schemas.microsoft.com/office/drawing/2014/main" id="{53A8FDC4-E6BD-443B-A002-DE8472471214}"/>
              </a:ext>
            </a:extLst>
          </p:cNvPr>
          <p:cNvSpPr>
            <a:spLocks noGrp="1"/>
          </p:cNvSpPr>
          <p:nvPr/>
        </p:nvSpPr>
        <p:spPr>
          <a:xfrm>
            <a:off x="2404872" y="1522476"/>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Input Guardrail</a:t>
            </a:r>
          </a:p>
        </p:txBody>
      </p:sp>
      <p:sp>
        <p:nvSpPr>
          <p:cNvPr id="18" name="TextBox 17">
            <a:extLst>
              <a:ext uri="{FF2B5EF4-FFF2-40B4-BE49-F238E27FC236}">
                <a16:creationId xmlns:a16="http://schemas.microsoft.com/office/drawing/2014/main" id="{1858E703-8BF2-475E-AE4E-147FF277021E}"/>
              </a:ext>
            </a:extLst>
          </p:cNvPr>
          <p:cNvSpPr>
            <a:spLocks noGrp="1"/>
          </p:cNvSpPr>
          <p:nvPr/>
        </p:nvSpPr>
        <p:spPr>
          <a:xfrm>
            <a:off x="7059168" y="1522476"/>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UserPromptSubmit Hook</a:t>
            </a:r>
          </a:p>
        </p:txBody>
      </p:sp>
      <p:sp>
        <p:nvSpPr>
          <p:cNvPr id="19" name="Rectangle 18">
            <a:extLst>
              <a:ext uri="{FF2B5EF4-FFF2-40B4-BE49-F238E27FC236}">
                <a16:creationId xmlns:a16="http://schemas.microsoft.com/office/drawing/2014/main" id="{F48698AA-1C85-4F2F-A9E1-F3FF16FF40B2}"/>
              </a:ext>
            </a:extLst>
          </p:cNvPr>
          <p:cNvSpPr>
            <a:spLocks noGrp="1"/>
          </p:cNvSpPr>
          <p:nvPr/>
        </p:nvSpPr>
        <p:spPr>
          <a:xfrm>
            <a:off x="338328" y="1801368"/>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CD6FE24-B315-4241-BE55-B78553BCD761}"/>
              </a:ext>
            </a:extLst>
          </p:cNvPr>
          <p:cNvSpPr>
            <a:spLocks noGrp="1"/>
          </p:cNvSpPr>
          <p:nvPr/>
        </p:nvSpPr>
        <p:spPr>
          <a:xfrm>
            <a:off x="2276856" y="1801368"/>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E1991B03-3A35-4EA7-9C0A-78F7CAC2DF68}"/>
              </a:ext>
            </a:extLst>
          </p:cNvPr>
          <p:cNvSpPr>
            <a:spLocks noGrp="1"/>
          </p:cNvSpPr>
          <p:nvPr/>
        </p:nvSpPr>
        <p:spPr>
          <a:xfrm>
            <a:off x="6931152" y="1801368"/>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6684E76F-2273-4BD3-9BA9-BDB5E9677744}"/>
              </a:ext>
            </a:extLst>
          </p:cNvPr>
          <p:cNvSpPr>
            <a:spLocks noGrp="1"/>
          </p:cNvSpPr>
          <p:nvPr/>
        </p:nvSpPr>
        <p:spPr>
          <a:xfrm>
            <a:off x="429768" y="1801368"/>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実行タイミング</a:t>
            </a:r>
          </a:p>
        </p:txBody>
      </p:sp>
      <p:sp>
        <p:nvSpPr>
          <p:cNvPr id="23" name="TextBox 22">
            <a:extLst>
              <a:ext uri="{FF2B5EF4-FFF2-40B4-BE49-F238E27FC236}">
                <a16:creationId xmlns:a16="http://schemas.microsoft.com/office/drawing/2014/main" id="{A8264D62-AD02-4B9E-8785-EECEEE952375}"/>
              </a:ext>
            </a:extLst>
          </p:cNvPr>
          <p:cNvSpPr>
            <a:spLocks noGrp="1"/>
          </p:cNvSpPr>
          <p:nvPr/>
        </p:nvSpPr>
        <p:spPr>
          <a:xfrm>
            <a:off x="2404872" y="1833372"/>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Agent処理開始時</a:t>
            </a:r>
          </a:p>
        </p:txBody>
      </p:sp>
      <p:sp>
        <p:nvSpPr>
          <p:cNvPr id="24" name="TextBox 23">
            <a:extLst>
              <a:ext uri="{FF2B5EF4-FFF2-40B4-BE49-F238E27FC236}">
                <a16:creationId xmlns:a16="http://schemas.microsoft.com/office/drawing/2014/main" id="{FE6C9668-C44C-49CA-8324-92C17015F9EC}"/>
              </a:ext>
            </a:extLst>
          </p:cNvPr>
          <p:cNvSpPr>
            <a:spLocks noGrp="1"/>
          </p:cNvSpPr>
          <p:nvPr/>
        </p:nvSpPr>
        <p:spPr>
          <a:xfrm>
            <a:off x="2404872" y="1988820"/>
            <a:ext cx="447141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最初にAgentへ入力を渡すタイミングで実行</a:t>
            </a:r>
          </a:p>
        </p:txBody>
      </p:sp>
      <p:sp>
        <p:nvSpPr>
          <p:cNvPr id="25" name="TextBox 24">
            <a:extLst>
              <a:ext uri="{FF2B5EF4-FFF2-40B4-BE49-F238E27FC236}">
                <a16:creationId xmlns:a16="http://schemas.microsoft.com/office/drawing/2014/main" id="{F81FE1FE-F6A3-4333-9AC7-FF5D0D05F6B6}"/>
              </a:ext>
            </a:extLst>
          </p:cNvPr>
          <p:cNvSpPr>
            <a:spLocks noGrp="1"/>
          </p:cNvSpPr>
          <p:nvPr/>
        </p:nvSpPr>
        <p:spPr>
          <a:xfrm>
            <a:off x="7059168" y="1833372"/>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UserPrompt送信時</a:t>
            </a:r>
          </a:p>
        </p:txBody>
      </p:sp>
      <p:sp>
        <p:nvSpPr>
          <p:cNvPr id="26" name="TextBox 25">
            <a:extLst>
              <a:ext uri="{FF2B5EF4-FFF2-40B4-BE49-F238E27FC236}">
                <a16:creationId xmlns:a16="http://schemas.microsoft.com/office/drawing/2014/main" id="{FE175F34-4573-4F30-AA73-97143C442C93}"/>
              </a:ext>
            </a:extLst>
          </p:cNvPr>
          <p:cNvSpPr>
            <a:spLocks noGrp="1"/>
          </p:cNvSpPr>
          <p:nvPr/>
        </p:nvSpPr>
        <p:spPr>
          <a:xfrm>
            <a:off x="7059168" y="1988820"/>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ユーザーの入力が送信されたタイミングで実行</a:t>
            </a:r>
          </a:p>
        </p:txBody>
      </p:sp>
      <p:sp>
        <p:nvSpPr>
          <p:cNvPr id="27" name="Rectangle 26">
            <a:extLst>
              <a:ext uri="{FF2B5EF4-FFF2-40B4-BE49-F238E27FC236}">
                <a16:creationId xmlns:a16="http://schemas.microsoft.com/office/drawing/2014/main" id="{B013C415-9A2E-40AE-B75F-FB10A811DEB0}"/>
              </a:ext>
            </a:extLst>
          </p:cNvPr>
          <p:cNvSpPr>
            <a:spLocks noGrp="1"/>
          </p:cNvSpPr>
          <p:nvPr/>
        </p:nvSpPr>
        <p:spPr>
          <a:xfrm>
            <a:off x="338328" y="2249424"/>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E8A9E170-4191-41D3-8A2B-40E22B14C06F}"/>
              </a:ext>
            </a:extLst>
          </p:cNvPr>
          <p:cNvSpPr>
            <a:spLocks noGrp="1"/>
          </p:cNvSpPr>
          <p:nvPr/>
        </p:nvSpPr>
        <p:spPr>
          <a:xfrm>
            <a:off x="2276856" y="2249424"/>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ectangle 28">
            <a:extLst>
              <a:ext uri="{FF2B5EF4-FFF2-40B4-BE49-F238E27FC236}">
                <a16:creationId xmlns:a16="http://schemas.microsoft.com/office/drawing/2014/main" id="{0660B0D0-C1A6-47BB-AA2F-83DA8595D386}"/>
              </a:ext>
            </a:extLst>
          </p:cNvPr>
          <p:cNvSpPr>
            <a:spLocks noGrp="1"/>
          </p:cNvSpPr>
          <p:nvPr/>
        </p:nvSpPr>
        <p:spPr>
          <a:xfrm>
            <a:off x="6931152" y="2249424"/>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DB630436-5ED0-4D4B-AE86-800B7C5BBBFD}"/>
              </a:ext>
            </a:extLst>
          </p:cNvPr>
          <p:cNvSpPr>
            <a:spLocks noGrp="1"/>
          </p:cNvSpPr>
          <p:nvPr/>
        </p:nvSpPr>
        <p:spPr>
          <a:xfrm>
            <a:off x="429768" y="2249424"/>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主な検査対象</a:t>
            </a:r>
          </a:p>
        </p:txBody>
      </p:sp>
      <p:sp>
        <p:nvSpPr>
          <p:cNvPr id="31" name="TextBox 30">
            <a:extLst>
              <a:ext uri="{FF2B5EF4-FFF2-40B4-BE49-F238E27FC236}">
                <a16:creationId xmlns:a16="http://schemas.microsoft.com/office/drawing/2014/main" id="{27009948-81E4-49D7-82A1-03CEB9C8FA18}"/>
              </a:ext>
            </a:extLst>
          </p:cNvPr>
          <p:cNvSpPr>
            <a:spLocks noGrp="1"/>
          </p:cNvSpPr>
          <p:nvPr/>
        </p:nvSpPr>
        <p:spPr>
          <a:xfrm>
            <a:off x="2404872" y="2281428"/>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ユーザー入力</a:t>
            </a:r>
          </a:p>
        </p:txBody>
      </p:sp>
      <p:sp>
        <p:nvSpPr>
          <p:cNvPr id="32" name="TextBox 31">
            <a:extLst>
              <a:ext uri="{FF2B5EF4-FFF2-40B4-BE49-F238E27FC236}">
                <a16:creationId xmlns:a16="http://schemas.microsoft.com/office/drawing/2014/main" id="{86FABB72-6DC3-443A-929D-53AB463283EC}"/>
              </a:ext>
            </a:extLst>
          </p:cNvPr>
          <p:cNvSpPr>
            <a:spLocks noGrp="1"/>
          </p:cNvSpPr>
          <p:nvPr/>
        </p:nvSpPr>
        <p:spPr>
          <a:xfrm>
            <a:off x="2404872" y="2436876"/>
            <a:ext cx="447141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テキストや構造化データなどの入力内容</a:t>
            </a:r>
          </a:p>
        </p:txBody>
      </p:sp>
      <p:sp>
        <p:nvSpPr>
          <p:cNvPr id="33" name="TextBox 32">
            <a:extLst>
              <a:ext uri="{FF2B5EF4-FFF2-40B4-BE49-F238E27FC236}">
                <a16:creationId xmlns:a16="http://schemas.microsoft.com/office/drawing/2014/main" id="{90E0E189-0D73-48C8-9F52-7E93BE85EF91}"/>
              </a:ext>
            </a:extLst>
          </p:cNvPr>
          <p:cNvSpPr>
            <a:spLocks noGrp="1"/>
          </p:cNvSpPr>
          <p:nvPr/>
        </p:nvSpPr>
        <p:spPr>
          <a:xfrm>
            <a:off x="7059168" y="2281428"/>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ユーザー入力</a:t>
            </a:r>
          </a:p>
        </p:txBody>
      </p:sp>
      <p:sp>
        <p:nvSpPr>
          <p:cNvPr id="34" name="TextBox 33">
            <a:extLst>
              <a:ext uri="{FF2B5EF4-FFF2-40B4-BE49-F238E27FC236}">
                <a16:creationId xmlns:a16="http://schemas.microsoft.com/office/drawing/2014/main" id="{8243954C-598E-46F2-B145-D9BC28BD83AC}"/>
              </a:ext>
            </a:extLst>
          </p:cNvPr>
          <p:cNvSpPr>
            <a:spLocks noGrp="1"/>
          </p:cNvSpPr>
          <p:nvPr/>
        </p:nvSpPr>
        <p:spPr>
          <a:xfrm>
            <a:off x="7059168" y="2436876"/>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テキストや構造化データなどの入力内容</a:t>
            </a:r>
          </a:p>
        </p:txBody>
      </p:sp>
      <p:sp>
        <p:nvSpPr>
          <p:cNvPr id="35" name="Rectangle 34">
            <a:extLst>
              <a:ext uri="{FF2B5EF4-FFF2-40B4-BE49-F238E27FC236}">
                <a16:creationId xmlns:a16="http://schemas.microsoft.com/office/drawing/2014/main" id="{094F0AD6-27AD-4439-86F7-2747577D9235}"/>
              </a:ext>
            </a:extLst>
          </p:cNvPr>
          <p:cNvSpPr>
            <a:spLocks noGrp="1"/>
          </p:cNvSpPr>
          <p:nvPr/>
        </p:nvSpPr>
        <p:spPr>
          <a:xfrm>
            <a:off x="338328" y="2697480"/>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ctangle 35">
            <a:extLst>
              <a:ext uri="{FF2B5EF4-FFF2-40B4-BE49-F238E27FC236}">
                <a16:creationId xmlns:a16="http://schemas.microsoft.com/office/drawing/2014/main" id="{F90C2314-A6BD-4396-923C-C09E5A2D4622}"/>
              </a:ext>
            </a:extLst>
          </p:cNvPr>
          <p:cNvSpPr>
            <a:spLocks noGrp="1"/>
          </p:cNvSpPr>
          <p:nvPr/>
        </p:nvSpPr>
        <p:spPr>
          <a:xfrm>
            <a:off x="2276856" y="2697480"/>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DA88F487-3963-42A1-A4DB-4E4ACB3310FC}"/>
              </a:ext>
            </a:extLst>
          </p:cNvPr>
          <p:cNvSpPr>
            <a:spLocks noGrp="1"/>
          </p:cNvSpPr>
          <p:nvPr/>
        </p:nvSpPr>
        <p:spPr>
          <a:xfrm>
            <a:off x="6931152" y="2697480"/>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657CCC99-F567-4FF7-AF96-F3FF1C52556B}"/>
              </a:ext>
            </a:extLst>
          </p:cNvPr>
          <p:cNvSpPr>
            <a:spLocks noGrp="1"/>
          </p:cNvSpPr>
          <p:nvPr/>
        </p:nvSpPr>
        <p:spPr>
          <a:xfrm>
            <a:off x="429768" y="2697480"/>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検査ロジック</a:t>
            </a:r>
          </a:p>
        </p:txBody>
      </p:sp>
      <p:sp>
        <p:nvSpPr>
          <p:cNvPr id="39" name="TextBox 38">
            <a:extLst>
              <a:ext uri="{FF2B5EF4-FFF2-40B4-BE49-F238E27FC236}">
                <a16:creationId xmlns:a16="http://schemas.microsoft.com/office/drawing/2014/main" id="{96762CE2-2FAC-4DAC-948E-21610F1C01FA}"/>
              </a:ext>
            </a:extLst>
          </p:cNvPr>
          <p:cNvSpPr>
            <a:spLocks noGrp="1"/>
          </p:cNvSpPr>
          <p:nvPr/>
        </p:nvSpPr>
        <p:spPr>
          <a:xfrm>
            <a:off x="2404872" y="2729484"/>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Guardrailとして実装</a:t>
            </a:r>
          </a:p>
        </p:txBody>
      </p:sp>
      <p:sp>
        <p:nvSpPr>
          <p:cNvPr id="40" name="TextBox 39">
            <a:extLst>
              <a:ext uri="{FF2B5EF4-FFF2-40B4-BE49-F238E27FC236}">
                <a16:creationId xmlns:a16="http://schemas.microsoft.com/office/drawing/2014/main" id="{07471DA1-1EB5-43C3-B99E-AA01440D1342}"/>
              </a:ext>
            </a:extLst>
          </p:cNvPr>
          <p:cNvSpPr>
            <a:spLocks noGrp="1"/>
          </p:cNvSpPr>
          <p:nvPr/>
        </p:nvSpPr>
        <p:spPr>
          <a:xfrm>
            <a:off x="2404872" y="2884932"/>
            <a:ext cx="447141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Guardrailのルールやロジックで検査を構成</a:t>
            </a:r>
          </a:p>
        </p:txBody>
      </p:sp>
      <p:sp>
        <p:nvSpPr>
          <p:cNvPr id="41" name="TextBox 40">
            <a:extLst>
              <a:ext uri="{FF2B5EF4-FFF2-40B4-BE49-F238E27FC236}">
                <a16:creationId xmlns:a16="http://schemas.microsoft.com/office/drawing/2014/main" id="{5D31669B-5A0C-4815-8091-E7D40A20D173}"/>
              </a:ext>
            </a:extLst>
          </p:cNvPr>
          <p:cNvSpPr>
            <a:spLocks noGrp="1"/>
          </p:cNvSpPr>
          <p:nvPr/>
        </p:nvSpPr>
        <p:spPr>
          <a:xfrm>
            <a:off x="7059168" y="2729484"/>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Hook内のApplication Logicとして実装</a:t>
            </a:r>
          </a:p>
        </p:txBody>
      </p:sp>
      <p:sp>
        <p:nvSpPr>
          <p:cNvPr id="42" name="TextBox 41">
            <a:extLst>
              <a:ext uri="{FF2B5EF4-FFF2-40B4-BE49-F238E27FC236}">
                <a16:creationId xmlns:a16="http://schemas.microsoft.com/office/drawing/2014/main" id="{B660C92E-BB19-418E-B676-488851483A69}"/>
              </a:ext>
            </a:extLst>
          </p:cNvPr>
          <p:cNvSpPr>
            <a:spLocks noGrp="1"/>
          </p:cNvSpPr>
          <p:nvPr/>
        </p:nvSpPr>
        <p:spPr>
          <a:xfrm>
            <a:off x="7059168" y="2884932"/>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Hookの中で独自の検査ロジックを実装</a:t>
            </a:r>
          </a:p>
        </p:txBody>
      </p:sp>
      <p:sp>
        <p:nvSpPr>
          <p:cNvPr id="43" name="Rectangle 42">
            <a:extLst>
              <a:ext uri="{FF2B5EF4-FFF2-40B4-BE49-F238E27FC236}">
                <a16:creationId xmlns:a16="http://schemas.microsoft.com/office/drawing/2014/main" id="{A05E5D9F-8904-43F7-A769-066C75BC800B}"/>
              </a:ext>
            </a:extLst>
          </p:cNvPr>
          <p:cNvSpPr>
            <a:spLocks noGrp="1"/>
          </p:cNvSpPr>
          <p:nvPr/>
        </p:nvSpPr>
        <p:spPr>
          <a:xfrm>
            <a:off x="338328" y="3145536"/>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53A7667B-F303-4313-A245-18995FC80CE9}"/>
              </a:ext>
            </a:extLst>
          </p:cNvPr>
          <p:cNvSpPr>
            <a:spLocks noGrp="1"/>
          </p:cNvSpPr>
          <p:nvPr/>
        </p:nvSpPr>
        <p:spPr>
          <a:xfrm>
            <a:off x="2276856" y="3145536"/>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F82895C8-0C04-4ADD-A475-30E8FF21584D}"/>
              </a:ext>
            </a:extLst>
          </p:cNvPr>
          <p:cNvSpPr>
            <a:spLocks noGrp="1"/>
          </p:cNvSpPr>
          <p:nvPr/>
        </p:nvSpPr>
        <p:spPr>
          <a:xfrm>
            <a:off x="6931152" y="3145536"/>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35D4945B-A077-46BE-BE64-DEEFCE6DA6B5}"/>
              </a:ext>
            </a:extLst>
          </p:cNvPr>
          <p:cNvSpPr>
            <a:spLocks noGrp="1"/>
          </p:cNvSpPr>
          <p:nvPr/>
        </p:nvSpPr>
        <p:spPr>
          <a:xfrm>
            <a:off x="429768" y="3145536"/>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違反時の処理</a:t>
            </a:r>
          </a:p>
        </p:txBody>
      </p:sp>
      <p:sp>
        <p:nvSpPr>
          <p:cNvPr id="47" name="TextBox 46">
            <a:extLst>
              <a:ext uri="{FF2B5EF4-FFF2-40B4-BE49-F238E27FC236}">
                <a16:creationId xmlns:a16="http://schemas.microsoft.com/office/drawing/2014/main" id="{9031624C-C61B-4CBB-A9EA-10B7D83BC56E}"/>
              </a:ext>
            </a:extLst>
          </p:cNvPr>
          <p:cNvSpPr>
            <a:spLocks noGrp="1"/>
          </p:cNvSpPr>
          <p:nvPr/>
        </p:nvSpPr>
        <p:spPr>
          <a:xfrm>
            <a:off x="2404872" y="3177540"/>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Tripwire等でAgent実行を停止</a:t>
            </a:r>
          </a:p>
        </p:txBody>
      </p:sp>
      <p:sp>
        <p:nvSpPr>
          <p:cNvPr id="48" name="TextBox 47">
            <a:extLst>
              <a:ext uri="{FF2B5EF4-FFF2-40B4-BE49-F238E27FC236}">
                <a16:creationId xmlns:a16="http://schemas.microsoft.com/office/drawing/2014/main" id="{7E9BFE49-0319-4F9D-80E8-B4C684787C3F}"/>
              </a:ext>
            </a:extLst>
          </p:cNvPr>
          <p:cNvSpPr>
            <a:spLocks noGrp="1"/>
          </p:cNvSpPr>
          <p:nvPr/>
        </p:nvSpPr>
        <p:spPr>
          <a:xfrm>
            <a:off x="2404872" y="3332988"/>
            <a:ext cx="447141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GuardrailがTripwireを発火し，Runを停止</a:t>
            </a:r>
          </a:p>
        </p:txBody>
      </p:sp>
      <p:sp>
        <p:nvSpPr>
          <p:cNvPr id="49" name="TextBox 48">
            <a:extLst>
              <a:ext uri="{FF2B5EF4-FFF2-40B4-BE49-F238E27FC236}">
                <a16:creationId xmlns:a16="http://schemas.microsoft.com/office/drawing/2014/main" id="{591EED23-B635-46C7-B2E2-F58FBE6CB026}"/>
              </a:ext>
            </a:extLst>
          </p:cNvPr>
          <p:cNvSpPr>
            <a:spLocks noGrp="1"/>
          </p:cNvSpPr>
          <p:nvPr/>
        </p:nvSpPr>
        <p:spPr>
          <a:xfrm>
            <a:off x="7059168" y="3177540"/>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Hookの結果に応じて処理を制御</a:t>
            </a:r>
          </a:p>
        </p:txBody>
      </p:sp>
      <p:sp>
        <p:nvSpPr>
          <p:cNvPr id="50" name="TextBox 49">
            <a:extLst>
              <a:ext uri="{FF2B5EF4-FFF2-40B4-BE49-F238E27FC236}">
                <a16:creationId xmlns:a16="http://schemas.microsoft.com/office/drawing/2014/main" id="{64DEE58A-E9FF-458E-B5F4-543B0FCC4C35}"/>
              </a:ext>
            </a:extLst>
          </p:cNvPr>
          <p:cNvSpPr>
            <a:spLocks noGrp="1"/>
          </p:cNvSpPr>
          <p:nvPr/>
        </p:nvSpPr>
        <p:spPr>
          <a:xfrm>
            <a:off x="7059168" y="3332988"/>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エラー返却や処理中断などをHook側で実装</a:t>
            </a:r>
          </a:p>
        </p:txBody>
      </p:sp>
      <p:sp>
        <p:nvSpPr>
          <p:cNvPr id="51" name="Rectangle 50">
            <a:extLst>
              <a:ext uri="{FF2B5EF4-FFF2-40B4-BE49-F238E27FC236}">
                <a16:creationId xmlns:a16="http://schemas.microsoft.com/office/drawing/2014/main" id="{B127929C-F24F-4871-B869-E9968B574921}"/>
              </a:ext>
            </a:extLst>
          </p:cNvPr>
          <p:cNvSpPr>
            <a:spLocks noGrp="1"/>
          </p:cNvSpPr>
          <p:nvPr/>
        </p:nvSpPr>
        <p:spPr>
          <a:xfrm>
            <a:off x="338328" y="3593592"/>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Rectangle 51">
            <a:extLst>
              <a:ext uri="{FF2B5EF4-FFF2-40B4-BE49-F238E27FC236}">
                <a16:creationId xmlns:a16="http://schemas.microsoft.com/office/drawing/2014/main" id="{C705E39F-3CD7-4F6F-8C3F-DCF7F59DA592}"/>
              </a:ext>
            </a:extLst>
          </p:cNvPr>
          <p:cNvSpPr>
            <a:spLocks noGrp="1"/>
          </p:cNvSpPr>
          <p:nvPr/>
        </p:nvSpPr>
        <p:spPr>
          <a:xfrm>
            <a:off x="2276856" y="3593592"/>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Rectangle 52">
            <a:extLst>
              <a:ext uri="{FF2B5EF4-FFF2-40B4-BE49-F238E27FC236}">
                <a16:creationId xmlns:a16="http://schemas.microsoft.com/office/drawing/2014/main" id="{2E7B759F-AC9D-49AF-9C51-419DE8259AC8}"/>
              </a:ext>
            </a:extLst>
          </p:cNvPr>
          <p:cNvSpPr>
            <a:spLocks noGrp="1"/>
          </p:cNvSpPr>
          <p:nvPr/>
        </p:nvSpPr>
        <p:spPr>
          <a:xfrm>
            <a:off x="6931152" y="3593592"/>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C2AB5AAA-4B4B-4125-8334-DA865A67DD8A}"/>
              </a:ext>
            </a:extLst>
          </p:cNvPr>
          <p:cNvSpPr>
            <a:spLocks noGrp="1"/>
          </p:cNvSpPr>
          <p:nvPr/>
        </p:nvSpPr>
        <p:spPr>
          <a:xfrm>
            <a:off x="429768" y="3593592"/>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主な用途</a:t>
            </a:r>
          </a:p>
        </p:txBody>
      </p:sp>
      <p:sp>
        <p:nvSpPr>
          <p:cNvPr id="55" name="TextBox 54">
            <a:extLst>
              <a:ext uri="{FF2B5EF4-FFF2-40B4-BE49-F238E27FC236}">
                <a16:creationId xmlns:a16="http://schemas.microsoft.com/office/drawing/2014/main" id="{011DC359-6441-4C75-9654-467750657AF7}"/>
              </a:ext>
            </a:extLst>
          </p:cNvPr>
          <p:cNvSpPr>
            <a:spLocks noGrp="1"/>
          </p:cNvSpPr>
          <p:nvPr/>
        </p:nvSpPr>
        <p:spPr>
          <a:xfrm>
            <a:off x="2404872" y="3625596"/>
            <a:ext cx="4471416" cy="155448"/>
          </a:xfrm>
          <a:prstGeom prst="rect">
            <a:avLst/>
          </a:prstGeom>
          <a:noFill/>
          <a:effectLst/>
        </p:spPr>
        <p:txBody>
          <a:bodyPr wrap="square" lIns="45720" tIns="0" rIns="45720" bIns="0" anchor="ctr">
            <a:spAutoFit/>
          </a:bodyPr>
          <a:lstStyle/>
          <a:p>
            <a:pPr algn="l">
              <a:buNone/>
            </a:pPr>
            <a:r>
              <a:rPr sz="1220" b="1">
                <a:solidFill>
                  <a:srgbClr val="0B3691"/>
                </a:solidFill>
                <a:latin typeface="IPAexGothic"/>
                <a:ea typeface="IPAexGothic"/>
                <a:cs typeface="IPAexGothic"/>
              </a:rPr>
              <a:t>禁止依頼，入力形式，機密情報，Prompt Injection などの検出</a:t>
            </a:r>
          </a:p>
        </p:txBody>
      </p:sp>
      <p:sp>
        <p:nvSpPr>
          <p:cNvPr id="56" name="TextBox 55">
            <a:extLst>
              <a:ext uri="{FF2B5EF4-FFF2-40B4-BE49-F238E27FC236}">
                <a16:creationId xmlns:a16="http://schemas.microsoft.com/office/drawing/2014/main" id="{EA4D2301-6FF8-4CBD-8B87-71711C6FA643}"/>
              </a:ext>
            </a:extLst>
          </p:cNvPr>
          <p:cNvSpPr>
            <a:spLocks noGrp="1"/>
          </p:cNvSpPr>
          <p:nvPr/>
        </p:nvSpPr>
        <p:spPr>
          <a:xfrm>
            <a:off x="7059168" y="3625596"/>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同様の入力検査をHookとして実装</a:t>
            </a:r>
          </a:p>
        </p:txBody>
      </p:sp>
      <p:sp>
        <p:nvSpPr>
          <p:cNvPr id="57" name="TextBox 56">
            <a:extLst>
              <a:ext uri="{FF2B5EF4-FFF2-40B4-BE49-F238E27FC236}">
                <a16:creationId xmlns:a16="http://schemas.microsoft.com/office/drawing/2014/main" id="{A64C2E40-FC45-41F3-8EF5-BF57D786B558}"/>
              </a:ext>
            </a:extLst>
          </p:cNvPr>
          <p:cNvSpPr>
            <a:spLocks noGrp="1"/>
          </p:cNvSpPr>
          <p:nvPr/>
        </p:nvSpPr>
        <p:spPr>
          <a:xfrm>
            <a:off x="7059168" y="3781044"/>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業務ルールや組織ポリシーに合わせて柔軟に対応</a:t>
            </a:r>
          </a:p>
        </p:txBody>
      </p:sp>
      <p:sp>
        <p:nvSpPr>
          <p:cNvPr id="58" name="Rectangle 57">
            <a:extLst>
              <a:ext uri="{FF2B5EF4-FFF2-40B4-BE49-F238E27FC236}">
                <a16:creationId xmlns:a16="http://schemas.microsoft.com/office/drawing/2014/main" id="{BE15658B-A3B4-45BE-898A-1D0105E756E3}"/>
              </a:ext>
            </a:extLst>
          </p:cNvPr>
          <p:cNvSpPr>
            <a:spLocks noGrp="1"/>
          </p:cNvSpPr>
          <p:nvPr/>
        </p:nvSpPr>
        <p:spPr>
          <a:xfrm>
            <a:off x="338328" y="4041648"/>
            <a:ext cx="1938528" cy="448056"/>
          </a:xfrm>
          <a:prstGeom prst="rect">
            <a:avLst/>
          </a:prstGeom>
          <a:no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Rectangle 58">
            <a:extLst>
              <a:ext uri="{FF2B5EF4-FFF2-40B4-BE49-F238E27FC236}">
                <a16:creationId xmlns:a16="http://schemas.microsoft.com/office/drawing/2014/main" id="{46B14A9F-B85B-4F2F-9455-09CA62775872}"/>
              </a:ext>
            </a:extLst>
          </p:cNvPr>
          <p:cNvSpPr>
            <a:spLocks noGrp="1"/>
          </p:cNvSpPr>
          <p:nvPr/>
        </p:nvSpPr>
        <p:spPr>
          <a:xfrm>
            <a:off x="2276856" y="4041648"/>
            <a:ext cx="465429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0" name="Rectangle 59">
            <a:extLst>
              <a:ext uri="{FF2B5EF4-FFF2-40B4-BE49-F238E27FC236}">
                <a16:creationId xmlns:a16="http://schemas.microsoft.com/office/drawing/2014/main" id="{1BCA7BFB-B41B-4A9E-905C-C626D2E343BB}"/>
              </a:ext>
            </a:extLst>
          </p:cNvPr>
          <p:cNvSpPr>
            <a:spLocks noGrp="1"/>
          </p:cNvSpPr>
          <p:nvPr/>
        </p:nvSpPr>
        <p:spPr>
          <a:xfrm>
            <a:off x="6931152" y="4041648"/>
            <a:ext cx="4791456" cy="448056"/>
          </a:xfrm>
          <a:prstGeom prst="rect">
            <a:avLst/>
          </a:prstGeom>
          <a:solidFill>
            <a:srgbClr val="FFFFFF"/>
          </a:solidFill>
          <a:ln w="1016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C40CD6CA-B841-4C7D-94A5-021022459E19}"/>
              </a:ext>
            </a:extLst>
          </p:cNvPr>
          <p:cNvSpPr>
            <a:spLocks noGrp="1"/>
          </p:cNvSpPr>
          <p:nvPr/>
        </p:nvSpPr>
        <p:spPr>
          <a:xfrm>
            <a:off x="429768" y="4041648"/>
            <a:ext cx="1801368" cy="448056"/>
          </a:xfrm>
          <a:prstGeom prst="rect">
            <a:avLst/>
          </a:prstGeom>
          <a:noFill/>
          <a:effectLst/>
        </p:spPr>
        <p:txBody>
          <a:bodyPr wrap="square" lIns="45720" tIns="0" rIns="45720" bIns="0" anchor="ctr">
            <a:spAutoFit/>
          </a:bodyPr>
          <a:lstStyle/>
          <a:p>
            <a:pPr algn="l">
              <a:buNone/>
            </a:pPr>
            <a:r>
              <a:rPr sz="1240" b="1">
                <a:solidFill>
                  <a:srgbClr val="121923"/>
                </a:solidFill>
                <a:latin typeface="IPAexGothic"/>
                <a:ea typeface="IPAexGothic"/>
                <a:cs typeface="IPAexGothic"/>
              </a:rPr>
              <a:t>SDK上の位置付け</a:t>
            </a:r>
          </a:p>
        </p:txBody>
      </p:sp>
      <p:sp>
        <p:nvSpPr>
          <p:cNvPr id="62" name="TextBox 61">
            <a:extLst>
              <a:ext uri="{FF2B5EF4-FFF2-40B4-BE49-F238E27FC236}">
                <a16:creationId xmlns:a16="http://schemas.microsoft.com/office/drawing/2014/main" id="{6B48947E-2A22-4FC6-8783-745E7EF9D690}"/>
              </a:ext>
            </a:extLst>
          </p:cNvPr>
          <p:cNvSpPr>
            <a:spLocks noGrp="1"/>
          </p:cNvSpPr>
          <p:nvPr/>
        </p:nvSpPr>
        <p:spPr>
          <a:xfrm>
            <a:off x="2404872" y="4073652"/>
            <a:ext cx="447141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入力検査専用のGuardrail</a:t>
            </a:r>
          </a:p>
        </p:txBody>
      </p:sp>
      <p:sp>
        <p:nvSpPr>
          <p:cNvPr id="63" name="TextBox 62">
            <a:extLst>
              <a:ext uri="{FF2B5EF4-FFF2-40B4-BE49-F238E27FC236}">
                <a16:creationId xmlns:a16="http://schemas.microsoft.com/office/drawing/2014/main" id="{C40738A1-8AE0-41B6-95D5-CE8D8E9C0CAF}"/>
              </a:ext>
            </a:extLst>
          </p:cNvPr>
          <p:cNvSpPr>
            <a:spLocks noGrp="1"/>
          </p:cNvSpPr>
          <p:nvPr/>
        </p:nvSpPr>
        <p:spPr>
          <a:xfrm>
            <a:off x="2404872" y="4229100"/>
            <a:ext cx="447141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Agentの安全性を高めるための専用機構</a:t>
            </a:r>
          </a:p>
        </p:txBody>
      </p:sp>
      <p:sp>
        <p:nvSpPr>
          <p:cNvPr id="64" name="TextBox 63">
            <a:extLst>
              <a:ext uri="{FF2B5EF4-FFF2-40B4-BE49-F238E27FC236}">
                <a16:creationId xmlns:a16="http://schemas.microsoft.com/office/drawing/2014/main" id="{B49EB059-A9D2-4B4F-A0FE-77BD78FE0B45}"/>
              </a:ext>
            </a:extLst>
          </p:cNvPr>
          <p:cNvSpPr>
            <a:spLocks noGrp="1"/>
          </p:cNvSpPr>
          <p:nvPr/>
        </p:nvSpPr>
        <p:spPr>
          <a:xfrm>
            <a:off x="7059168" y="4073652"/>
            <a:ext cx="4608576" cy="155448"/>
          </a:xfrm>
          <a:prstGeom prst="rect">
            <a:avLst/>
          </a:prstGeom>
          <a:noFill/>
          <a:effectLst/>
        </p:spPr>
        <p:txBody>
          <a:bodyPr wrap="square" lIns="45720" tIns="0" rIns="45720" bIns="0" anchor="ctr">
            <a:spAutoFit/>
          </a:bodyPr>
          <a:lstStyle/>
          <a:p>
            <a:pPr algn="l">
              <a:buNone/>
            </a:pPr>
            <a:r>
              <a:rPr sz="1310" b="1">
                <a:solidFill>
                  <a:srgbClr val="0B3691"/>
                </a:solidFill>
                <a:latin typeface="IPAexGothic"/>
                <a:ea typeface="IPAexGothic"/>
                <a:cs typeface="IPAexGothic"/>
              </a:rPr>
              <a:t>汎用Lifecycle Hookの一種</a:t>
            </a:r>
          </a:p>
        </p:txBody>
      </p:sp>
      <p:sp>
        <p:nvSpPr>
          <p:cNvPr id="65" name="TextBox 64">
            <a:extLst>
              <a:ext uri="{FF2B5EF4-FFF2-40B4-BE49-F238E27FC236}">
                <a16:creationId xmlns:a16="http://schemas.microsoft.com/office/drawing/2014/main" id="{B58014CE-A287-49AD-8265-D64B905F6343}"/>
              </a:ext>
            </a:extLst>
          </p:cNvPr>
          <p:cNvSpPr>
            <a:spLocks noGrp="1"/>
          </p:cNvSpPr>
          <p:nvPr/>
        </p:nvSpPr>
        <p:spPr>
          <a:xfrm>
            <a:off x="7059168" y="4229100"/>
            <a:ext cx="4608576" cy="246888"/>
          </a:xfrm>
          <a:prstGeom prst="rect">
            <a:avLst/>
          </a:prstGeom>
          <a:noFill/>
          <a:effectLst/>
        </p:spPr>
        <p:txBody>
          <a:bodyPr wrap="square" lIns="45720" tIns="0" rIns="45720" bIns="0" anchor="ctr">
            <a:spAutoFit/>
          </a:bodyPr>
          <a:lstStyle/>
          <a:p>
            <a:pPr algn="l">
              <a:buNone/>
            </a:pPr>
            <a:r>
              <a:rPr sz="1040" b="0">
                <a:solidFill>
                  <a:srgbClr val="121923"/>
                </a:solidFill>
                <a:latin typeface="IPAexGothic"/>
                <a:ea typeface="IPAexGothic"/>
                <a:cs typeface="IPAexGothic"/>
              </a:rPr>
              <a:t>その他のHookと同じ枠組みで利用</a:t>
            </a:r>
          </a:p>
        </p:txBody>
      </p:sp>
      <p:sp>
        <p:nvSpPr>
          <p:cNvPr id="66" name="TextBox 65">
            <a:extLst>
              <a:ext uri="{FF2B5EF4-FFF2-40B4-BE49-F238E27FC236}">
                <a16:creationId xmlns:a16="http://schemas.microsoft.com/office/drawing/2014/main" id="{3177B9EB-A6AB-47A1-A2AA-883481A70CD1}"/>
              </a:ext>
            </a:extLst>
          </p:cNvPr>
          <p:cNvSpPr>
            <a:spLocks noGrp="1"/>
          </p:cNvSpPr>
          <p:nvPr/>
        </p:nvSpPr>
        <p:spPr>
          <a:xfrm>
            <a:off x="338328" y="4599432"/>
            <a:ext cx="2103120" cy="228600"/>
          </a:xfrm>
          <a:prstGeom prst="rect">
            <a:avLst/>
          </a:prstGeom>
          <a:noFill/>
          <a:effectLst/>
        </p:spPr>
        <p:txBody>
          <a:bodyPr wrap="square" lIns="45720" tIns="0" rIns="45720" bIns="0" anchor="ctr">
            <a:spAutoFit/>
          </a:bodyPr>
          <a:lstStyle/>
          <a:p>
            <a:pPr algn="l">
              <a:buNone/>
            </a:pPr>
            <a:r>
              <a:rPr sz="1420" b="1">
                <a:solidFill>
                  <a:srgbClr val="0B3691"/>
                </a:solidFill>
                <a:latin typeface="IPAexGothic"/>
                <a:ea typeface="IPAexGothic"/>
                <a:cs typeface="IPAexGothic"/>
              </a:rPr>
              <a:t>処理の流れ（イメージ）</a:t>
            </a:r>
          </a:p>
        </p:txBody>
      </p:sp>
      <p:sp>
        <p:nvSpPr>
          <p:cNvPr id="67" name="Rounded Rectangle 66">
            <a:extLst>
              <a:ext uri="{FF2B5EF4-FFF2-40B4-BE49-F238E27FC236}">
                <a16:creationId xmlns:a16="http://schemas.microsoft.com/office/drawing/2014/main" id="{428F4C27-ED33-4B81-BA41-4FB5923C680C}"/>
              </a:ext>
            </a:extLst>
          </p:cNvPr>
          <p:cNvSpPr>
            <a:spLocks noGrp="1"/>
          </p:cNvSpPr>
          <p:nvPr/>
        </p:nvSpPr>
        <p:spPr>
          <a:xfrm>
            <a:off x="338328" y="4828032"/>
            <a:ext cx="3264408" cy="1225296"/>
          </a:xfrm>
          <a:prstGeom prst="roundRect">
            <a:avLst>
              <a:gd name="adj" fmla="val 12000"/>
            </a:avLst>
          </a:prstGeom>
          <a:solidFill>
            <a:srgbClr val="FFFFFF"/>
          </a:solidFill>
          <a:ln w="1270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Rectangle 67">
            <a:extLst>
              <a:ext uri="{FF2B5EF4-FFF2-40B4-BE49-F238E27FC236}">
                <a16:creationId xmlns:a16="http://schemas.microsoft.com/office/drawing/2014/main" id="{28D2621D-6807-437F-B36C-D857D7BF0F68}"/>
              </a:ext>
            </a:extLst>
          </p:cNvPr>
          <p:cNvSpPr>
            <a:spLocks noGrp="1"/>
          </p:cNvSpPr>
          <p:nvPr/>
        </p:nvSpPr>
        <p:spPr>
          <a:xfrm>
            <a:off x="338328" y="4828032"/>
            <a:ext cx="3264408" cy="219456"/>
          </a:xfrm>
          <a:prstGeom prst="rect">
            <a:avLst/>
          </a:prstGeom>
          <a:solidFill>
            <a:srgbClr val="EEF2F7"/>
          </a:solidFill>
          <a:ln>
            <a:solidFill>
              <a:srgbClr val="0B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TextBox 68">
            <a:extLst>
              <a:ext uri="{FF2B5EF4-FFF2-40B4-BE49-F238E27FC236}">
                <a16:creationId xmlns:a16="http://schemas.microsoft.com/office/drawing/2014/main" id="{055CD560-CD60-4F95-9095-88455FCD5DBA}"/>
              </a:ext>
            </a:extLst>
          </p:cNvPr>
          <p:cNvSpPr>
            <a:spLocks noGrp="1"/>
          </p:cNvSpPr>
          <p:nvPr/>
        </p:nvSpPr>
        <p:spPr>
          <a:xfrm>
            <a:off x="338328" y="4828032"/>
            <a:ext cx="3264408" cy="219456"/>
          </a:xfrm>
          <a:prstGeom prst="rect">
            <a:avLst/>
          </a:prstGeom>
          <a:noFill/>
          <a:effectLst/>
        </p:spPr>
        <p:txBody>
          <a:bodyPr wrap="square" lIns="45720" tIns="0" rIns="45720" bIns="0" anchor="ctr">
            <a:spAutoFit/>
          </a:bodyPr>
          <a:lstStyle/>
          <a:p>
            <a:pPr algn="ctr">
              <a:buNone/>
            </a:pPr>
            <a:r>
              <a:rPr sz="1210" b="1">
                <a:solidFill>
                  <a:srgbClr val="0B3691"/>
                </a:solidFill>
                <a:latin typeface="IPAexGothic"/>
                <a:ea typeface="IPAexGothic"/>
                <a:cs typeface="IPAexGothic"/>
              </a:rPr>
              <a:t>OpenAI Agents SDK</a:t>
            </a:r>
          </a:p>
        </p:txBody>
      </p:sp>
      <p:sp>
        <p:nvSpPr>
          <p:cNvPr id="70" name="Rounded Rectangle 69">
            <a:extLst>
              <a:ext uri="{FF2B5EF4-FFF2-40B4-BE49-F238E27FC236}">
                <a16:creationId xmlns:a16="http://schemas.microsoft.com/office/drawing/2014/main" id="{323AEE26-3638-4CBE-BA71-3630B92EA4E5}"/>
              </a:ext>
            </a:extLst>
          </p:cNvPr>
          <p:cNvSpPr>
            <a:spLocks noGrp="1"/>
          </p:cNvSpPr>
          <p:nvPr/>
        </p:nvSpPr>
        <p:spPr>
          <a:xfrm>
            <a:off x="457200" y="5111496"/>
            <a:ext cx="3008376" cy="292608"/>
          </a:xfrm>
          <a:prstGeom prst="roundRect">
            <a:avLst>
              <a:gd name="adj" fmla="val 12000"/>
            </a:avLst>
          </a:prstGeom>
          <a:solidFill>
            <a:srgbClr val="FFFFFF"/>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TextBox 70">
            <a:extLst>
              <a:ext uri="{FF2B5EF4-FFF2-40B4-BE49-F238E27FC236}">
                <a16:creationId xmlns:a16="http://schemas.microsoft.com/office/drawing/2014/main" id="{55DD6147-18BD-4E9E-AFA5-D097DAEDDF36}"/>
              </a:ext>
            </a:extLst>
          </p:cNvPr>
          <p:cNvSpPr>
            <a:spLocks noGrp="1"/>
          </p:cNvSpPr>
          <p:nvPr/>
        </p:nvSpPr>
        <p:spPr>
          <a:xfrm>
            <a:off x="530352" y="5116068"/>
            <a:ext cx="2889504" cy="274320"/>
          </a:xfrm>
          <a:prstGeom prst="rect">
            <a:avLst/>
          </a:prstGeom>
          <a:noFill/>
          <a:effectLst/>
        </p:spPr>
        <p:txBody>
          <a:bodyPr wrap="square" lIns="45720" tIns="0" rIns="45720" bIns="0" anchor="ctr">
            <a:spAutoFit/>
          </a:bodyPr>
          <a:lstStyle/>
          <a:p>
            <a:pPr algn="ctr">
              <a:buNone/>
            </a:pPr>
            <a:r>
              <a:rPr sz="1110" b="1">
                <a:solidFill>
                  <a:srgbClr val="121923"/>
                </a:solidFill>
                <a:latin typeface="IPAexGothic"/>
                <a:ea typeface="IPAexGothic"/>
                <a:cs typeface="IPAexGothic"/>
              </a:rPr>
              <a:t>User Input → Input Guardrail → Agent実行</a:t>
            </a:r>
          </a:p>
        </p:txBody>
      </p:sp>
      <p:sp>
        <p:nvSpPr>
          <p:cNvPr id="72" name="TextBox 71">
            <a:extLst>
              <a:ext uri="{FF2B5EF4-FFF2-40B4-BE49-F238E27FC236}">
                <a16:creationId xmlns:a16="http://schemas.microsoft.com/office/drawing/2014/main" id="{582D3F10-7874-4EAE-9F69-79A2ECEF12BB}"/>
              </a:ext>
            </a:extLst>
          </p:cNvPr>
          <p:cNvSpPr>
            <a:spLocks noGrp="1"/>
          </p:cNvSpPr>
          <p:nvPr/>
        </p:nvSpPr>
        <p:spPr>
          <a:xfrm>
            <a:off x="1801368" y="5404104"/>
            <a:ext cx="109728" cy="146304"/>
          </a:xfrm>
          <a:prstGeom prst="rect">
            <a:avLst/>
          </a:prstGeom>
          <a:noFill/>
          <a:effectLst/>
        </p:spPr>
        <p:txBody>
          <a:bodyPr wrap="square" lIns="45720" tIns="0" rIns="45720" bIns="0" anchor="ctr">
            <a:spAutoFit/>
          </a:bodyPr>
          <a:lstStyle/>
          <a:p>
            <a:pPr algn="ctr">
              <a:buNone/>
            </a:pPr>
            <a:r>
              <a:rPr sz="1600" b="1">
                <a:solidFill>
                  <a:srgbClr val="0B3691"/>
                </a:solidFill>
                <a:latin typeface="IPAexGothic"/>
                <a:ea typeface="IPAexGothic"/>
                <a:cs typeface="IPAexGothic"/>
              </a:rPr>
              <a:t>↓</a:t>
            </a:r>
          </a:p>
        </p:txBody>
      </p:sp>
      <p:sp>
        <p:nvSpPr>
          <p:cNvPr id="73" name="Rounded Rectangle 72">
            <a:extLst>
              <a:ext uri="{FF2B5EF4-FFF2-40B4-BE49-F238E27FC236}">
                <a16:creationId xmlns:a16="http://schemas.microsoft.com/office/drawing/2014/main" id="{C104D80D-6E70-4590-8D03-1F8C5EB00648}"/>
              </a:ext>
            </a:extLst>
          </p:cNvPr>
          <p:cNvSpPr>
            <a:spLocks noGrp="1"/>
          </p:cNvSpPr>
          <p:nvPr/>
        </p:nvSpPr>
        <p:spPr>
          <a:xfrm>
            <a:off x="457200" y="5614416"/>
            <a:ext cx="3008376" cy="329184"/>
          </a:xfrm>
          <a:prstGeom prst="roundRect">
            <a:avLst>
              <a:gd name="adj" fmla="val 12000"/>
            </a:avLst>
          </a:prstGeom>
          <a:solidFill>
            <a:srgbClr val="FFFFFF"/>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4" name="TextBox 73">
            <a:extLst>
              <a:ext uri="{FF2B5EF4-FFF2-40B4-BE49-F238E27FC236}">
                <a16:creationId xmlns:a16="http://schemas.microsoft.com/office/drawing/2014/main" id="{064ED13B-C10E-400C-A4D0-B9021D4C98EF}"/>
              </a:ext>
            </a:extLst>
          </p:cNvPr>
          <p:cNvSpPr>
            <a:spLocks noGrp="1"/>
          </p:cNvSpPr>
          <p:nvPr/>
        </p:nvSpPr>
        <p:spPr>
          <a:xfrm>
            <a:off x="530352" y="5623560"/>
            <a:ext cx="2889504" cy="301752"/>
          </a:xfrm>
          <a:prstGeom prst="rect">
            <a:avLst/>
          </a:prstGeom>
          <a:noFill/>
          <a:effectLst/>
        </p:spPr>
        <p:txBody>
          <a:bodyPr wrap="square" lIns="45720" tIns="0" rIns="45720" bIns="0" anchor="ctr">
            <a:spAutoFit/>
          </a:bodyPr>
          <a:lstStyle/>
          <a:p>
            <a:pPr algn="ctr">
              <a:buNone/>
            </a:pPr>
            <a:r>
              <a:rPr sz="1100" b="1">
                <a:solidFill>
                  <a:srgbClr val="121923"/>
                </a:solidFill>
                <a:latin typeface="IPAexGothic"/>
                <a:ea typeface="IPAexGothic"/>
                <a:cs typeface="IPAexGothic"/>
              </a:rPr>
              <a:t>違反あり → Tripwire発火 → Agent実行を停止</a:t>
            </a:r>
          </a:p>
        </p:txBody>
      </p:sp>
      <p:sp>
        <p:nvSpPr>
          <p:cNvPr id="75" name="Rounded Rectangle 74">
            <a:extLst>
              <a:ext uri="{FF2B5EF4-FFF2-40B4-BE49-F238E27FC236}">
                <a16:creationId xmlns:a16="http://schemas.microsoft.com/office/drawing/2014/main" id="{2FFC8818-D13C-4658-A1DB-FA3715632E1C}"/>
              </a:ext>
            </a:extLst>
          </p:cNvPr>
          <p:cNvSpPr>
            <a:spLocks noGrp="1"/>
          </p:cNvSpPr>
          <p:nvPr/>
        </p:nvSpPr>
        <p:spPr>
          <a:xfrm>
            <a:off x="3767328" y="4828032"/>
            <a:ext cx="3264408" cy="1225296"/>
          </a:xfrm>
          <a:prstGeom prst="roundRect">
            <a:avLst>
              <a:gd name="adj" fmla="val 12000"/>
            </a:avLst>
          </a:prstGeom>
          <a:solidFill>
            <a:srgbClr val="FFFFFF"/>
          </a:solidFill>
          <a:ln w="1270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6" name="Rectangle 75">
            <a:extLst>
              <a:ext uri="{FF2B5EF4-FFF2-40B4-BE49-F238E27FC236}">
                <a16:creationId xmlns:a16="http://schemas.microsoft.com/office/drawing/2014/main" id="{4933EB4A-092D-484D-A54E-F79440965EFE}"/>
              </a:ext>
            </a:extLst>
          </p:cNvPr>
          <p:cNvSpPr>
            <a:spLocks noGrp="1"/>
          </p:cNvSpPr>
          <p:nvPr/>
        </p:nvSpPr>
        <p:spPr>
          <a:xfrm>
            <a:off x="3767328" y="4828032"/>
            <a:ext cx="3264408" cy="219456"/>
          </a:xfrm>
          <a:prstGeom prst="rect">
            <a:avLst/>
          </a:prstGeom>
          <a:solidFill>
            <a:srgbClr val="EEF2F7"/>
          </a:solidFill>
          <a:ln>
            <a:solidFill>
              <a:srgbClr val="0B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7" name="TextBox 76">
            <a:extLst>
              <a:ext uri="{FF2B5EF4-FFF2-40B4-BE49-F238E27FC236}">
                <a16:creationId xmlns:a16="http://schemas.microsoft.com/office/drawing/2014/main" id="{951CFFF7-FA85-45EB-B14A-033E3D88E52A}"/>
              </a:ext>
            </a:extLst>
          </p:cNvPr>
          <p:cNvSpPr>
            <a:spLocks noGrp="1"/>
          </p:cNvSpPr>
          <p:nvPr/>
        </p:nvSpPr>
        <p:spPr>
          <a:xfrm>
            <a:off x="3767328" y="4828032"/>
            <a:ext cx="3264408" cy="219456"/>
          </a:xfrm>
          <a:prstGeom prst="rect">
            <a:avLst/>
          </a:prstGeom>
          <a:noFill/>
          <a:effectLst/>
        </p:spPr>
        <p:txBody>
          <a:bodyPr wrap="square" lIns="45720" tIns="0" rIns="45720" bIns="0" anchor="ctr">
            <a:spAutoFit/>
          </a:bodyPr>
          <a:lstStyle/>
          <a:p>
            <a:pPr algn="ctr">
              <a:buNone/>
            </a:pPr>
            <a:r>
              <a:rPr sz="1210" b="1">
                <a:solidFill>
                  <a:srgbClr val="0B3691"/>
                </a:solidFill>
                <a:latin typeface="IPAexGothic"/>
                <a:ea typeface="IPAexGothic"/>
                <a:cs typeface="IPAexGothic"/>
              </a:rPr>
              <a:t>Claude Agent SDK</a:t>
            </a:r>
          </a:p>
        </p:txBody>
      </p:sp>
      <p:sp>
        <p:nvSpPr>
          <p:cNvPr id="78" name="Rounded Rectangle 77">
            <a:extLst>
              <a:ext uri="{FF2B5EF4-FFF2-40B4-BE49-F238E27FC236}">
                <a16:creationId xmlns:a16="http://schemas.microsoft.com/office/drawing/2014/main" id="{FF6CF48A-1C6B-4D5D-AFCB-9EA07699BEE2}"/>
              </a:ext>
            </a:extLst>
          </p:cNvPr>
          <p:cNvSpPr>
            <a:spLocks noGrp="1"/>
          </p:cNvSpPr>
          <p:nvPr/>
        </p:nvSpPr>
        <p:spPr>
          <a:xfrm>
            <a:off x="3886200" y="5111496"/>
            <a:ext cx="3008376" cy="292608"/>
          </a:xfrm>
          <a:prstGeom prst="roundRect">
            <a:avLst>
              <a:gd name="adj" fmla="val 12000"/>
            </a:avLst>
          </a:prstGeom>
          <a:solidFill>
            <a:srgbClr val="FFFFFF"/>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9" name="TextBox 78">
            <a:extLst>
              <a:ext uri="{FF2B5EF4-FFF2-40B4-BE49-F238E27FC236}">
                <a16:creationId xmlns:a16="http://schemas.microsoft.com/office/drawing/2014/main" id="{BB266BA5-7F72-4EC7-9CB5-75428A856849}"/>
              </a:ext>
            </a:extLst>
          </p:cNvPr>
          <p:cNvSpPr>
            <a:spLocks noGrp="1"/>
          </p:cNvSpPr>
          <p:nvPr/>
        </p:nvSpPr>
        <p:spPr>
          <a:xfrm>
            <a:off x="3959352" y="5116068"/>
            <a:ext cx="2889504" cy="274320"/>
          </a:xfrm>
          <a:prstGeom prst="rect">
            <a:avLst/>
          </a:prstGeom>
          <a:noFill/>
          <a:effectLst/>
        </p:spPr>
        <p:txBody>
          <a:bodyPr wrap="square" lIns="45720" tIns="0" rIns="45720" bIns="0" anchor="ctr">
            <a:spAutoFit/>
          </a:bodyPr>
          <a:lstStyle/>
          <a:p>
            <a:pPr algn="ctr">
              <a:buNone/>
            </a:pPr>
            <a:r>
              <a:rPr sz="1060" b="1">
                <a:solidFill>
                  <a:srgbClr val="121923"/>
                </a:solidFill>
                <a:latin typeface="IPAexGothic"/>
                <a:ea typeface="IPAexGothic"/>
                <a:cs typeface="IPAexGothic"/>
              </a:rPr>
              <a:t>User Input → UserPromptSubmit → Claude実行</a:t>
            </a:r>
          </a:p>
        </p:txBody>
      </p:sp>
      <p:sp>
        <p:nvSpPr>
          <p:cNvPr id="80" name="TextBox 79">
            <a:extLst>
              <a:ext uri="{FF2B5EF4-FFF2-40B4-BE49-F238E27FC236}">
                <a16:creationId xmlns:a16="http://schemas.microsoft.com/office/drawing/2014/main" id="{A569A26B-CCFC-4974-8268-0913E644C560}"/>
              </a:ext>
            </a:extLst>
          </p:cNvPr>
          <p:cNvSpPr>
            <a:spLocks noGrp="1"/>
          </p:cNvSpPr>
          <p:nvPr/>
        </p:nvSpPr>
        <p:spPr>
          <a:xfrm>
            <a:off x="5230368" y="5404104"/>
            <a:ext cx="109728" cy="146304"/>
          </a:xfrm>
          <a:prstGeom prst="rect">
            <a:avLst/>
          </a:prstGeom>
          <a:noFill/>
          <a:effectLst/>
        </p:spPr>
        <p:txBody>
          <a:bodyPr wrap="square" lIns="45720" tIns="0" rIns="45720" bIns="0" anchor="ctr">
            <a:spAutoFit/>
          </a:bodyPr>
          <a:lstStyle/>
          <a:p>
            <a:pPr algn="ctr">
              <a:buNone/>
            </a:pPr>
            <a:r>
              <a:rPr sz="1600" b="1">
                <a:solidFill>
                  <a:srgbClr val="0B3691"/>
                </a:solidFill>
                <a:latin typeface="IPAexGothic"/>
                <a:ea typeface="IPAexGothic"/>
                <a:cs typeface="IPAexGothic"/>
              </a:rPr>
              <a:t>↓</a:t>
            </a:r>
          </a:p>
        </p:txBody>
      </p:sp>
      <p:sp>
        <p:nvSpPr>
          <p:cNvPr id="81" name="Rounded Rectangle 80">
            <a:extLst>
              <a:ext uri="{FF2B5EF4-FFF2-40B4-BE49-F238E27FC236}">
                <a16:creationId xmlns:a16="http://schemas.microsoft.com/office/drawing/2014/main" id="{78552283-599D-459D-8847-80B40BAB9E69}"/>
              </a:ext>
            </a:extLst>
          </p:cNvPr>
          <p:cNvSpPr>
            <a:spLocks noGrp="1"/>
          </p:cNvSpPr>
          <p:nvPr/>
        </p:nvSpPr>
        <p:spPr>
          <a:xfrm>
            <a:off x="3886200" y="5614416"/>
            <a:ext cx="3008376" cy="329184"/>
          </a:xfrm>
          <a:prstGeom prst="roundRect">
            <a:avLst>
              <a:gd name="adj" fmla="val 12000"/>
            </a:avLst>
          </a:prstGeom>
          <a:solidFill>
            <a:srgbClr val="FFFFFF"/>
          </a:solidFill>
          <a:ln w="1143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2" name="TextBox 81">
            <a:extLst>
              <a:ext uri="{FF2B5EF4-FFF2-40B4-BE49-F238E27FC236}">
                <a16:creationId xmlns:a16="http://schemas.microsoft.com/office/drawing/2014/main" id="{A17CC873-0D06-488E-9D3B-5895F7B84780}"/>
              </a:ext>
            </a:extLst>
          </p:cNvPr>
          <p:cNvSpPr>
            <a:spLocks noGrp="1"/>
          </p:cNvSpPr>
          <p:nvPr/>
        </p:nvSpPr>
        <p:spPr>
          <a:xfrm>
            <a:off x="3959352" y="5623560"/>
            <a:ext cx="2889504" cy="301752"/>
          </a:xfrm>
          <a:prstGeom prst="rect">
            <a:avLst/>
          </a:prstGeom>
          <a:noFill/>
          <a:effectLst/>
        </p:spPr>
        <p:txBody>
          <a:bodyPr wrap="square" lIns="45720" tIns="0" rIns="45720" bIns="0" anchor="ctr">
            <a:spAutoFit/>
          </a:bodyPr>
          <a:lstStyle/>
          <a:p>
            <a:pPr algn="ctr">
              <a:buNone/>
            </a:pPr>
            <a:r>
              <a:rPr sz="1110" b="1">
                <a:solidFill>
                  <a:srgbClr val="121923"/>
                </a:solidFill>
                <a:latin typeface="IPAexGothic"/>
                <a:ea typeface="IPAexGothic"/>
                <a:cs typeface="IPAexGothic"/>
              </a:rPr>
              <a:t>違反あり → Hook処理で中断</a:t>
            </a:r>
          </a:p>
        </p:txBody>
      </p:sp>
      <p:sp>
        <p:nvSpPr>
          <p:cNvPr id="83" name="Rounded Rectangle 82">
            <a:extLst>
              <a:ext uri="{FF2B5EF4-FFF2-40B4-BE49-F238E27FC236}">
                <a16:creationId xmlns:a16="http://schemas.microsoft.com/office/drawing/2014/main" id="{E67FEC4B-A835-4FB9-AC61-BA37534AC995}"/>
              </a:ext>
            </a:extLst>
          </p:cNvPr>
          <p:cNvSpPr>
            <a:spLocks noGrp="1"/>
          </p:cNvSpPr>
          <p:nvPr/>
        </p:nvSpPr>
        <p:spPr>
          <a:xfrm>
            <a:off x="7150608" y="4626864"/>
            <a:ext cx="4544568" cy="1399032"/>
          </a:xfrm>
          <a:prstGeom prst="roundRect">
            <a:avLst>
              <a:gd name="adj" fmla="val 12000"/>
            </a:avLst>
          </a:prstGeom>
          <a:solidFill>
            <a:srgbClr val="FFFFFF"/>
          </a:solidFill>
          <a:ln w="1270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TextBox 83">
            <a:extLst>
              <a:ext uri="{FF2B5EF4-FFF2-40B4-BE49-F238E27FC236}">
                <a16:creationId xmlns:a16="http://schemas.microsoft.com/office/drawing/2014/main" id="{822A161D-A27C-400A-BF41-B605ABB1CC8C}"/>
              </a:ext>
            </a:extLst>
          </p:cNvPr>
          <p:cNvSpPr>
            <a:spLocks noGrp="1"/>
          </p:cNvSpPr>
          <p:nvPr/>
        </p:nvSpPr>
        <p:spPr>
          <a:xfrm>
            <a:off x="7260336" y="4663440"/>
            <a:ext cx="914400" cy="201168"/>
          </a:xfrm>
          <a:prstGeom prst="rect">
            <a:avLst/>
          </a:prstGeom>
          <a:noFill/>
          <a:effectLst/>
        </p:spPr>
        <p:txBody>
          <a:bodyPr wrap="square" lIns="45720" tIns="0" rIns="45720" bIns="0" anchor="ctr">
            <a:spAutoFit/>
          </a:bodyPr>
          <a:lstStyle/>
          <a:p>
            <a:pPr algn="l">
              <a:buNone/>
            </a:pPr>
            <a:r>
              <a:rPr sz="1400" b="1">
                <a:solidFill>
                  <a:srgbClr val="0B3691"/>
                </a:solidFill>
                <a:latin typeface="IPAexGothic"/>
                <a:ea typeface="IPAexGothic"/>
                <a:cs typeface="IPAexGothic"/>
              </a:rPr>
              <a:t>ポイント</a:t>
            </a:r>
          </a:p>
        </p:txBody>
      </p:sp>
      <p:sp>
        <p:nvSpPr>
          <p:cNvPr id="85" name="TextBox 84">
            <a:extLst>
              <a:ext uri="{FF2B5EF4-FFF2-40B4-BE49-F238E27FC236}">
                <a16:creationId xmlns:a16="http://schemas.microsoft.com/office/drawing/2014/main" id="{B19FD396-52B2-4735-8BA2-AFFC1F082487}"/>
              </a:ext>
            </a:extLst>
          </p:cNvPr>
          <p:cNvSpPr>
            <a:spLocks noGrp="1"/>
          </p:cNvSpPr>
          <p:nvPr/>
        </p:nvSpPr>
        <p:spPr>
          <a:xfrm>
            <a:off x="7269480" y="4892040"/>
            <a:ext cx="4343400" cy="201168"/>
          </a:xfrm>
          <a:prstGeom prst="rect">
            <a:avLst/>
          </a:prstGeom>
          <a:noFill/>
          <a:effectLst/>
        </p:spPr>
        <p:txBody>
          <a:bodyPr wrap="square" lIns="45720" tIns="0" rIns="45720" bIns="0" anchor="ctr">
            <a:spAutoFit/>
          </a:bodyPr>
          <a:lstStyle/>
          <a:p>
            <a:pPr algn="l">
              <a:buNone/>
            </a:pPr>
            <a:r>
              <a:rPr sz="1050" b="0">
                <a:solidFill>
                  <a:srgbClr val="121923"/>
                </a:solidFill>
                <a:latin typeface="IPAexGothic"/>
                <a:ea typeface="IPAexGothic"/>
                <a:cs typeface="IPAexGothic"/>
              </a:rPr>
              <a:t>・  入力検査を最初に行うことで，危険な依頼や不正な入力を早期に遮断できる．</a:t>
            </a:r>
          </a:p>
        </p:txBody>
      </p:sp>
      <p:sp>
        <p:nvSpPr>
          <p:cNvPr id="86" name="TextBox 85">
            <a:extLst>
              <a:ext uri="{FF2B5EF4-FFF2-40B4-BE49-F238E27FC236}">
                <a16:creationId xmlns:a16="http://schemas.microsoft.com/office/drawing/2014/main" id="{1188B794-D2D2-4FCF-A3F0-7938B96DDC47}"/>
              </a:ext>
            </a:extLst>
          </p:cNvPr>
          <p:cNvSpPr>
            <a:spLocks noGrp="1"/>
          </p:cNvSpPr>
          <p:nvPr/>
        </p:nvSpPr>
        <p:spPr>
          <a:xfrm>
            <a:off x="7269480" y="5148072"/>
            <a:ext cx="4343400" cy="201168"/>
          </a:xfrm>
          <a:prstGeom prst="rect">
            <a:avLst/>
          </a:prstGeom>
          <a:noFill/>
          <a:effectLst/>
        </p:spPr>
        <p:txBody>
          <a:bodyPr wrap="square" lIns="45720" tIns="0" rIns="45720" bIns="0" anchor="ctr">
            <a:spAutoFit/>
          </a:bodyPr>
          <a:lstStyle/>
          <a:p>
            <a:pPr algn="l">
              <a:buNone/>
            </a:pPr>
            <a:r>
              <a:rPr sz="1050" b="0">
                <a:solidFill>
                  <a:srgbClr val="121923"/>
                </a:solidFill>
                <a:latin typeface="IPAexGothic"/>
                <a:ea typeface="IPAexGothic"/>
                <a:cs typeface="IPAexGothic"/>
              </a:rPr>
              <a:t>・  OpenAIはGuardrailとして明示的に入力検査をモデル化している．</a:t>
            </a:r>
          </a:p>
        </p:txBody>
      </p:sp>
      <p:sp>
        <p:nvSpPr>
          <p:cNvPr id="87" name="TextBox 86">
            <a:extLst>
              <a:ext uri="{FF2B5EF4-FFF2-40B4-BE49-F238E27FC236}">
                <a16:creationId xmlns:a16="http://schemas.microsoft.com/office/drawing/2014/main" id="{99E0CCC0-CED8-4BF0-A5E7-B42A5DCB6DD1}"/>
              </a:ext>
            </a:extLst>
          </p:cNvPr>
          <p:cNvSpPr>
            <a:spLocks noGrp="1"/>
          </p:cNvSpPr>
          <p:nvPr/>
        </p:nvSpPr>
        <p:spPr>
          <a:xfrm>
            <a:off x="7269480" y="5404104"/>
            <a:ext cx="4343400" cy="201168"/>
          </a:xfrm>
          <a:prstGeom prst="rect">
            <a:avLst/>
          </a:prstGeom>
          <a:noFill/>
          <a:effectLst/>
        </p:spPr>
        <p:txBody>
          <a:bodyPr wrap="square" lIns="45720" tIns="0" rIns="45720" bIns="0" anchor="ctr">
            <a:spAutoFit/>
          </a:bodyPr>
          <a:lstStyle/>
          <a:p>
            <a:pPr algn="l">
              <a:buNone/>
            </a:pPr>
            <a:r>
              <a:rPr sz="1050" b="0">
                <a:solidFill>
                  <a:srgbClr val="121923"/>
                </a:solidFill>
                <a:latin typeface="IPAexGothic"/>
                <a:ea typeface="IPAexGothic"/>
                <a:cs typeface="IPAexGothic"/>
              </a:rPr>
              <a:t>・  ClaudeはHookの一地点として柔軟に検査処理を組み込める．</a:t>
            </a:r>
          </a:p>
        </p:txBody>
      </p:sp>
      <p:sp>
        <p:nvSpPr>
          <p:cNvPr id="88" name="TextBox 87">
            <a:extLst>
              <a:ext uri="{FF2B5EF4-FFF2-40B4-BE49-F238E27FC236}">
                <a16:creationId xmlns:a16="http://schemas.microsoft.com/office/drawing/2014/main" id="{03F8659A-0CF4-400D-AD84-76E8B384A592}"/>
              </a:ext>
            </a:extLst>
          </p:cNvPr>
          <p:cNvSpPr>
            <a:spLocks noGrp="1"/>
          </p:cNvSpPr>
          <p:nvPr/>
        </p:nvSpPr>
        <p:spPr>
          <a:xfrm>
            <a:off x="7269480" y="5660136"/>
            <a:ext cx="4343400" cy="201168"/>
          </a:xfrm>
          <a:prstGeom prst="rect">
            <a:avLst/>
          </a:prstGeom>
          <a:noFill/>
          <a:effectLst/>
        </p:spPr>
        <p:txBody>
          <a:bodyPr wrap="square" lIns="45720" tIns="0" rIns="45720" bIns="0" anchor="ctr">
            <a:spAutoFit/>
          </a:bodyPr>
          <a:lstStyle/>
          <a:p>
            <a:pPr algn="l">
              <a:buNone/>
            </a:pPr>
            <a:r>
              <a:rPr sz="1050" b="0">
                <a:solidFill>
                  <a:srgbClr val="121923"/>
                </a:solidFill>
                <a:latin typeface="IPAexGothic"/>
                <a:ea typeface="IPAexGothic"/>
                <a:cs typeface="IPAexGothic"/>
              </a:rPr>
              <a:t>・  どちらも入力の安全性を高めるための重要な第一防衛ラインである．</a:t>
            </a:r>
          </a:p>
        </p:txBody>
      </p:sp>
      <p:sp>
        <p:nvSpPr>
          <p:cNvPr id="89" name="Rounded Rectangle 88">
            <a:extLst>
              <a:ext uri="{FF2B5EF4-FFF2-40B4-BE49-F238E27FC236}">
                <a16:creationId xmlns:a16="http://schemas.microsoft.com/office/drawing/2014/main" id="{1A8FF375-612B-43BA-9ECF-8FEFA272FE16}"/>
              </a:ext>
            </a:extLst>
          </p:cNvPr>
          <p:cNvSpPr>
            <a:spLocks noGrp="1"/>
          </p:cNvSpPr>
          <p:nvPr/>
        </p:nvSpPr>
        <p:spPr>
          <a:xfrm>
            <a:off x="338328" y="6190488"/>
            <a:ext cx="11375136" cy="512064"/>
          </a:xfrm>
          <a:prstGeom prst="roundRect">
            <a:avLst>
              <a:gd name="adj" fmla="val 12000"/>
            </a:avLst>
          </a:prstGeom>
          <a:solidFill>
            <a:srgbClr val="FFFFFF"/>
          </a:solidFill>
          <a:ln w="12700">
            <a:solidFill>
              <a:srgbClr val="4D6CB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0" name="Rectangle 89">
            <a:extLst>
              <a:ext uri="{FF2B5EF4-FFF2-40B4-BE49-F238E27FC236}">
                <a16:creationId xmlns:a16="http://schemas.microsoft.com/office/drawing/2014/main" id="{CE75753D-AD8D-452D-8A22-A226E4CDC2ED}"/>
              </a:ext>
            </a:extLst>
          </p:cNvPr>
          <p:cNvSpPr>
            <a:spLocks noGrp="1"/>
          </p:cNvSpPr>
          <p:nvPr/>
        </p:nvSpPr>
        <p:spPr>
          <a:xfrm>
            <a:off x="338328" y="6190488"/>
            <a:ext cx="1280160" cy="512064"/>
          </a:xfrm>
          <a:prstGeom prst="rect">
            <a:avLst/>
          </a:prstGeom>
          <a:solidFill>
            <a:srgbClr val="EEF2F7"/>
          </a:solidFill>
          <a:ln>
            <a:solidFill>
              <a:srgbClr val="0B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1" name="TextBox 90">
            <a:extLst>
              <a:ext uri="{FF2B5EF4-FFF2-40B4-BE49-F238E27FC236}">
                <a16:creationId xmlns:a16="http://schemas.microsoft.com/office/drawing/2014/main" id="{7386B186-149F-4497-B6F7-42BD28197B23}"/>
              </a:ext>
            </a:extLst>
          </p:cNvPr>
          <p:cNvSpPr>
            <a:spLocks noGrp="1"/>
          </p:cNvSpPr>
          <p:nvPr/>
        </p:nvSpPr>
        <p:spPr>
          <a:xfrm>
            <a:off x="338328" y="6190488"/>
            <a:ext cx="1280160" cy="512064"/>
          </a:xfrm>
          <a:prstGeom prst="rect">
            <a:avLst/>
          </a:prstGeom>
          <a:noFill/>
          <a:effectLst/>
        </p:spPr>
        <p:txBody>
          <a:bodyPr wrap="square" lIns="45720" tIns="0" rIns="45720" bIns="0" anchor="ctr">
            <a:spAutoFit/>
          </a:bodyPr>
          <a:lstStyle/>
          <a:p>
            <a:pPr algn="ctr">
              <a:buNone/>
            </a:pPr>
            <a:r>
              <a:rPr sz="1450" b="1">
                <a:solidFill>
                  <a:srgbClr val="0B3691"/>
                </a:solidFill>
                <a:latin typeface="IPAexGothic"/>
                <a:ea typeface="IPAexGothic"/>
                <a:cs typeface="IPAexGothic"/>
              </a:rPr>
              <a:t>違いのまとめ</a:t>
            </a:r>
          </a:p>
        </p:txBody>
      </p:sp>
      <p:sp>
        <p:nvSpPr>
          <p:cNvPr id="92" name="TextBox 91">
            <a:extLst>
              <a:ext uri="{FF2B5EF4-FFF2-40B4-BE49-F238E27FC236}">
                <a16:creationId xmlns:a16="http://schemas.microsoft.com/office/drawing/2014/main" id="{7E8B8F44-FC2C-4F99-B564-5CA137A6D741}"/>
              </a:ext>
            </a:extLst>
          </p:cNvPr>
          <p:cNvSpPr>
            <a:spLocks noGrp="1"/>
          </p:cNvSpPr>
          <p:nvPr/>
        </p:nvSpPr>
        <p:spPr>
          <a:xfrm>
            <a:off x="1783080" y="6245352"/>
            <a:ext cx="9646920" cy="164592"/>
          </a:xfrm>
          <a:prstGeom prst="rect">
            <a:avLst/>
          </a:prstGeom>
          <a:noFill/>
          <a:effectLst/>
        </p:spPr>
        <p:txBody>
          <a:bodyPr wrap="square" lIns="45720" tIns="0" rIns="45720" bIns="0" anchor="ctr">
            <a:spAutoFit/>
          </a:bodyPr>
          <a:lstStyle/>
          <a:p>
            <a:pPr algn="l">
              <a:buNone/>
            </a:pPr>
            <a:r>
              <a:rPr sz="1220" b="1">
                <a:solidFill>
                  <a:srgbClr val="0B3691"/>
                </a:solidFill>
                <a:latin typeface="IPAexGothic"/>
                <a:ea typeface="IPAexGothic"/>
                <a:cs typeface="IPAexGothic"/>
              </a:rPr>
              <a:t>OpenAIは「入力検査」をGuardrailとして明示的に抽象化し，トリガー（Tripwire）によってAgent実行を停止する．</a:t>
            </a:r>
          </a:p>
        </p:txBody>
      </p:sp>
      <p:sp>
        <p:nvSpPr>
          <p:cNvPr id="93" name="TextBox 92">
            <a:extLst>
              <a:ext uri="{FF2B5EF4-FFF2-40B4-BE49-F238E27FC236}">
                <a16:creationId xmlns:a16="http://schemas.microsoft.com/office/drawing/2014/main" id="{FEAD85C5-B5B2-4E4A-8C04-56C9D9CF8DFA}"/>
              </a:ext>
            </a:extLst>
          </p:cNvPr>
          <p:cNvSpPr>
            <a:spLocks noGrp="1"/>
          </p:cNvSpPr>
          <p:nvPr/>
        </p:nvSpPr>
        <p:spPr>
          <a:xfrm>
            <a:off x="1783080" y="6437376"/>
            <a:ext cx="9646920" cy="164592"/>
          </a:xfrm>
          <a:prstGeom prst="rect">
            <a:avLst/>
          </a:prstGeom>
          <a:noFill/>
          <a:effectLst/>
        </p:spPr>
        <p:txBody>
          <a:bodyPr wrap="square" lIns="45720" tIns="0" rIns="45720" bIns="0" anchor="ctr">
            <a:spAutoFit/>
          </a:bodyPr>
          <a:lstStyle/>
          <a:p>
            <a:pPr algn="l">
              <a:buNone/>
            </a:pPr>
            <a:r>
              <a:rPr sz="1220" b="1">
                <a:solidFill>
                  <a:srgbClr val="0B3691"/>
                </a:solidFill>
                <a:latin typeface="IPAexGothic"/>
                <a:ea typeface="IPAexGothic"/>
                <a:cs typeface="IPAexGothic"/>
              </a:rPr>
              <a:t>Claudeは汎用的なLifecycle Hookの一つとして，入力検査を含む様々な処理を実装する．</a:t>
            </a:r>
          </a:p>
        </p:txBody>
      </p:sp>
      <p:sp>
        <p:nvSpPr>
          <p:cNvPr id="94" name="TextBox 93">
            <a:extLst>
              <a:ext uri="{FF2B5EF4-FFF2-40B4-BE49-F238E27FC236}">
                <a16:creationId xmlns:a16="http://schemas.microsoft.com/office/drawing/2014/main" id="{896E959D-4FF5-4883-931A-F12B7A4A155C}"/>
              </a:ext>
            </a:extLst>
          </p:cNvPr>
          <p:cNvSpPr>
            <a:spLocks noGrp="1"/>
          </p:cNvSpPr>
          <p:nvPr/>
        </p:nvSpPr>
        <p:spPr>
          <a:xfrm>
            <a:off x="11841480" y="6428232"/>
            <a:ext cx="228600" cy="182880"/>
          </a:xfrm>
          <a:prstGeom prst="rect">
            <a:avLst/>
          </a:prstGeom>
          <a:noFill/>
          <a:effectLst/>
        </p:spPr>
        <p:txBody>
          <a:bodyPr wrap="square" lIns="45720" tIns="0" rIns="45720" bIns="0" anchor="ctr">
            <a:spAutoFit/>
          </a:bodyPr>
          <a:lstStyle/>
          <a:p>
            <a:pPr algn="l">
              <a:buNone/>
            </a:pPr>
            <a:r>
              <a:rPr sz="1360" b="1">
                <a:solidFill>
                  <a:srgbClr val="0B3691"/>
                </a:solidFill>
                <a:latin typeface="IPAexGothic"/>
                <a:ea typeface="IPAexGothic"/>
                <a:cs typeface="IPAexGothic"/>
              </a:rPr>
              <a:t>A2</a:t>
            </a:r>
          </a:p>
        </p:txBody>
      </p:sp>
    </p:spTree>
    <p:extLst>
      <p:ext uri="{BB962C8B-B14F-4D97-AF65-F5344CB8AC3E}">
        <p14:creationId xmlns:p14="http://schemas.microsoft.com/office/powerpoint/2010/main" val="1511266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6EE90D-5BEF-4A72-AD5B-A22A9AF75CAE}"/>
              </a:ext>
            </a:extLst>
          </p:cNvPr>
          <p:cNvSpPr>
            <a:spLocks noGrp="1"/>
          </p:cNvSpPr>
          <p:nvPr/>
        </p:nvSpPr>
        <p:spPr>
          <a:xfrm>
            <a:off x="313550" y="160335"/>
            <a:ext cx="6125167" cy="378975"/>
          </a:xfrm>
          <a:prstGeom prst="rect">
            <a:avLst/>
          </a:prstGeom>
          <a:noFill/>
          <a:ln>
            <a:noFill/>
          </a:ln>
          <a:effectLst/>
        </p:spPr>
        <p:txBody>
          <a:bodyPr wrap="none" lIns="0" tIns="0" rIns="0" bIns="0" anchor="ctr">
            <a:spAutoFit/>
          </a:bodyPr>
          <a:lstStyle/>
          <a:p>
            <a:pPr algn="l">
              <a:buNone/>
            </a:pPr>
            <a:r>
              <a:rPr sz="2200" b="1">
                <a:solidFill>
                  <a:srgbClr val="0A3691"/>
                </a:solidFill>
                <a:latin typeface="IPAexGothic"/>
                <a:ea typeface="IPAexGothic"/>
                <a:cs typeface="IPAexGothic"/>
              </a:rPr>
              <a:t>Appendix A3． Tool実行前制御</a:t>
            </a:r>
          </a:p>
        </p:txBody>
      </p:sp>
      <p:sp>
        <p:nvSpPr>
          <p:cNvPr id="4" name="TextBox 3">
            <a:extLst>
              <a:ext uri="{FF2B5EF4-FFF2-40B4-BE49-F238E27FC236}">
                <a16:creationId xmlns:a16="http://schemas.microsoft.com/office/drawing/2014/main" id="{DAD75C8B-9D1B-4290-8481-2870941BAF88}"/>
              </a:ext>
            </a:extLst>
          </p:cNvPr>
          <p:cNvSpPr>
            <a:spLocks noGrp="1"/>
          </p:cNvSpPr>
          <p:nvPr/>
        </p:nvSpPr>
        <p:spPr>
          <a:xfrm>
            <a:off x="10573205" y="269655"/>
            <a:ext cx="1093779" cy="174911"/>
          </a:xfrm>
          <a:prstGeom prst="rect">
            <a:avLst/>
          </a:prstGeom>
          <a:noFill/>
          <a:ln>
            <a:noFill/>
          </a:ln>
          <a:effectLst/>
        </p:spPr>
        <p:txBody>
          <a:bodyPr wrap="none" lIns="0" tIns="0" rIns="0" bIns="0" anchor="ctr">
            <a:spAutoFit/>
          </a:bodyPr>
          <a:lstStyle/>
          <a:p>
            <a:pPr algn="ctr">
              <a:buNone/>
            </a:pPr>
            <a:r>
              <a:rPr sz="1080" b="1">
                <a:solidFill>
                  <a:srgbClr val="0A3691"/>
                </a:solidFill>
                <a:latin typeface="IPAexGothic"/>
                <a:ea typeface="IPAexGothic"/>
                <a:cs typeface="IPAexGothic"/>
              </a:rPr>
              <a:t>行動・権限制御</a:t>
            </a:r>
          </a:p>
        </p:txBody>
      </p:sp>
      <p:sp>
        <p:nvSpPr>
          <p:cNvPr id="5" name="Rectangle 4">
            <a:extLst>
              <a:ext uri="{FF2B5EF4-FFF2-40B4-BE49-F238E27FC236}">
                <a16:creationId xmlns:a16="http://schemas.microsoft.com/office/drawing/2014/main" id="{53303D9F-9588-4C8C-8ED4-60B617AB5666}"/>
              </a:ext>
            </a:extLst>
          </p:cNvPr>
          <p:cNvSpPr>
            <a:spLocks noGrp="1"/>
          </p:cNvSpPr>
          <p:nvPr/>
        </p:nvSpPr>
        <p:spPr>
          <a:xfrm>
            <a:off x="204172" y="583039"/>
            <a:ext cx="11594066" cy="36439"/>
          </a:xfrm>
          <a:prstGeom prst="rect">
            <a:avLst/>
          </a:prstGeom>
          <a:solidFill>
            <a:srgbClr val="0A3691"/>
          </a:solidFill>
          <a:ln>
            <a:solidFill>
              <a:srgbClr val="0A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B27E10F-52D4-4CCC-8B92-B5CD3016EF6D}"/>
              </a:ext>
            </a:extLst>
          </p:cNvPr>
          <p:cNvSpPr>
            <a:spLocks noGrp="1"/>
          </p:cNvSpPr>
          <p:nvPr/>
        </p:nvSpPr>
        <p:spPr>
          <a:xfrm>
            <a:off x="335425" y="750663"/>
            <a:ext cx="7583540" cy="320671"/>
          </a:xfrm>
          <a:prstGeom prst="rect">
            <a:avLst/>
          </a:prstGeom>
          <a:noFill/>
          <a:ln>
            <a:noFill/>
          </a:ln>
          <a:effectLst/>
        </p:spPr>
        <p:txBody>
          <a:bodyPr wrap="none" lIns="0" tIns="0" rIns="0" bIns="0" anchor="ctr">
            <a:spAutoFit/>
          </a:bodyPr>
          <a:lstStyle/>
          <a:p>
            <a:pPr algn="l">
              <a:buNone/>
            </a:pPr>
            <a:r>
              <a:rPr sz="1200" b="1">
                <a:solidFill>
                  <a:srgbClr val="121923"/>
                </a:solidFill>
                <a:latin typeface="IPAexGothic"/>
                <a:ea typeface="IPAexGothic"/>
                <a:cs typeface="IPAexGothic"/>
              </a:rPr>
              <a:t>AgentがToolを呼び出そうとした時点で，Tool名や引数を検査し，危険なActionを実行前に止める．</a:t>
            </a:r>
          </a:p>
          <a:p>
            <a:pPr algn="l">
              <a:buNone/>
            </a:pPr>
            <a:r>
              <a:rPr sz="1200" b="1">
                <a:solidFill>
                  <a:srgbClr val="121923"/>
                </a:solidFill>
                <a:latin typeface="IPAexGothic"/>
                <a:ea typeface="IPAexGothic"/>
                <a:cs typeface="IPAexGothic"/>
              </a:rPr>
              <a:t>OpenAIはTool Input Guardrail，ClaudeはPreToolUseとPermission Systemを利用して制御する．</a:t>
            </a:r>
          </a:p>
        </p:txBody>
      </p:sp>
      <p:sp>
        <p:nvSpPr>
          <p:cNvPr id="7" name="TextBox 6">
            <a:extLst>
              <a:ext uri="{FF2B5EF4-FFF2-40B4-BE49-F238E27FC236}">
                <a16:creationId xmlns:a16="http://schemas.microsoft.com/office/drawing/2014/main" id="{C35DA452-DE6D-495F-BE29-F6D3A83B80BF}"/>
              </a:ext>
            </a:extLst>
          </p:cNvPr>
          <p:cNvSpPr>
            <a:spLocks noGrp="1"/>
          </p:cNvSpPr>
          <p:nvPr/>
        </p:nvSpPr>
        <p:spPr>
          <a:xfrm>
            <a:off x="7437703" y="1231670"/>
            <a:ext cx="4302200" cy="160335"/>
          </a:xfrm>
          <a:prstGeom prst="rect">
            <a:avLst/>
          </a:prstGeom>
          <a:noFill/>
          <a:ln>
            <a:noFill/>
          </a:ln>
          <a:effectLst/>
        </p:spPr>
        <p:txBody>
          <a:bodyPr wrap="none" lIns="0" tIns="0" rIns="0" bIns="0" anchor="ctr">
            <a:spAutoFit/>
          </a:bodyPr>
          <a:lstStyle/>
          <a:p>
            <a:pPr algn="l">
              <a:buNone/>
            </a:pPr>
            <a:r>
              <a:rPr sz="940" b="1">
                <a:solidFill>
                  <a:srgbClr val="121923"/>
                </a:solidFill>
                <a:latin typeface="IPAexGothic"/>
                <a:ea typeface="IPAexGothic"/>
                <a:cs typeface="IPAexGothic"/>
              </a:rPr>
              <a:t>対象バージョン： OpenAI Agents SDK 0.22.0 ／ Claude Agent SDK 0.2.144</a:t>
            </a:r>
          </a:p>
        </p:txBody>
      </p:sp>
      <p:sp>
        <p:nvSpPr>
          <p:cNvPr id="8" name="Rectangle 7">
            <a:extLst>
              <a:ext uri="{FF2B5EF4-FFF2-40B4-BE49-F238E27FC236}">
                <a16:creationId xmlns:a16="http://schemas.microsoft.com/office/drawing/2014/main" id="{A06B50A1-D9FA-46E0-A011-E3C8805AAA32}"/>
              </a:ext>
            </a:extLst>
          </p:cNvPr>
          <p:cNvSpPr>
            <a:spLocks noGrp="1"/>
          </p:cNvSpPr>
          <p:nvPr/>
        </p:nvSpPr>
        <p:spPr>
          <a:xfrm>
            <a:off x="306258" y="1413870"/>
            <a:ext cx="1881301" cy="313383"/>
          </a:xfrm>
          <a:prstGeom prst="rect">
            <a:avLst/>
          </a:prstGeom>
          <a:solidFill>
            <a:srgbClr val="EEF2F7"/>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A20CDA7-0BC0-4E98-9FB0-0A042FED021D}"/>
              </a:ext>
            </a:extLst>
          </p:cNvPr>
          <p:cNvSpPr>
            <a:spLocks noGrp="1"/>
          </p:cNvSpPr>
          <p:nvPr/>
        </p:nvSpPr>
        <p:spPr>
          <a:xfrm>
            <a:off x="306258" y="1413870"/>
            <a:ext cx="1881301" cy="313383"/>
          </a:xfrm>
          <a:prstGeom prst="rect">
            <a:avLst/>
          </a:prstGeom>
          <a:noFill/>
          <a:ln>
            <a:noFill/>
          </a:ln>
          <a:effectLst/>
        </p:spPr>
        <p:txBody>
          <a:bodyPr wrap="none" lIns="0" tIns="0" rIns="0" bIns="0" anchor="ctr">
            <a:spAutoFit/>
          </a:bodyPr>
          <a:lstStyle/>
          <a:p>
            <a:pPr algn="ctr">
              <a:buNone/>
            </a:pPr>
            <a:r>
              <a:rPr sz="1160" b="1">
                <a:solidFill>
                  <a:srgbClr val="0B3691"/>
                </a:solidFill>
                <a:latin typeface="IPAexGothic"/>
                <a:ea typeface="IPAexGothic"/>
                <a:cs typeface="IPAexGothic"/>
              </a:rPr>
              <a:t>観点</a:t>
            </a:r>
          </a:p>
        </p:txBody>
      </p:sp>
      <p:sp>
        <p:nvSpPr>
          <p:cNvPr id="10" name="Rectangle 9">
            <a:extLst>
              <a:ext uri="{FF2B5EF4-FFF2-40B4-BE49-F238E27FC236}">
                <a16:creationId xmlns:a16="http://schemas.microsoft.com/office/drawing/2014/main" id="{2AF6EF84-0C75-42B7-94CC-E06B4C1F33B2}"/>
              </a:ext>
            </a:extLst>
          </p:cNvPr>
          <p:cNvSpPr>
            <a:spLocks noGrp="1"/>
          </p:cNvSpPr>
          <p:nvPr/>
        </p:nvSpPr>
        <p:spPr>
          <a:xfrm>
            <a:off x="2187559" y="1413870"/>
            <a:ext cx="4776172" cy="313383"/>
          </a:xfrm>
          <a:prstGeom prst="rect">
            <a:avLst/>
          </a:prstGeom>
          <a:solidFill>
            <a:srgbClr val="EEF2F7"/>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0DC7BA5-B2F8-4D53-8EA4-CB212DA420A2}"/>
              </a:ext>
            </a:extLst>
          </p:cNvPr>
          <p:cNvSpPr>
            <a:spLocks noGrp="1"/>
          </p:cNvSpPr>
          <p:nvPr/>
        </p:nvSpPr>
        <p:spPr>
          <a:xfrm>
            <a:off x="2187559" y="1413870"/>
            <a:ext cx="4776172" cy="313383"/>
          </a:xfrm>
          <a:prstGeom prst="rect">
            <a:avLst/>
          </a:prstGeom>
          <a:noFill/>
          <a:ln>
            <a:noFill/>
          </a:ln>
          <a:effectLst/>
        </p:spPr>
        <p:txBody>
          <a:bodyPr wrap="none" lIns="0" tIns="0" rIns="0" bIns="0" anchor="ctr">
            <a:spAutoFit/>
          </a:bodyPr>
          <a:lstStyle/>
          <a:p>
            <a:pPr algn="ctr">
              <a:buNone/>
            </a:pPr>
            <a:r>
              <a:rPr sz="1160" b="1">
                <a:solidFill>
                  <a:srgbClr val="0B3691"/>
                </a:solidFill>
                <a:latin typeface="IPAexGothic"/>
                <a:ea typeface="IPAexGothic"/>
                <a:cs typeface="IPAexGothic"/>
              </a:rPr>
              <a:t>OpenAI Agents SDK</a:t>
            </a:r>
          </a:p>
        </p:txBody>
      </p:sp>
      <p:sp>
        <p:nvSpPr>
          <p:cNvPr id="12" name="Rectangle 11">
            <a:extLst>
              <a:ext uri="{FF2B5EF4-FFF2-40B4-BE49-F238E27FC236}">
                <a16:creationId xmlns:a16="http://schemas.microsoft.com/office/drawing/2014/main" id="{BBC525C2-0774-4410-9D6B-A71CBA875FBE}"/>
              </a:ext>
            </a:extLst>
          </p:cNvPr>
          <p:cNvSpPr>
            <a:spLocks noGrp="1"/>
          </p:cNvSpPr>
          <p:nvPr/>
        </p:nvSpPr>
        <p:spPr>
          <a:xfrm>
            <a:off x="6963731" y="1413870"/>
            <a:ext cx="4623042" cy="313383"/>
          </a:xfrm>
          <a:prstGeom prst="rect">
            <a:avLst/>
          </a:prstGeom>
          <a:solidFill>
            <a:srgbClr val="EEF2F7"/>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2891BE9-A290-43F9-BF9E-437C38DAA922}"/>
              </a:ext>
            </a:extLst>
          </p:cNvPr>
          <p:cNvSpPr>
            <a:spLocks noGrp="1"/>
          </p:cNvSpPr>
          <p:nvPr/>
        </p:nvSpPr>
        <p:spPr>
          <a:xfrm>
            <a:off x="6963731" y="1413870"/>
            <a:ext cx="4623042" cy="313383"/>
          </a:xfrm>
          <a:prstGeom prst="rect">
            <a:avLst/>
          </a:prstGeom>
          <a:noFill/>
          <a:ln>
            <a:noFill/>
          </a:ln>
          <a:effectLst/>
        </p:spPr>
        <p:txBody>
          <a:bodyPr wrap="none" lIns="0" tIns="0" rIns="0" bIns="0" anchor="ctr">
            <a:spAutoFit/>
          </a:bodyPr>
          <a:lstStyle/>
          <a:p>
            <a:pPr algn="ctr">
              <a:buNone/>
            </a:pPr>
            <a:r>
              <a:rPr sz="1160" b="1">
                <a:solidFill>
                  <a:srgbClr val="0B3691"/>
                </a:solidFill>
                <a:latin typeface="IPAexGothic"/>
                <a:ea typeface="IPAexGothic"/>
                <a:cs typeface="IPAexGothic"/>
              </a:rPr>
              <a:t>Claude Agent SDK</a:t>
            </a:r>
          </a:p>
        </p:txBody>
      </p:sp>
      <p:sp>
        <p:nvSpPr>
          <p:cNvPr id="14" name="Rectangle 13">
            <a:extLst>
              <a:ext uri="{FF2B5EF4-FFF2-40B4-BE49-F238E27FC236}">
                <a16:creationId xmlns:a16="http://schemas.microsoft.com/office/drawing/2014/main" id="{B7B1D865-4375-4F97-A591-380E1A73663B}"/>
              </a:ext>
            </a:extLst>
          </p:cNvPr>
          <p:cNvSpPr>
            <a:spLocks noGrp="1"/>
          </p:cNvSpPr>
          <p:nvPr/>
        </p:nvSpPr>
        <p:spPr>
          <a:xfrm>
            <a:off x="306258" y="1727253"/>
            <a:ext cx="1881301" cy="349823"/>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166979CE-E579-484F-A6AD-7D0F9D89390C}"/>
              </a:ext>
            </a:extLst>
          </p:cNvPr>
          <p:cNvSpPr>
            <a:spLocks noGrp="1"/>
          </p:cNvSpPr>
          <p:nvPr/>
        </p:nvSpPr>
        <p:spPr>
          <a:xfrm>
            <a:off x="2187559" y="1727253"/>
            <a:ext cx="4776172" cy="349823"/>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38EEAF87-1718-45E1-8E72-E171C81BD626}"/>
              </a:ext>
            </a:extLst>
          </p:cNvPr>
          <p:cNvSpPr>
            <a:spLocks noGrp="1"/>
          </p:cNvSpPr>
          <p:nvPr/>
        </p:nvSpPr>
        <p:spPr>
          <a:xfrm>
            <a:off x="6963731" y="1727253"/>
            <a:ext cx="4623042" cy="349823"/>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C696111-28D2-4867-8291-2B5EB93612D1}"/>
              </a:ext>
            </a:extLst>
          </p:cNvPr>
          <p:cNvSpPr>
            <a:spLocks noGrp="1"/>
          </p:cNvSpPr>
          <p:nvPr/>
        </p:nvSpPr>
        <p:spPr>
          <a:xfrm>
            <a:off x="452095" y="1727253"/>
            <a:ext cx="1662545" cy="349823"/>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主な機能</a:t>
            </a:r>
          </a:p>
        </p:txBody>
      </p:sp>
      <p:sp>
        <p:nvSpPr>
          <p:cNvPr id="18" name="TextBox 17">
            <a:extLst>
              <a:ext uri="{FF2B5EF4-FFF2-40B4-BE49-F238E27FC236}">
                <a16:creationId xmlns:a16="http://schemas.microsoft.com/office/drawing/2014/main" id="{45EC4EB7-A11D-42C5-A8E1-2F6238724D92}"/>
              </a:ext>
            </a:extLst>
          </p:cNvPr>
          <p:cNvSpPr>
            <a:spLocks noGrp="1"/>
          </p:cNvSpPr>
          <p:nvPr/>
        </p:nvSpPr>
        <p:spPr>
          <a:xfrm>
            <a:off x="2391731" y="1727253"/>
            <a:ext cx="4411578" cy="349823"/>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Tool Input Guardrail</a:t>
            </a:r>
          </a:p>
        </p:txBody>
      </p:sp>
      <p:sp>
        <p:nvSpPr>
          <p:cNvPr id="19" name="TextBox 18">
            <a:extLst>
              <a:ext uri="{FF2B5EF4-FFF2-40B4-BE49-F238E27FC236}">
                <a16:creationId xmlns:a16="http://schemas.microsoft.com/office/drawing/2014/main" id="{60643BFA-E819-42F2-A8CC-57FC7B353F84}"/>
              </a:ext>
            </a:extLst>
          </p:cNvPr>
          <p:cNvSpPr>
            <a:spLocks noGrp="1"/>
          </p:cNvSpPr>
          <p:nvPr/>
        </p:nvSpPr>
        <p:spPr>
          <a:xfrm>
            <a:off x="7167904" y="1727253"/>
            <a:ext cx="4258449" cy="349823"/>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PreToolUse ／ Permission System</a:t>
            </a:r>
          </a:p>
        </p:txBody>
      </p:sp>
      <p:sp>
        <p:nvSpPr>
          <p:cNvPr id="20" name="Rectangle 19">
            <a:extLst>
              <a:ext uri="{FF2B5EF4-FFF2-40B4-BE49-F238E27FC236}">
                <a16:creationId xmlns:a16="http://schemas.microsoft.com/office/drawing/2014/main" id="{01B94749-54EB-4CA4-A0A7-4984AF01C217}"/>
              </a:ext>
            </a:extLst>
          </p:cNvPr>
          <p:cNvSpPr>
            <a:spLocks noGrp="1"/>
          </p:cNvSpPr>
          <p:nvPr/>
        </p:nvSpPr>
        <p:spPr>
          <a:xfrm>
            <a:off x="306258" y="2077077"/>
            <a:ext cx="1881301" cy="335247"/>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E990B0DB-3C3A-4611-936E-EF6FB466B1E1}"/>
              </a:ext>
            </a:extLst>
          </p:cNvPr>
          <p:cNvSpPr>
            <a:spLocks noGrp="1"/>
          </p:cNvSpPr>
          <p:nvPr/>
        </p:nvSpPr>
        <p:spPr>
          <a:xfrm>
            <a:off x="2187559" y="2077077"/>
            <a:ext cx="477617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8C62C27E-5232-45F6-B12F-DE3DEFC5489C}"/>
              </a:ext>
            </a:extLst>
          </p:cNvPr>
          <p:cNvSpPr>
            <a:spLocks noGrp="1"/>
          </p:cNvSpPr>
          <p:nvPr/>
        </p:nvSpPr>
        <p:spPr>
          <a:xfrm>
            <a:off x="6963731" y="2077077"/>
            <a:ext cx="462304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5AE0E21-3ACB-4E67-BA34-B6EA63DBDB51}"/>
              </a:ext>
            </a:extLst>
          </p:cNvPr>
          <p:cNvSpPr>
            <a:spLocks noGrp="1"/>
          </p:cNvSpPr>
          <p:nvPr/>
        </p:nvSpPr>
        <p:spPr>
          <a:xfrm>
            <a:off x="452095" y="2077077"/>
            <a:ext cx="1662545" cy="335247"/>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実行タイミング</a:t>
            </a:r>
          </a:p>
        </p:txBody>
      </p:sp>
      <p:sp>
        <p:nvSpPr>
          <p:cNvPr id="24" name="TextBox 23">
            <a:extLst>
              <a:ext uri="{FF2B5EF4-FFF2-40B4-BE49-F238E27FC236}">
                <a16:creationId xmlns:a16="http://schemas.microsoft.com/office/drawing/2014/main" id="{BB38BE1F-07CA-42A4-A646-A6B38FF32065}"/>
              </a:ext>
            </a:extLst>
          </p:cNvPr>
          <p:cNvSpPr>
            <a:spLocks noGrp="1"/>
          </p:cNvSpPr>
          <p:nvPr/>
        </p:nvSpPr>
        <p:spPr>
          <a:xfrm>
            <a:off x="2391731" y="2077077"/>
            <a:ext cx="4411578"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Function Tool実行直前</a:t>
            </a:r>
          </a:p>
        </p:txBody>
      </p:sp>
      <p:sp>
        <p:nvSpPr>
          <p:cNvPr id="25" name="TextBox 24">
            <a:extLst>
              <a:ext uri="{FF2B5EF4-FFF2-40B4-BE49-F238E27FC236}">
                <a16:creationId xmlns:a16="http://schemas.microsoft.com/office/drawing/2014/main" id="{6BE96A84-D0BA-470B-AE09-D8D033CC6340}"/>
              </a:ext>
            </a:extLst>
          </p:cNvPr>
          <p:cNvSpPr>
            <a:spLocks noGrp="1"/>
          </p:cNvSpPr>
          <p:nvPr/>
        </p:nvSpPr>
        <p:spPr>
          <a:xfrm>
            <a:off x="7167904" y="2077077"/>
            <a:ext cx="4258449"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Tool実行前</a:t>
            </a:r>
          </a:p>
        </p:txBody>
      </p:sp>
      <p:sp>
        <p:nvSpPr>
          <p:cNvPr id="26" name="Rectangle 25">
            <a:extLst>
              <a:ext uri="{FF2B5EF4-FFF2-40B4-BE49-F238E27FC236}">
                <a16:creationId xmlns:a16="http://schemas.microsoft.com/office/drawing/2014/main" id="{64C6F35A-CBD5-4168-B54E-31A48F870CE9}"/>
              </a:ext>
            </a:extLst>
          </p:cNvPr>
          <p:cNvSpPr>
            <a:spLocks noGrp="1"/>
          </p:cNvSpPr>
          <p:nvPr/>
        </p:nvSpPr>
        <p:spPr>
          <a:xfrm>
            <a:off x="306258" y="2412325"/>
            <a:ext cx="1881301" cy="335247"/>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BD4216C9-614B-4BDC-96A2-D6B94BBB9B40}"/>
              </a:ext>
            </a:extLst>
          </p:cNvPr>
          <p:cNvSpPr>
            <a:spLocks noGrp="1"/>
          </p:cNvSpPr>
          <p:nvPr/>
        </p:nvSpPr>
        <p:spPr>
          <a:xfrm>
            <a:off x="2187559" y="2412325"/>
            <a:ext cx="477617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22F04135-239C-4105-94CE-F4A4552C5AB3}"/>
              </a:ext>
            </a:extLst>
          </p:cNvPr>
          <p:cNvSpPr>
            <a:spLocks noGrp="1"/>
          </p:cNvSpPr>
          <p:nvPr/>
        </p:nvSpPr>
        <p:spPr>
          <a:xfrm>
            <a:off x="6963731" y="2412325"/>
            <a:ext cx="462304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0EA5DBC-2CF6-451B-8D99-DFD4A87972F4}"/>
              </a:ext>
            </a:extLst>
          </p:cNvPr>
          <p:cNvSpPr>
            <a:spLocks noGrp="1"/>
          </p:cNvSpPr>
          <p:nvPr/>
        </p:nvSpPr>
        <p:spPr>
          <a:xfrm>
            <a:off x="452095" y="2412325"/>
            <a:ext cx="1662545" cy="335247"/>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主な検査対象</a:t>
            </a:r>
          </a:p>
        </p:txBody>
      </p:sp>
      <p:sp>
        <p:nvSpPr>
          <p:cNvPr id="30" name="TextBox 29">
            <a:extLst>
              <a:ext uri="{FF2B5EF4-FFF2-40B4-BE49-F238E27FC236}">
                <a16:creationId xmlns:a16="http://schemas.microsoft.com/office/drawing/2014/main" id="{43040AA0-2C6B-489E-ACCF-76C6AB45DDA3}"/>
              </a:ext>
            </a:extLst>
          </p:cNvPr>
          <p:cNvSpPr>
            <a:spLocks noGrp="1"/>
          </p:cNvSpPr>
          <p:nvPr/>
        </p:nvSpPr>
        <p:spPr>
          <a:xfrm>
            <a:off x="2391731" y="2412325"/>
            <a:ext cx="4411578"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Tool名， Tool引数， Context</a:t>
            </a:r>
          </a:p>
        </p:txBody>
      </p:sp>
      <p:sp>
        <p:nvSpPr>
          <p:cNvPr id="31" name="TextBox 30">
            <a:extLst>
              <a:ext uri="{FF2B5EF4-FFF2-40B4-BE49-F238E27FC236}">
                <a16:creationId xmlns:a16="http://schemas.microsoft.com/office/drawing/2014/main" id="{68EB7F16-984E-4F6D-B143-B05BDB3A0B3F}"/>
              </a:ext>
            </a:extLst>
          </p:cNvPr>
          <p:cNvSpPr>
            <a:spLocks noGrp="1"/>
          </p:cNvSpPr>
          <p:nvPr/>
        </p:nvSpPr>
        <p:spPr>
          <a:xfrm>
            <a:off x="7167904" y="2412325"/>
            <a:ext cx="4258449"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Tool名， Tool入力， Context</a:t>
            </a:r>
          </a:p>
        </p:txBody>
      </p:sp>
      <p:sp>
        <p:nvSpPr>
          <p:cNvPr id="32" name="Rectangle 31">
            <a:extLst>
              <a:ext uri="{FF2B5EF4-FFF2-40B4-BE49-F238E27FC236}">
                <a16:creationId xmlns:a16="http://schemas.microsoft.com/office/drawing/2014/main" id="{38CA8C90-B74E-405B-ACBB-14F6C2B10528}"/>
              </a:ext>
            </a:extLst>
          </p:cNvPr>
          <p:cNvSpPr>
            <a:spLocks noGrp="1"/>
          </p:cNvSpPr>
          <p:nvPr/>
        </p:nvSpPr>
        <p:spPr>
          <a:xfrm>
            <a:off x="306258" y="2747572"/>
            <a:ext cx="1881301" cy="342535"/>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752A093D-0DC6-482F-A28A-D1B51E8322C0}"/>
              </a:ext>
            </a:extLst>
          </p:cNvPr>
          <p:cNvSpPr>
            <a:spLocks noGrp="1"/>
          </p:cNvSpPr>
          <p:nvPr/>
        </p:nvSpPr>
        <p:spPr>
          <a:xfrm>
            <a:off x="2187559" y="2747572"/>
            <a:ext cx="4776172" cy="342535"/>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C356AED0-AC9E-4301-89E7-04D11ACEF6F6}"/>
              </a:ext>
            </a:extLst>
          </p:cNvPr>
          <p:cNvSpPr>
            <a:spLocks noGrp="1"/>
          </p:cNvSpPr>
          <p:nvPr/>
        </p:nvSpPr>
        <p:spPr>
          <a:xfrm>
            <a:off x="6963731" y="2747572"/>
            <a:ext cx="4623042" cy="342535"/>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ADF15F90-3FB6-401F-A625-DFDFC8C27986}"/>
              </a:ext>
            </a:extLst>
          </p:cNvPr>
          <p:cNvSpPr>
            <a:spLocks noGrp="1"/>
          </p:cNvSpPr>
          <p:nvPr/>
        </p:nvSpPr>
        <p:spPr>
          <a:xfrm>
            <a:off x="452095" y="2747572"/>
            <a:ext cx="1662545" cy="342535"/>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可能な判断</a:t>
            </a:r>
          </a:p>
        </p:txBody>
      </p:sp>
      <p:sp>
        <p:nvSpPr>
          <p:cNvPr id="36" name="TextBox 35">
            <a:extLst>
              <a:ext uri="{FF2B5EF4-FFF2-40B4-BE49-F238E27FC236}">
                <a16:creationId xmlns:a16="http://schemas.microsoft.com/office/drawing/2014/main" id="{6D5839EA-5F02-4D7F-B2E5-773514E5D649}"/>
              </a:ext>
            </a:extLst>
          </p:cNvPr>
          <p:cNvSpPr>
            <a:spLocks noGrp="1"/>
          </p:cNvSpPr>
          <p:nvPr/>
        </p:nvSpPr>
        <p:spPr>
          <a:xfrm>
            <a:off x="2391731" y="2747572"/>
            <a:ext cx="4411578" cy="342535"/>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Allow， Reject など</a:t>
            </a:r>
          </a:p>
        </p:txBody>
      </p:sp>
      <p:sp>
        <p:nvSpPr>
          <p:cNvPr id="37" name="TextBox 36">
            <a:extLst>
              <a:ext uri="{FF2B5EF4-FFF2-40B4-BE49-F238E27FC236}">
                <a16:creationId xmlns:a16="http://schemas.microsoft.com/office/drawing/2014/main" id="{DC549510-FFEF-4D1C-BAA7-39B01D5FF919}"/>
              </a:ext>
            </a:extLst>
          </p:cNvPr>
          <p:cNvSpPr>
            <a:spLocks noGrp="1"/>
          </p:cNvSpPr>
          <p:nvPr/>
        </p:nvSpPr>
        <p:spPr>
          <a:xfrm>
            <a:off x="7167904" y="2747572"/>
            <a:ext cx="4258449" cy="342535"/>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Allow， Ask， Deny</a:t>
            </a:r>
          </a:p>
        </p:txBody>
      </p:sp>
      <p:sp>
        <p:nvSpPr>
          <p:cNvPr id="38" name="Rectangle 37">
            <a:extLst>
              <a:ext uri="{FF2B5EF4-FFF2-40B4-BE49-F238E27FC236}">
                <a16:creationId xmlns:a16="http://schemas.microsoft.com/office/drawing/2014/main" id="{56D1188F-2A4B-4FC7-9C4D-DA05A4582A51}"/>
              </a:ext>
            </a:extLst>
          </p:cNvPr>
          <p:cNvSpPr>
            <a:spLocks noGrp="1"/>
          </p:cNvSpPr>
          <p:nvPr/>
        </p:nvSpPr>
        <p:spPr>
          <a:xfrm>
            <a:off x="306258" y="3090108"/>
            <a:ext cx="1881301" cy="335247"/>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96B97BA8-8340-40D3-AE11-00F5FC2C016F}"/>
              </a:ext>
            </a:extLst>
          </p:cNvPr>
          <p:cNvSpPr>
            <a:spLocks noGrp="1"/>
          </p:cNvSpPr>
          <p:nvPr/>
        </p:nvSpPr>
        <p:spPr>
          <a:xfrm>
            <a:off x="2187559" y="3090108"/>
            <a:ext cx="477617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3E45B2FC-8ED1-4B66-88B9-4D48D588CEB7}"/>
              </a:ext>
            </a:extLst>
          </p:cNvPr>
          <p:cNvSpPr>
            <a:spLocks noGrp="1"/>
          </p:cNvSpPr>
          <p:nvPr/>
        </p:nvSpPr>
        <p:spPr>
          <a:xfrm>
            <a:off x="6963731" y="3090108"/>
            <a:ext cx="462304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4895EBE2-2557-4C92-AAF8-067CC9C3A517}"/>
              </a:ext>
            </a:extLst>
          </p:cNvPr>
          <p:cNvSpPr>
            <a:spLocks noGrp="1"/>
          </p:cNvSpPr>
          <p:nvPr/>
        </p:nvSpPr>
        <p:spPr>
          <a:xfrm>
            <a:off x="452095" y="3090108"/>
            <a:ext cx="1662545" cy="335247"/>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主な用途</a:t>
            </a:r>
          </a:p>
        </p:txBody>
      </p:sp>
      <p:sp>
        <p:nvSpPr>
          <p:cNvPr id="42" name="TextBox 41">
            <a:extLst>
              <a:ext uri="{FF2B5EF4-FFF2-40B4-BE49-F238E27FC236}">
                <a16:creationId xmlns:a16="http://schemas.microsoft.com/office/drawing/2014/main" id="{511DABC1-6F4F-443F-B87A-9880359650F8}"/>
              </a:ext>
            </a:extLst>
          </p:cNvPr>
          <p:cNvSpPr>
            <a:spLocks noGrp="1"/>
          </p:cNvSpPr>
          <p:nvPr/>
        </p:nvSpPr>
        <p:spPr>
          <a:xfrm>
            <a:off x="2391731" y="3090108"/>
            <a:ext cx="4411578"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危険なActionの検知， 禁止Resourceへのアクセス制御</a:t>
            </a:r>
          </a:p>
        </p:txBody>
      </p:sp>
      <p:sp>
        <p:nvSpPr>
          <p:cNvPr id="43" name="TextBox 42">
            <a:extLst>
              <a:ext uri="{FF2B5EF4-FFF2-40B4-BE49-F238E27FC236}">
                <a16:creationId xmlns:a16="http://schemas.microsoft.com/office/drawing/2014/main" id="{9F564A56-9600-4223-97B1-A1B92F8C90AF}"/>
              </a:ext>
            </a:extLst>
          </p:cNvPr>
          <p:cNvSpPr>
            <a:spLocks noGrp="1"/>
          </p:cNvSpPr>
          <p:nvPr/>
        </p:nvSpPr>
        <p:spPr>
          <a:xfrm>
            <a:off x="7167904" y="3090108"/>
            <a:ext cx="4258449"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Tool利用可否の判定， 条件付き実行， 事前確認</a:t>
            </a:r>
          </a:p>
        </p:txBody>
      </p:sp>
      <p:sp>
        <p:nvSpPr>
          <p:cNvPr id="44" name="Rectangle 43">
            <a:extLst>
              <a:ext uri="{FF2B5EF4-FFF2-40B4-BE49-F238E27FC236}">
                <a16:creationId xmlns:a16="http://schemas.microsoft.com/office/drawing/2014/main" id="{55FE3E16-E11F-4B85-9E17-12787F14E5B2}"/>
              </a:ext>
            </a:extLst>
          </p:cNvPr>
          <p:cNvSpPr>
            <a:spLocks noGrp="1"/>
          </p:cNvSpPr>
          <p:nvPr/>
        </p:nvSpPr>
        <p:spPr>
          <a:xfrm>
            <a:off x="306258" y="3425356"/>
            <a:ext cx="1881301" cy="335247"/>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3AF0F7A1-D532-4F29-BB5C-99B97359007E}"/>
              </a:ext>
            </a:extLst>
          </p:cNvPr>
          <p:cNvSpPr>
            <a:spLocks noGrp="1"/>
          </p:cNvSpPr>
          <p:nvPr/>
        </p:nvSpPr>
        <p:spPr>
          <a:xfrm>
            <a:off x="2187559" y="3425356"/>
            <a:ext cx="477617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BC26AD6A-810E-4042-A5B2-B24FE5B7E5F0}"/>
              </a:ext>
            </a:extLst>
          </p:cNvPr>
          <p:cNvSpPr>
            <a:spLocks noGrp="1"/>
          </p:cNvSpPr>
          <p:nvPr/>
        </p:nvSpPr>
        <p:spPr>
          <a:xfrm>
            <a:off x="6963731" y="3425356"/>
            <a:ext cx="4623042" cy="335247"/>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82BD0810-12EA-40B5-8C7C-E9EA3C306FEF}"/>
              </a:ext>
            </a:extLst>
          </p:cNvPr>
          <p:cNvSpPr>
            <a:spLocks noGrp="1"/>
          </p:cNvSpPr>
          <p:nvPr/>
        </p:nvSpPr>
        <p:spPr>
          <a:xfrm>
            <a:off x="452095" y="3425356"/>
            <a:ext cx="1662545" cy="335247"/>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実装上の位置付け</a:t>
            </a:r>
          </a:p>
        </p:txBody>
      </p:sp>
      <p:sp>
        <p:nvSpPr>
          <p:cNvPr id="48" name="TextBox 47">
            <a:extLst>
              <a:ext uri="{FF2B5EF4-FFF2-40B4-BE49-F238E27FC236}">
                <a16:creationId xmlns:a16="http://schemas.microsoft.com/office/drawing/2014/main" id="{F3E6C1E0-906D-4344-B73D-3C1AD3FD8A71}"/>
              </a:ext>
            </a:extLst>
          </p:cNvPr>
          <p:cNvSpPr>
            <a:spLocks noGrp="1"/>
          </p:cNvSpPr>
          <p:nvPr/>
        </p:nvSpPr>
        <p:spPr>
          <a:xfrm>
            <a:off x="2391731" y="3425356"/>
            <a:ext cx="4411578"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Guardrailとして明示的に定義</a:t>
            </a:r>
          </a:p>
        </p:txBody>
      </p:sp>
      <p:sp>
        <p:nvSpPr>
          <p:cNvPr id="49" name="TextBox 48">
            <a:extLst>
              <a:ext uri="{FF2B5EF4-FFF2-40B4-BE49-F238E27FC236}">
                <a16:creationId xmlns:a16="http://schemas.microsoft.com/office/drawing/2014/main" id="{A0C5AC09-27CD-4421-AC48-286FB5A2287F}"/>
              </a:ext>
            </a:extLst>
          </p:cNvPr>
          <p:cNvSpPr>
            <a:spLocks noGrp="1"/>
          </p:cNvSpPr>
          <p:nvPr/>
        </p:nvSpPr>
        <p:spPr>
          <a:xfrm>
            <a:off x="7167904" y="3425356"/>
            <a:ext cx="4258449" cy="335247"/>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HookとPermissionの組み合わせで実装</a:t>
            </a:r>
          </a:p>
        </p:txBody>
      </p:sp>
      <p:sp>
        <p:nvSpPr>
          <p:cNvPr id="50" name="Rectangle 49">
            <a:extLst>
              <a:ext uri="{FF2B5EF4-FFF2-40B4-BE49-F238E27FC236}">
                <a16:creationId xmlns:a16="http://schemas.microsoft.com/office/drawing/2014/main" id="{20F8AFE0-B649-4B13-A1EB-27188FEA7B74}"/>
              </a:ext>
            </a:extLst>
          </p:cNvPr>
          <p:cNvSpPr>
            <a:spLocks noGrp="1"/>
          </p:cNvSpPr>
          <p:nvPr/>
        </p:nvSpPr>
        <p:spPr>
          <a:xfrm>
            <a:off x="306258" y="3760603"/>
            <a:ext cx="1881301" cy="349823"/>
          </a:xfrm>
          <a:prstGeom prst="rect">
            <a:avLst/>
          </a:prstGeom>
          <a:no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48A856F8-D9F1-49A3-812A-303355E86F22}"/>
              </a:ext>
            </a:extLst>
          </p:cNvPr>
          <p:cNvSpPr>
            <a:spLocks noGrp="1"/>
          </p:cNvSpPr>
          <p:nvPr/>
        </p:nvSpPr>
        <p:spPr>
          <a:xfrm>
            <a:off x="2187559" y="3760603"/>
            <a:ext cx="4776172" cy="349823"/>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Rectangle 51">
            <a:extLst>
              <a:ext uri="{FF2B5EF4-FFF2-40B4-BE49-F238E27FC236}">
                <a16:creationId xmlns:a16="http://schemas.microsoft.com/office/drawing/2014/main" id="{0BA89CF4-1D7D-4CCD-ADA8-28AD852281AA}"/>
              </a:ext>
            </a:extLst>
          </p:cNvPr>
          <p:cNvSpPr>
            <a:spLocks noGrp="1"/>
          </p:cNvSpPr>
          <p:nvPr/>
        </p:nvSpPr>
        <p:spPr>
          <a:xfrm>
            <a:off x="6963731" y="3760603"/>
            <a:ext cx="4623042" cy="349823"/>
          </a:xfrm>
          <a:prstGeom prst="rect">
            <a:avLst/>
          </a:prstGeom>
          <a:solidFill>
            <a:srgbClr val="FFFFFF"/>
          </a:solidFill>
          <a:ln w="889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BA896833-E0D0-4E2D-857A-A53C773D5C2C}"/>
              </a:ext>
            </a:extLst>
          </p:cNvPr>
          <p:cNvSpPr>
            <a:spLocks noGrp="1"/>
          </p:cNvSpPr>
          <p:nvPr/>
        </p:nvSpPr>
        <p:spPr>
          <a:xfrm>
            <a:off x="452095" y="3760603"/>
            <a:ext cx="1662545" cy="349823"/>
          </a:xfrm>
          <a:prstGeom prst="rect">
            <a:avLst/>
          </a:prstGeom>
          <a:noFill/>
          <a:ln>
            <a:noFill/>
          </a:ln>
          <a:effectLst/>
        </p:spPr>
        <p:txBody>
          <a:bodyPr wrap="none" lIns="0" tIns="0" rIns="0" bIns="0" anchor="ctr">
            <a:spAutoFit/>
          </a:bodyPr>
          <a:lstStyle/>
          <a:p>
            <a:pPr algn="l">
              <a:buNone/>
            </a:pPr>
            <a:r>
              <a:rPr sz="1120" b="1">
                <a:solidFill>
                  <a:srgbClr val="0A3691"/>
                </a:solidFill>
                <a:latin typeface="IPAexGothic"/>
                <a:ea typeface="IPAexGothic"/>
                <a:cs typeface="IPAexGothic"/>
              </a:rPr>
              <a:t>注意点</a:t>
            </a:r>
          </a:p>
        </p:txBody>
      </p:sp>
      <p:sp>
        <p:nvSpPr>
          <p:cNvPr id="54" name="TextBox 53">
            <a:extLst>
              <a:ext uri="{FF2B5EF4-FFF2-40B4-BE49-F238E27FC236}">
                <a16:creationId xmlns:a16="http://schemas.microsoft.com/office/drawing/2014/main" id="{C145DDC6-70FE-4C23-9B3A-46DE4EF2651E}"/>
              </a:ext>
            </a:extLst>
          </p:cNvPr>
          <p:cNvSpPr>
            <a:spLocks noGrp="1"/>
          </p:cNvSpPr>
          <p:nvPr/>
        </p:nvSpPr>
        <p:spPr>
          <a:xfrm>
            <a:off x="2391731" y="3760603"/>
            <a:ext cx="4411578" cy="349823"/>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主にfunction_toolベースのFunction Toolで利用</a:t>
            </a:r>
          </a:p>
        </p:txBody>
      </p:sp>
      <p:sp>
        <p:nvSpPr>
          <p:cNvPr id="55" name="TextBox 54">
            <a:extLst>
              <a:ext uri="{FF2B5EF4-FFF2-40B4-BE49-F238E27FC236}">
                <a16:creationId xmlns:a16="http://schemas.microsoft.com/office/drawing/2014/main" id="{DED1CEB0-A1B2-42C3-BCFA-6EEF2ABE042C}"/>
              </a:ext>
            </a:extLst>
          </p:cNvPr>
          <p:cNvSpPr>
            <a:spLocks noGrp="1"/>
          </p:cNvSpPr>
          <p:nvPr/>
        </p:nvSpPr>
        <p:spPr>
          <a:xfrm>
            <a:off x="7167904" y="3760603"/>
            <a:ext cx="4258449" cy="349823"/>
          </a:xfrm>
          <a:prstGeom prst="rect">
            <a:avLst/>
          </a:prstGeom>
          <a:noFill/>
          <a:ln>
            <a:noFill/>
          </a:ln>
          <a:effectLst/>
        </p:spPr>
        <p:txBody>
          <a:bodyPr wrap="none" lIns="0" tIns="0" rIns="0" bIns="0" anchor="ctr">
            <a:spAutoFit/>
          </a:bodyPr>
          <a:lstStyle/>
          <a:p>
            <a:pPr algn="l">
              <a:buNone/>
            </a:pPr>
            <a:r>
              <a:rPr sz="1280" b="0">
                <a:solidFill>
                  <a:srgbClr val="0A3691"/>
                </a:solidFill>
                <a:latin typeface="IPAexGothic"/>
                <a:ea typeface="IPAexGothic"/>
                <a:cs typeface="IPAexGothic"/>
              </a:rPr>
              <a:t>Permission SystemがTool実行ガバナンスの中心</a:t>
            </a:r>
          </a:p>
        </p:txBody>
      </p:sp>
      <p:sp>
        <p:nvSpPr>
          <p:cNvPr id="56" name="Rounded Rectangle 55">
            <a:extLst>
              <a:ext uri="{FF2B5EF4-FFF2-40B4-BE49-F238E27FC236}">
                <a16:creationId xmlns:a16="http://schemas.microsoft.com/office/drawing/2014/main" id="{5E1470A3-A78A-4FE2-BDAF-1F2B80FD2700}"/>
              </a:ext>
            </a:extLst>
          </p:cNvPr>
          <p:cNvSpPr>
            <a:spLocks noGrp="1"/>
          </p:cNvSpPr>
          <p:nvPr/>
        </p:nvSpPr>
        <p:spPr>
          <a:xfrm>
            <a:off x="306258" y="4241611"/>
            <a:ext cx="2821952" cy="1778269"/>
          </a:xfrm>
          <a:prstGeom prst="roundRect">
            <a:avLst>
              <a:gd name="adj" fmla="val 3000"/>
            </a:avLst>
          </a:prstGeom>
          <a:solidFill>
            <a:srgbClr val="FFFFFF"/>
          </a:solidFill>
          <a:ln w="1270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Rectangle 56">
            <a:extLst>
              <a:ext uri="{FF2B5EF4-FFF2-40B4-BE49-F238E27FC236}">
                <a16:creationId xmlns:a16="http://schemas.microsoft.com/office/drawing/2014/main" id="{4B87CE84-0F12-4CA0-B32C-1B5CF27BC8D8}"/>
              </a:ext>
            </a:extLst>
          </p:cNvPr>
          <p:cNvSpPr>
            <a:spLocks noGrp="1"/>
          </p:cNvSpPr>
          <p:nvPr/>
        </p:nvSpPr>
        <p:spPr>
          <a:xfrm>
            <a:off x="306258" y="4241611"/>
            <a:ext cx="2821952" cy="233215"/>
          </a:xfrm>
          <a:prstGeom prst="rect">
            <a:avLst/>
          </a:prstGeom>
          <a:solidFill>
            <a:srgbClr val="EEF2F7"/>
          </a:solidFill>
          <a:ln>
            <a:solidFill>
              <a:srgbClr val="0A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0F165B72-B425-4CE9-AD3C-0F23587182DB}"/>
              </a:ext>
            </a:extLst>
          </p:cNvPr>
          <p:cNvSpPr>
            <a:spLocks noGrp="1"/>
          </p:cNvSpPr>
          <p:nvPr/>
        </p:nvSpPr>
        <p:spPr>
          <a:xfrm>
            <a:off x="306258" y="4241611"/>
            <a:ext cx="2821952" cy="23321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共通例</a:t>
            </a:r>
          </a:p>
        </p:txBody>
      </p:sp>
      <p:sp>
        <p:nvSpPr>
          <p:cNvPr id="59" name="TextBox 58">
            <a:extLst>
              <a:ext uri="{FF2B5EF4-FFF2-40B4-BE49-F238E27FC236}">
                <a16:creationId xmlns:a16="http://schemas.microsoft.com/office/drawing/2014/main" id="{A2B93347-D28D-47CC-BEB9-95A0B2228533}"/>
              </a:ext>
            </a:extLst>
          </p:cNvPr>
          <p:cNvSpPr>
            <a:spLocks noGrp="1"/>
          </p:cNvSpPr>
          <p:nvPr/>
        </p:nvSpPr>
        <p:spPr>
          <a:xfrm>
            <a:off x="510430" y="4606010"/>
            <a:ext cx="2406315" cy="204063"/>
          </a:xfrm>
          <a:prstGeom prst="rect">
            <a:avLst/>
          </a:prstGeom>
          <a:noFill/>
          <a:ln>
            <a:noFill/>
          </a:ln>
          <a:effectLst/>
        </p:spPr>
        <p:txBody>
          <a:bodyPr wrap="none" lIns="0" tIns="0" rIns="0" bIns="0" anchor="ctr">
            <a:spAutoFit/>
          </a:bodyPr>
          <a:lstStyle/>
          <a:p>
            <a:pPr algn="ctr">
              <a:buNone/>
            </a:pPr>
            <a:r>
              <a:rPr sz="1080" b="0">
                <a:solidFill>
                  <a:srgbClr val="121923"/>
                </a:solidFill>
                <a:latin typeface="IPAexGothic"/>
                <a:ea typeface="IPAexGothic"/>
                <a:cs typeface="IPAexGothic"/>
              </a:rPr>
              <a:t>delete_file("important.txt")</a:t>
            </a:r>
          </a:p>
        </p:txBody>
      </p:sp>
      <p:sp>
        <p:nvSpPr>
          <p:cNvPr id="60" name="TextBox 59">
            <a:extLst>
              <a:ext uri="{FF2B5EF4-FFF2-40B4-BE49-F238E27FC236}">
                <a16:creationId xmlns:a16="http://schemas.microsoft.com/office/drawing/2014/main" id="{C67D81BE-F19A-401B-98EB-1E69F559C16A}"/>
              </a:ext>
            </a:extLst>
          </p:cNvPr>
          <p:cNvSpPr>
            <a:spLocks noGrp="1"/>
          </p:cNvSpPr>
          <p:nvPr/>
        </p:nvSpPr>
        <p:spPr>
          <a:xfrm>
            <a:off x="1633377" y="4831938"/>
            <a:ext cx="204172" cy="174911"/>
          </a:xfrm>
          <a:prstGeom prst="rect">
            <a:avLst/>
          </a:prstGeom>
          <a:noFill/>
          <a:ln>
            <a:noFill/>
          </a:ln>
          <a:effectLst/>
        </p:spPr>
        <p:txBody>
          <a:bodyPr wrap="none" lIns="0" tIns="0" rIns="0" bIns="0" anchor="ctr">
            <a:spAutoFit/>
          </a:bodyPr>
          <a:lstStyle/>
          <a:p>
            <a:pPr algn="ctr">
              <a:buNone/>
            </a:pPr>
            <a:r>
              <a:rPr sz="1350" b="0">
                <a:solidFill>
                  <a:srgbClr val="121923"/>
                </a:solidFill>
                <a:latin typeface="IPAexGothic"/>
                <a:ea typeface="IPAexGothic"/>
                <a:cs typeface="IPAexGothic"/>
              </a:rPr>
              <a:t>↓</a:t>
            </a:r>
          </a:p>
        </p:txBody>
      </p:sp>
      <p:sp>
        <p:nvSpPr>
          <p:cNvPr id="61" name="TextBox 60">
            <a:extLst>
              <a:ext uri="{FF2B5EF4-FFF2-40B4-BE49-F238E27FC236}">
                <a16:creationId xmlns:a16="http://schemas.microsoft.com/office/drawing/2014/main" id="{8A20AFCE-EC84-4DF8-9265-46302EB9FECC}"/>
              </a:ext>
            </a:extLst>
          </p:cNvPr>
          <p:cNvSpPr>
            <a:spLocks noGrp="1"/>
          </p:cNvSpPr>
          <p:nvPr/>
        </p:nvSpPr>
        <p:spPr>
          <a:xfrm>
            <a:off x="1232325" y="4984986"/>
            <a:ext cx="1166698" cy="204063"/>
          </a:xfrm>
          <a:prstGeom prst="rect">
            <a:avLst/>
          </a:prstGeom>
          <a:noFill/>
          <a:ln>
            <a:noFill/>
          </a:ln>
          <a:effectLst/>
        </p:spPr>
        <p:txBody>
          <a:bodyPr wrap="none" lIns="0" tIns="0" rIns="0" bIns="0" anchor="ctr">
            <a:spAutoFit/>
          </a:bodyPr>
          <a:lstStyle/>
          <a:p>
            <a:pPr algn="ctr">
              <a:buNone/>
            </a:pPr>
            <a:r>
              <a:rPr sz="1200" b="0">
                <a:solidFill>
                  <a:srgbClr val="121923"/>
                </a:solidFill>
                <a:latin typeface="IPAexGothic"/>
                <a:ea typeface="IPAexGothic"/>
                <a:cs typeface="IPAexGothic"/>
              </a:rPr>
              <a:t>実行前の検査</a:t>
            </a:r>
          </a:p>
        </p:txBody>
      </p:sp>
      <p:sp>
        <p:nvSpPr>
          <p:cNvPr id="62" name="TextBox 61">
            <a:extLst>
              <a:ext uri="{FF2B5EF4-FFF2-40B4-BE49-F238E27FC236}">
                <a16:creationId xmlns:a16="http://schemas.microsoft.com/office/drawing/2014/main" id="{0B69EADF-DA06-4AD6-8A3D-D61A6498E556}"/>
              </a:ext>
            </a:extLst>
          </p:cNvPr>
          <p:cNvSpPr>
            <a:spLocks noGrp="1"/>
          </p:cNvSpPr>
          <p:nvPr/>
        </p:nvSpPr>
        <p:spPr>
          <a:xfrm>
            <a:off x="1633377" y="5210913"/>
            <a:ext cx="204172" cy="174911"/>
          </a:xfrm>
          <a:prstGeom prst="rect">
            <a:avLst/>
          </a:prstGeom>
          <a:noFill/>
          <a:ln>
            <a:noFill/>
          </a:ln>
          <a:effectLst/>
        </p:spPr>
        <p:txBody>
          <a:bodyPr wrap="none" lIns="0" tIns="0" rIns="0" bIns="0" anchor="ctr">
            <a:spAutoFit/>
          </a:bodyPr>
          <a:lstStyle/>
          <a:p>
            <a:pPr algn="ctr">
              <a:buNone/>
            </a:pPr>
            <a:r>
              <a:rPr sz="1350" b="0">
                <a:solidFill>
                  <a:srgbClr val="121923"/>
                </a:solidFill>
                <a:latin typeface="IPAexGothic"/>
                <a:ea typeface="IPAexGothic"/>
                <a:cs typeface="IPAexGothic"/>
              </a:rPr>
              <a:t>↓</a:t>
            </a:r>
          </a:p>
        </p:txBody>
      </p:sp>
      <p:sp>
        <p:nvSpPr>
          <p:cNvPr id="63" name="TextBox 62">
            <a:extLst>
              <a:ext uri="{FF2B5EF4-FFF2-40B4-BE49-F238E27FC236}">
                <a16:creationId xmlns:a16="http://schemas.microsoft.com/office/drawing/2014/main" id="{9B62E206-D06E-411C-B31C-2A7716BC5008}"/>
              </a:ext>
            </a:extLst>
          </p:cNvPr>
          <p:cNvSpPr>
            <a:spLocks noGrp="1"/>
          </p:cNvSpPr>
          <p:nvPr/>
        </p:nvSpPr>
        <p:spPr>
          <a:xfrm>
            <a:off x="1538583" y="5393113"/>
            <a:ext cx="401052" cy="189487"/>
          </a:xfrm>
          <a:prstGeom prst="rect">
            <a:avLst/>
          </a:prstGeom>
          <a:noFill/>
          <a:ln>
            <a:noFill/>
          </a:ln>
          <a:effectLst/>
        </p:spPr>
        <p:txBody>
          <a:bodyPr wrap="none" lIns="0" tIns="0" rIns="0" bIns="0" anchor="ctr">
            <a:spAutoFit/>
          </a:bodyPr>
          <a:lstStyle/>
          <a:p>
            <a:pPr algn="ctr">
              <a:buNone/>
            </a:pPr>
            <a:r>
              <a:rPr sz="1240" b="0">
                <a:solidFill>
                  <a:srgbClr val="121923"/>
                </a:solidFill>
                <a:latin typeface="IPAexGothic"/>
                <a:ea typeface="IPAexGothic"/>
                <a:cs typeface="IPAexGothic"/>
              </a:rPr>
              <a:t>Deny</a:t>
            </a:r>
          </a:p>
        </p:txBody>
      </p:sp>
      <p:sp>
        <p:nvSpPr>
          <p:cNvPr id="64" name="TextBox 63">
            <a:extLst>
              <a:ext uri="{FF2B5EF4-FFF2-40B4-BE49-F238E27FC236}">
                <a16:creationId xmlns:a16="http://schemas.microsoft.com/office/drawing/2014/main" id="{424BB91D-21A8-46B5-BB5F-628E835BDAC3}"/>
              </a:ext>
            </a:extLst>
          </p:cNvPr>
          <p:cNvSpPr>
            <a:spLocks noGrp="1"/>
          </p:cNvSpPr>
          <p:nvPr/>
        </p:nvSpPr>
        <p:spPr>
          <a:xfrm>
            <a:off x="1633377" y="5619041"/>
            <a:ext cx="204172" cy="174911"/>
          </a:xfrm>
          <a:prstGeom prst="rect">
            <a:avLst/>
          </a:prstGeom>
          <a:noFill/>
          <a:ln>
            <a:noFill/>
          </a:ln>
          <a:effectLst/>
        </p:spPr>
        <p:txBody>
          <a:bodyPr wrap="none" lIns="0" tIns="0" rIns="0" bIns="0" anchor="ctr">
            <a:spAutoFit/>
          </a:bodyPr>
          <a:lstStyle/>
          <a:p>
            <a:pPr algn="ctr">
              <a:buNone/>
            </a:pPr>
            <a:r>
              <a:rPr sz="1350" b="0">
                <a:solidFill>
                  <a:srgbClr val="121923"/>
                </a:solidFill>
                <a:latin typeface="IPAexGothic"/>
                <a:ea typeface="IPAexGothic"/>
                <a:cs typeface="IPAexGothic"/>
              </a:rPr>
              <a:t>↓</a:t>
            </a:r>
          </a:p>
        </p:txBody>
      </p:sp>
      <p:sp>
        <p:nvSpPr>
          <p:cNvPr id="65" name="TextBox 64">
            <a:extLst>
              <a:ext uri="{FF2B5EF4-FFF2-40B4-BE49-F238E27FC236}">
                <a16:creationId xmlns:a16="http://schemas.microsoft.com/office/drawing/2014/main" id="{4CD5C217-95B2-4634-86D8-7FC28248D4E5}"/>
              </a:ext>
            </a:extLst>
          </p:cNvPr>
          <p:cNvSpPr>
            <a:spLocks noGrp="1"/>
          </p:cNvSpPr>
          <p:nvPr/>
        </p:nvSpPr>
        <p:spPr>
          <a:xfrm>
            <a:off x="1122947" y="5786665"/>
            <a:ext cx="1312535" cy="218639"/>
          </a:xfrm>
          <a:prstGeom prst="rect">
            <a:avLst/>
          </a:prstGeom>
          <a:noFill/>
          <a:ln>
            <a:noFill/>
          </a:ln>
          <a:effectLst/>
        </p:spPr>
        <p:txBody>
          <a:bodyPr wrap="none" lIns="0" tIns="0" rIns="0" bIns="0" anchor="ctr">
            <a:spAutoFit/>
          </a:bodyPr>
          <a:lstStyle/>
          <a:p>
            <a:pPr algn="ctr">
              <a:buNone/>
            </a:pPr>
            <a:r>
              <a:rPr sz="1200" b="0">
                <a:solidFill>
                  <a:srgbClr val="121923"/>
                </a:solidFill>
                <a:latin typeface="IPAexGothic"/>
                <a:ea typeface="IPAexGothic"/>
                <a:cs typeface="IPAexGothic"/>
              </a:rPr>
              <a:t>Toolを実行しない</a:t>
            </a:r>
          </a:p>
        </p:txBody>
      </p:sp>
      <p:sp>
        <p:nvSpPr>
          <p:cNvPr id="66" name="Rounded Rectangle 65">
            <a:extLst>
              <a:ext uri="{FF2B5EF4-FFF2-40B4-BE49-F238E27FC236}">
                <a16:creationId xmlns:a16="http://schemas.microsoft.com/office/drawing/2014/main" id="{FE2E7E74-EC46-4F72-9802-048E6A353A3F}"/>
              </a:ext>
            </a:extLst>
          </p:cNvPr>
          <p:cNvSpPr>
            <a:spLocks noGrp="1"/>
          </p:cNvSpPr>
          <p:nvPr/>
        </p:nvSpPr>
        <p:spPr>
          <a:xfrm>
            <a:off x="3325090" y="4241611"/>
            <a:ext cx="4287617" cy="1778269"/>
          </a:xfrm>
          <a:prstGeom prst="roundRect">
            <a:avLst>
              <a:gd name="adj" fmla="val 3000"/>
            </a:avLst>
          </a:prstGeom>
          <a:solidFill>
            <a:srgbClr val="FFFFFF"/>
          </a:solidFill>
          <a:ln w="1270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Rectangle 66">
            <a:extLst>
              <a:ext uri="{FF2B5EF4-FFF2-40B4-BE49-F238E27FC236}">
                <a16:creationId xmlns:a16="http://schemas.microsoft.com/office/drawing/2014/main" id="{1B9804F9-1885-4FD1-857F-F2EF58014D82}"/>
              </a:ext>
            </a:extLst>
          </p:cNvPr>
          <p:cNvSpPr>
            <a:spLocks noGrp="1"/>
          </p:cNvSpPr>
          <p:nvPr/>
        </p:nvSpPr>
        <p:spPr>
          <a:xfrm>
            <a:off x="3325090" y="4241611"/>
            <a:ext cx="4287617" cy="233215"/>
          </a:xfrm>
          <a:prstGeom prst="rect">
            <a:avLst/>
          </a:prstGeom>
          <a:solidFill>
            <a:srgbClr val="EEF2F7"/>
          </a:solidFill>
          <a:ln>
            <a:solidFill>
              <a:srgbClr val="0A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TextBox 67">
            <a:extLst>
              <a:ext uri="{FF2B5EF4-FFF2-40B4-BE49-F238E27FC236}">
                <a16:creationId xmlns:a16="http://schemas.microsoft.com/office/drawing/2014/main" id="{492C6F2C-2796-45A6-830C-12B829EED07F}"/>
              </a:ext>
            </a:extLst>
          </p:cNvPr>
          <p:cNvSpPr>
            <a:spLocks noGrp="1"/>
          </p:cNvSpPr>
          <p:nvPr/>
        </p:nvSpPr>
        <p:spPr>
          <a:xfrm>
            <a:off x="3325090" y="4241611"/>
            <a:ext cx="4287617" cy="23321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処理の流れ（イメージ）</a:t>
            </a:r>
          </a:p>
        </p:txBody>
      </p:sp>
      <p:sp>
        <p:nvSpPr>
          <p:cNvPr id="69" name="TextBox 68">
            <a:extLst>
              <a:ext uri="{FF2B5EF4-FFF2-40B4-BE49-F238E27FC236}">
                <a16:creationId xmlns:a16="http://schemas.microsoft.com/office/drawing/2014/main" id="{91FEE3DF-B10B-4E26-B4D7-FD867E06E600}"/>
              </a:ext>
            </a:extLst>
          </p:cNvPr>
          <p:cNvSpPr>
            <a:spLocks noGrp="1"/>
          </p:cNvSpPr>
          <p:nvPr/>
        </p:nvSpPr>
        <p:spPr>
          <a:xfrm>
            <a:off x="3558430" y="4591434"/>
            <a:ext cx="1604210" cy="218639"/>
          </a:xfrm>
          <a:prstGeom prst="rect">
            <a:avLst/>
          </a:prstGeom>
          <a:noFill/>
          <a:ln>
            <a:noFill/>
          </a:ln>
          <a:effectLst/>
        </p:spPr>
        <p:txBody>
          <a:bodyPr wrap="none" lIns="0" tIns="0" rIns="0" bIns="0" anchor="ctr">
            <a:spAutoFit/>
          </a:bodyPr>
          <a:lstStyle/>
          <a:p>
            <a:pPr algn="ctr">
              <a:buNone/>
            </a:pPr>
            <a:r>
              <a:rPr sz="1080" b="0">
                <a:solidFill>
                  <a:srgbClr val="0A3691"/>
                </a:solidFill>
                <a:latin typeface="IPAexGothic"/>
                <a:ea typeface="IPAexGothic"/>
                <a:cs typeface="IPAexGothic"/>
              </a:rPr>
              <a:t>OpenAI Agents SDK</a:t>
            </a:r>
          </a:p>
        </p:txBody>
      </p:sp>
      <p:sp>
        <p:nvSpPr>
          <p:cNvPr id="70" name="TextBox 69">
            <a:extLst>
              <a:ext uri="{FF2B5EF4-FFF2-40B4-BE49-F238E27FC236}">
                <a16:creationId xmlns:a16="http://schemas.microsoft.com/office/drawing/2014/main" id="{37C3ACA1-B3DB-4C09-AAFB-71323186A717}"/>
              </a:ext>
            </a:extLst>
          </p:cNvPr>
          <p:cNvSpPr>
            <a:spLocks noGrp="1"/>
          </p:cNvSpPr>
          <p:nvPr/>
        </p:nvSpPr>
        <p:spPr>
          <a:xfrm>
            <a:off x="5585569" y="4591434"/>
            <a:ext cx="1786507" cy="218639"/>
          </a:xfrm>
          <a:prstGeom prst="rect">
            <a:avLst/>
          </a:prstGeom>
          <a:noFill/>
          <a:ln>
            <a:noFill/>
          </a:ln>
          <a:effectLst/>
        </p:spPr>
        <p:txBody>
          <a:bodyPr wrap="none" lIns="0" tIns="0" rIns="0" bIns="0" anchor="ctr">
            <a:spAutoFit/>
          </a:bodyPr>
          <a:lstStyle/>
          <a:p>
            <a:pPr algn="ctr">
              <a:buNone/>
            </a:pPr>
            <a:r>
              <a:rPr sz="1080" b="0">
                <a:solidFill>
                  <a:srgbClr val="0A3691"/>
                </a:solidFill>
                <a:latin typeface="IPAexGothic"/>
                <a:ea typeface="IPAexGothic"/>
                <a:cs typeface="IPAexGothic"/>
              </a:rPr>
              <a:t>Claude Agent SDK</a:t>
            </a:r>
          </a:p>
        </p:txBody>
      </p:sp>
      <p:sp>
        <p:nvSpPr>
          <p:cNvPr id="71" name="Rectangle 70">
            <a:extLst>
              <a:ext uri="{FF2B5EF4-FFF2-40B4-BE49-F238E27FC236}">
                <a16:creationId xmlns:a16="http://schemas.microsoft.com/office/drawing/2014/main" id="{0929BEE2-325A-4F8A-8A58-7F9B8E0329D1}"/>
              </a:ext>
            </a:extLst>
          </p:cNvPr>
          <p:cNvSpPr>
            <a:spLocks noGrp="1"/>
          </p:cNvSpPr>
          <p:nvPr/>
        </p:nvSpPr>
        <p:spPr>
          <a:xfrm>
            <a:off x="5410564" y="4591434"/>
            <a:ext cx="14583" cy="1311838"/>
          </a:xfrm>
          <a:prstGeom prst="rect">
            <a:avLst/>
          </a:prstGeom>
          <a:solidFill>
            <a:srgbClr val="4567AD"/>
          </a:solidFill>
          <a:ln>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TextBox 71">
            <a:extLst>
              <a:ext uri="{FF2B5EF4-FFF2-40B4-BE49-F238E27FC236}">
                <a16:creationId xmlns:a16="http://schemas.microsoft.com/office/drawing/2014/main" id="{5B30E6F5-85BD-4506-AC1E-5B3787E44F3E}"/>
              </a:ext>
            </a:extLst>
          </p:cNvPr>
          <p:cNvSpPr>
            <a:spLocks noGrp="1"/>
          </p:cNvSpPr>
          <p:nvPr/>
        </p:nvSpPr>
        <p:spPr>
          <a:xfrm>
            <a:off x="3864688" y="4875666"/>
            <a:ext cx="947942" cy="182199"/>
          </a:xfrm>
          <a:prstGeom prst="rect">
            <a:avLst/>
          </a:prstGeom>
          <a:noFill/>
          <a:ln>
            <a:noFill/>
          </a:ln>
          <a:effectLst/>
        </p:spPr>
        <p:txBody>
          <a:bodyPr wrap="none" lIns="0" tIns="0" rIns="0" bIns="0" anchor="ctr">
            <a:spAutoFit/>
          </a:bodyPr>
          <a:lstStyle/>
          <a:p>
            <a:pPr algn="ctr">
              <a:buNone/>
            </a:pPr>
            <a:r>
              <a:rPr sz="1200" b="0">
                <a:solidFill>
                  <a:srgbClr val="121923"/>
                </a:solidFill>
                <a:latin typeface="IPAexGothic"/>
                <a:ea typeface="IPAexGothic"/>
                <a:cs typeface="IPAexGothic"/>
              </a:rPr>
              <a:t>Tool Call</a:t>
            </a:r>
          </a:p>
        </p:txBody>
      </p:sp>
      <p:sp>
        <p:nvSpPr>
          <p:cNvPr id="73" name="TextBox 72">
            <a:extLst>
              <a:ext uri="{FF2B5EF4-FFF2-40B4-BE49-F238E27FC236}">
                <a16:creationId xmlns:a16="http://schemas.microsoft.com/office/drawing/2014/main" id="{5E086126-C188-4A89-A8B4-73F7223FC1F1}"/>
              </a:ext>
            </a:extLst>
          </p:cNvPr>
          <p:cNvSpPr>
            <a:spLocks noGrp="1"/>
          </p:cNvSpPr>
          <p:nvPr/>
        </p:nvSpPr>
        <p:spPr>
          <a:xfrm>
            <a:off x="4338660" y="5094306"/>
            <a:ext cx="145837" cy="160335"/>
          </a:xfrm>
          <a:prstGeom prst="rect">
            <a:avLst/>
          </a:prstGeom>
          <a:noFill/>
          <a:ln>
            <a:noFill/>
          </a:ln>
          <a:effectLst/>
        </p:spPr>
        <p:txBody>
          <a:bodyPr wrap="none" lIns="0" tIns="0" rIns="0" bIns="0" anchor="ctr">
            <a:spAutoFit/>
          </a:bodyPr>
          <a:lstStyle/>
          <a:p>
            <a:pPr algn="ctr">
              <a:buNone/>
            </a:pPr>
            <a:r>
              <a:rPr sz="1600" b="0">
                <a:solidFill>
                  <a:srgbClr val="121923"/>
                </a:solidFill>
                <a:latin typeface="IPAexGothic"/>
                <a:ea typeface="IPAexGothic"/>
                <a:cs typeface="IPAexGothic"/>
              </a:rPr>
              <a:t>↓</a:t>
            </a:r>
          </a:p>
        </p:txBody>
      </p:sp>
      <p:sp>
        <p:nvSpPr>
          <p:cNvPr id="74" name="TextBox 73">
            <a:extLst>
              <a:ext uri="{FF2B5EF4-FFF2-40B4-BE49-F238E27FC236}">
                <a16:creationId xmlns:a16="http://schemas.microsoft.com/office/drawing/2014/main" id="{DF10C3DD-8CE7-45F9-AFC4-D455D5BEA43F}"/>
              </a:ext>
            </a:extLst>
          </p:cNvPr>
          <p:cNvSpPr>
            <a:spLocks noGrp="1"/>
          </p:cNvSpPr>
          <p:nvPr/>
        </p:nvSpPr>
        <p:spPr>
          <a:xfrm>
            <a:off x="3682392" y="5276505"/>
            <a:ext cx="1531291" cy="204063"/>
          </a:xfrm>
          <a:prstGeom prst="rect">
            <a:avLst/>
          </a:prstGeom>
          <a:noFill/>
          <a:ln>
            <a:noFill/>
          </a:ln>
          <a:effectLst/>
        </p:spPr>
        <p:txBody>
          <a:bodyPr wrap="none" lIns="0" tIns="0" rIns="0" bIns="0" anchor="ctr">
            <a:spAutoFit/>
          </a:bodyPr>
          <a:lstStyle/>
          <a:p>
            <a:pPr algn="ctr">
              <a:buNone/>
            </a:pPr>
            <a:r>
              <a:rPr sz="1200" b="0">
                <a:solidFill>
                  <a:srgbClr val="121923"/>
                </a:solidFill>
                <a:latin typeface="IPAexGothic"/>
                <a:ea typeface="IPAexGothic"/>
                <a:cs typeface="IPAexGothic"/>
              </a:rPr>
              <a:t>Tool Input Guardrail</a:t>
            </a:r>
          </a:p>
        </p:txBody>
      </p:sp>
      <p:sp>
        <p:nvSpPr>
          <p:cNvPr id="75" name="TextBox 74">
            <a:extLst>
              <a:ext uri="{FF2B5EF4-FFF2-40B4-BE49-F238E27FC236}">
                <a16:creationId xmlns:a16="http://schemas.microsoft.com/office/drawing/2014/main" id="{D0C4F0E2-FE49-4262-89D3-ECB93D2247D8}"/>
              </a:ext>
            </a:extLst>
          </p:cNvPr>
          <p:cNvSpPr>
            <a:spLocks noGrp="1"/>
          </p:cNvSpPr>
          <p:nvPr/>
        </p:nvSpPr>
        <p:spPr>
          <a:xfrm>
            <a:off x="4338660" y="5495145"/>
            <a:ext cx="145837" cy="160335"/>
          </a:xfrm>
          <a:prstGeom prst="rect">
            <a:avLst/>
          </a:prstGeom>
          <a:noFill/>
          <a:ln>
            <a:noFill/>
          </a:ln>
          <a:effectLst/>
        </p:spPr>
        <p:txBody>
          <a:bodyPr wrap="none" lIns="0" tIns="0" rIns="0" bIns="0" anchor="ctr">
            <a:spAutoFit/>
          </a:bodyPr>
          <a:lstStyle/>
          <a:p>
            <a:pPr algn="ctr">
              <a:buNone/>
            </a:pPr>
            <a:r>
              <a:rPr sz="1600" b="0">
                <a:solidFill>
                  <a:srgbClr val="121923"/>
                </a:solidFill>
                <a:latin typeface="IPAexGothic"/>
                <a:ea typeface="IPAexGothic"/>
                <a:cs typeface="IPAexGothic"/>
              </a:rPr>
              <a:t>↓</a:t>
            </a:r>
          </a:p>
        </p:txBody>
      </p:sp>
      <p:sp>
        <p:nvSpPr>
          <p:cNvPr id="76" name="TextBox 75">
            <a:extLst>
              <a:ext uri="{FF2B5EF4-FFF2-40B4-BE49-F238E27FC236}">
                <a16:creationId xmlns:a16="http://schemas.microsoft.com/office/drawing/2014/main" id="{E4914A6F-C40E-44BA-AAAB-8272B6D19578}"/>
              </a:ext>
            </a:extLst>
          </p:cNvPr>
          <p:cNvSpPr>
            <a:spLocks noGrp="1"/>
          </p:cNvSpPr>
          <p:nvPr/>
        </p:nvSpPr>
        <p:spPr>
          <a:xfrm>
            <a:off x="3689684" y="5677345"/>
            <a:ext cx="1494832" cy="189487"/>
          </a:xfrm>
          <a:prstGeom prst="rect">
            <a:avLst/>
          </a:prstGeom>
          <a:noFill/>
          <a:ln>
            <a:noFill/>
          </a:ln>
          <a:effectLst/>
        </p:spPr>
        <p:txBody>
          <a:bodyPr wrap="none" lIns="0" tIns="0" rIns="0" bIns="0" anchor="ctr">
            <a:spAutoFit/>
          </a:bodyPr>
          <a:lstStyle/>
          <a:p>
            <a:pPr algn="ctr">
              <a:buNone/>
            </a:pPr>
            <a:r>
              <a:rPr sz="1150" b="0">
                <a:solidFill>
                  <a:srgbClr val="121923"/>
                </a:solidFill>
                <a:latin typeface="IPAexGothic"/>
                <a:ea typeface="IPAexGothic"/>
                <a:cs typeface="IPAexGothic"/>
              </a:rPr>
              <a:t>Allow または Reject</a:t>
            </a:r>
          </a:p>
        </p:txBody>
      </p:sp>
      <p:sp>
        <p:nvSpPr>
          <p:cNvPr id="77" name="TextBox 76">
            <a:extLst>
              <a:ext uri="{FF2B5EF4-FFF2-40B4-BE49-F238E27FC236}">
                <a16:creationId xmlns:a16="http://schemas.microsoft.com/office/drawing/2014/main" id="{5D104C62-338B-4927-93F4-7BAB110915AA}"/>
              </a:ext>
            </a:extLst>
          </p:cNvPr>
          <p:cNvSpPr>
            <a:spLocks noGrp="1"/>
          </p:cNvSpPr>
          <p:nvPr/>
        </p:nvSpPr>
        <p:spPr>
          <a:xfrm>
            <a:off x="5906411" y="4875666"/>
            <a:ext cx="947942" cy="182199"/>
          </a:xfrm>
          <a:prstGeom prst="rect">
            <a:avLst/>
          </a:prstGeom>
          <a:noFill/>
          <a:ln>
            <a:noFill/>
          </a:ln>
          <a:effectLst/>
        </p:spPr>
        <p:txBody>
          <a:bodyPr wrap="none" lIns="0" tIns="0" rIns="0" bIns="0" anchor="ctr">
            <a:spAutoFit/>
          </a:bodyPr>
          <a:lstStyle/>
          <a:p>
            <a:pPr algn="ctr">
              <a:buNone/>
            </a:pPr>
            <a:r>
              <a:rPr sz="1200" b="0">
                <a:solidFill>
                  <a:srgbClr val="121923"/>
                </a:solidFill>
                <a:latin typeface="IPAexGothic"/>
                <a:ea typeface="IPAexGothic"/>
                <a:cs typeface="IPAexGothic"/>
              </a:rPr>
              <a:t>Tool Request</a:t>
            </a:r>
          </a:p>
        </p:txBody>
      </p:sp>
      <p:sp>
        <p:nvSpPr>
          <p:cNvPr id="78" name="TextBox 77">
            <a:extLst>
              <a:ext uri="{FF2B5EF4-FFF2-40B4-BE49-F238E27FC236}">
                <a16:creationId xmlns:a16="http://schemas.microsoft.com/office/drawing/2014/main" id="{1B6A141A-064B-421C-A041-71A9564DDF04}"/>
              </a:ext>
            </a:extLst>
          </p:cNvPr>
          <p:cNvSpPr>
            <a:spLocks noGrp="1"/>
          </p:cNvSpPr>
          <p:nvPr/>
        </p:nvSpPr>
        <p:spPr>
          <a:xfrm>
            <a:off x="6380382" y="5094306"/>
            <a:ext cx="145837" cy="160335"/>
          </a:xfrm>
          <a:prstGeom prst="rect">
            <a:avLst/>
          </a:prstGeom>
          <a:noFill/>
          <a:ln>
            <a:noFill/>
          </a:ln>
          <a:effectLst/>
        </p:spPr>
        <p:txBody>
          <a:bodyPr wrap="none" lIns="0" tIns="0" rIns="0" bIns="0" anchor="ctr">
            <a:spAutoFit/>
          </a:bodyPr>
          <a:lstStyle/>
          <a:p>
            <a:pPr algn="ctr">
              <a:buNone/>
            </a:pPr>
            <a:r>
              <a:rPr sz="1600" b="0">
                <a:solidFill>
                  <a:srgbClr val="121923"/>
                </a:solidFill>
                <a:latin typeface="IPAexGothic"/>
                <a:ea typeface="IPAexGothic"/>
                <a:cs typeface="IPAexGothic"/>
              </a:rPr>
              <a:t>↓</a:t>
            </a:r>
          </a:p>
        </p:txBody>
      </p:sp>
      <p:sp>
        <p:nvSpPr>
          <p:cNvPr id="79" name="TextBox 78">
            <a:extLst>
              <a:ext uri="{FF2B5EF4-FFF2-40B4-BE49-F238E27FC236}">
                <a16:creationId xmlns:a16="http://schemas.microsoft.com/office/drawing/2014/main" id="{23C6FA50-3ADA-45C4-B89A-906EFEEEFA89}"/>
              </a:ext>
            </a:extLst>
          </p:cNvPr>
          <p:cNvSpPr>
            <a:spLocks noGrp="1"/>
          </p:cNvSpPr>
          <p:nvPr/>
        </p:nvSpPr>
        <p:spPr>
          <a:xfrm>
            <a:off x="5512650" y="5276505"/>
            <a:ext cx="1968803" cy="204063"/>
          </a:xfrm>
          <a:prstGeom prst="rect">
            <a:avLst/>
          </a:prstGeom>
          <a:noFill/>
          <a:ln>
            <a:noFill/>
          </a:ln>
          <a:effectLst/>
        </p:spPr>
        <p:txBody>
          <a:bodyPr wrap="none" lIns="0" tIns="0" rIns="0" bIns="0" anchor="ctr">
            <a:spAutoFit/>
          </a:bodyPr>
          <a:lstStyle/>
          <a:p>
            <a:pPr algn="ctr">
              <a:buNone/>
            </a:pPr>
            <a:r>
              <a:rPr sz="1080" b="0">
                <a:solidFill>
                  <a:srgbClr val="121923"/>
                </a:solidFill>
                <a:latin typeface="IPAexGothic"/>
                <a:ea typeface="IPAexGothic"/>
                <a:cs typeface="IPAexGothic"/>
              </a:rPr>
              <a:t>PreToolUse ／ Permission</a:t>
            </a:r>
          </a:p>
        </p:txBody>
      </p:sp>
      <p:sp>
        <p:nvSpPr>
          <p:cNvPr id="80" name="TextBox 79">
            <a:extLst>
              <a:ext uri="{FF2B5EF4-FFF2-40B4-BE49-F238E27FC236}">
                <a16:creationId xmlns:a16="http://schemas.microsoft.com/office/drawing/2014/main" id="{C4248992-32CA-41C9-B83E-EF60F8112E55}"/>
              </a:ext>
            </a:extLst>
          </p:cNvPr>
          <p:cNvSpPr>
            <a:spLocks noGrp="1"/>
          </p:cNvSpPr>
          <p:nvPr/>
        </p:nvSpPr>
        <p:spPr>
          <a:xfrm>
            <a:off x="6380382" y="5495145"/>
            <a:ext cx="145837" cy="160335"/>
          </a:xfrm>
          <a:prstGeom prst="rect">
            <a:avLst/>
          </a:prstGeom>
          <a:noFill/>
          <a:ln>
            <a:noFill/>
          </a:ln>
          <a:effectLst/>
        </p:spPr>
        <p:txBody>
          <a:bodyPr wrap="none" lIns="0" tIns="0" rIns="0" bIns="0" anchor="ctr">
            <a:spAutoFit/>
          </a:bodyPr>
          <a:lstStyle/>
          <a:p>
            <a:pPr algn="ctr">
              <a:buNone/>
            </a:pPr>
            <a:r>
              <a:rPr sz="1600" b="0">
                <a:solidFill>
                  <a:srgbClr val="121923"/>
                </a:solidFill>
                <a:latin typeface="IPAexGothic"/>
                <a:ea typeface="IPAexGothic"/>
                <a:cs typeface="IPAexGothic"/>
              </a:rPr>
              <a:t>↓</a:t>
            </a:r>
          </a:p>
        </p:txBody>
      </p:sp>
      <p:sp>
        <p:nvSpPr>
          <p:cNvPr id="81" name="TextBox 80">
            <a:extLst>
              <a:ext uri="{FF2B5EF4-FFF2-40B4-BE49-F238E27FC236}">
                <a16:creationId xmlns:a16="http://schemas.microsoft.com/office/drawing/2014/main" id="{4F1CDA0E-4AC0-4312-980A-C23EF2C05F63}"/>
              </a:ext>
            </a:extLst>
          </p:cNvPr>
          <p:cNvSpPr>
            <a:spLocks noGrp="1"/>
          </p:cNvSpPr>
          <p:nvPr/>
        </p:nvSpPr>
        <p:spPr>
          <a:xfrm>
            <a:off x="5622028" y="5677345"/>
            <a:ext cx="1750047" cy="189487"/>
          </a:xfrm>
          <a:prstGeom prst="rect">
            <a:avLst/>
          </a:prstGeom>
          <a:noFill/>
          <a:ln>
            <a:noFill/>
          </a:ln>
          <a:effectLst/>
        </p:spPr>
        <p:txBody>
          <a:bodyPr wrap="none" lIns="0" tIns="0" rIns="0" bIns="0" anchor="ctr">
            <a:spAutoFit/>
          </a:bodyPr>
          <a:lstStyle/>
          <a:p>
            <a:pPr algn="ctr">
              <a:buNone/>
            </a:pPr>
            <a:r>
              <a:rPr sz="1080" b="0">
                <a:solidFill>
                  <a:srgbClr val="121923"/>
                </a:solidFill>
                <a:latin typeface="IPAexGothic"/>
                <a:ea typeface="IPAexGothic"/>
                <a:cs typeface="IPAexGothic"/>
              </a:rPr>
              <a:t>Allow ／ Ask ／ Deny</a:t>
            </a:r>
          </a:p>
        </p:txBody>
      </p:sp>
      <p:sp>
        <p:nvSpPr>
          <p:cNvPr id="82" name="Rounded Rectangle 81">
            <a:extLst>
              <a:ext uri="{FF2B5EF4-FFF2-40B4-BE49-F238E27FC236}">
                <a16:creationId xmlns:a16="http://schemas.microsoft.com/office/drawing/2014/main" id="{B891E427-AA36-41D5-93AB-41843DCE7046}"/>
              </a:ext>
            </a:extLst>
          </p:cNvPr>
          <p:cNvSpPr>
            <a:spLocks noGrp="1"/>
          </p:cNvSpPr>
          <p:nvPr/>
        </p:nvSpPr>
        <p:spPr>
          <a:xfrm>
            <a:off x="7795004" y="4241611"/>
            <a:ext cx="3791770" cy="1778269"/>
          </a:xfrm>
          <a:prstGeom prst="roundRect">
            <a:avLst>
              <a:gd name="adj" fmla="val 3000"/>
            </a:avLst>
          </a:prstGeom>
          <a:solidFill>
            <a:srgbClr val="FFFFFF"/>
          </a:solidFill>
          <a:ln w="1270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3" name="Rectangle 82">
            <a:extLst>
              <a:ext uri="{FF2B5EF4-FFF2-40B4-BE49-F238E27FC236}">
                <a16:creationId xmlns:a16="http://schemas.microsoft.com/office/drawing/2014/main" id="{C5AE22FA-F633-496B-9EDB-5FBF220119B1}"/>
              </a:ext>
            </a:extLst>
          </p:cNvPr>
          <p:cNvSpPr>
            <a:spLocks noGrp="1"/>
          </p:cNvSpPr>
          <p:nvPr/>
        </p:nvSpPr>
        <p:spPr>
          <a:xfrm>
            <a:off x="7795004" y="4241611"/>
            <a:ext cx="3791770" cy="233215"/>
          </a:xfrm>
          <a:prstGeom prst="rect">
            <a:avLst/>
          </a:prstGeom>
          <a:solidFill>
            <a:srgbClr val="EEF2F7"/>
          </a:solidFill>
          <a:ln>
            <a:solidFill>
              <a:srgbClr val="0A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TextBox 83">
            <a:extLst>
              <a:ext uri="{FF2B5EF4-FFF2-40B4-BE49-F238E27FC236}">
                <a16:creationId xmlns:a16="http://schemas.microsoft.com/office/drawing/2014/main" id="{C63EB134-E6AC-4438-A280-60A3B52971CD}"/>
              </a:ext>
            </a:extLst>
          </p:cNvPr>
          <p:cNvSpPr>
            <a:spLocks noGrp="1"/>
          </p:cNvSpPr>
          <p:nvPr/>
        </p:nvSpPr>
        <p:spPr>
          <a:xfrm>
            <a:off x="7795004" y="4241611"/>
            <a:ext cx="3791770" cy="23321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ポイント</a:t>
            </a:r>
          </a:p>
        </p:txBody>
      </p:sp>
      <p:sp>
        <p:nvSpPr>
          <p:cNvPr id="85" name="TextBox 84">
            <a:extLst>
              <a:ext uri="{FF2B5EF4-FFF2-40B4-BE49-F238E27FC236}">
                <a16:creationId xmlns:a16="http://schemas.microsoft.com/office/drawing/2014/main" id="{2088BC99-1408-4B05-8B80-D60258689E45}"/>
              </a:ext>
            </a:extLst>
          </p:cNvPr>
          <p:cNvSpPr>
            <a:spLocks noGrp="1"/>
          </p:cNvSpPr>
          <p:nvPr/>
        </p:nvSpPr>
        <p:spPr>
          <a:xfrm>
            <a:off x="8013760" y="4613298"/>
            <a:ext cx="3354258" cy="349823"/>
          </a:xfrm>
          <a:prstGeom prst="rect">
            <a:avLst/>
          </a:prstGeom>
          <a:noFill/>
          <a:ln>
            <a:noFill/>
          </a:ln>
          <a:effectLst/>
        </p:spPr>
        <p:txBody>
          <a:bodyPr wrap="square" lIns="0" tIns="0" rIns="0" bIns="0" anchor="ctr">
            <a:spAutoFit/>
          </a:bodyPr>
          <a:lstStyle/>
          <a:p>
            <a:pPr algn="l">
              <a:buNone/>
            </a:pPr>
            <a:r>
              <a:rPr sz="1140" b="0">
                <a:solidFill>
                  <a:srgbClr val="121923"/>
                </a:solidFill>
                <a:latin typeface="IPAexGothic"/>
                <a:ea typeface="IPAexGothic"/>
                <a:cs typeface="IPAexGothic"/>
              </a:rPr>
              <a:t>・ 「Promptで禁止する」だけでなく，</a:t>
            </a:r>
          </a:p>
          <a:p>
            <a:pPr algn="l">
              <a:buNone/>
            </a:pPr>
            <a:r>
              <a:rPr sz="1140" b="0">
                <a:solidFill>
                  <a:srgbClr val="121923"/>
                </a:solidFill>
                <a:latin typeface="IPAexGothic"/>
                <a:ea typeface="IPAexGothic"/>
                <a:cs typeface="IPAexGothic"/>
              </a:rPr>
              <a:t>   Runtimeで機械的に制御できる．</a:t>
            </a:r>
          </a:p>
        </p:txBody>
      </p:sp>
      <p:sp>
        <p:nvSpPr>
          <p:cNvPr id="86" name="TextBox 85">
            <a:extLst>
              <a:ext uri="{FF2B5EF4-FFF2-40B4-BE49-F238E27FC236}">
                <a16:creationId xmlns:a16="http://schemas.microsoft.com/office/drawing/2014/main" id="{0B905BD6-B50F-42E8-B750-31A27159FD6B}"/>
              </a:ext>
            </a:extLst>
          </p:cNvPr>
          <p:cNvSpPr>
            <a:spLocks noGrp="1"/>
          </p:cNvSpPr>
          <p:nvPr/>
        </p:nvSpPr>
        <p:spPr>
          <a:xfrm>
            <a:off x="8013760" y="5079730"/>
            <a:ext cx="3354258" cy="349823"/>
          </a:xfrm>
          <a:prstGeom prst="rect">
            <a:avLst/>
          </a:prstGeom>
          <a:noFill/>
          <a:ln>
            <a:noFill/>
          </a:ln>
          <a:effectLst/>
        </p:spPr>
        <p:txBody>
          <a:bodyPr wrap="square" lIns="0" tIns="0" rIns="0" bIns="0" anchor="ctr">
            <a:spAutoFit/>
          </a:bodyPr>
          <a:lstStyle/>
          <a:p>
            <a:pPr algn="l">
              <a:buNone/>
            </a:pPr>
            <a:r>
              <a:rPr sz="1140" b="0">
                <a:solidFill>
                  <a:srgbClr val="121923"/>
                </a:solidFill>
                <a:latin typeface="IPAexGothic"/>
                <a:ea typeface="IPAexGothic"/>
                <a:cs typeface="IPAexGothic"/>
              </a:rPr>
              <a:t>・ OpenAIはGuardrail，Claudeは</a:t>
            </a:r>
          </a:p>
          <a:p>
            <a:pPr algn="l">
              <a:buNone/>
            </a:pPr>
            <a:r>
              <a:rPr sz="1140" b="0">
                <a:solidFill>
                  <a:srgbClr val="121923"/>
                </a:solidFill>
                <a:latin typeface="IPAexGothic"/>
                <a:ea typeface="IPAexGothic"/>
                <a:cs typeface="IPAexGothic"/>
              </a:rPr>
              <a:t>   Hook＋Permissionという違いがある．</a:t>
            </a:r>
          </a:p>
        </p:txBody>
      </p:sp>
      <p:sp>
        <p:nvSpPr>
          <p:cNvPr id="87" name="TextBox 86">
            <a:extLst>
              <a:ext uri="{FF2B5EF4-FFF2-40B4-BE49-F238E27FC236}">
                <a16:creationId xmlns:a16="http://schemas.microsoft.com/office/drawing/2014/main" id="{533FC6AD-6BD4-483D-B855-796E70B42379}"/>
              </a:ext>
            </a:extLst>
          </p:cNvPr>
          <p:cNvSpPr>
            <a:spLocks noGrp="1"/>
          </p:cNvSpPr>
          <p:nvPr/>
        </p:nvSpPr>
        <p:spPr>
          <a:xfrm>
            <a:off x="8013760" y="5546161"/>
            <a:ext cx="3354258" cy="349823"/>
          </a:xfrm>
          <a:prstGeom prst="rect">
            <a:avLst/>
          </a:prstGeom>
          <a:noFill/>
          <a:ln>
            <a:noFill/>
          </a:ln>
          <a:effectLst/>
        </p:spPr>
        <p:txBody>
          <a:bodyPr wrap="square" lIns="0" tIns="0" rIns="0" bIns="0" anchor="ctr">
            <a:spAutoFit/>
          </a:bodyPr>
          <a:lstStyle/>
          <a:p>
            <a:pPr algn="l">
              <a:buNone/>
            </a:pPr>
            <a:r>
              <a:rPr sz="1140" b="0">
                <a:solidFill>
                  <a:srgbClr val="121923"/>
                </a:solidFill>
                <a:latin typeface="IPAexGothic"/>
                <a:ea typeface="IPAexGothic"/>
                <a:cs typeface="IPAexGothic"/>
              </a:rPr>
              <a:t>・ 重要ファイルの変更・削除禁止のような</a:t>
            </a:r>
          </a:p>
          <a:p>
            <a:pPr algn="l">
              <a:buNone/>
            </a:pPr>
            <a:r>
              <a:rPr sz="1140" b="0">
                <a:solidFill>
                  <a:srgbClr val="121923"/>
                </a:solidFill>
                <a:latin typeface="IPAexGothic"/>
                <a:ea typeface="IPAexGothic"/>
                <a:cs typeface="IPAexGothic"/>
              </a:rPr>
              <a:t>   Policy実装で中核となる．</a:t>
            </a:r>
          </a:p>
        </p:txBody>
      </p:sp>
      <p:sp>
        <p:nvSpPr>
          <p:cNvPr id="88" name="Rounded Rectangle 87">
            <a:extLst>
              <a:ext uri="{FF2B5EF4-FFF2-40B4-BE49-F238E27FC236}">
                <a16:creationId xmlns:a16="http://schemas.microsoft.com/office/drawing/2014/main" id="{78062534-9EAE-4011-9A71-A1C1719D50DF}"/>
              </a:ext>
            </a:extLst>
          </p:cNvPr>
          <p:cNvSpPr>
            <a:spLocks noGrp="1"/>
          </p:cNvSpPr>
          <p:nvPr/>
        </p:nvSpPr>
        <p:spPr>
          <a:xfrm>
            <a:off x="306258" y="6121912"/>
            <a:ext cx="11280516" cy="444567"/>
          </a:xfrm>
          <a:prstGeom prst="roundRect">
            <a:avLst>
              <a:gd name="adj" fmla="val 3000"/>
            </a:avLst>
          </a:prstGeom>
          <a:solidFill>
            <a:srgbClr val="FFFFFF"/>
          </a:solidFill>
          <a:ln w="12700">
            <a:solidFill>
              <a:srgbClr val="4567A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9" name="Rectangle 88">
            <a:extLst>
              <a:ext uri="{FF2B5EF4-FFF2-40B4-BE49-F238E27FC236}">
                <a16:creationId xmlns:a16="http://schemas.microsoft.com/office/drawing/2014/main" id="{E4A81D79-B01B-49B2-9444-916B1D319EB1}"/>
              </a:ext>
            </a:extLst>
          </p:cNvPr>
          <p:cNvSpPr>
            <a:spLocks noGrp="1"/>
          </p:cNvSpPr>
          <p:nvPr/>
        </p:nvSpPr>
        <p:spPr>
          <a:xfrm>
            <a:off x="306258" y="6121912"/>
            <a:ext cx="1392746" cy="444567"/>
          </a:xfrm>
          <a:prstGeom prst="rect">
            <a:avLst/>
          </a:prstGeom>
          <a:solidFill>
            <a:srgbClr val="EEF2F7"/>
          </a:solidFill>
          <a:ln>
            <a:solidFill>
              <a:srgbClr val="0A36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0" name="TextBox 89">
            <a:extLst>
              <a:ext uri="{FF2B5EF4-FFF2-40B4-BE49-F238E27FC236}">
                <a16:creationId xmlns:a16="http://schemas.microsoft.com/office/drawing/2014/main" id="{6C669991-9475-4668-B501-5D8D3AE73116}"/>
              </a:ext>
            </a:extLst>
          </p:cNvPr>
          <p:cNvSpPr>
            <a:spLocks noGrp="1"/>
          </p:cNvSpPr>
          <p:nvPr/>
        </p:nvSpPr>
        <p:spPr>
          <a:xfrm>
            <a:off x="306258" y="6121912"/>
            <a:ext cx="1392746" cy="444567"/>
          </a:xfrm>
          <a:prstGeom prst="rect">
            <a:avLst/>
          </a:prstGeom>
          <a:noFill/>
          <a:ln>
            <a:noFill/>
          </a:ln>
          <a:effectLst/>
        </p:spPr>
        <p:txBody>
          <a:bodyPr wrap="none" lIns="0" tIns="0" rIns="0" bIns="0" anchor="ctr">
            <a:spAutoFit/>
          </a:bodyPr>
          <a:lstStyle/>
          <a:p>
            <a:pPr algn="ctr">
              <a:buNone/>
            </a:pPr>
            <a:r>
              <a:rPr sz="1280" b="1">
                <a:solidFill>
                  <a:srgbClr val="0B3691"/>
                </a:solidFill>
                <a:latin typeface="IPAexGothic"/>
                <a:ea typeface="IPAexGothic"/>
                <a:cs typeface="IPAexGothic"/>
              </a:rPr>
              <a:t>違いのまとめ</a:t>
            </a:r>
          </a:p>
        </p:txBody>
      </p:sp>
      <p:sp>
        <p:nvSpPr>
          <p:cNvPr id="91" name="TextBox 90">
            <a:extLst>
              <a:ext uri="{FF2B5EF4-FFF2-40B4-BE49-F238E27FC236}">
                <a16:creationId xmlns:a16="http://schemas.microsoft.com/office/drawing/2014/main" id="{642EB16E-144E-4F3D-857C-D5BDC48D7384}"/>
              </a:ext>
            </a:extLst>
          </p:cNvPr>
          <p:cNvSpPr>
            <a:spLocks noGrp="1"/>
          </p:cNvSpPr>
          <p:nvPr/>
        </p:nvSpPr>
        <p:spPr>
          <a:xfrm>
            <a:off x="2100057" y="6238520"/>
            <a:ext cx="8166889" cy="218639"/>
          </a:xfrm>
          <a:prstGeom prst="rect">
            <a:avLst/>
          </a:prstGeom>
          <a:noFill/>
          <a:ln>
            <a:noFill/>
          </a:ln>
          <a:effectLst/>
        </p:spPr>
        <p:txBody>
          <a:bodyPr wrap="none" lIns="0" tIns="0" rIns="0" bIns="0" anchor="ctr">
            <a:spAutoFit/>
          </a:bodyPr>
          <a:lstStyle/>
          <a:p>
            <a:pPr algn="l">
              <a:buNone/>
            </a:pPr>
            <a:r>
              <a:rPr sz="1180" b="1">
                <a:solidFill>
                  <a:srgbClr val="121923"/>
                </a:solidFill>
                <a:latin typeface="IPAexGothic"/>
                <a:ea typeface="IPAexGothic"/>
                <a:cs typeface="IPAexGothic"/>
              </a:rPr>
              <a:t>同じ実行前制御でも，OpenAIはGuardrailとして実装し，ClaudeはPreToolUseとPermission Systemで実装する．</a:t>
            </a:r>
          </a:p>
        </p:txBody>
      </p:sp>
      <p:sp>
        <p:nvSpPr>
          <p:cNvPr id="92" name="TextBox 91">
            <a:extLst>
              <a:ext uri="{FF2B5EF4-FFF2-40B4-BE49-F238E27FC236}">
                <a16:creationId xmlns:a16="http://schemas.microsoft.com/office/drawing/2014/main" id="{8576E655-6E80-4E17-98FF-2796C39F9659}"/>
              </a:ext>
            </a:extLst>
          </p:cNvPr>
          <p:cNvSpPr>
            <a:spLocks noGrp="1"/>
          </p:cNvSpPr>
          <p:nvPr/>
        </p:nvSpPr>
        <p:spPr>
          <a:xfrm>
            <a:off x="11666985" y="6493600"/>
            <a:ext cx="306258" cy="182199"/>
          </a:xfrm>
          <a:prstGeom prst="rect">
            <a:avLst/>
          </a:prstGeom>
          <a:noFill/>
          <a:ln>
            <a:noFill/>
          </a:ln>
          <a:effectLst/>
        </p:spPr>
        <p:txBody>
          <a:bodyPr wrap="none" lIns="0" tIns="0" rIns="0" bIns="0" anchor="ctr">
            <a:spAutoFit/>
          </a:bodyPr>
          <a:lstStyle/>
          <a:p>
            <a:pPr algn="ctr">
              <a:buNone/>
            </a:pPr>
            <a:r>
              <a:rPr sz="1280" b="1">
                <a:solidFill>
                  <a:srgbClr val="0A3691"/>
                </a:solidFill>
                <a:latin typeface="IPAexGothic"/>
                <a:ea typeface="IPAexGothic"/>
                <a:cs typeface="IPAexGothic"/>
              </a:rPr>
              <a:t>A3</a:t>
            </a:r>
          </a:p>
        </p:txBody>
      </p:sp>
    </p:spTree>
    <p:extLst>
      <p:ext uri="{BB962C8B-B14F-4D97-AF65-F5344CB8AC3E}">
        <p14:creationId xmlns:p14="http://schemas.microsoft.com/office/powerpoint/2010/main" val="1462739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894801-FA55-4C3F-A88B-2EB1080096FB}"/>
              </a:ext>
            </a:extLst>
          </p:cNvPr>
          <p:cNvSpPr>
            <a:spLocks noGrp="1"/>
          </p:cNvSpPr>
          <p:nvPr/>
        </p:nvSpPr>
        <p:spPr>
          <a:xfrm>
            <a:off x="328133" y="196775"/>
            <a:ext cx="4739712" cy="349823"/>
          </a:xfrm>
          <a:prstGeom prst="rect">
            <a:avLst/>
          </a:prstGeom>
          <a:noFill/>
          <a:ln>
            <a:noFill/>
          </a:ln>
          <a:effectLst/>
        </p:spPr>
        <p:txBody>
          <a:bodyPr wrap="none" lIns="0" tIns="0" rIns="0" bIns="0" anchor="ctr">
            <a:spAutoFit/>
          </a:bodyPr>
          <a:lstStyle/>
          <a:p>
            <a:pPr algn="l">
              <a:buNone/>
            </a:pPr>
            <a:r>
              <a:rPr sz="2050" b="1">
                <a:solidFill>
                  <a:srgbClr val="052C7E"/>
                </a:solidFill>
                <a:latin typeface="IPAexGothic"/>
                <a:ea typeface="IPAexGothic"/>
                <a:cs typeface="IPAexGothic"/>
              </a:rPr>
              <a:t>Appendix A4． Tool結果制御</a:t>
            </a:r>
          </a:p>
        </p:txBody>
      </p:sp>
      <p:sp>
        <p:nvSpPr>
          <p:cNvPr id="4" name="TextBox 3">
            <a:extLst>
              <a:ext uri="{FF2B5EF4-FFF2-40B4-BE49-F238E27FC236}">
                <a16:creationId xmlns:a16="http://schemas.microsoft.com/office/drawing/2014/main" id="{8AAE947F-9519-42E7-8243-190EFA6F6A55}"/>
              </a:ext>
            </a:extLst>
          </p:cNvPr>
          <p:cNvSpPr>
            <a:spLocks noGrp="1"/>
          </p:cNvSpPr>
          <p:nvPr/>
        </p:nvSpPr>
        <p:spPr>
          <a:xfrm>
            <a:off x="10609664" y="255079"/>
            <a:ext cx="1093779" cy="196775"/>
          </a:xfrm>
          <a:prstGeom prst="rect">
            <a:avLst/>
          </a:prstGeom>
          <a:noFill/>
          <a:ln>
            <a:noFill/>
          </a:ln>
          <a:effectLst/>
        </p:spPr>
        <p:txBody>
          <a:bodyPr wrap="none" lIns="0" tIns="0" rIns="0" bIns="0" anchor="ctr">
            <a:spAutoFit/>
          </a:bodyPr>
          <a:lstStyle/>
          <a:p>
            <a:pPr algn="ctr">
              <a:buNone/>
            </a:pPr>
            <a:r>
              <a:rPr sz="1160" b="1">
                <a:solidFill>
                  <a:srgbClr val="052C7E"/>
                </a:solidFill>
                <a:latin typeface="IPAexGothic"/>
                <a:ea typeface="IPAexGothic"/>
                <a:cs typeface="IPAexGothic"/>
              </a:rPr>
              <a:t>行動・権限制御</a:t>
            </a:r>
          </a:p>
        </p:txBody>
      </p:sp>
      <p:sp>
        <p:nvSpPr>
          <p:cNvPr id="5" name="Rectangle 4">
            <a:extLst>
              <a:ext uri="{FF2B5EF4-FFF2-40B4-BE49-F238E27FC236}">
                <a16:creationId xmlns:a16="http://schemas.microsoft.com/office/drawing/2014/main" id="{E261CB03-C167-4027-B441-FB4A434AB8F4}"/>
              </a:ext>
            </a:extLst>
          </p:cNvPr>
          <p:cNvSpPr>
            <a:spLocks noGrp="1"/>
          </p:cNvSpPr>
          <p:nvPr/>
        </p:nvSpPr>
        <p:spPr>
          <a:xfrm>
            <a:off x="211464" y="583039"/>
            <a:ext cx="11594066" cy="36439"/>
          </a:xfrm>
          <a:prstGeom prst="rect">
            <a:avLst/>
          </a:prstGeom>
          <a:solidFill>
            <a:srgbClr val="052C7E"/>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08B8FFE-4740-4EA2-9197-B84A9CCCB368}"/>
              </a:ext>
            </a:extLst>
          </p:cNvPr>
          <p:cNvSpPr>
            <a:spLocks noGrp="1"/>
          </p:cNvSpPr>
          <p:nvPr/>
        </p:nvSpPr>
        <p:spPr>
          <a:xfrm>
            <a:off x="6744975" y="685071"/>
            <a:ext cx="5031387" cy="196775"/>
          </a:xfrm>
          <a:prstGeom prst="rect">
            <a:avLst/>
          </a:prstGeom>
          <a:noFill/>
          <a:ln>
            <a:noFill/>
          </a:ln>
          <a:effectLst/>
        </p:spPr>
        <p:txBody>
          <a:bodyPr wrap="none" lIns="0" tIns="0" rIns="0" bIns="0" anchor="ctr">
            <a:spAutoFit/>
          </a:bodyPr>
          <a:lstStyle/>
          <a:p>
            <a:pPr algn="r">
              <a:buNone/>
            </a:pPr>
            <a:r>
              <a:rPr sz="1019" b="1">
                <a:solidFill>
                  <a:srgbClr val="052C7E"/>
                </a:solidFill>
                <a:latin typeface="IPAexGothic"/>
                <a:ea typeface="IPAexGothic"/>
                <a:cs typeface="IPAexGothic"/>
              </a:rPr>
              <a:t>対象バージョン：OpenAI Agents SDK 0.22.0 ／ Claude Agent SDK 0.2.144</a:t>
            </a:r>
          </a:p>
        </p:txBody>
      </p:sp>
      <p:sp>
        <p:nvSpPr>
          <p:cNvPr id="7" name="TextBox 6">
            <a:extLst>
              <a:ext uri="{FF2B5EF4-FFF2-40B4-BE49-F238E27FC236}">
                <a16:creationId xmlns:a16="http://schemas.microsoft.com/office/drawing/2014/main" id="{42FB4AAE-35CF-4A50-93DB-343A79C3B137}"/>
              </a:ext>
            </a:extLst>
          </p:cNvPr>
          <p:cNvSpPr>
            <a:spLocks noGrp="1"/>
          </p:cNvSpPr>
          <p:nvPr/>
        </p:nvSpPr>
        <p:spPr>
          <a:xfrm>
            <a:off x="379177" y="881846"/>
            <a:ext cx="7948133" cy="422703"/>
          </a:xfrm>
          <a:prstGeom prst="rect">
            <a:avLst/>
          </a:prstGeom>
          <a:noFill/>
          <a:ln>
            <a:noFill/>
          </a:ln>
          <a:effectLst/>
        </p:spPr>
        <p:txBody>
          <a:bodyPr wrap="none" lIns="0" tIns="0" rIns="0" bIns="0" anchor="ctr">
            <a:spAutoFit/>
          </a:bodyPr>
          <a:lstStyle/>
          <a:p>
            <a:pPr algn="l">
              <a:buNone/>
            </a:pPr>
            <a:r>
              <a:rPr sz="1280" b="1">
                <a:solidFill>
                  <a:srgbClr val="0A1220"/>
                </a:solidFill>
                <a:latin typeface="IPAexGothic"/>
                <a:ea typeface="IPAexGothic"/>
                <a:cs typeface="IPAexGothic"/>
              </a:rPr>
              <a:t>Tool実行そのものが安全でも，Toolから返る結果に機密情報や不適切な内容が含まれる可能性がある．</a:t>
            </a:r>
          </a:p>
          <a:p>
            <a:pPr algn="l">
              <a:buNone/>
            </a:pPr>
            <a:r>
              <a:rPr sz="1280" b="1">
                <a:solidFill>
                  <a:srgbClr val="0A1220"/>
                </a:solidFill>
                <a:latin typeface="IPAexGothic"/>
                <a:ea typeface="IPAexGothic"/>
                <a:cs typeface="IPAexGothic"/>
              </a:rPr>
              <a:t>OpenAIはTool Output Guardrail，ClaudeはPostToolUseを利用して，Tool Resultの利用前後を検査する．</a:t>
            </a:r>
          </a:p>
        </p:txBody>
      </p:sp>
      <p:sp>
        <p:nvSpPr>
          <p:cNvPr id="8" name="Rectangle 7">
            <a:extLst>
              <a:ext uri="{FF2B5EF4-FFF2-40B4-BE49-F238E27FC236}">
                <a16:creationId xmlns:a16="http://schemas.microsoft.com/office/drawing/2014/main" id="{AA366EFD-257C-4F76-8CDC-B0270419E65F}"/>
              </a:ext>
            </a:extLst>
          </p:cNvPr>
          <p:cNvSpPr>
            <a:spLocks noGrp="1"/>
          </p:cNvSpPr>
          <p:nvPr/>
        </p:nvSpPr>
        <p:spPr>
          <a:xfrm>
            <a:off x="350009" y="1384718"/>
            <a:ext cx="11236765" cy="276943"/>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E8EDC27-4294-449B-AA35-A76812AF89C7}"/>
              </a:ext>
            </a:extLst>
          </p:cNvPr>
          <p:cNvSpPr>
            <a:spLocks noGrp="1"/>
          </p:cNvSpPr>
          <p:nvPr/>
        </p:nvSpPr>
        <p:spPr>
          <a:xfrm>
            <a:off x="350009" y="1384718"/>
            <a:ext cx="1961511" cy="276943"/>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観点</a:t>
            </a:r>
          </a:p>
        </p:txBody>
      </p:sp>
      <p:sp>
        <p:nvSpPr>
          <p:cNvPr id="10" name="TextBox 9">
            <a:extLst>
              <a:ext uri="{FF2B5EF4-FFF2-40B4-BE49-F238E27FC236}">
                <a16:creationId xmlns:a16="http://schemas.microsoft.com/office/drawing/2014/main" id="{E3D93C0E-F745-4D1E-9D6A-38F03830122A}"/>
              </a:ext>
            </a:extLst>
          </p:cNvPr>
          <p:cNvSpPr>
            <a:spLocks noGrp="1"/>
          </p:cNvSpPr>
          <p:nvPr/>
        </p:nvSpPr>
        <p:spPr>
          <a:xfrm>
            <a:off x="2311521" y="1384718"/>
            <a:ext cx="4564708" cy="276943"/>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OpenAI Agents SDK</a:t>
            </a:r>
          </a:p>
        </p:txBody>
      </p:sp>
      <p:sp>
        <p:nvSpPr>
          <p:cNvPr id="11" name="TextBox 10">
            <a:extLst>
              <a:ext uri="{FF2B5EF4-FFF2-40B4-BE49-F238E27FC236}">
                <a16:creationId xmlns:a16="http://schemas.microsoft.com/office/drawing/2014/main" id="{44461253-E452-4509-A4C0-FD448480D37C}"/>
              </a:ext>
            </a:extLst>
          </p:cNvPr>
          <p:cNvSpPr>
            <a:spLocks noGrp="1"/>
          </p:cNvSpPr>
          <p:nvPr/>
        </p:nvSpPr>
        <p:spPr>
          <a:xfrm>
            <a:off x="6876229" y="1384718"/>
            <a:ext cx="4710545" cy="276943"/>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Claude Agent SDK</a:t>
            </a:r>
          </a:p>
        </p:txBody>
      </p:sp>
      <p:sp>
        <p:nvSpPr>
          <p:cNvPr id="12" name="Rectangle 11">
            <a:extLst>
              <a:ext uri="{FF2B5EF4-FFF2-40B4-BE49-F238E27FC236}">
                <a16:creationId xmlns:a16="http://schemas.microsoft.com/office/drawing/2014/main" id="{2D37894D-F8D7-4F1A-8E4F-4F58A9342F80}"/>
              </a:ext>
            </a:extLst>
          </p:cNvPr>
          <p:cNvSpPr>
            <a:spLocks noGrp="1"/>
          </p:cNvSpPr>
          <p:nvPr/>
        </p:nvSpPr>
        <p:spPr>
          <a:xfrm>
            <a:off x="350009" y="1661662"/>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0A91AC96-C989-4BD2-A878-6B4BBF25D23E}"/>
              </a:ext>
            </a:extLst>
          </p:cNvPr>
          <p:cNvSpPr>
            <a:spLocks noGrp="1"/>
          </p:cNvSpPr>
          <p:nvPr/>
        </p:nvSpPr>
        <p:spPr>
          <a:xfrm>
            <a:off x="2311521" y="1661662"/>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E103B579-4BAB-4C1B-9895-D2CE497715FA}"/>
              </a:ext>
            </a:extLst>
          </p:cNvPr>
          <p:cNvSpPr>
            <a:spLocks noGrp="1"/>
          </p:cNvSpPr>
          <p:nvPr/>
        </p:nvSpPr>
        <p:spPr>
          <a:xfrm>
            <a:off x="6876229" y="1661662"/>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362E0E0-4377-4E2C-8B86-8DE0428BDCFB}"/>
              </a:ext>
            </a:extLst>
          </p:cNvPr>
          <p:cNvSpPr>
            <a:spLocks noGrp="1"/>
          </p:cNvSpPr>
          <p:nvPr/>
        </p:nvSpPr>
        <p:spPr>
          <a:xfrm>
            <a:off x="481263" y="1690814"/>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主な機能</a:t>
            </a:r>
          </a:p>
        </p:txBody>
      </p:sp>
      <p:sp>
        <p:nvSpPr>
          <p:cNvPr id="16" name="TextBox 15">
            <a:extLst>
              <a:ext uri="{FF2B5EF4-FFF2-40B4-BE49-F238E27FC236}">
                <a16:creationId xmlns:a16="http://schemas.microsoft.com/office/drawing/2014/main" id="{051F6CBD-9CA1-4C02-8765-B07BD5DB919F}"/>
              </a:ext>
            </a:extLst>
          </p:cNvPr>
          <p:cNvSpPr>
            <a:spLocks noGrp="1"/>
          </p:cNvSpPr>
          <p:nvPr/>
        </p:nvSpPr>
        <p:spPr>
          <a:xfrm>
            <a:off x="2493818" y="1690814"/>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Tool Output Guardrail</a:t>
            </a:r>
          </a:p>
        </p:txBody>
      </p:sp>
      <p:sp>
        <p:nvSpPr>
          <p:cNvPr id="17" name="TextBox 16">
            <a:extLst>
              <a:ext uri="{FF2B5EF4-FFF2-40B4-BE49-F238E27FC236}">
                <a16:creationId xmlns:a16="http://schemas.microsoft.com/office/drawing/2014/main" id="{25B9B070-7713-4597-A28D-4A7F2FDC1B3C}"/>
              </a:ext>
            </a:extLst>
          </p:cNvPr>
          <p:cNvSpPr>
            <a:spLocks noGrp="1"/>
          </p:cNvSpPr>
          <p:nvPr/>
        </p:nvSpPr>
        <p:spPr>
          <a:xfrm>
            <a:off x="7058526" y="1690814"/>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PostToolUse</a:t>
            </a:r>
          </a:p>
        </p:txBody>
      </p:sp>
      <p:sp>
        <p:nvSpPr>
          <p:cNvPr id="18" name="Rectangle 17">
            <a:extLst>
              <a:ext uri="{FF2B5EF4-FFF2-40B4-BE49-F238E27FC236}">
                <a16:creationId xmlns:a16="http://schemas.microsoft.com/office/drawing/2014/main" id="{F4FE387A-CFBC-4292-A200-A9D6D91880B9}"/>
              </a:ext>
            </a:extLst>
          </p:cNvPr>
          <p:cNvSpPr>
            <a:spLocks noGrp="1"/>
          </p:cNvSpPr>
          <p:nvPr/>
        </p:nvSpPr>
        <p:spPr>
          <a:xfrm>
            <a:off x="350009" y="1989621"/>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5F59A947-74A1-4326-8AAC-7B7C780E663E}"/>
              </a:ext>
            </a:extLst>
          </p:cNvPr>
          <p:cNvSpPr>
            <a:spLocks noGrp="1"/>
          </p:cNvSpPr>
          <p:nvPr/>
        </p:nvSpPr>
        <p:spPr>
          <a:xfrm>
            <a:off x="2311521" y="1989621"/>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DDC07723-DA51-420D-BDA4-FE4D15D5B6E4}"/>
              </a:ext>
            </a:extLst>
          </p:cNvPr>
          <p:cNvSpPr>
            <a:spLocks noGrp="1"/>
          </p:cNvSpPr>
          <p:nvPr/>
        </p:nvSpPr>
        <p:spPr>
          <a:xfrm>
            <a:off x="6876229" y="1989621"/>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1FDC817-5F06-4E36-BFA7-1CE60713D8B7}"/>
              </a:ext>
            </a:extLst>
          </p:cNvPr>
          <p:cNvSpPr>
            <a:spLocks noGrp="1"/>
          </p:cNvSpPr>
          <p:nvPr/>
        </p:nvSpPr>
        <p:spPr>
          <a:xfrm>
            <a:off x="481263" y="2018773"/>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実行タイミング</a:t>
            </a:r>
          </a:p>
        </p:txBody>
      </p:sp>
      <p:sp>
        <p:nvSpPr>
          <p:cNvPr id="22" name="TextBox 21">
            <a:extLst>
              <a:ext uri="{FF2B5EF4-FFF2-40B4-BE49-F238E27FC236}">
                <a16:creationId xmlns:a16="http://schemas.microsoft.com/office/drawing/2014/main" id="{0D7AE024-49A2-439A-91DB-FA99D1B9D7D1}"/>
              </a:ext>
            </a:extLst>
          </p:cNvPr>
          <p:cNvSpPr>
            <a:spLocks noGrp="1"/>
          </p:cNvSpPr>
          <p:nvPr/>
        </p:nvSpPr>
        <p:spPr>
          <a:xfrm>
            <a:off x="2493818" y="2018773"/>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Function Tool実行後</a:t>
            </a:r>
          </a:p>
        </p:txBody>
      </p:sp>
      <p:sp>
        <p:nvSpPr>
          <p:cNvPr id="23" name="TextBox 22">
            <a:extLst>
              <a:ext uri="{FF2B5EF4-FFF2-40B4-BE49-F238E27FC236}">
                <a16:creationId xmlns:a16="http://schemas.microsoft.com/office/drawing/2014/main" id="{B5B89EAD-C52B-48BC-932B-AEDA42FCF33F}"/>
              </a:ext>
            </a:extLst>
          </p:cNvPr>
          <p:cNvSpPr>
            <a:spLocks noGrp="1"/>
          </p:cNvSpPr>
          <p:nvPr/>
        </p:nvSpPr>
        <p:spPr>
          <a:xfrm>
            <a:off x="7058526" y="2018773"/>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Tool成功後</a:t>
            </a:r>
          </a:p>
        </p:txBody>
      </p:sp>
      <p:sp>
        <p:nvSpPr>
          <p:cNvPr id="24" name="Rectangle 23">
            <a:extLst>
              <a:ext uri="{FF2B5EF4-FFF2-40B4-BE49-F238E27FC236}">
                <a16:creationId xmlns:a16="http://schemas.microsoft.com/office/drawing/2014/main" id="{C5297086-15D2-4D46-9D77-6E3C36266416}"/>
              </a:ext>
            </a:extLst>
          </p:cNvPr>
          <p:cNvSpPr>
            <a:spLocks noGrp="1"/>
          </p:cNvSpPr>
          <p:nvPr/>
        </p:nvSpPr>
        <p:spPr>
          <a:xfrm>
            <a:off x="350009" y="2317581"/>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52A57350-0854-4D85-98D6-330DC933D1A9}"/>
              </a:ext>
            </a:extLst>
          </p:cNvPr>
          <p:cNvSpPr>
            <a:spLocks noGrp="1"/>
          </p:cNvSpPr>
          <p:nvPr/>
        </p:nvSpPr>
        <p:spPr>
          <a:xfrm>
            <a:off x="2311521" y="2317581"/>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CD643BEA-B9C0-46C5-BDDA-C0620358689F}"/>
              </a:ext>
            </a:extLst>
          </p:cNvPr>
          <p:cNvSpPr>
            <a:spLocks noGrp="1"/>
          </p:cNvSpPr>
          <p:nvPr/>
        </p:nvSpPr>
        <p:spPr>
          <a:xfrm>
            <a:off x="6876229" y="2317581"/>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3C3423F1-A0DC-4AC4-94A4-6AC36F477BD1}"/>
              </a:ext>
            </a:extLst>
          </p:cNvPr>
          <p:cNvSpPr>
            <a:spLocks noGrp="1"/>
          </p:cNvSpPr>
          <p:nvPr/>
        </p:nvSpPr>
        <p:spPr>
          <a:xfrm>
            <a:off x="481263" y="2346733"/>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主な検査対象</a:t>
            </a:r>
          </a:p>
        </p:txBody>
      </p:sp>
      <p:sp>
        <p:nvSpPr>
          <p:cNvPr id="28" name="TextBox 27">
            <a:extLst>
              <a:ext uri="{FF2B5EF4-FFF2-40B4-BE49-F238E27FC236}">
                <a16:creationId xmlns:a16="http://schemas.microsoft.com/office/drawing/2014/main" id="{EC875C7C-2660-4DCC-B50F-5737C6F9A180}"/>
              </a:ext>
            </a:extLst>
          </p:cNvPr>
          <p:cNvSpPr>
            <a:spLocks noGrp="1"/>
          </p:cNvSpPr>
          <p:nvPr/>
        </p:nvSpPr>
        <p:spPr>
          <a:xfrm>
            <a:off x="2493818" y="2346733"/>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Tool結果</a:t>
            </a:r>
          </a:p>
        </p:txBody>
      </p:sp>
      <p:sp>
        <p:nvSpPr>
          <p:cNvPr id="29" name="TextBox 28">
            <a:extLst>
              <a:ext uri="{FF2B5EF4-FFF2-40B4-BE49-F238E27FC236}">
                <a16:creationId xmlns:a16="http://schemas.microsoft.com/office/drawing/2014/main" id="{A2032A9C-80C3-4F30-BB21-FB00EBC9B65E}"/>
              </a:ext>
            </a:extLst>
          </p:cNvPr>
          <p:cNvSpPr>
            <a:spLocks noGrp="1"/>
          </p:cNvSpPr>
          <p:nvPr/>
        </p:nvSpPr>
        <p:spPr>
          <a:xfrm>
            <a:off x="7058526" y="2346733"/>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Tool結果</a:t>
            </a:r>
          </a:p>
        </p:txBody>
      </p:sp>
      <p:sp>
        <p:nvSpPr>
          <p:cNvPr id="30" name="Rectangle 29">
            <a:extLst>
              <a:ext uri="{FF2B5EF4-FFF2-40B4-BE49-F238E27FC236}">
                <a16:creationId xmlns:a16="http://schemas.microsoft.com/office/drawing/2014/main" id="{4603A275-A577-46F1-A2D1-C76A815189AF}"/>
              </a:ext>
            </a:extLst>
          </p:cNvPr>
          <p:cNvSpPr>
            <a:spLocks noGrp="1"/>
          </p:cNvSpPr>
          <p:nvPr/>
        </p:nvSpPr>
        <p:spPr>
          <a:xfrm>
            <a:off x="350009" y="2645540"/>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3F24360B-CB30-4C4D-A5CF-3EC1C3CA3A4B}"/>
              </a:ext>
            </a:extLst>
          </p:cNvPr>
          <p:cNvSpPr>
            <a:spLocks noGrp="1"/>
          </p:cNvSpPr>
          <p:nvPr/>
        </p:nvSpPr>
        <p:spPr>
          <a:xfrm>
            <a:off x="2311521" y="2645540"/>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D15281E5-A716-4025-8518-E3CBB4144225}"/>
              </a:ext>
            </a:extLst>
          </p:cNvPr>
          <p:cNvSpPr>
            <a:spLocks noGrp="1"/>
          </p:cNvSpPr>
          <p:nvPr/>
        </p:nvSpPr>
        <p:spPr>
          <a:xfrm>
            <a:off x="6876229" y="2645540"/>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DD42461D-9F71-4894-9E7D-618D3A9E7DD9}"/>
              </a:ext>
            </a:extLst>
          </p:cNvPr>
          <p:cNvSpPr>
            <a:spLocks noGrp="1"/>
          </p:cNvSpPr>
          <p:nvPr/>
        </p:nvSpPr>
        <p:spPr>
          <a:xfrm>
            <a:off x="481263" y="2674692"/>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可能な処理</a:t>
            </a:r>
          </a:p>
        </p:txBody>
      </p:sp>
      <p:sp>
        <p:nvSpPr>
          <p:cNvPr id="34" name="TextBox 33">
            <a:extLst>
              <a:ext uri="{FF2B5EF4-FFF2-40B4-BE49-F238E27FC236}">
                <a16:creationId xmlns:a16="http://schemas.microsoft.com/office/drawing/2014/main" id="{CF8E9CBF-A53D-4BEC-A5A6-1A268F005B1D}"/>
              </a:ext>
            </a:extLst>
          </p:cNvPr>
          <p:cNvSpPr>
            <a:spLocks noGrp="1"/>
          </p:cNvSpPr>
          <p:nvPr/>
        </p:nvSpPr>
        <p:spPr>
          <a:xfrm>
            <a:off x="2493818" y="2674692"/>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結果の許可，拒否，置換</a:t>
            </a:r>
          </a:p>
        </p:txBody>
      </p:sp>
      <p:sp>
        <p:nvSpPr>
          <p:cNvPr id="35" name="TextBox 34">
            <a:extLst>
              <a:ext uri="{FF2B5EF4-FFF2-40B4-BE49-F238E27FC236}">
                <a16:creationId xmlns:a16="http://schemas.microsoft.com/office/drawing/2014/main" id="{ED91D67D-8880-4F8F-A946-2964D2C0213D}"/>
              </a:ext>
            </a:extLst>
          </p:cNvPr>
          <p:cNvSpPr>
            <a:spLocks noGrp="1"/>
          </p:cNvSpPr>
          <p:nvPr/>
        </p:nvSpPr>
        <p:spPr>
          <a:xfrm>
            <a:off x="7058526" y="2674692"/>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結果の検査，加工，記録</a:t>
            </a:r>
          </a:p>
        </p:txBody>
      </p:sp>
      <p:sp>
        <p:nvSpPr>
          <p:cNvPr id="36" name="Rectangle 35">
            <a:extLst>
              <a:ext uri="{FF2B5EF4-FFF2-40B4-BE49-F238E27FC236}">
                <a16:creationId xmlns:a16="http://schemas.microsoft.com/office/drawing/2014/main" id="{79B9A838-3227-47E0-B0E3-14AE303637E6}"/>
              </a:ext>
            </a:extLst>
          </p:cNvPr>
          <p:cNvSpPr>
            <a:spLocks noGrp="1"/>
          </p:cNvSpPr>
          <p:nvPr/>
        </p:nvSpPr>
        <p:spPr>
          <a:xfrm>
            <a:off x="350009" y="2973500"/>
            <a:ext cx="1961511" cy="33524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24AD1BAA-71BC-4989-8EDA-58E4EB72A749}"/>
              </a:ext>
            </a:extLst>
          </p:cNvPr>
          <p:cNvSpPr>
            <a:spLocks noGrp="1"/>
          </p:cNvSpPr>
          <p:nvPr/>
        </p:nvSpPr>
        <p:spPr>
          <a:xfrm>
            <a:off x="2311521" y="2973500"/>
            <a:ext cx="4564708"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0DE4D878-4A72-4D28-BAA5-D27CE52E6CF6}"/>
              </a:ext>
            </a:extLst>
          </p:cNvPr>
          <p:cNvSpPr>
            <a:spLocks noGrp="1"/>
          </p:cNvSpPr>
          <p:nvPr/>
        </p:nvSpPr>
        <p:spPr>
          <a:xfrm>
            <a:off x="6876229" y="2973500"/>
            <a:ext cx="4710545"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DB3A0108-18DF-4872-8822-2A8A746D2DBD}"/>
              </a:ext>
            </a:extLst>
          </p:cNvPr>
          <p:cNvSpPr>
            <a:spLocks noGrp="1"/>
          </p:cNvSpPr>
          <p:nvPr/>
        </p:nvSpPr>
        <p:spPr>
          <a:xfrm>
            <a:off x="481263" y="3002652"/>
            <a:ext cx="1742755" cy="276943"/>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主な用途</a:t>
            </a:r>
          </a:p>
        </p:txBody>
      </p:sp>
      <p:sp>
        <p:nvSpPr>
          <p:cNvPr id="40" name="TextBox 39">
            <a:extLst>
              <a:ext uri="{FF2B5EF4-FFF2-40B4-BE49-F238E27FC236}">
                <a16:creationId xmlns:a16="http://schemas.microsoft.com/office/drawing/2014/main" id="{5842198F-25EB-4645-9723-191FEBE2954B}"/>
              </a:ext>
            </a:extLst>
          </p:cNvPr>
          <p:cNvSpPr>
            <a:spLocks noGrp="1"/>
          </p:cNvSpPr>
          <p:nvPr/>
        </p:nvSpPr>
        <p:spPr>
          <a:xfrm>
            <a:off x="2493818" y="3002652"/>
            <a:ext cx="4273033" cy="276943"/>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機密情報漏洩の防止，不適切データの遮断</a:t>
            </a:r>
          </a:p>
        </p:txBody>
      </p:sp>
      <p:sp>
        <p:nvSpPr>
          <p:cNvPr id="41" name="TextBox 40">
            <a:extLst>
              <a:ext uri="{FF2B5EF4-FFF2-40B4-BE49-F238E27FC236}">
                <a16:creationId xmlns:a16="http://schemas.microsoft.com/office/drawing/2014/main" id="{41F708F7-CA0D-4559-AE81-F5D0E2558E8F}"/>
              </a:ext>
            </a:extLst>
          </p:cNvPr>
          <p:cNvSpPr>
            <a:spLocks noGrp="1"/>
          </p:cNvSpPr>
          <p:nvPr/>
        </p:nvSpPr>
        <p:spPr>
          <a:xfrm>
            <a:off x="7058526" y="3002652"/>
            <a:ext cx="4418870" cy="276943"/>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結果確認，追加処理，サニタイズ</a:t>
            </a:r>
          </a:p>
        </p:txBody>
      </p:sp>
      <p:sp>
        <p:nvSpPr>
          <p:cNvPr id="42" name="Rectangle 41">
            <a:extLst>
              <a:ext uri="{FF2B5EF4-FFF2-40B4-BE49-F238E27FC236}">
                <a16:creationId xmlns:a16="http://schemas.microsoft.com/office/drawing/2014/main" id="{E228F7BA-F44F-410E-BE76-AC7CD9C0910A}"/>
              </a:ext>
            </a:extLst>
          </p:cNvPr>
          <p:cNvSpPr>
            <a:spLocks noGrp="1"/>
          </p:cNvSpPr>
          <p:nvPr/>
        </p:nvSpPr>
        <p:spPr>
          <a:xfrm>
            <a:off x="350009" y="3308748"/>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F9CF3CD6-D41E-4617-B792-4E8F7E9AF2F0}"/>
              </a:ext>
            </a:extLst>
          </p:cNvPr>
          <p:cNvSpPr>
            <a:spLocks noGrp="1"/>
          </p:cNvSpPr>
          <p:nvPr/>
        </p:nvSpPr>
        <p:spPr>
          <a:xfrm>
            <a:off x="2311521" y="3308748"/>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7BA8E436-F127-4D5B-82B7-197367A90667}"/>
              </a:ext>
            </a:extLst>
          </p:cNvPr>
          <p:cNvSpPr>
            <a:spLocks noGrp="1"/>
          </p:cNvSpPr>
          <p:nvPr/>
        </p:nvSpPr>
        <p:spPr>
          <a:xfrm>
            <a:off x="6876229" y="3308748"/>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E053F4B-9582-4696-A901-ACC323CE4AF9}"/>
              </a:ext>
            </a:extLst>
          </p:cNvPr>
          <p:cNvSpPr>
            <a:spLocks noGrp="1"/>
          </p:cNvSpPr>
          <p:nvPr/>
        </p:nvSpPr>
        <p:spPr>
          <a:xfrm>
            <a:off x="481263" y="3337900"/>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失敗時の関連機能</a:t>
            </a:r>
          </a:p>
        </p:txBody>
      </p:sp>
      <p:sp>
        <p:nvSpPr>
          <p:cNvPr id="46" name="TextBox 45">
            <a:extLst>
              <a:ext uri="{FF2B5EF4-FFF2-40B4-BE49-F238E27FC236}">
                <a16:creationId xmlns:a16="http://schemas.microsoft.com/office/drawing/2014/main" id="{DF3BF5AB-1304-4A15-A247-E05C61696721}"/>
              </a:ext>
            </a:extLst>
          </p:cNvPr>
          <p:cNvSpPr>
            <a:spLocks noGrp="1"/>
          </p:cNvSpPr>
          <p:nvPr/>
        </p:nvSpPr>
        <p:spPr>
          <a:xfrm>
            <a:off x="2493818" y="3337900"/>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Tool側処理やGuardrail設計で対応</a:t>
            </a:r>
          </a:p>
        </p:txBody>
      </p:sp>
      <p:sp>
        <p:nvSpPr>
          <p:cNvPr id="47" name="TextBox 46">
            <a:extLst>
              <a:ext uri="{FF2B5EF4-FFF2-40B4-BE49-F238E27FC236}">
                <a16:creationId xmlns:a16="http://schemas.microsoft.com/office/drawing/2014/main" id="{2BBF3F73-0A90-44F8-8A9D-DA22576CC427}"/>
              </a:ext>
            </a:extLst>
          </p:cNvPr>
          <p:cNvSpPr>
            <a:spLocks noGrp="1"/>
          </p:cNvSpPr>
          <p:nvPr/>
        </p:nvSpPr>
        <p:spPr>
          <a:xfrm>
            <a:off x="7058526" y="3337900"/>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PostToolUseFailure</a:t>
            </a:r>
          </a:p>
        </p:txBody>
      </p:sp>
      <p:sp>
        <p:nvSpPr>
          <p:cNvPr id="48" name="Rectangle 47">
            <a:extLst>
              <a:ext uri="{FF2B5EF4-FFF2-40B4-BE49-F238E27FC236}">
                <a16:creationId xmlns:a16="http://schemas.microsoft.com/office/drawing/2014/main" id="{9E8E0162-DD53-45D5-9622-6BAAB191D7B9}"/>
              </a:ext>
            </a:extLst>
          </p:cNvPr>
          <p:cNvSpPr>
            <a:spLocks noGrp="1"/>
          </p:cNvSpPr>
          <p:nvPr/>
        </p:nvSpPr>
        <p:spPr>
          <a:xfrm>
            <a:off x="350009" y="3636707"/>
            <a:ext cx="1961511"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Rectangle 48">
            <a:extLst>
              <a:ext uri="{FF2B5EF4-FFF2-40B4-BE49-F238E27FC236}">
                <a16:creationId xmlns:a16="http://schemas.microsoft.com/office/drawing/2014/main" id="{5DF0559D-4F52-4C27-9E18-F393977C660F}"/>
              </a:ext>
            </a:extLst>
          </p:cNvPr>
          <p:cNvSpPr>
            <a:spLocks noGrp="1"/>
          </p:cNvSpPr>
          <p:nvPr/>
        </p:nvSpPr>
        <p:spPr>
          <a:xfrm>
            <a:off x="2311521" y="3636707"/>
            <a:ext cx="4564708"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Rectangle 49">
            <a:extLst>
              <a:ext uri="{FF2B5EF4-FFF2-40B4-BE49-F238E27FC236}">
                <a16:creationId xmlns:a16="http://schemas.microsoft.com/office/drawing/2014/main" id="{69F1ABF8-4F74-4ECC-8175-4D2021E5A80D}"/>
              </a:ext>
            </a:extLst>
          </p:cNvPr>
          <p:cNvSpPr>
            <a:spLocks noGrp="1"/>
          </p:cNvSpPr>
          <p:nvPr/>
        </p:nvSpPr>
        <p:spPr>
          <a:xfrm>
            <a:off x="6876229" y="3636707"/>
            <a:ext cx="4710545"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F72377-15B6-4B6D-B326-32DB6D4D957F}"/>
              </a:ext>
            </a:extLst>
          </p:cNvPr>
          <p:cNvSpPr>
            <a:spLocks noGrp="1"/>
          </p:cNvSpPr>
          <p:nvPr/>
        </p:nvSpPr>
        <p:spPr>
          <a:xfrm>
            <a:off x="481263" y="3665859"/>
            <a:ext cx="1742755" cy="269655"/>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実装上の位置付け</a:t>
            </a:r>
          </a:p>
        </p:txBody>
      </p:sp>
      <p:sp>
        <p:nvSpPr>
          <p:cNvPr id="52" name="TextBox 51">
            <a:extLst>
              <a:ext uri="{FF2B5EF4-FFF2-40B4-BE49-F238E27FC236}">
                <a16:creationId xmlns:a16="http://schemas.microsoft.com/office/drawing/2014/main" id="{5BE0AD9D-2BFF-4527-AC71-BE0629463F18}"/>
              </a:ext>
            </a:extLst>
          </p:cNvPr>
          <p:cNvSpPr>
            <a:spLocks noGrp="1"/>
          </p:cNvSpPr>
          <p:nvPr/>
        </p:nvSpPr>
        <p:spPr>
          <a:xfrm>
            <a:off x="2493818" y="3665859"/>
            <a:ext cx="4273033"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専用のOutput Guardrail</a:t>
            </a:r>
          </a:p>
        </p:txBody>
      </p:sp>
      <p:sp>
        <p:nvSpPr>
          <p:cNvPr id="53" name="TextBox 52">
            <a:extLst>
              <a:ext uri="{FF2B5EF4-FFF2-40B4-BE49-F238E27FC236}">
                <a16:creationId xmlns:a16="http://schemas.microsoft.com/office/drawing/2014/main" id="{4600CB44-510B-4919-AD72-0B739BF71C65}"/>
              </a:ext>
            </a:extLst>
          </p:cNvPr>
          <p:cNvSpPr>
            <a:spLocks noGrp="1"/>
          </p:cNvSpPr>
          <p:nvPr/>
        </p:nvSpPr>
        <p:spPr>
          <a:xfrm>
            <a:off x="7058526" y="3665859"/>
            <a:ext cx="4418870" cy="269655"/>
          </a:xfrm>
          <a:prstGeom prst="rect">
            <a:avLst/>
          </a:prstGeom>
          <a:noFill/>
          <a:ln>
            <a:noFill/>
          </a:ln>
          <a:effectLst/>
        </p:spPr>
        <p:txBody>
          <a:bodyPr wrap="none" lIns="0" tIns="0" rIns="0" bIns="0" anchor="ctr">
            <a:spAutoFit/>
          </a:bodyPr>
          <a:lstStyle/>
          <a:p>
            <a:pPr algn="l">
              <a:buNone/>
            </a:pPr>
            <a:r>
              <a:rPr sz="1200" b="1">
                <a:solidFill>
                  <a:srgbClr val="052C7E"/>
                </a:solidFill>
                <a:latin typeface="IPAexGothic"/>
                <a:ea typeface="IPAexGothic"/>
                <a:cs typeface="IPAexGothic"/>
              </a:rPr>
              <a:t>Hookとして実装</a:t>
            </a:r>
          </a:p>
        </p:txBody>
      </p:sp>
      <p:sp>
        <p:nvSpPr>
          <p:cNvPr id="54" name="Rounded Rectangle 53">
            <a:extLst>
              <a:ext uri="{FF2B5EF4-FFF2-40B4-BE49-F238E27FC236}">
                <a16:creationId xmlns:a16="http://schemas.microsoft.com/office/drawing/2014/main" id="{139ED12E-373C-4D3F-8227-02E8BEB39434}"/>
              </a:ext>
            </a:extLst>
          </p:cNvPr>
          <p:cNvSpPr>
            <a:spLocks noGrp="1"/>
          </p:cNvSpPr>
          <p:nvPr/>
        </p:nvSpPr>
        <p:spPr>
          <a:xfrm>
            <a:off x="350009" y="4125003"/>
            <a:ext cx="2770909" cy="255079"/>
          </a:xfrm>
          <a:prstGeom prst="roundRect">
            <a:avLst>
              <a:gd name="adj" fmla="val 40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21CF21C4-05FC-4053-9649-9B76C9D09E88}"/>
              </a:ext>
            </a:extLst>
          </p:cNvPr>
          <p:cNvSpPr>
            <a:spLocks noGrp="1"/>
          </p:cNvSpPr>
          <p:nvPr/>
        </p:nvSpPr>
        <p:spPr>
          <a:xfrm>
            <a:off x="350009" y="4125003"/>
            <a:ext cx="2770909" cy="255079"/>
          </a:xfrm>
          <a:prstGeom prst="rect">
            <a:avLst/>
          </a:prstGeom>
          <a:noFill/>
          <a:ln>
            <a:noFill/>
          </a:ln>
          <a:effectLst/>
        </p:spPr>
        <p:txBody>
          <a:bodyPr wrap="none" lIns="0" tIns="0" rIns="0" bIns="0" anchor="ctr">
            <a:spAutoFit/>
          </a:bodyPr>
          <a:lstStyle/>
          <a:p>
            <a:pPr algn="ctr">
              <a:buNone/>
            </a:pPr>
            <a:r>
              <a:rPr sz="1180" b="1">
                <a:solidFill>
                  <a:srgbClr val="0B3691"/>
                </a:solidFill>
                <a:latin typeface="IPAexGothic"/>
                <a:ea typeface="IPAexGothic"/>
                <a:cs typeface="IPAexGothic"/>
              </a:rPr>
              <a:t>共通例</a:t>
            </a:r>
          </a:p>
        </p:txBody>
      </p:sp>
      <p:sp>
        <p:nvSpPr>
          <p:cNvPr id="56" name="Rounded Rectangle 55">
            <a:extLst>
              <a:ext uri="{FF2B5EF4-FFF2-40B4-BE49-F238E27FC236}">
                <a16:creationId xmlns:a16="http://schemas.microsoft.com/office/drawing/2014/main" id="{C8E9E8CE-74C0-47BF-8D85-F4F5338245E0}"/>
              </a:ext>
            </a:extLst>
          </p:cNvPr>
          <p:cNvSpPr>
            <a:spLocks noGrp="1"/>
          </p:cNvSpPr>
          <p:nvPr/>
        </p:nvSpPr>
        <p:spPr>
          <a:xfrm>
            <a:off x="350009" y="4380082"/>
            <a:ext cx="2770909" cy="1603358"/>
          </a:xfrm>
          <a:prstGeom prst="roundRect">
            <a:avLst>
              <a:gd name="adj" fmla="val 15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501DC2FC-1869-4BD4-A789-DBBC80743951}"/>
              </a:ext>
            </a:extLst>
          </p:cNvPr>
          <p:cNvSpPr>
            <a:spLocks noGrp="1"/>
          </p:cNvSpPr>
          <p:nvPr/>
        </p:nvSpPr>
        <p:spPr>
          <a:xfrm>
            <a:off x="619808" y="4438386"/>
            <a:ext cx="2187559" cy="174911"/>
          </a:xfrm>
          <a:prstGeom prst="rect">
            <a:avLst/>
          </a:prstGeom>
          <a:noFill/>
          <a:ln>
            <a:noFill/>
          </a:ln>
          <a:effectLst/>
        </p:spPr>
        <p:txBody>
          <a:bodyPr wrap="none" lIns="0" tIns="0" rIns="0" bIns="0" anchor="ctr">
            <a:spAutoFit/>
          </a:bodyPr>
          <a:lstStyle/>
          <a:p>
            <a:pPr algn="ctr">
              <a:buNone/>
            </a:pPr>
            <a:r>
              <a:rPr sz="967" b="1">
                <a:solidFill>
                  <a:srgbClr val="0A1220"/>
                </a:solidFill>
                <a:latin typeface="IPAexGothic"/>
                <a:ea typeface="IPAexGothic"/>
                <a:cs typeface="IPAexGothic"/>
              </a:rPr>
              <a:t>Database Tool</a:t>
            </a:r>
          </a:p>
        </p:txBody>
      </p:sp>
      <p:sp>
        <p:nvSpPr>
          <p:cNvPr id="58" name="TextBox 57">
            <a:extLst>
              <a:ext uri="{FF2B5EF4-FFF2-40B4-BE49-F238E27FC236}">
                <a16:creationId xmlns:a16="http://schemas.microsoft.com/office/drawing/2014/main" id="{1BF36AB1-BF6D-4D2F-BCEE-8173200647AA}"/>
              </a:ext>
            </a:extLst>
          </p:cNvPr>
          <p:cNvSpPr>
            <a:spLocks noGrp="1"/>
          </p:cNvSpPr>
          <p:nvPr/>
        </p:nvSpPr>
        <p:spPr>
          <a:xfrm>
            <a:off x="619808" y="4773634"/>
            <a:ext cx="2187559" cy="174911"/>
          </a:xfrm>
          <a:prstGeom prst="rect">
            <a:avLst/>
          </a:prstGeom>
          <a:noFill/>
          <a:ln>
            <a:noFill/>
          </a:ln>
          <a:effectLst/>
        </p:spPr>
        <p:txBody>
          <a:bodyPr wrap="none" lIns="0" tIns="0" rIns="0" bIns="0" anchor="ctr">
            <a:spAutoFit/>
          </a:bodyPr>
          <a:lstStyle/>
          <a:p>
            <a:pPr algn="ctr">
              <a:buNone/>
            </a:pPr>
            <a:r>
              <a:rPr sz="1000" b="1">
                <a:solidFill>
                  <a:srgbClr val="0A1220"/>
                </a:solidFill>
                <a:latin typeface="IPAexGothic"/>
                <a:ea typeface="IPAexGothic"/>
                <a:cs typeface="IPAexGothic"/>
              </a:rPr>
              <a:t>顧客情報を含むResult</a:t>
            </a:r>
          </a:p>
        </p:txBody>
      </p:sp>
      <p:sp>
        <p:nvSpPr>
          <p:cNvPr id="59" name="TextBox 58">
            <a:extLst>
              <a:ext uri="{FF2B5EF4-FFF2-40B4-BE49-F238E27FC236}">
                <a16:creationId xmlns:a16="http://schemas.microsoft.com/office/drawing/2014/main" id="{74A48B35-D7D2-4D74-ABCF-7981E2CC4645}"/>
              </a:ext>
            </a:extLst>
          </p:cNvPr>
          <p:cNvSpPr>
            <a:spLocks noGrp="1"/>
          </p:cNvSpPr>
          <p:nvPr/>
        </p:nvSpPr>
        <p:spPr>
          <a:xfrm>
            <a:off x="619808" y="5130746"/>
            <a:ext cx="2187559" cy="174911"/>
          </a:xfrm>
          <a:prstGeom prst="rect">
            <a:avLst/>
          </a:prstGeom>
          <a:noFill/>
          <a:ln>
            <a:noFill/>
          </a:ln>
          <a:effectLst/>
        </p:spPr>
        <p:txBody>
          <a:bodyPr wrap="none" lIns="0" tIns="0" rIns="0" bIns="0" anchor="ctr">
            <a:spAutoFit/>
          </a:bodyPr>
          <a:lstStyle/>
          <a:p>
            <a:pPr algn="ctr">
              <a:buNone/>
            </a:pPr>
            <a:r>
              <a:rPr sz="1000" b="1">
                <a:solidFill>
                  <a:srgbClr val="0A1220"/>
                </a:solidFill>
                <a:latin typeface="IPAexGothic"/>
                <a:ea typeface="IPAexGothic"/>
                <a:cs typeface="IPAexGothic"/>
              </a:rPr>
              <a:t>Result Check</a:t>
            </a:r>
          </a:p>
        </p:txBody>
      </p:sp>
      <p:sp>
        <p:nvSpPr>
          <p:cNvPr id="60" name="TextBox 59">
            <a:extLst>
              <a:ext uri="{FF2B5EF4-FFF2-40B4-BE49-F238E27FC236}">
                <a16:creationId xmlns:a16="http://schemas.microsoft.com/office/drawing/2014/main" id="{55B0B8EB-AFC0-453F-8CB4-19B007373CBD}"/>
              </a:ext>
            </a:extLst>
          </p:cNvPr>
          <p:cNvSpPr>
            <a:spLocks noGrp="1"/>
          </p:cNvSpPr>
          <p:nvPr/>
        </p:nvSpPr>
        <p:spPr>
          <a:xfrm>
            <a:off x="619808" y="5473281"/>
            <a:ext cx="2187559" cy="174911"/>
          </a:xfrm>
          <a:prstGeom prst="rect">
            <a:avLst/>
          </a:prstGeom>
          <a:noFill/>
          <a:ln>
            <a:noFill/>
          </a:ln>
          <a:effectLst/>
        </p:spPr>
        <p:txBody>
          <a:bodyPr wrap="none" lIns="0" tIns="0" rIns="0" bIns="0" anchor="ctr">
            <a:spAutoFit/>
          </a:bodyPr>
          <a:lstStyle/>
          <a:p>
            <a:pPr algn="ctr">
              <a:buNone/>
            </a:pPr>
            <a:r>
              <a:rPr sz="1000" b="1">
                <a:solidFill>
                  <a:srgbClr val="0A1220"/>
                </a:solidFill>
                <a:latin typeface="IPAexGothic"/>
                <a:ea typeface="IPAexGothic"/>
                <a:cs typeface="IPAexGothic"/>
              </a:rPr>
              <a:t>Mask ／ Reject</a:t>
            </a:r>
          </a:p>
        </p:txBody>
      </p:sp>
      <p:sp>
        <p:nvSpPr>
          <p:cNvPr id="61" name="TextBox 60">
            <a:extLst>
              <a:ext uri="{FF2B5EF4-FFF2-40B4-BE49-F238E27FC236}">
                <a16:creationId xmlns:a16="http://schemas.microsoft.com/office/drawing/2014/main" id="{371E0B1F-7E46-4B6B-B2E1-405DEE01E696}"/>
              </a:ext>
            </a:extLst>
          </p:cNvPr>
          <p:cNvSpPr>
            <a:spLocks noGrp="1"/>
          </p:cNvSpPr>
          <p:nvPr/>
        </p:nvSpPr>
        <p:spPr>
          <a:xfrm>
            <a:off x="619808" y="5808529"/>
            <a:ext cx="2187559" cy="174911"/>
          </a:xfrm>
          <a:prstGeom prst="rect">
            <a:avLst/>
          </a:prstGeom>
          <a:noFill/>
          <a:ln>
            <a:noFill/>
          </a:ln>
          <a:effectLst/>
        </p:spPr>
        <p:txBody>
          <a:bodyPr wrap="none" lIns="0" tIns="0" rIns="0" bIns="0" anchor="ctr">
            <a:spAutoFit/>
          </a:bodyPr>
          <a:lstStyle/>
          <a:p>
            <a:pPr algn="ctr">
              <a:buNone/>
            </a:pPr>
            <a:r>
              <a:rPr sz="1000" b="1">
                <a:solidFill>
                  <a:srgbClr val="0A1220"/>
                </a:solidFill>
                <a:latin typeface="IPAexGothic"/>
                <a:ea typeface="IPAexGothic"/>
                <a:cs typeface="IPAexGothic"/>
              </a:rPr>
              <a:t>LLMへ渡す</a:t>
            </a:r>
          </a:p>
        </p:txBody>
      </p:sp>
      <p:sp>
        <p:nvSpPr>
          <p:cNvPr id="62" name="TextBox 61">
            <a:extLst>
              <a:ext uri="{FF2B5EF4-FFF2-40B4-BE49-F238E27FC236}">
                <a16:creationId xmlns:a16="http://schemas.microsoft.com/office/drawing/2014/main" id="{B9B724B2-65B6-45A7-AD50-09C2DE04EB86}"/>
              </a:ext>
            </a:extLst>
          </p:cNvPr>
          <p:cNvSpPr>
            <a:spLocks noGrp="1"/>
          </p:cNvSpPr>
          <p:nvPr/>
        </p:nvSpPr>
        <p:spPr>
          <a:xfrm>
            <a:off x="1677129" y="4620586"/>
            <a:ext cx="116669" cy="131183"/>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63" name="TextBox 62">
            <a:extLst>
              <a:ext uri="{FF2B5EF4-FFF2-40B4-BE49-F238E27FC236}">
                <a16:creationId xmlns:a16="http://schemas.microsoft.com/office/drawing/2014/main" id="{412104B1-35CE-4DD6-BC50-38E93734BBE8}"/>
              </a:ext>
            </a:extLst>
          </p:cNvPr>
          <p:cNvSpPr>
            <a:spLocks noGrp="1"/>
          </p:cNvSpPr>
          <p:nvPr/>
        </p:nvSpPr>
        <p:spPr>
          <a:xfrm>
            <a:off x="1677129" y="4963122"/>
            <a:ext cx="116669" cy="131183"/>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64" name="TextBox 63">
            <a:extLst>
              <a:ext uri="{FF2B5EF4-FFF2-40B4-BE49-F238E27FC236}">
                <a16:creationId xmlns:a16="http://schemas.microsoft.com/office/drawing/2014/main" id="{0CB5FD3D-40AD-4262-8AE8-942CF8993304}"/>
              </a:ext>
            </a:extLst>
          </p:cNvPr>
          <p:cNvSpPr>
            <a:spLocks noGrp="1"/>
          </p:cNvSpPr>
          <p:nvPr/>
        </p:nvSpPr>
        <p:spPr>
          <a:xfrm>
            <a:off x="1677129" y="5298369"/>
            <a:ext cx="116669" cy="131183"/>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65" name="TextBox 64">
            <a:extLst>
              <a:ext uri="{FF2B5EF4-FFF2-40B4-BE49-F238E27FC236}">
                <a16:creationId xmlns:a16="http://schemas.microsoft.com/office/drawing/2014/main" id="{17A5FD0F-3C1B-47F8-A6C2-AE96748299A3}"/>
              </a:ext>
            </a:extLst>
          </p:cNvPr>
          <p:cNvSpPr>
            <a:spLocks noGrp="1"/>
          </p:cNvSpPr>
          <p:nvPr/>
        </p:nvSpPr>
        <p:spPr>
          <a:xfrm>
            <a:off x="1677129" y="5648193"/>
            <a:ext cx="116669" cy="131183"/>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66" name="Rounded Rectangle 65">
            <a:extLst>
              <a:ext uri="{FF2B5EF4-FFF2-40B4-BE49-F238E27FC236}">
                <a16:creationId xmlns:a16="http://schemas.microsoft.com/office/drawing/2014/main" id="{4223B905-ADCB-41C8-B27A-99B512C175BB}"/>
              </a:ext>
            </a:extLst>
          </p:cNvPr>
          <p:cNvSpPr>
            <a:spLocks noGrp="1"/>
          </p:cNvSpPr>
          <p:nvPr/>
        </p:nvSpPr>
        <p:spPr>
          <a:xfrm>
            <a:off x="3325090" y="4125003"/>
            <a:ext cx="4294908" cy="255079"/>
          </a:xfrm>
          <a:prstGeom prst="roundRect">
            <a:avLst>
              <a:gd name="adj" fmla="val 40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80403781-87F2-4E54-8E62-78442749990A}"/>
              </a:ext>
            </a:extLst>
          </p:cNvPr>
          <p:cNvSpPr>
            <a:spLocks noGrp="1"/>
          </p:cNvSpPr>
          <p:nvPr/>
        </p:nvSpPr>
        <p:spPr>
          <a:xfrm>
            <a:off x="3325090" y="4125003"/>
            <a:ext cx="4294908" cy="255079"/>
          </a:xfrm>
          <a:prstGeom prst="rect">
            <a:avLst/>
          </a:prstGeom>
          <a:noFill/>
          <a:ln>
            <a:noFill/>
          </a:ln>
          <a:effectLst/>
        </p:spPr>
        <p:txBody>
          <a:bodyPr wrap="none" lIns="0" tIns="0" rIns="0" bIns="0" anchor="ctr">
            <a:spAutoFit/>
          </a:bodyPr>
          <a:lstStyle/>
          <a:p>
            <a:pPr algn="ctr">
              <a:buNone/>
            </a:pPr>
            <a:r>
              <a:rPr sz="1180" b="1">
                <a:solidFill>
                  <a:srgbClr val="0B3691"/>
                </a:solidFill>
                <a:latin typeface="IPAexGothic"/>
                <a:ea typeface="IPAexGothic"/>
                <a:cs typeface="IPAexGothic"/>
              </a:rPr>
              <a:t>処理の流れ（イメージ）</a:t>
            </a:r>
          </a:p>
        </p:txBody>
      </p:sp>
      <p:sp>
        <p:nvSpPr>
          <p:cNvPr id="68" name="Rounded Rectangle 67">
            <a:extLst>
              <a:ext uri="{FF2B5EF4-FFF2-40B4-BE49-F238E27FC236}">
                <a16:creationId xmlns:a16="http://schemas.microsoft.com/office/drawing/2014/main" id="{A0E78FAB-5151-43D0-80F3-A84693DFE99C}"/>
              </a:ext>
            </a:extLst>
          </p:cNvPr>
          <p:cNvSpPr>
            <a:spLocks noGrp="1"/>
          </p:cNvSpPr>
          <p:nvPr/>
        </p:nvSpPr>
        <p:spPr>
          <a:xfrm>
            <a:off x="3325090" y="4380082"/>
            <a:ext cx="4294908" cy="1603358"/>
          </a:xfrm>
          <a:prstGeom prst="roundRect">
            <a:avLst>
              <a:gd name="adj" fmla="val 15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Rounded Rectangle 68">
            <a:extLst>
              <a:ext uri="{FF2B5EF4-FFF2-40B4-BE49-F238E27FC236}">
                <a16:creationId xmlns:a16="http://schemas.microsoft.com/office/drawing/2014/main" id="{5E5C1A3F-E970-4BC1-9EB2-EA3B0AC58251}"/>
              </a:ext>
            </a:extLst>
          </p:cNvPr>
          <p:cNvSpPr>
            <a:spLocks noGrp="1"/>
          </p:cNvSpPr>
          <p:nvPr/>
        </p:nvSpPr>
        <p:spPr>
          <a:xfrm>
            <a:off x="3514679" y="4474826"/>
            <a:ext cx="1844842" cy="1392006"/>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Rounded Rectangle 69">
            <a:extLst>
              <a:ext uri="{FF2B5EF4-FFF2-40B4-BE49-F238E27FC236}">
                <a16:creationId xmlns:a16="http://schemas.microsoft.com/office/drawing/2014/main" id="{05EB3D8D-DCC5-4CAF-822F-3073A44196FB}"/>
              </a:ext>
            </a:extLst>
          </p:cNvPr>
          <p:cNvSpPr>
            <a:spLocks noGrp="1"/>
          </p:cNvSpPr>
          <p:nvPr/>
        </p:nvSpPr>
        <p:spPr>
          <a:xfrm>
            <a:off x="5592861" y="4474826"/>
            <a:ext cx="1837550" cy="1392006"/>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Rectangle 70">
            <a:extLst>
              <a:ext uri="{FF2B5EF4-FFF2-40B4-BE49-F238E27FC236}">
                <a16:creationId xmlns:a16="http://schemas.microsoft.com/office/drawing/2014/main" id="{B6A0D9C0-EDEC-41A0-AE63-DA9F6B9EA5F1}"/>
              </a:ext>
            </a:extLst>
          </p:cNvPr>
          <p:cNvSpPr>
            <a:spLocks noGrp="1"/>
          </p:cNvSpPr>
          <p:nvPr/>
        </p:nvSpPr>
        <p:spPr>
          <a:xfrm>
            <a:off x="3514679" y="4474826"/>
            <a:ext cx="1844842" cy="247791"/>
          </a:xfrm>
          <a:prstGeom prst="rect">
            <a:avLst/>
          </a:prstGeom>
          <a:solidFill>
            <a:srgbClr val="EBF1F9"/>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Rectangle 71">
            <a:extLst>
              <a:ext uri="{FF2B5EF4-FFF2-40B4-BE49-F238E27FC236}">
                <a16:creationId xmlns:a16="http://schemas.microsoft.com/office/drawing/2014/main" id="{E7F6F233-903C-4860-93DF-14C66024BDA8}"/>
              </a:ext>
            </a:extLst>
          </p:cNvPr>
          <p:cNvSpPr>
            <a:spLocks noGrp="1"/>
          </p:cNvSpPr>
          <p:nvPr/>
        </p:nvSpPr>
        <p:spPr>
          <a:xfrm>
            <a:off x="5592861" y="4474826"/>
            <a:ext cx="1837550" cy="247791"/>
          </a:xfrm>
          <a:prstGeom prst="rect">
            <a:avLst/>
          </a:prstGeom>
          <a:solidFill>
            <a:srgbClr val="EBF1F9"/>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3" name="TextBox 72">
            <a:extLst>
              <a:ext uri="{FF2B5EF4-FFF2-40B4-BE49-F238E27FC236}">
                <a16:creationId xmlns:a16="http://schemas.microsoft.com/office/drawing/2014/main" id="{2DEBAA4F-3B45-48A6-B49D-B85B95BD023A}"/>
              </a:ext>
            </a:extLst>
          </p:cNvPr>
          <p:cNvSpPr>
            <a:spLocks noGrp="1"/>
          </p:cNvSpPr>
          <p:nvPr/>
        </p:nvSpPr>
        <p:spPr>
          <a:xfrm>
            <a:off x="3645932" y="4540418"/>
            <a:ext cx="1589626" cy="160335"/>
          </a:xfrm>
          <a:prstGeom prst="rect">
            <a:avLst/>
          </a:prstGeom>
          <a:noFill/>
          <a:ln>
            <a:noFill/>
          </a:ln>
          <a:effectLst/>
        </p:spPr>
        <p:txBody>
          <a:bodyPr wrap="none" lIns="0" tIns="0" rIns="0" bIns="0" anchor="ctr">
            <a:spAutoFit/>
          </a:bodyPr>
          <a:lstStyle/>
          <a:p>
            <a:pPr algn="ctr">
              <a:buNone/>
            </a:pPr>
            <a:r>
              <a:rPr sz="1060" b="1">
                <a:solidFill>
                  <a:srgbClr val="052C7E"/>
                </a:solidFill>
                <a:latin typeface="IPAexGothic"/>
                <a:ea typeface="IPAexGothic"/>
                <a:cs typeface="IPAexGothic"/>
              </a:rPr>
              <a:t>OpenAI Agents SDK</a:t>
            </a:r>
          </a:p>
        </p:txBody>
      </p:sp>
      <p:sp>
        <p:nvSpPr>
          <p:cNvPr id="74" name="TextBox 73">
            <a:extLst>
              <a:ext uri="{FF2B5EF4-FFF2-40B4-BE49-F238E27FC236}">
                <a16:creationId xmlns:a16="http://schemas.microsoft.com/office/drawing/2014/main" id="{2179B1C3-2889-4A3A-8601-F8DF0837CA99}"/>
              </a:ext>
            </a:extLst>
          </p:cNvPr>
          <p:cNvSpPr>
            <a:spLocks noGrp="1"/>
          </p:cNvSpPr>
          <p:nvPr/>
        </p:nvSpPr>
        <p:spPr>
          <a:xfrm>
            <a:off x="5760574" y="4540418"/>
            <a:ext cx="1516708" cy="160335"/>
          </a:xfrm>
          <a:prstGeom prst="rect">
            <a:avLst/>
          </a:prstGeom>
          <a:noFill/>
          <a:ln>
            <a:noFill/>
          </a:ln>
          <a:effectLst/>
        </p:spPr>
        <p:txBody>
          <a:bodyPr wrap="none" lIns="0" tIns="0" rIns="0" bIns="0" anchor="ctr">
            <a:spAutoFit/>
          </a:bodyPr>
          <a:lstStyle/>
          <a:p>
            <a:pPr algn="ctr">
              <a:buNone/>
            </a:pPr>
            <a:r>
              <a:rPr sz="1060" b="1">
                <a:solidFill>
                  <a:srgbClr val="052C7E"/>
                </a:solidFill>
                <a:latin typeface="IPAexGothic"/>
                <a:ea typeface="IPAexGothic"/>
                <a:cs typeface="IPAexGothic"/>
              </a:rPr>
              <a:t>Claude Agent SDK</a:t>
            </a:r>
          </a:p>
        </p:txBody>
      </p:sp>
      <p:sp>
        <p:nvSpPr>
          <p:cNvPr id="75" name="Connector 74">
            <a:extLst>
              <a:ext uri="{FF2B5EF4-FFF2-40B4-BE49-F238E27FC236}">
                <a16:creationId xmlns:a16="http://schemas.microsoft.com/office/drawing/2014/main" id="{2C32D0EB-EE00-48B6-9307-A0C1CA319D1E}"/>
              </a:ext>
            </a:extLst>
          </p:cNvPr>
          <p:cNvSpPr>
            <a:spLocks noGrp="1"/>
          </p:cNvSpPr>
          <p:nvPr/>
        </p:nvSpPr>
        <p:spPr>
          <a:xfrm>
            <a:off x="5476191" y="4474826"/>
            <a:ext cx="0" cy="1428447"/>
          </a:xfrm>
          <a:prstGeom prst="line">
            <a:avLst/>
          </a:prstGeom>
          <a:ln w="12700">
            <a:solidFill>
              <a:srgbClr val="4869AA"/>
            </a:solidFill>
          </a:ln>
          <a:effectLst/>
        </p:spPr>
        <p:style>
          <a:lnRef idx="2">
            <a:schemeClr val="accent1"/>
          </a:lnRef>
          <a:fillRef idx="0">
            <a:schemeClr val="accent1"/>
          </a:fillRef>
          <a:effectRef idx="1">
            <a:schemeClr val="accent1"/>
          </a:effectRef>
          <a:fontRef idx="minor">
            <a:schemeClr val="tx1"/>
          </a:fontRef>
        </p:style>
        <p:txBody>
          <a:bodyPr/>
          <a:lstStyle/>
          <a:p>
            <a:endParaRPr/>
          </a:p>
        </p:txBody>
      </p:sp>
      <p:sp>
        <p:nvSpPr>
          <p:cNvPr id="76" name="TextBox 75">
            <a:extLst>
              <a:ext uri="{FF2B5EF4-FFF2-40B4-BE49-F238E27FC236}">
                <a16:creationId xmlns:a16="http://schemas.microsoft.com/office/drawing/2014/main" id="{FC8FEF02-E8B5-4C6F-8776-533640AB80EA}"/>
              </a:ext>
            </a:extLst>
          </p:cNvPr>
          <p:cNvSpPr>
            <a:spLocks noGrp="1"/>
          </p:cNvSpPr>
          <p:nvPr/>
        </p:nvSpPr>
        <p:spPr>
          <a:xfrm>
            <a:off x="3682392" y="4882954"/>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Tool Result</a:t>
            </a:r>
          </a:p>
        </p:txBody>
      </p:sp>
      <p:sp>
        <p:nvSpPr>
          <p:cNvPr id="77" name="TextBox 76">
            <a:extLst>
              <a:ext uri="{FF2B5EF4-FFF2-40B4-BE49-F238E27FC236}">
                <a16:creationId xmlns:a16="http://schemas.microsoft.com/office/drawing/2014/main" id="{126D0458-E2F7-448A-BE70-D5696DCF0D67}"/>
              </a:ext>
            </a:extLst>
          </p:cNvPr>
          <p:cNvSpPr>
            <a:spLocks noGrp="1"/>
          </p:cNvSpPr>
          <p:nvPr/>
        </p:nvSpPr>
        <p:spPr>
          <a:xfrm>
            <a:off x="3682392" y="5269217"/>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Tool Output Guardrail</a:t>
            </a:r>
          </a:p>
        </p:txBody>
      </p:sp>
      <p:sp>
        <p:nvSpPr>
          <p:cNvPr id="78" name="TextBox 77">
            <a:extLst>
              <a:ext uri="{FF2B5EF4-FFF2-40B4-BE49-F238E27FC236}">
                <a16:creationId xmlns:a16="http://schemas.microsoft.com/office/drawing/2014/main" id="{52035FAC-5AFE-414A-942E-6F9F0288577D}"/>
              </a:ext>
            </a:extLst>
          </p:cNvPr>
          <p:cNvSpPr>
            <a:spLocks noGrp="1"/>
          </p:cNvSpPr>
          <p:nvPr/>
        </p:nvSpPr>
        <p:spPr>
          <a:xfrm>
            <a:off x="3682392" y="5670057"/>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許可 ／ 拒否 ／ 置換</a:t>
            </a:r>
          </a:p>
        </p:txBody>
      </p:sp>
      <p:sp>
        <p:nvSpPr>
          <p:cNvPr id="79" name="TextBox 78">
            <a:extLst>
              <a:ext uri="{FF2B5EF4-FFF2-40B4-BE49-F238E27FC236}">
                <a16:creationId xmlns:a16="http://schemas.microsoft.com/office/drawing/2014/main" id="{80C6E70A-4D78-482B-802E-E1C8B8BB5307}"/>
              </a:ext>
            </a:extLst>
          </p:cNvPr>
          <p:cNvSpPr>
            <a:spLocks noGrp="1"/>
          </p:cNvSpPr>
          <p:nvPr/>
        </p:nvSpPr>
        <p:spPr>
          <a:xfrm>
            <a:off x="4396995" y="5079730"/>
            <a:ext cx="116669" cy="145759"/>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80" name="TextBox 79">
            <a:extLst>
              <a:ext uri="{FF2B5EF4-FFF2-40B4-BE49-F238E27FC236}">
                <a16:creationId xmlns:a16="http://schemas.microsoft.com/office/drawing/2014/main" id="{34BACF95-A0E9-4294-8256-8FF209650ED4}"/>
              </a:ext>
            </a:extLst>
          </p:cNvPr>
          <p:cNvSpPr>
            <a:spLocks noGrp="1"/>
          </p:cNvSpPr>
          <p:nvPr/>
        </p:nvSpPr>
        <p:spPr>
          <a:xfrm>
            <a:off x="4396995" y="5458705"/>
            <a:ext cx="116669" cy="145759"/>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81" name="TextBox 80">
            <a:extLst>
              <a:ext uri="{FF2B5EF4-FFF2-40B4-BE49-F238E27FC236}">
                <a16:creationId xmlns:a16="http://schemas.microsoft.com/office/drawing/2014/main" id="{F049515B-34B1-4FC2-9A9B-64CF2E33AF7B}"/>
              </a:ext>
            </a:extLst>
          </p:cNvPr>
          <p:cNvSpPr>
            <a:spLocks noGrp="1"/>
          </p:cNvSpPr>
          <p:nvPr/>
        </p:nvSpPr>
        <p:spPr>
          <a:xfrm>
            <a:off x="5745990" y="4882954"/>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Tool Result</a:t>
            </a:r>
          </a:p>
        </p:txBody>
      </p:sp>
      <p:sp>
        <p:nvSpPr>
          <p:cNvPr id="82" name="TextBox 81">
            <a:extLst>
              <a:ext uri="{FF2B5EF4-FFF2-40B4-BE49-F238E27FC236}">
                <a16:creationId xmlns:a16="http://schemas.microsoft.com/office/drawing/2014/main" id="{96ADA5CB-C63A-41C2-BBEF-F0C874023D6C}"/>
              </a:ext>
            </a:extLst>
          </p:cNvPr>
          <p:cNvSpPr>
            <a:spLocks noGrp="1"/>
          </p:cNvSpPr>
          <p:nvPr/>
        </p:nvSpPr>
        <p:spPr>
          <a:xfrm>
            <a:off x="5745990" y="5269217"/>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PostToolUse</a:t>
            </a:r>
          </a:p>
        </p:txBody>
      </p:sp>
      <p:sp>
        <p:nvSpPr>
          <p:cNvPr id="83" name="TextBox 82">
            <a:extLst>
              <a:ext uri="{FF2B5EF4-FFF2-40B4-BE49-F238E27FC236}">
                <a16:creationId xmlns:a16="http://schemas.microsoft.com/office/drawing/2014/main" id="{F57D2C94-3924-4F96-8466-B2ED37C79389}"/>
              </a:ext>
            </a:extLst>
          </p:cNvPr>
          <p:cNvSpPr>
            <a:spLocks noGrp="1"/>
          </p:cNvSpPr>
          <p:nvPr/>
        </p:nvSpPr>
        <p:spPr>
          <a:xfrm>
            <a:off x="5745990" y="5670057"/>
            <a:ext cx="1531291" cy="174911"/>
          </a:xfrm>
          <a:prstGeom prst="rect">
            <a:avLst/>
          </a:prstGeom>
          <a:noFill/>
          <a:ln>
            <a:noFill/>
          </a:ln>
          <a:effectLst/>
        </p:spPr>
        <p:txBody>
          <a:bodyPr wrap="none" lIns="0" tIns="0" rIns="0" bIns="0" anchor="ctr">
            <a:spAutoFit/>
          </a:bodyPr>
          <a:lstStyle/>
          <a:p>
            <a:pPr algn="ctr">
              <a:buNone/>
            </a:pPr>
            <a:r>
              <a:rPr sz="1019" b="0">
                <a:solidFill>
                  <a:srgbClr val="0A1220"/>
                </a:solidFill>
                <a:latin typeface="IPAexGothic"/>
                <a:ea typeface="IPAexGothic"/>
                <a:cs typeface="IPAexGothic"/>
              </a:rPr>
              <a:t>検査 ／ 加工 ／ 記録</a:t>
            </a:r>
          </a:p>
        </p:txBody>
      </p:sp>
      <p:sp>
        <p:nvSpPr>
          <p:cNvPr id="84" name="TextBox 83">
            <a:extLst>
              <a:ext uri="{FF2B5EF4-FFF2-40B4-BE49-F238E27FC236}">
                <a16:creationId xmlns:a16="http://schemas.microsoft.com/office/drawing/2014/main" id="{E5F7542B-57C2-40E9-B428-A78CA5EFB8C3}"/>
              </a:ext>
            </a:extLst>
          </p:cNvPr>
          <p:cNvSpPr>
            <a:spLocks noGrp="1"/>
          </p:cNvSpPr>
          <p:nvPr/>
        </p:nvSpPr>
        <p:spPr>
          <a:xfrm>
            <a:off x="6482468" y="5079730"/>
            <a:ext cx="116669" cy="145759"/>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85" name="TextBox 84">
            <a:extLst>
              <a:ext uri="{FF2B5EF4-FFF2-40B4-BE49-F238E27FC236}">
                <a16:creationId xmlns:a16="http://schemas.microsoft.com/office/drawing/2014/main" id="{6DC11832-42C7-41F8-9047-9EED5AAC2069}"/>
              </a:ext>
            </a:extLst>
          </p:cNvPr>
          <p:cNvSpPr>
            <a:spLocks noGrp="1"/>
          </p:cNvSpPr>
          <p:nvPr/>
        </p:nvSpPr>
        <p:spPr>
          <a:xfrm>
            <a:off x="6482468" y="5458705"/>
            <a:ext cx="116669" cy="145759"/>
          </a:xfrm>
          <a:prstGeom prst="rect">
            <a:avLst/>
          </a:prstGeom>
          <a:noFill/>
          <a:ln>
            <a:noFill/>
          </a:ln>
          <a:effectLst/>
        </p:spPr>
        <p:txBody>
          <a:bodyPr wrap="none" lIns="0" tIns="0" rIns="0" bIns="0" anchor="ctr">
            <a:spAutoFit/>
          </a:bodyPr>
          <a:lstStyle/>
          <a:p>
            <a:pPr algn="ctr">
              <a:buNone/>
            </a:pPr>
            <a:r>
              <a:rPr sz="1250" b="1">
                <a:solidFill>
                  <a:srgbClr val="0A1220"/>
                </a:solidFill>
                <a:latin typeface="IPAexGothic"/>
                <a:ea typeface="IPAexGothic"/>
                <a:cs typeface="IPAexGothic"/>
              </a:rPr>
              <a:t>↓</a:t>
            </a:r>
          </a:p>
        </p:txBody>
      </p:sp>
      <p:sp>
        <p:nvSpPr>
          <p:cNvPr id="86" name="Rounded Rectangle 85">
            <a:extLst>
              <a:ext uri="{FF2B5EF4-FFF2-40B4-BE49-F238E27FC236}">
                <a16:creationId xmlns:a16="http://schemas.microsoft.com/office/drawing/2014/main" id="{927E2DFC-6C18-4B3A-991E-08C4AEF86E18}"/>
              </a:ext>
            </a:extLst>
          </p:cNvPr>
          <p:cNvSpPr>
            <a:spLocks noGrp="1"/>
          </p:cNvSpPr>
          <p:nvPr/>
        </p:nvSpPr>
        <p:spPr>
          <a:xfrm>
            <a:off x="7846047" y="4125003"/>
            <a:ext cx="3733435" cy="255079"/>
          </a:xfrm>
          <a:prstGeom prst="roundRect">
            <a:avLst>
              <a:gd name="adj" fmla="val 40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7" name="TextBox 86">
            <a:extLst>
              <a:ext uri="{FF2B5EF4-FFF2-40B4-BE49-F238E27FC236}">
                <a16:creationId xmlns:a16="http://schemas.microsoft.com/office/drawing/2014/main" id="{A5AE91CA-B81C-4507-BDE7-B45135FE1FB0}"/>
              </a:ext>
            </a:extLst>
          </p:cNvPr>
          <p:cNvSpPr>
            <a:spLocks noGrp="1"/>
          </p:cNvSpPr>
          <p:nvPr/>
        </p:nvSpPr>
        <p:spPr>
          <a:xfrm>
            <a:off x="7846047" y="4125003"/>
            <a:ext cx="3733435" cy="255079"/>
          </a:xfrm>
          <a:prstGeom prst="rect">
            <a:avLst/>
          </a:prstGeom>
          <a:noFill/>
          <a:ln>
            <a:noFill/>
          </a:ln>
          <a:effectLst/>
        </p:spPr>
        <p:txBody>
          <a:bodyPr wrap="none" lIns="0" tIns="0" rIns="0" bIns="0" anchor="ctr">
            <a:spAutoFit/>
          </a:bodyPr>
          <a:lstStyle/>
          <a:p>
            <a:pPr algn="ctr">
              <a:buNone/>
            </a:pPr>
            <a:r>
              <a:rPr sz="1180" b="1">
                <a:solidFill>
                  <a:srgbClr val="0B3691"/>
                </a:solidFill>
                <a:latin typeface="IPAexGothic"/>
                <a:ea typeface="IPAexGothic"/>
                <a:cs typeface="IPAexGothic"/>
              </a:rPr>
              <a:t>ポイント</a:t>
            </a:r>
          </a:p>
        </p:txBody>
      </p:sp>
      <p:sp>
        <p:nvSpPr>
          <p:cNvPr id="88" name="Rounded Rectangle 87">
            <a:extLst>
              <a:ext uri="{FF2B5EF4-FFF2-40B4-BE49-F238E27FC236}">
                <a16:creationId xmlns:a16="http://schemas.microsoft.com/office/drawing/2014/main" id="{BB63CBA4-409F-4F1F-A555-56A2FA2E2560}"/>
              </a:ext>
            </a:extLst>
          </p:cNvPr>
          <p:cNvSpPr>
            <a:spLocks noGrp="1"/>
          </p:cNvSpPr>
          <p:nvPr/>
        </p:nvSpPr>
        <p:spPr>
          <a:xfrm>
            <a:off x="7846047" y="4380082"/>
            <a:ext cx="3733435" cy="1603358"/>
          </a:xfrm>
          <a:prstGeom prst="roundRect">
            <a:avLst>
              <a:gd name="adj" fmla="val 15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9" name="TextBox 88">
            <a:extLst>
              <a:ext uri="{FF2B5EF4-FFF2-40B4-BE49-F238E27FC236}">
                <a16:creationId xmlns:a16="http://schemas.microsoft.com/office/drawing/2014/main" id="{B616C2C2-A1DE-4840-9D41-DC66583E4F8C}"/>
              </a:ext>
            </a:extLst>
          </p:cNvPr>
          <p:cNvSpPr>
            <a:spLocks noGrp="1"/>
          </p:cNvSpPr>
          <p:nvPr/>
        </p:nvSpPr>
        <p:spPr>
          <a:xfrm>
            <a:off x="8086679" y="4569570"/>
            <a:ext cx="3135502" cy="306095"/>
          </a:xfrm>
          <a:prstGeom prst="rect">
            <a:avLst/>
          </a:prstGeom>
          <a:noFill/>
          <a:ln>
            <a:noFill/>
          </a:ln>
          <a:effectLst/>
        </p:spPr>
        <p:txBody>
          <a:bodyPr wrap="square" lIns="0" tIns="0" rIns="0" bIns="0" anchor="ctr">
            <a:spAutoFit/>
          </a:bodyPr>
          <a:lstStyle/>
          <a:p>
            <a:pPr algn="l">
              <a:buNone/>
            </a:pPr>
            <a:r>
              <a:rPr sz="1019" b="0">
                <a:solidFill>
                  <a:srgbClr val="0A1220"/>
                </a:solidFill>
                <a:latin typeface="IPAexGothic"/>
                <a:ea typeface="IPAexGothic"/>
                <a:cs typeface="IPAexGothic"/>
              </a:rPr>
              <a:t>・  Actionの認可とDataの検査は別の問題である．</a:t>
            </a:r>
          </a:p>
        </p:txBody>
      </p:sp>
      <p:sp>
        <p:nvSpPr>
          <p:cNvPr id="90" name="TextBox 89">
            <a:extLst>
              <a:ext uri="{FF2B5EF4-FFF2-40B4-BE49-F238E27FC236}">
                <a16:creationId xmlns:a16="http://schemas.microsoft.com/office/drawing/2014/main" id="{3C811F25-E1BC-4B6F-87BB-5821A5C75AA6}"/>
              </a:ext>
            </a:extLst>
          </p:cNvPr>
          <p:cNvSpPr>
            <a:spLocks noGrp="1"/>
          </p:cNvSpPr>
          <p:nvPr/>
        </p:nvSpPr>
        <p:spPr>
          <a:xfrm>
            <a:off x="8086679" y="5036002"/>
            <a:ext cx="3135502" cy="306095"/>
          </a:xfrm>
          <a:prstGeom prst="rect">
            <a:avLst/>
          </a:prstGeom>
          <a:noFill/>
          <a:ln>
            <a:noFill/>
          </a:ln>
          <a:effectLst/>
        </p:spPr>
        <p:txBody>
          <a:bodyPr wrap="square" lIns="0" tIns="0" rIns="0" bIns="0" anchor="ctr">
            <a:spAutoFit/>
          </a:bodyPr>
          <a:lstStyle/>
          <a:p>
            <a:pPr algn="l">
              <a:buNone/>
            </a:pPr>
            <a:r>
              <a:rPr sz="1019" b="0">
                <a:solidFill>
                  <a:srgbClr val="0A1220"/>
                </a:solidFill>
                <a:latin typeface="IPAexGothic"/>
                <a:ea typeface="IPAexGothic"/>
                <a:cs typeface="IPAexGothic"/>
              </a:rPr>
              <a:t>・  Tool Callを許可しても，返却Dataを</a:t>
            </a:r>
          </a:p>
          <a:p>
            <a:pPr algn="l">
              <a:buNone/>
            </a:pPr>
            <a:r>
              <a:rPr sz="1019" b="0">
                <a:solidFill>
                  <a:srgbClr val="0A1220"/>
                </a:solidFill>
                <a:latin typeface="IPAexGothic"/>
                <a:ea typeface="IPAexGothic"/>
                <a:cs typeface="IPAexGothic"/>
              </a:rPr>
              <a:t>そのまま使ってよいとは限らない．</a:t>
            </a:r>
          </a:p>
        </p:txBody>
      </p:sp>
      <p:sp>
        <p:nvSpPr>
          <p:cNvPr id="91" name="TextBox 90">
            <a:extLst>
              <a:ext uri="{FF2B5EF4-FFF2-40B4-BE49-F238E27FC236}">
                <a16:creationId xmlns:a16="http://schemas.microsoft.com/office/drawing/2014/main" id="{D846CF3D-3C73-40E7-AF3D-B0BFE8156711}"/>
              </a:ext>
            </a:extLst>
          </p:cNvPr>
          <p:cNvSpPr>
            <a:spLocks noGrp="1"/>
          </p:cNvSpPr>
          <p:nvPr/>
        </p:nvSpPr>
        <p:spPr>
          <a:xfrm>
            <a:off x="8086679" y="5502433"/>
            <a:ext cx="3135502" cy="306095"/>
          </a:xfrm>
          <a:prstGeom prst="rect">
            <a:avLst/>
          </a:prstGeom>
          <a:noFill/>
          <a:ln>
            <a:noFill/>
          </a:ln>
          <a:effectLst/>
        </p:spPr>
        <p:txBody>
          <a:bodyPr wrap="square" lIns="0" tIns="0" rIns="0" bIns="0" anchor="ctr">
            <a:spAutoFit/>
          </a:bodyPr>
          <a:lstStyle/>
          <a:p>
            <a:pPr algn="l">
              <a:buNone/>
            </a:pPr>
            <a:r>
              <a:rPr sz="1019" b="0">
                <a:solidFill>
                  <a:srgbClr val="0A1220"/>
                </a:solidFill>
                <a:latin typeface="IPAexGothic"/>
                <a:ea typeface="IPAexGothic"/>
                <a:cs typeface="IPAexGothic"/>
              </a:rPr>
              <a:t>・  ClaudeではTool失敗時に</a:t>
            </a:r>
          </a:p>
          <a:p>
            <a:pPr algn="l">
              <a:buNone/>
            </a:pPr>
            <a:r>
              <a:rPr sz="1019" b="0">
                <a:solidFill>
                  <a:srgbClr val="0A1220"/>
                </a:solidFill>
                <a:latin typeface="IPAexGothic"/>
                <a:ea typeface="IPAexGothic"/>
                <a:cs typeface="IPAexGothic"/>
              </a:rPr>
              <a:t>PostToolUseFailureも利用できる．</a:t>
            </a:r>
          </a:p>
        </p:txBody>
      </p:sp>
      <p:sp>
        <p:nvSpPr>
          <p:cNvPr id="92" name="Rounded Rectangle 91">
            <a:extLst>
              <a:ext uri="{FF2B5EF4-FFF2-40B4-BE49-F238E27FC236}">
                <a16:creationId xmlns:a16="http://schemas.microsoft.com/office/drawing/2014/main" id="{831E119D-775A-41DF-A0B8-D40231BBA0E5}"/>
              </a:ext>
            </a:extLst>
          </p:cNvPr>
          <p:cNvSpPr>
            <a:spLocks noGrp="1"/>
          </p:cNvSpPr>
          <p:nvPr/>
        </p:nvSpPr>
        <p:spPr>
          <a:xfrm>
            <a:off x="350009" y="6121912"/>
            <a:ext cx="11229473" cy="459143"/>
          </a:xfrm>
          <a:prstGeom prst="roundRect">
            <a:avLst>
              <a:gd name="adj" fmla="val 15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3" name="Rounded Rectangle 92">
            <a:extLst>
              <a:ext uri="{FF2B5EF4-FFF2-40B4-BE49-F238E27FC236}">
                <a16:creationId xmlns:a16="http://schemas.microsoft.com/office/drawing/2014/main" id="{2CE47272-BCDF-47FC-B5B5-E7D9F83D72E4}"/>
              </a:ext>
            </a:extLst>
          </p:cNvPr>
          <p:cNvSpPr>
            <a:spLocks noGrp="1"/>
          </p:cNvSpPr>
          <p:nvPr/>
        </p:nvSpPr>
        <p:spPr>
          <a:xfrm>
            <a:off x="350009" y="6121912"/>
            <a:ext cx="1509416" cy="459143"/>
          </a:xfrm>
          <a:prstGeom prst="roundRect">
            <a:avLst>
              <a:gd name="adj" fmla="val 1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4" name="TextBox 93">
            <a:extLst>
              <a:ext uri="{FF2B5EF4-FFF2-40B4-BE49-F238E27FC236}">
                <a16:creationId xmlns:a16="http://schemas.microsoft.com/office/drawing/2014/main" id="{2D54A728-B0C5-4886-BEC7-109E27D8B667}"/>
              </a:ext>
            </a:extLst>
          </p:cNvPr>
          <p:cNvSpPr>
            <a:spLocks noGrp="1"/>
          </p:cNvSpPr>
          <p:nvPr/>
        </p:nvSpPr>
        <p:spPr>
          <a:xfrm>
            <a:off x="554181" y="6238520"/>
            <a:ext cx="1093779" cy="218639"/>
          </a:xfrm>
          <a:prstGeom prst="rect">
            <a:avLst/>
          </a:prstGeom>
          <a:noFill/>
          <a:ln>
            <a:noFill/>
          </a:ln>
          <a:effectLst/>
        </p:spPr>
        <p:txBody>
          <a:bodyPr wrap="none" lIns="0" tIns="0" rIns="0" bIns="0" anchor="ctr">
            <a:spAutoFit/>
          </a:bodyPr>
          <a:lstStyle/>
          <a:p>
            <a:pPr algn="ctr">
              <a:buNone/>
            </a:pPr>
            <a:r>
              <a:rPr sz="1220" b="1">
                <a:solidFill>
                  <a:srgbClr val="0B3691"/>
                </a:solidFill>
                <a:latin typeface="IPAexGothic"/>
                <a:ea typeface="IPAexGothic"/>
                <a:cs typeface="IPAexGothic"/>
              </a:rPr>
              <a:t>違いのまとめ</a:t>
            </a:r>
          </a:p>
        </p:txBody>
      </p:sp>
      <p:sp>
        <p:nvSpPr>
          <p:cNvPr id="95" name="TextBox 94">
            <a:extLst>
              <a:ext uri="{FF2B5EF4-FFF2-40B4-BE49-F238E27FC236}">
                <a16:creationId xmlns:a16="http://schemas.microsoft.com/office/drawing/2014/main" id="{F8C1725B-6230-4C65-90F5-D4CD43510735}"/>
              </a:ext>
            </a:extLst>
          </p:cNvPr>
          <p:cNvSpPr>
            <a:spLocks noGrp="1"/>
          </p:cNvSpPr>
          <p:nvPr/>
        </p:nvSpPr>
        <p:spPr>
          <a:xfrm>
            <a:off x="2056306" y="6260384"/>
            <a:ext cx="8166889" cy="204063"/>
          </a:xfrm>
          <a:prstGeom prst="rect">
            <a:avLst/>
          </a:prstGeom>
          <a:noFill/>
          <a:ln>
            <a:noFill/>
          </a:ln>
          <a:effectLst/>
        </p:spPr>
        <p:txBody>
          <a:bodyPr wrap="none" lIns="0" tIns="0" rIns="0" bIns="0" anchor="ctr">
            <a:spAutoFit/>
          </a:bodyPr>
          <a:lstStyle/>
          <a:p>
            <a:pPr algn="l">
              <a:buNone/>
            </a:pPr>
            <a:r>
              <a:rPr sz="1160" b="1">
                <a:solidFill>
                  <a:srgbClr val="052C7E"/>
                </a:solidFill>
                <a:latin typeface="IPAexGothic"/>
                <a:ea typeface="IPAexGothic"/>
                <a:cs typeface="IPAexGothic"/>
              </a:rPr>
              <a:t>OpenAIはTool Result検査をGuardrailとして明示的に持ち，ClaudeはPostToolUse Hookとして実装する．</a:t>
            </a:r>
          </a:p>
        </p:txBody>
      </p:sp>
      <p:sp>
        <p:nvSpPr>
          <p:cNvPr id="96" name="TextBox 95">
            <a:extLst>
              <a:ext uri="{FF2B5EF4-FFF2-40B4-BE49-F238E27FC236}">
                <a16:creationId xmlns:a16="http://schemas.microsoft.com/office/drawing/2014/main" id="{71CBE0C7-337F-44DE-8DD9-16BC7FED92BC}"/>
              </a:ext>
            </a:extLst>
          </p:cNvPr>
          <p:cNvSpPr>
            <a:spLocks noGrp="1"/>
          </p:cNvSpPr>
          <p:nvPr/>
        </p:nvSpPr>
        <p:spPr>
          <a:xfrm>
            <a:off x="11674277" y="6493600"/>
            <a:ext cx="291674" cy="174911"/>
          </a:xfrm>
          <a:prstGeom prst="rect">
            <a:avLst/>
          </a:prstGeom>
          <a:noFill/>
          <a:ln>
            <a:noFill/>
          </a:ln>
          <a:effectLst/>
        </p:spPr>
        <p:txBody>
          <a:bodyPr wrap="none" lIns="0" tIns="0" rIns="0" bIns="0" anchor="ctr">
            <a:spAutoFit/>
          </a:bodyPr>
          <a:lstStyle/>
          <a:p>
            <a:pPr algn="ctr">
              <a:buNone/>
            </a:pPr>
            <a:r>
              <a:rPr sz="1320" b="1">
                <a:solidFill>
                  <a:srgbClr val="052C7E"/>
                </a:solidFill>
                <a:latin typeface="IPAexGothic"/>
                <a:ea typeface="IPAexGothic"/>
                <a:cs typeface="IPAexGothic"/>
              </a:rPr>
              <a:t>A4</a:t>
            </a:r>
          </a:p>
        </p:txBody>
      </p:sp>
    </p:spTree>
    <p:extLst>
      <p:ext uri="{BB962C8B-B14F-4D97-AF65-F5344CB8AC3E}">
        <p14:creationId xmlns:p14="http://schemas.microsoft.com/office/powerpoint/2010/main" val="1271903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B1153F-0216-4457-A3FE-D6897617B80E}"/>
              </a:ext>
            </a:extLst>
          </p:cNvPr>
          <p:cNvSpPr>
            <a:spLocks noGrp="1"/>
          </p:cNvSpPr>
          <p:nvPr/>
        </p:nvSpPr>
        <p:spPr>
          <a:xfrm>
            <a:off x="328133" y="182199"/>
            <a:ext cx="5395980" cy="335247"/>
          </a:xfrm>
          <a:prstGeom prst="rect">
            <a:avLst/>
          </a:prstGeom>
          <a:noFill/>
          <a:ln>
            <a:noFill/>
          </a:ln>
          <a:effectLst/>
        </p:spPr>
        <p:txBody>
          <a:bodyPr wrap="none" lIns="0" tIns="0" rIns="0" bIns="0" anchor="ctr">
            <a:spAutoFit/>
          </a:bodyPr>
          <a:lstStyle/>
          <a:p>
            <a:pPr algn="l">
              <a:buNone/>
            </a:pPr>
            <a:r>
              <a:rPr sz="2030" b="1">
                <a:solidFill>
                  <a:srgbClr val="052C7E"/>
                </a:solidFill>
                <a:latin typeface="IPAexGothic"/>
                <a:ea typeface="IPAexGothic"/>
                <a:cs typeface="IPAexGothic"/>
              </a:rPr>
              <a:t>Appendix A5． Human Approval</a:t>
            </a:r>
          </a:p>
        </p:txBody>
      </p:sp>
      <p:sp>
        <p:nvSpPr>
          <p:cNvPr id="4" name="TextBox 3">
            <a:extLst>
              <a:ext uri="{FF2B5EF4-FFF2-40B4-BE49-F238E27FC236}">
                <a16:creationId xmlns:a16="http://schemas.microsoft.com/office/drawing/2014/main" id="{E16A0217-ECB3-42EE-A304-3986D163741A}"/>
              </a:ext>
            </a:extLst>
          </p:cNvPr>
          <p:cNvSpPr>
            <a:spLocks noGrp="1"/>
          </p:cNvSpPr>
          <p:nvPr/>
        </p:nvSpPr>
        <p:spPr>
          <a:xfrm>
            <a:off x="10624248" y="247791"/>
            <a:ext cx="1093779" cy="174911"/>
          </a:xfrm>
          <a:prstGeom prst="rect">
            <a:avLst/>
          </a:prstGeom>
          <a:noFill/>
          <a:ln>
            <a:noFill/>
          </a:ln>
          <a:effectLst/>
        </p:spPr>
        <p:txBody>
          <a:bodyPr wrap="none" lIns="0" tIns="0" rIns="0" bIns="0" anchor="ctr">
            <a:spAutoFit/>
          </a:bodyPr>
          <a:lstStyle/>
          <a:p>
            <a:pPr algn="ctr">
              <a:buNone/>
            </a:pPr>
            <a:r>
              <a:rPr sz="1160" b="1">
                <a:solidFill>
                  <a:srgbClr val="052C7E"/>
                </a:solidFill>
                <a:latin typeface="IPAexGothic"/>
                <a:ea typeface="IPAexGothic"/>
                <a:cs typeface="IPAexGothic"/>
              </a:rPr>
              <a:t>行動・権限制御</a:t>
            </a:r>
          </a:p>
        </p:txBody>
      </p:sp>
      <p:sp>
        <p:nvSpPr>
          <p:cNvPr id="5" name="Rectangle 4">
            <a:extLst>
              <a:ext uri="{FF2B5EF4-FFF2-40B4-BE49-F238E27FC236}">
                <a16:creationId xmlns:a16="http://schemas.microsoft.com/office/drawing/2014/main" id="{5E461576-B4A9-45C3-92A2-785939B54075}"/>
              </a:ext>
            </a:extLst>
          </p:cNvPr>
          <p:cNvSpPr>
            <a:spLocks noGrp="1"/>
          </p:cNvSpPr>
          <p:nvPr/>
        </p:nvSpPr>
        <p:spPr>
          <a:xfrm>
            <a:off x="204172" y="517447"/>
            <a:ext cx="11608650" cy="36439"/>
          </a:xfrm>
          <a:prstGeom prst="rect">
            <a:avLst/>
          </a:prstGeom>
          <a:solidFill>
            <a:srgbClr val="052C7E"/>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152FE1E-6E96-4CE1-A5CB-5C1EDD0E45A7}"/>
              </a:ext>
            </a:extLst>
          </p:cNvPr>
          <p:cNvSpPr>
            <a:spLocks noGrp="1"/>
          </p:cNvSpPr>
          <p:nvPr/>
        </p:nvSpPr>
        <p:spPr>
          <a:xfrm>
            <a:off x="386468" y="750663"/>
            <a:ext cx="9698181" cy="174911"/>
          </a:xfrm>
          <a:prstGeom prst="rect">
            <a:avLst/>
          </a:prstGeom>
          <a:noFill/>
          <a:ln>
            <a:noFill/>
          </a:ln>
          <a:effectLst/>
        </p:spPr>
        <p:txBody>
          <a:bodyPr wrap="none" lIns="0" tIns="0" rIns="0" bIns="0" anchor="ctr">
            <a:spAutoFit/>
          </a:bodyPr>
          <a:lstStyle/>
          <a:p>
            <a:pPr algn="l">
              <a:buNone/>
            </a:pPr>
            <a:r>
              <a:rPr sz="1190" b="1">
                <a:solidFill>
                  <a:srgbClr val="0A1220"/>
                </a:solidFill>
                <a:latin typeface="IPAexGothic"/>
                <a:ea typeface="IPAexGothic"/>
                <a:cs typeface="IPAexGothic"/>
              </a:rPr>
              <a:t>すべての高リスク操作を禁止するとAgentの有用性が下がるため，人間確認を挟んで実行可否を判断する中間状態が重要である．</a:t>
            </a:r>
          </a:p>
        </p:txBody>
      </p:sp>
      <p:sp>
        <p:nvSpPr>
          <p:cNvPr id="7" name="TextBox 6">
            <a:extLst>
              <a:ext uri="{FF2B5EF4-FFF2-40B4-BE49-F238E27FC236}">
                <a16:creationId xmlns:a16="http://schemas.microsoft.com/office/drawing/2014/main" id="{6251FE02-6DFA-4961-B264-6C39B675D32E}"/>
              </a:ext>
            </a:extLst>
          </p:cNvPr>
          <p:cNvSpPr>
            <a:spLocks noGrp="1"/>
          </p:cNvSpPr>
          <p:nvPr/>
        </p:nvSpPr>
        <p:spPr>
          <a:xfrm>
            <a:off x="386468" y="976590"/>
            <a:ext cx="9698181" cy="174911"/>
          </a:xfrm>
          <a:prstGeom prst="rect">
            <a:avLst/>
          </a:prstGeom>
          <a:noFill/>
          <a:ln>
            <a:noFill/>
          </a:ln>
          <a:effectLst/>
        </p:spPr>
        <p:txBody>
          <a:bodyPr wrap="none" lIns="0" tIns="0" rIns="0" bIns="0" anchor="ctr">
            <a:spAutoFit/>
          </a:bodyPr>
          <a:lstStyle/>
          <a:p>
            <a:pPr algn="l">
              <a:buNone/>
            </a:pPr>
            <a:r>
              <a:rPr sz="1190" b="1">
                <a:solidFill>
                  <a:srgbClr val="0A1220"/>
                </a:solidFill>
                <a:latin typeface="IPAexGothic"/>
                <a:ea typeface="IPAexGothic"/>
                <a:cs typeface="IPAexGothic"/>
              </a:rPr>
              <a:t>OpenAIはneeds_approval，ClaudeはPermission Systemとcan_use_toolを利用してApproval Flowを構成する．</a:t>
            </a:r>
          </a:p>
        </p:txBody>
      </p:sp>
      <p:sp>
        <p:nvSpPr>
          <p:cNvPr id="8" name="TextBox 7">
            <a:extLst>
              <a:ext uri="{FF2B5EF4-FFF2-40B4-BE49-F238E27FC236}">
                <a16:creationId xmlns:a16="http://schemas.microsoft.com/office/drawing/2014/main" id="{3AD64472-BAB8-48F3-9B3D-75D6EB3B888A}"/>
              </a:ext>
            </a:extLst>
          </p:cNvPr>
          <p:cNvSpPr>
            <a:spLocks noGrp="1"/>
          </p:cNvSpPr>
          <p:nvPr/>
        </p:nvSpPr>
        <p:spPr>
          <a:xfrm>
            <a:off x="6489760" y="1166078"/>
            <a:ext cx="5323062" cy="145759"/>
          </a:xfrm>
          <a:prstGeom prst="rect">
            <a:avLst/>
          </a:prstGeom>
          <a:noFill/>
          <a:ln>
            <a:noFill/>
          </a:ln>
          <a:effectLst/>
        </p:spPr>
        <p:txBody>
          <a:bodyPr wrap="none" lIns="0" tIns="0" rIns="0" bIns="0" anchor="ctr">
            <a:spAutoFit/>
          </a:bodyPr>
          <a:lstStyle/>
          <a:p>
            <a:pPr algn="r">
              <a:buNone/>
            </a:pPr>
            <a:r>
              <a:rPr sz="880" b="1">
                <a:solidFill>
                  <a:srgbClr val="052C7E"/>
                </a:solidFill>
                <a:latin typeface="IPAexGothic"/>
                <a:ea typeface="IPAexGothic"/>
                <a:cs typeface="IPAexGothic"/>
              </a:rPr>
              <a:t>対象バージョン：OpenAI Agents SDK 0.22.0 ／ Claude Agent SDK 0.2.144</a:t>
            </a:r>
          </a:p>
        </p:txBody>
      </p:sp>
      <p:sp>
        <p:nvSpPr>
          <p:cNvPr id="9" name="Rectangle 8">
            <a:extLst>
              <a:ext uri="{FF2B5EF4-FFF2-40B4-BE49-F238E27FC236}">
                <a16:creationId xmlns:a16="http://schemas.microsoft.com/office/drawing/2014/main" id="{835615A6-63DE-4836-AB6E-21CC1CDAAD73}"/>
              </a:ext>
            </a:extLst>
          </p:cNvPr>
          <p:cNvSpPr>
            <a:spLocks noGrp="1"/>
          </p:cNvSpPr>
          <p:nvPr/>
        </p:nvSpPr>
        <p:spPr>
          <a:xfrm>
            <a:off x="306258" y="1362854"/>
            <a:ext cx="11149262" cy="284231"/>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9F6553D0-0434-48E8-B976-33EE8F2437F0}"/>
              </a:ext>
            </a:extLst>
          </p:cNvPr>
          <p:cNvSpPr>
            <a:spLocks noGrp="1"/>
          </p:cNvSpPr>
          <p:nvPr/>
        </p:nvSpPr>
        <p:spPr>
          <a:xfrm>
            <a:off x="306258" y="1362854"/>
            <a:ext cx="1968803" cy="284231"/>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観点</a:t>
            </a:r>
          </a:p>
        </p:txBody>
      </p:sp>
      <p:sp>
        <p:nvSpPr>
          <p:cNvPr id="11" name="TextBox 10">
            <a:extLst>
              <a:ext uri="{FF2B5EF4-FFF2-40B4-BE49-F238E27FC236}">
                <a16:creationId xmlns:a16="http://schemas.microsoft.com/office/drawing/2014/main" id="{234A033B-470F-4511-9E27-1E90FDB37E77}"/>
              </a:ext>
            </a:extLst>
          </p:cNvPr>
          <p:cNvSpPr>
            <a:spLocks noGrp="1"/>
          </p:cNvSpPr>
          <p:nvPr/>
        </p:nvSpPr>
        <p:spPr>
          <a:xfrm>
            <a:off x="2275062" y="1399556"/>
            <a:ext cx="4520956" cy="210827"/>
          </a:xfrm>
          <a:prstGeom prst="rect">
            <a:avLst/>
          </a:prstGeom>
          <a:noFill/>
          <a:ln>
            <a:noFill/>
          </a:ln>
          <a:effectLst/>
        </p:spPr>
        <p:txBody>
          <a:bodyPr wrap="square" lIns="0" tIns="0" rIns="0" bIns="0" anchor="ctr">
            <a:spAutoFit/>
          </a:bodyPr>
          <a:lstStyle/>
          <a:p>
            <a:pPr algn="ctr">
              <a:buNone/>
            </a:pPr>
            <a:r>
              <a:rPr sz="1370" b="1">
                <a:solidFill>
                  <a:srgbClr val="0B3691"/>
                </a:solidFill>
                <a:latin typeface="IPAexGothic"/>
                <a:ea typeface="IPAexGothic"/>
                <a:cs typeface="IPAexGothic"/>
              </a:rPr>
              <a:t>OpenAI Agents SDK</a:t>
            </a:r>
          </a:p>
        </p:txBody>
      </p:sp>
      <p:sp>
        <p:nvSpPr>
          <p:cNvPr id="12" name="TextBox 11">
            <a:extLst>
              <a:ext uri="{FF2B5EF4-FFF2-40B4-BE49-F238E27FC236}">
                <a16:creationId xmlns:a16="http://schemas.microsoft.com/office/drawing/2014/main" id="{5E5967EA-446E-4B97-B8B6-75B497D42F9B}"/>
              </a:ext>
            </a:extLst>
          </p:cNvPr>
          <p:cNvSpPr>
            <a:spLocks noGrp="1"/>
          </p:cNvSpPr>
          <p:nvPr/>
        </p:nvSpPr>
        <p:spPr>
          <a:xfrm>
            <a:off x="6796018" y="1362854"/>
            <a:ext cx="4659502" cy="284231"/>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Claude Agent SDK</a:t>
            </a:r>
          </a:p>
        </p:txBody>
      </p:sp>
      <p:sp>
        <p:nvSpPr>
          <p:cNvPr id="13" name="Rectangle 12">
            <a:extLst>
              <a:ext uri="{FF2B5EF4-FFF2-40B4-BE49-F238E27FC236}">
                <a16:creationId xmlns:a16="http://schemas.microsoft.com/office/drawing/2014/main" id="{CC860C71-F399-48B0-BACE-9943B59448A9}"/>
              </a:ext>
            </a:extLst>
          </p:cNvPr>
          <p:cNvSpPr>
            <a:spLocks noGrp="1"/>
          </p:cNvSpPr>
          <p:nvPr/>
        </p:nvSpPr>
        <p:spPr>
          <a:xfrm>
            <a:off x="306258" y="1647086"/>
            <a:ext cx="1968803" cy="33524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E1939FE1-C3C7-4742-A30C-C77C0FED29A1}"/>
              </a:ext>
            </a:extLst>
          </p:cNvPr>
          <p:cNvSpPr>
            <a:spLocks noGrp="1"/>
          </p:cNvSpPr>
          <p:nvPr/>
        </p:nvSpPr>
        <p:spPr>
          <a:xfrm>
            <a:off x="2275062" y="1647086"/>
            <a:ext cx="4520956"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0AE77A72-B884-43F3-BE26-1395A38B94BB}"/>
              </a:ext>
            </a:extLst>
          </p:cNvPr>
          <p:cNvSpPr>
            <a:spLocks noGrp="1"/>
          </p:cNvSpPr>
          <p:nvPr/>
        </p:nvSpPr>
        <p:spPr>
          <a:xfrm>
            <a:off x="6796018" y="1647086"/>
            <a:ext cx="4659502"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8B04F34C-EB8F-4C3C-9764-095FE8087121}"/>
              </a:ext>
            </a:extLst>
          </p:cNvPr>
          <p:cNvSpPr>
            <a:spLocks noGrp="1"/>
          </p:cNvSpPr>
          <p:nvPr/>
        </p:nvSpPr>
        <p:spPr>
          <a:xfrm>
            <a:off x="437511" y="1676238"/>
            <a:ext cx="1750047" cy="276943"/>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主な機能</a:t>
            </a:r>
          </a:p>
        </p:txBody>
      </p:sp>
      <p:sp>
        <p:nvSpPr>
          <p:cNvPr id="17" name="TextBox 16">
            <a:extLst>
              <a:ext uri="{FF2B5EF4-FFF2-40B4-BE49-F238E27FC236}">
                <a16:creationId xmlns:a16="http://schemas.microsoft.com/office/drawing/2014/main" id="{F3FBD151-74D1-4986-AC35-E54B882DBDC3}"/>
              </a:ext>
            </a:extLst>
          </p:cNvPr>
          <p:cNvSpPr>
            <a:spLocks noGrp="1"/>
          </p:cNvSpPr>
          <p:nvPr/>
        </p:nvSpPr>
        <p:spPr>
          <a:xfrm>
            <a:off x="2450066" y="1676238"/>
            <a:ext cx="4273033" cy="276943"/>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needs_approval</a:t>
            </a:r>
          </a:p>
        </p:txBody>
      </p:sp>
      <p:sp>
        <p:nvSpPr>
          <p:cNvPr id="18" name="TextBox 17">
            <a:extLst>
              <a:ext uri="{FF2B5EF4-FFF2-40B4-BE49-F238E27FC236}">
                <a16:creationId xmlns:a16="http://schemas.microsoft.com/office/drawing/2014/main" id="{3725BF4F-F5F3-4306-81FD-567E1E485912}"/>
              </a:ext>
            </a:extLst>
          </p:cNvPr>
          <p:cNvSpPr>
            <a:spLocks noGrp="1"/>
          </p:cNvSpPr>
          <p:nvPr/>
        </p:nvSpPr>
        <p:spPr>
          <a:xfrm>
            <a:off x="6971023" y="1676238"/>
            <a:ext cx="4411578" cy="276943"/>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can_use_tool ／ Permission System</a:t>
            </a:r>
          </a:p>
        </p:txBody>
      </p:sp>
      <p:sp>
        <p:nvSpPr>
          <p:cNvPr id="19" name="Rectangle 18">
            <a:extLst>
              <a:ext uri="{FF2B5EF4-FFF2-40B4-BE49-F238E27FC236}">
                <a16:creationId xmlns:a16="http://schemas.microsoft.com/office/drawing/2014/main" id="{A0D15753-30EB-469E-BC56-9BEA96F65DCE}"/>
              </a:ext>
            </a:extLst>
          </p:cNvPr>
          <p:cNvSpPr>
            <a:spLocks noGrp="1"/>
          </p:cNvSpPr>
          <p:nvPr/>
        </p:nvSpPr>
        <p:spPr>
          <a:xfrm>
            <a:off x="306258" y="1982333"/>
            <a:ext cx="1968803" cy="33524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62CB7A5F-6D0D-417B-B2E3-F9B8175DD772}"/>
              </a:ext>
            </a:extLst>
          </p:cNvPr>
          <p:cNvSpPr>
            <a:spLocks noGrp="1"/>
          </p:cNvSpPr>
          <p:nvPr/>
        </p:nvSpPr>
        <p:spPr>
          <a:xfrm>
            <a:off x="2275062" y="1982333"/>
            <a:ext cx="4520956"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66DBF0A6-233C-4FB2-99D2-EE7CBFBDEFE0}"/>
              </a:ext>
            </a:extLst>
          </p:cNvPr>
          <p:cNvSpPr>
            <a:spLocks noGrp="1"/>
          </p:cNvSpPr>
          <p:nvPr/>
        </p:nvSpPr>
        <p:spPr>
          <a:xfrm>
            <a:off x="6796018" y="1982333"/>
            <a:ext cx="4659502"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908A806-92F5-4C2E-AE01-24E9A6D2B5E5}"/>
              </a:ext>
            </a:extLst>
          </p:cNvPr>
          <p:cNvSpPr>
            <a:spLocks noGrp="1"/>
          </p:cNvSpPr>
          <p:nvPr/>
        </p:nvSpPr>
        <p:spPr>
          <a:xfrm>
            <a:off x="437511" y="2011485"/>
            <a:ext cx="1750047" cy="276943"/>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目的</a:t>
            </a:r>
          </a:p>
        </p:txBody>
      </p:sp>
      <p:sp>
        <p:nvSpPr>
          <p:cNvPr id="23" name="TextBox 22">
            <a:extLst>
              <a:ext uri="{FF2B5EF4-FFF2-40B4-BE49-F238E27FC236}">
                <a16:creationId xmlns:a16="http://schemas.microsoft.com/office/drawing/2014/main" id="{E03329E2-DFAC-4DC9-AD44-456A0C9A0AFB}"/>
              </a:ext>
            </a:extLst>
          </p:cNvPr>
          <p:cNvSpPr>
            <a:spLocks noGrp="1"/>
          </p:cNvSpPr>
          <p:nvPr/>
        </p:nvSpPr>
        <p:spPr>
          <a:xfrm>
            <a:off x="2450066" y="2011485"/>
            <a:ext cx="4273033" cy="276943"/>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高リスク操作の実行前に承認を要求</a:t>
            </a:r>
          </a:p>
        </p:txBody>
      </p:sp>
      <p:sp>
        <p:nvSpPr>
          <p:cNvPr id="24" name="TextBox 23">
            <a:extLst>
              <a:ext uri="{FF2B5EF4-FFF2-40B4-BE49-F238E27FC236}">
                <a16:creationId xmlns:a16="http://schemas.microsoft.com/office/drawing/2014/main" id="{7D92DEC7-90AE-4E82-87B9-F5334B04169A}"/>
              </a:ext>
            </a:extLst>
          </p:cNvPr>
          <p:cNvSpPr>
            <a:spLocks noGrp="1"/>
          </p:cNvSpPr>
          <p:nvPr/>
        </p:nvSpPr>
        <p:spPr>
          <a:xfrm>
            <a:off x="6971023" y="2011485"/>
            <a:ext cx="4411578" cy="276943"/>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重要操作の実行前に承認または確認を要求</a:t>
            </a:r>
          </a:p>
        </p:txBody>
      </p:sp>
      <p:sp>
        <p:nvSpPr>
          <p:cNvPr id="25" name="Rectangle 24">
            <a:extLst>
              <a:ext uri="{FF2B5EF4-FFF2-40B4-BE49-F238E27FC236}">
                <a16:creationId xmlns:a16="http://schemas.microsoft.com/office/drawing/2014/main" id="{4DD1C465-FE19-4F39-A287-D63800A84415}"/>
              </a:ext>
            </a:extLst>
          </p:cNvPr>
          <p:cNvSpPr>
            <a:spLocks noGrp="1"/>
          </p:cNvSpPr>
          <p:nvPr/>
        </p:nvSpPr>
        <p:spPr>
          <a:xfrm>
            <a:off x="306258" y="2317581"/>
            <a:ext cx="1968803" cy="33524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E74C64BA-A806-4DD0-8005-0F6C4DFB1C7C}"/>
              </a:ext>
            </a:extLst>
          </p:cNvPr>
          <p:cNvSpPr>
            <a:spLocks noGrp="1"/>
          </p:cNvSpPr>
          <p:nvPr/>
        </p:nvSpPr>
        <p:spPr>
          <a:xfrm>
            <a:off x="2275062" y="2317581"/>
            <a:ext cx="4520956"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24AF41AF-47D8-486F-B2B1-F1D010CDC00D}"/>
              </a:ext>
            </a:extLst>
          </p:cNvPr>
          <p:cNvSpPr>
            <a:spLocks noGrp="1"/>
          </p:cNvSpPr>
          <p:nvPr/>
        </p:nvSpPr>
        <p:spPr>
          <a:xfrm>
            <a:off x="6796018" y="2317581"/>
            <a:ext cx="4659502" cy="33524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177E6EA6-9495-4A80-A74D-5137C15F3655}"/>
              </a:ext>
            </a:extLst>
          </p:cNvPr>
          <p:cNvSpPr>
            <a:spLocks noGrp="1"/>
          </p:cNvSpPr>
          <p:nvPr/>
        </p:nvSpPr>
        <p:spPr>
          <a:xfrm>
            <a:off x="437511" y="2346733"/>
            <a:ext cx="1750047" cy="276943"/>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承認が必要になる例</a:t>
            </a:r>
          </a:p>
        </p:txBody>
      </p:sp>
      <p:sp>
        <p:nvSpPr>
          <p:cNvPr id="29" name="TextBox 28">
            <a:extLst>
              <a:ext uri="{FF2B5EF4-FFF2-40B4-BE49-F238E27FC236}">
                <a16:creationId xmlns:a16="http://schemas.microsoft.com/office/drawing/2014/main" id="{C2E101DB-1D75-42DE-B923-5F05747E1E2B}"/>
              </a:ext>
            </a:extLst>
          </p:cNvPr>
          <p:cNvSpPr>
            <a:spLocks noGrp="1"/>
          </p:cNvSpPr>
          <p:nvPr/>
        </p:nvSpPr>
        <p:spPr>
          <a:xfrm>
            <a:off x="2450066" y="2346733"/>
            <a:ext cx="4273033" cy="276943"/>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重要ファイルへのwrite，外部送信，危険なTool</a:t>
            </a:r>
          </a:p>
        </p:txBody>
      </p:sp>
      <p:sp>
        <p:nvSpPr>
          <p:cNvPr id="30" name="TextBox 29">
            <a:extLst>
              <a:ext uri="{FF2B5EF4-FFF2-40B4-BE49-F238E27FC236}">
                <a16:creationId xmlns:a16="http://schemas.microsoft.com/office/drawing/2014/main" id="{D1074065-7D28-4F8F-99A7-297B110A6AA8}"/>
              </a:ext>
            </a:extLst>
          </p:cNvPr>
          <p:cNvSpPr>
            <a:spLocks noGrp="1"/>
          </p:cNvSpPr>
          <p:nvPr/>
        </p:nvSpPr>
        <p:spPr>
          <a:xfrm>
            <a:off x="6971023" y="2346733"/>
            <a:ext cx="4411578" cy="276943"/>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重要なTool利用，条件付き実行，未承認操作</a:t>
            </a:r>
          </a:p>
        </p:txBody>
      </p:sp>
      <p:sp>
        <p:nvSpPr>
          <p:cNvPr id="31" name="Rectangle 30">
            <a:extLst>
              <a:ext uri="{FF2B5EF4-FFF2-40B4-BE49-F238E27FC236}">
                <a16:creationId xmlns:a16="http://schemas.microsoft.com/office/drawing/2014/main" id="{381BACDC-ED5B-4F1D-AA52-9BA93ED2C68B}"/>
              </a:ext>
            </a:extLst>
          </p:cNvPr>
          <p:cNvSpPr>
            <a:spLocks noGrp="1"/>
          </p:cNvSpPr>
          <p:nvPr/>
        </p:nvSpPr>
        <p:spPr>
          <a:xfrm>
            <a:off x="306258" y="2652828"/>
            <a:ext cx="1968803"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8CF5CA13-63D1-4213-8546-B7CD2B9A8553}"/>
              </a:ext>
            </a:extLst>
          </p:cNvPr>
          <p:cNvSpPr>
            <a:spLocks noGrp="1"/>
          </p:cNvSpPr>
          <p:nvPr/>
        </p:nvSpPr>
        <p:spPr>
          <a:xfrm>
            <a:off x="2275062" y="2652828"/>
            <a:ext cx="4520956"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6B2F0AF5-684E-4B03-BE69-397E9B58C02C}"/>
              </a:ext>
            </a:extLst>
          </p:cNvPr>
          <p:cNvSpPr>
            <a:spLocks noGrp="1"/>
          </p:cNvSpPr>
          <p:nvPr/>
        </p:nvSpPr>
        <p:spPr>
          <a:xfrm>
            <a:off x="6796018" y="2652828"/>
            <a:ext cx="4659502"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E6684415-707E-4989-8D9E-E752B8CBBA0B}"/>
              </a:ext>
            </a:extLst>
          </p:cNvPr>
          <p:cNvSpPr>
            <a:spLocks noGrp="1"/>
          </p:cNvSpPr>
          <p:nvPr/>
        </p:nvSpPr>
        <p:spPr>
          <a:xfrm>
            <a:off x="437511" y="2681980"/>
            <a:ext cx="1750047" cy="269655"/>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承認時の流れ</a:t>
            </a:r>
          </a:p>
        </p:txBody>
      </p:sp>
      <p:sp>
        <p:nvSpPr>
          <p:cNvPr id="35" name="TextBox 34">
            <a:extLst>
              <a:ext uri="{FF2B5EF4-FFF2-40B4-BE49-F238E27FC236}">
                <a16:creationId xmlns:a16="http://schemas.microsoft.com/office/drawing/2014/main" id="{1F201487-3102-4D11-BB08-0B154A487FDC}"/>
              </a:ext>
            </a:extLst>
          </p:cNvPr>
          <p:cNvSpPr>
            <a:spLocks noGrp="1"/>
          </p:cNvSpPr>
          <p:nvPr/>
        </p:nvSpPr>
        <p:spPr>
          <a:xfrm>
            <a:off x="2450066" y="2681980"/>
            <a:ext cx="4273033"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Runを中断し，Approve ／ Reject 後に再開</a:t>
            </a:r>
          </a:p>
        </p:txBody>
      </p:sp>
      <p:sp>
        <p:nvSpPr>
          <p:cNvPr id="36" name="TextBox 35">
            <a:extLst>
              <a:ext uri="{FF2B5EF4-FFF2-40B4-BE49-F238E27FC236}">
                <a16:creationId xmlns:a16="http://schemas.microsoft.com/office/drawing/2014/main" id="{18409CEB-55D4-44CC-A698-F1126BEAAEFA}"/>
              </a:ext>
            </a:extLst>
          </p:cNvPr>
          <p:cNvSpPr>
            <a:spLocks noGrp="1"/>
          </p:cNvSpPr>
          <p:nvPr/>
        </p:nvSpPr>
        <p:spPr>
          <a:xfrm>
            <a:off x="6971023" y="2681980"/>
            <a:ext cx="4411578"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Askとなり，can_use_toolでApprove ／ Rejectを判断</a:t>
            </a:r>
          </a:p>
        </p:txBody>
      </p:sp>
      <p:sp>
        <p:nvSpPr>
          <p:cNvPr id="37" name="Rectangle 36">
            <a:extLst>
              <a:ext uri="{FF2B5EF4-FFF2-40B4-BE49-F238E27FC236}">
                <a16:creationId xmlns:a16="http://schemas.microsoft.com/office/drawing/2014/main" id="{0F7F39F1-BAC3-4BE7-8F5E-D2AF64C36E56}"/>
              </a:ext>
            </a:extLst>
          </p:cNvPr>
          <p:cNvSpPr>
            <a:spLocks noGrp="1"/>
          </p:cNvSpPr>
          <p:nvPr/>
        </p:nvSpPr>
        <p:spPr>
          <a:xfrm>
            <a:off x="306258" y="2980788"/>
            <a:ext cx="1968803"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CE61A378-CB95-4398-AFDA-8E29ABC52B7F}"/>
              </a:ext>
            </a:extLst>
          </p:cNvPr>
          <p:cNvSpPr>
            <a:spLocks noGrp="1"/>
          </p:cNvSpPr>
          <p:nvPr/>
        </p:nvSpPr>
        <p:spPr>
          <a:xfrm>
            <a:off x="2275062" y="2980788"/>
            <a:ext cx="4520956"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96C40552-4129-4052-A3EC-C4CAFFFE7284}"/>
              </a:ext>
            </a:extLst>
          </p:cNvPr>
          <p:cNvSpPr>
            <a:spLocks noGrp="1"/>
          </p:cNvSpPr>
          <p:nvPr/>
        </p:nvSpPr>
        <p:spPr>
          <a:xfrm>
            <a:off x="6796018" y="2980788"/>
            <a:ext cx="4659502"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BA5AFF19-CA52-4F85-AA8E-EF06FBCE4CC6}"/>
              </a:ext>
            </a:extLst>
          </p:cNvPr>
          <p:cNvSpPr>
            <a:spLocks noGrp="1"/>
          </p:cNvSpPr>
          <p:nvPr/>
        </p:nvSpPr>
        <p:spPr>
          <a:xfrm>
            <a:off x="437511" y="3009940"/>
            <a:ext cx="1750047" cy="269655"/>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入力変更の可否</a:t>
            </a:r>
          </a:p>
        </p:txBody>
      </p:sp>
      <p:sp>
        <p:nvSpPr>
          <p:cNvPr id="41" name="TextBox 40">
            <a:extLst>
              <a:ext uri="{FF2B5EF4-FFF2-40B4-BE49-F238E27FC236}">
                <a16:creationId xmlns:a16="http://schemas.microsoft.com/office/drawing/2014/main" id="{C9403136-4CE5-4F6D-859B-EF89F80175C3}"/>
              </a:ext>
            </a:extLst>
          </p:cNvPr>
          <p:cNvSpPr>
            <a:spLocks noGrp="1"/>
          </p:cNvSpPr>
          <p:nvPr/>
        </p:nvSpPr>
        <p:spPr>
          <a:xfrm>
            <a:off x="2450066" y="3009940"/>
            <a:ext cx="4273033" cy="269655"/>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Application設計による</a:t>
            </a:r>
          </a:p>
        </p:txBody>
      </p:sp>
      <p:sp>
        <p:nvSpPr>
          <p:cNvPr id="42" name="TextBox 41">
            <a:extLst>
              <a:ext uri="{FF2B5EF4-FFF2-40B4-BE49-F238E27FC236}">
                <a16:creationId xmlns:a16="http://schemas.microsoft.com/office/drawing/2014/main" id="{0477292D-E8E9-4641-8F80-58ECAC1ADEC6}"/>
              </a:ext>
            </a:extLst>
          </p:cNvPr>
          <p:cNvSpPr>
            <a:spLocks noGrp="1"/>
          </p:cNvSpPr>
          <p:nvPr/>
        </p:nvSpPr>
        <p:spPr>
          <a:xfrm>
            <a:off x="6971023" y="3009940"/>
            <a:ext cx="4411578" cy="269655"/>
          </a:xfrm>
          <a:prstGeom prst="rect">
            <a:avLst/>
          </a:prstGeom>
          <a:noFill/>
          <a:ln>
            <a:noFill/>
          </a:ln>
          <a:effectLst/>
        </p:spPr>
        <p:txBody>
          <a:bodyPr wrap="none" lIns="0" tIns="0" rIns="0" bIns="0" anchor="ctr">
            <a:spAutoFit/>
          </a:bodyPr>
          <a:lstStyle/>
          <a:p>
            <a:pPr algn="l">
              <a:buNone/>
            </a:pPr>
            <a:r>
              <a:rPr sz="1170" b="1">
                <a:solidFill>
                  <a:srgbClr val="052C7E"/>
                </a:solidFill>
                <a:latin typeface="IPAexGothic"/>
                <a:ea typeface="IPAexGothic"/>
                <a:cs typeface="IPAexGothic"/>
              </a:rPr>
              <a:t>入力を変更してApproveも可能</a:t>
            </a:r>
          </a:p>
        </p:txBody>
      </p:sp>
      <p:sp>
        <p:nvSpPr>
          <p:cNvPr id="43" name="Rectangle 42">
            <a:extLst>
              <a:ext uri="{FF2B5EF4-FFF2-40B4-BE49-F238E27FC236}">
                <a16:creationId xmlns:a16="http://schemas.microsoft.com/office/drawing/2014/main" id="{A3C8A408-3895-4839-9A2F-213E0BBD05A1}"/>
              </a:ext>
            </a:extLst>
          </p:cNvPr>
          <p:cNvSpPr>
            <a:spLocks noGrp="1"/>
          </p:cNvSpPr>
          <p:nvPr/>
        </p:nvSpPr>
        <p:spPr>
          <a:xfrm>
            <a:off x="306258" y="3308748"/>
            <a:ext cx="1968803" cy="327959"/>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B0E03404-48A5-4A3B-89B2-013C8EC27EF2}"/>
              </a:ext>
            </a:extLst>
          </p:cNvPr>
          <p:cNvSpPr>
            <a:spLocks noGrp="1"/>
          </p:cNvSpPr>
          <p:nvPr/>
        </p:nvSpPr>
        <p:spPr>
          <a:xfrm>
            <a:off x="2275062" y="3308748"/>
            <a:ext cx="4520956"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ACBADC27-A381-4FC3-9959-B98B0EEC07DA}"/>
              </a:ext>
            </a:extLst>
          </p:cNvPr>
          <p:cNvSpPr>
            <a:spLocks noGrp="1"/>
          </p:cNvSpPr>
          <p:nvPr/>
        </p:nvSpPr>
        <p:spPr>
          <a:xfrm>
            <a:off x="6796018" y="3308748"/>
            <a:ext cx="4659502" cy="327959"/>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060E8856-C512-45DA-9058-EA1D68AC02FB}"/>
              </a:ext>
            </a:extLst>
          </p:cNvPr>
          <p:cNvSpPr>
            <a:spLocks noGrp="1"/>
          </p:cNvSpPr>
          <p:nvPr/>
        </p:nvSpPr>
        <p:spPr>
          <a:xfrm>
            <a:off x="437511" y="3337900"/>
            <a:ext cx="1750047" cy="269655"/>
          </a:xfrm>
          <a:prstGeom prst="rect">
            <a:avLst/>
          </a:prstGeom>
          <a:noFill/>
          <a:ln>
            <a:noFill/>
          </a:ln>
          <a:effectLst/>
        </p:spPr>
        <p:txBody>
          <a:bodyPr wrap="none" lIns="0" tIns="0" rIns="0" bIns="0" anchor="ctr">
            <a:spAutoFit/>
          </a:bodyPr>
          <a:lstStyle/>
          <a:p>
            <a:pPr algn="l">
              <a:buNone/>
            </a:pPr>
            <a:r>
              <a:rPr sz="1070" b="1">
                <a:solidFill>
                  <a:srgbClr val="052C7E"/>
                </a:solidFill>
                <a:latin typeface="IPAexGothic"/>
                <a:ea typeface="IPAexGothic"/>
                <a:cs typeface="IPAexGothic"/>
              </a:rPr>
              <a:t>注意点</a:t>
            </a:r>
          </a:p>
        </p:txBody>
      </p:sp>
      <p:sp>
        <p:nvSpPr>
          <p:cNvPr id="47" name="TextBox 46">
            <a:extLst>
              <a:ext uri="{FF2B5EF4-FFF2-40B4-BE49-F238E27FC236}">
                <a16:creationId xmlns:a16="http://schemas.microsoft.com/office/drawing/2014/main" id="{2B405F5C-B0C4-4EDC-9D57-5979EAAEBC63}"/>
              </a:ext>
            </a:extLst>
          </p:cNvPr>
          <p:cNvSpPr>
            <a:spLocks noGrp="1"/>
          </p:cNvSpPr>
          <p:nvPr/>
        </p:nvSpPr>
        <p:spPr>
          <a:xfrm>
            <a:off x="2450066" y="3337900"/>
            <a:ext cx="4273033"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承認要否をTool引数に応じて動的に切り替え可能</a:t>
            </a:r>
          </a:p>
        </p:txBody>
      </p:sp>
      <p:sp>
        <p:nvSpPr>
          <p:cNvPr id="48" name="TextBox 47">
            <a:extLst>
              <a:ext uri="{FF2B5EF4-FFF2-40B4-BE49-F238E27FC236}">
                <a16:creationId xmlns:a16="http://schemas.microsoft.com/office/drawing/2014/main" id="{9CDBCC59-B6B8-492C-BA19-12C1ECEEEFAA}"/>
              </a:ext>
            </a:extLst>
          </p:cNvPr>
          <p:cNvSpPr>
            <a:spLocks noGrp="1"/>
          </p:cNvSpPr>
          <p:nvPr/>
        </p:nvSpPr>
        <p:spPr>
          <a:xfrm>
            <a:off x="6971023" y="3337900"/>
            <a:ext cx="4411578"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事前にAllowされたToolでは必ずしもcan_use_toolまで到達しない</a:t>
            </a:r>
          </a:p>
        </p:txBody>
      </p:sp>
      <p:sp>
        <p:nvSpPr>
          <p:cNvPr id="49" name="Rounded Rectangle 48">
            <a:extLst>
              <a:ext uri="{FF2B5EF4-FFF2-40B4-BE49-F238E27FC236}">
                <a16:creationId xmlns:a16="http://schemas.microsoft.com/office/drawing/2014/main" id="{33FEF76B-2E15-433A-81CB-738DBCFD2D71}"/>
              </a:ext>
            </a:extLst>
          </p:cNvPr>
          <p:cNvSpPr>
            <a:spLocks noGrp="1"/>
          </p:cNvSpPr>
          <p:nvPr/>
        </p:nvSpPr>
        <p:spPr>
          <a:xfrm>
            <a:off x="291674" y="3760603"/>
            <a:ext cx="3142794" cy="269655"/>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1B1CEA17-0C02-4C0D-B103-731B7A62FC69}"/>
              </a:ext>
            </a:extLst>
          </p:cNvPr>
          <p:cNvSpPr>
            <a:spLocks noGrp="1"/>
          </p:cNvSpPr>
          <p:nvPr/>
        </p:nvSpPr>
        <p:spPr>
          <a:xfrm>
            <a:off x="291674" y="3760603"/>
            <a:ext cx="3142794" cy="26965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共通シナリオ</a:t>
            </a:r>
          </a:p>
        </p:txBody>
      </p:sp>
      <p:sp>
        <p:nvSpPr>
          <p:cNvPr id="51" name="Rounded Rectangle 50">
            <a:extLst>
              <a:ext uri="{FF2B5EF4-FFF2-40B4-BE49-F238E27FC236}">
                <a16:creationId xmlns:a16="http://schemas.microsoft.com/office/drawing/2014/main" id="{154EDDC4-B065-4AD5-A673-4F3B5B795A9A}"/>
              </a:ext>
            </a:extLst>
          </p:cNvPr>
          <p:cNvSpPr>
            <a:spLocks noGrp="1"/>
          </p:cNvSpPr>
          <p:nvPr/>
        </p:nvSpPr>
        <p:spPr>
          <a:xfrm>
            <a:off x="291674" y="4030259"/>
            <a:ext cx="3142794" cy="1938528"/>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Rectangle 51">
            <a:extLst>
              <a:ext uri="{FF2B5EF4-FFF2-40B4-BE49-F238E27FC236}">
                <a16:creationId xmlns:a16="http://schemas.microsoft.com/office/drawing/2014/main" id="{1536FADD-2319-4DF7-8A4C-4D95DCB60EF4}"/>
              </a:ext>
            </a:extLst>
          </p:cNvPr>
          <p:cNvSpPr>
            <a:spLocks noGrp="1"/>
          </p:cNvSpPr>
          <p:nvPr/>
        </p:nvSpPr>
        <p:spPr>
          <a:xfrm>
            <a:off x="430220" y="4161443"/>
            <a:ext cx="1735464" cy="291519"/>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Rectangle 52">
            <a:extLst>
              <a:ext uri="{FF2B5EF4-FFF2-40B4-BE49-F238E27FC236}">
                <a16:creationId xmlns:a16="http://schemas.microsoft.com/office/drawing/2014/main" id="{470EDA74-099C-4E68-8D90-CF50C25C82A1}"/>
              </a:ext>
            </a:extLst>
          </p:cNvPr>
          <p:cNvSpPr>
            <a:spLocks noGrp="1"/>
          </p:cNvSpPr>
          <p:nvPr/>
        </p:nvSpPr>
        <p:spPr>
          <a:xfrm>
            <a:off x="2165684" y="4161443"/>
            <a:ext cx="1152114" cy="291519"/>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BCD542DF-DFDB-4DC0-B183-F7964E6FE30C}"/>
              </a:ext>
            </a:extLst>
          </p:cNvPr>
          <p:cNvSpPr>
            <a:spLocks noGrp="1"/>
          </p:cNvSpPr>
          <p:nvPr/>
        </p:nvSpPr>
        <p:spPr>
          <a:xfrm>
            <a:off x="430220" y="4161443"/>
            <a:ext cx="1735464" cy="291519"/>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Action</a:t>
            </a:r>
          </a:p>
        </p:txBody>
      </p:sp>
      <p:sp>
        <p:nvSpPr>
          <p:cNvPr id="55" name="TextBox 54">
            <a:extLst>
              <a:ext uri="{FF2B5EF4-FFF2-40B4-BE49-F238E27FC236}">
                <a16:creationId xmlns:a16="http://schemas.microsoft.com/office/drawing/2014/main" id="{3631CAB3-8119-4E5D-9627-7A5C2C308482}"/>
              </a:ext>
            </a:extLst>
          </p:cNvPr>
          <p:cNvSpPr>
            <a:spLocks noGrp="1"/>
          </p:cNvSpPr>
          <p:nvPr/>
        </p:nvSpPr>
        <p:spPr>
          <a:xfrm>
            <a:off x="2165684" y="4161443"/>
            <a:ext cx="1152114" cy="291519"/>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Decision</a:t>
            </a:r>
          </a:p>
        </p:txBody>
      </p:sp>
      <p:sp>
        <p:nvSpPr>
          <p:cNvPr id="56" name="Rectangle 55">
            <a:extLst>
              <a:ext uri="{FF2B5EF4-FFF2-40B4-BE49-F238E27FC236}">
                <a16:creationId xmlns:a16="http://schemas.microsoft.com/office/drawing/2014/main" id="{7E36BEC9-59F6-4195-8A27-D6433EA4F0ED}"/>
              </a:ext>
            </a:extLst>
          </p:cNvPr>
          <p:cNvSpPr>
            <a:spLocks noGrp="1"/>
          </p:cNvSpPr>
          <p:nvPr/>
        </p:nvSpPr>
        <p:spPr>
          <a:xfrm>
            <a:off x="430220" y="4452962"/>
            <a:ext cx="173546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Rectangle 56">
            <a:extLst>
              <a:ext uri="{FF2B5EF4-FFF2-40B4-BE49-F238E27FC236}">
                <a16:creationId xmlns:a16="http://schemas.microsoft.com/office/drawing/2014/main" id="{95633DD8-CC41-4155-A9B1-1FF7912C058B}"/>
              </a:ext>
            </a:extLst>
          </p:cNvPr>
          <p:cNvSpPr>
            <a:spLocks noGrp="1"/>
          </p:cNvSpPr>
          <p:nvPr/>
        </p:nvSpPr>
        <p:spPr>
          <a:xfrm>
            <a:off x="2165684" y="4452962"/>
            <a:ext cx="115211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AA8EDED6-E248-4CC7-9078-B4AAC78A7749}"/>
              </a:ext>
            </a:extLst>
          </p:cNvPr>
          <p:cNvSpPr>
            <a:spLocks noGrp="1"/>
          </p:cNvSpPr>
          <p:nvPr/>
        </p:nvSpPr>
        <p:spPr>
          <a:xfrm>
            <a:off x="605224" y="4489402"/>
            <a:ext cx="1531291"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Read</a:t>
            </a:r>
          </a:p>
        </p:txBody>
      </p:sp>
      <p:sp>
        <p:nvSpPr>
          <p:cNvPr id="59" name="TextBox 58">
            <a:extLst>
              <a:ext uri="{FF2B5EF4-FFF2-40B4-BE49-F238E27FC236}">
                <a16:creationId xmlns:a16="http://schemas.microsoft.com/office/drawing/2014/main" id="{CDF91071-DFB6-4B23-9714-02F94F4F657A}"/>
              </a:ext>
            </a:extLst>
          </p:cNvPr>
          <p:cNvSpPr>
            <a:spLocks noGrp="1"/>
          </p:cNvSpPr>
          <p:nvPr/>
        </p:nvSpPr>
        <p:spPr>
          <a:xfrm>
            <a:off x="2340688" y="4489402"/>
            <a:ext cx="947942" cy="269655"/>
          </a:xfrm>
          <a:prstGeom prst="rect">
            <a:avLst/>
          </a:prstGeom>
          <a:noFill/>
          <a:ln>
            <a:noFill/>
          </a:ln>
          <a:effectLst/>
        </p:spPr>
        <p:txBody>
          <a:bodyPr wrap="none" lIns="0" tIns="0" rIns="0" bIns="0" anchor="ctr">
            <a:spAutoFit/>
          </a:bodyPr>
          <a:lstStyle/>
          <a:p>
            <a:pPr algn="l">
              <a:buNone/>
            </a:pPr>
            <a:r>
              <a:rPr sz="1180" b="1">
                <a:solidFill>
                  <a:srgbClr val="052C7E"/>
                </a:solidFill>
                <a:latin typeface="IPAexGothic"/>
                <a:ea typeface="IPAexGothic"/>
                <a:cs typeface="IPAexGothic"/>
              </a:rPr>
              <a:t>Allow</a:t>
            </a:r>
          </a:p>
        </p:txBody>
      </p:sp>
      <p:sp>
        <p:nvSpPr>
          <p:cNvPr id="60" name="Rectangle 59">
            <a:extLst>
              <a:ext uri="{FF2B5EF4-FFF2-40B4-BE49-F238E27FC236}">
                <a16:creationId xmlns:a16="http://schemas.microsoft.com/office/drawing/2014/main" id="{DA28E97E-0E42-44FA-8424-4893D354452A}"/>
              </a:ext>
            </a:extLst>
          </p:cNvPr>
          <p:cNvSpPr>
            <a:spLocks noGrp="1"/>
          </p:cNvSpPr>
          <p:nvPr/>
        </p:nvSpPr>
        <p:spPr>
          <a:xfrm>
            <a:off x="430220" y="4795498"/>
            <a:ext cx="173546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Rectangle 60">
            <a:extLst>
              <a:ext uri="{FF2B5EF4-FFF2-40B4-BE49-F238E27FC236}">
                <a16:creationId xmlns:a16="http://schemas.microsoft.com/office/drawing/2014/main" id="{C938FB6E-D52F-4341-90E2-68FD1D0180E6}"/>
              </a:ext>
            </a:extLst>
          </p:cNvPr>
          <p:cNvSpPr>
            <a:spLocks noGrp="1"/>
          </p:cNvSpPr>
          <p:nvPr/>
        </p:nvSpPr>
        <p:spPr>
          <a:xfrm>
            <a:off x="2165684" y="4795498"/>
            <a:ext cx="115211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TextBox 61">
            <a:extLst>
              <a:ext uri="{FF2B5EF4-FFF2-40B4-BE49-F238E27FC236}">
                <a16:creationId xmlns:a16="http://schemas.microsoft.com/office/drawing/2014/main" id="{CC185177-4935-45CA-9D57-44C4D763C7D3}"/>
              </a:ext>
            </a:extLst>
          </p:cNvPr>
          <p:cNvSpPr>
            <a:spLocks noGrp="1"/>
          </p:cNvSpPr>
          <p:nvPr/>
        </p:nvSpPr>
        <p:spPr>
          <a:xfrm>
            <a:off x="605224" y="4831938"/>
            <a:ext cx="1531291"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Write normal.txt</a:t>
            </a:r>
          </a:p>
        </p:txBody>
      </p:sp>
      <p:sp>
        <p:nvSpPr>
          <p:cNvPr id="63" name="TextBox 62">
            <a:extLst>
              <a:ext uri="{FF2B5EF4-FFF2-40B4-BE49-F238E27FC236}">
                <a16:creationId xmlns:a16="http://schemas.microsoft.com/office/drawing/2014/main" id="{B07A114C-B179-4D06-A6AB-8555C8F3D6D1}"/>
              </a:ext>
            </a:extLst>
          </p:cNvPr>
          <p:cNvSpPr>
            <a:spLocks noGrp="1"/>
          </p:cNvSpPr>
          <p:nvPr/>
        </p:nvSpPr>
        <p:spPr>
          <a:xfrm>
            <a:off x="2340688" y="4831938"/>
            <a:ext cx="947942" cy="269655"/>
          </a:xfrm>
          <a:prstGeom prst="rect">
            <a:avLst/>
          </a:prstGeom>
          <a:noFill/>
          <a:ln>
            <a:noFill/>
          </a:ln>
          <a:effectLst/>
        </p:spPr>
        <p:txBody>
          <a:bodyPr wrap="none" lIns="0" tIns="0" rIns="0" bIns="0" anchor="ctr">
            <a:spAutoFit/>
          </a:bodyPr>
          <a:lstStyle/>
          <a:p>
            <a:pPr algn="l">
              <a:buNone/>
            </a:pPr>
            <a:r>
              <a:rPr sz="1180" b="1">
                <a:solidFill>
                  <a:srgbClr val="052C7E"/>
                </a:solidFill>
                <a:latin typeface="IPAexGothic"/>
                <a:ea typeface="IPAexGothic"/>
                <a:cs typeface="IPAexGothic"/>
              </a:rPr>
              <a:t>Allow</a:t>
            </a:r>
          </a:p>
        </p:txBody>
      </p:sp>
      <p:sp>
        <p:nvSpPr>
          <p:cNvPr id="64" name="Rectangle 63">
            <a:extLst>
              <a:ext uri="{FF2B5EF4-FFF2-40B4-BE49-F238E27FC236}">
                <a16:creationId xmlns:a16="http://schemas.microsoft.com/office/drawing/2014/main" id="{1EFEA04F-4667-4C1B-9201-0FF4827B3AB2}"/>
              </a:ext>
            </a:extLst>
          </p:cNvPr>
          <p:cNvSpPr>
            <a:spLocks noGrp="1"/>
          </p:cNvSpPr>
          <p:nvPr/>
        </p:nvSpPr>
        <p:spPr>
          <a:xfrm>
            <a:off x="430220" y="5138034"/>
            <a:ext cx="173546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Rectangle 64">
            <a:extLst>
              <a:ext uri="{FF2B5EF4-FFF2-40B4-BE49-F238E27FC236}">
                <a16:creationId xmlns:a16="http://schemas.microsoft.com/office/drawing/2014/main" id="{98F7935A-1328-4314-82F0-6F3FEA310BF5}"/>
              </a:ext>
            </a:extLst>
          </p:cNvPr>
          <p:cNvSpPr>
            <a:spLocks noGrp="1"/>
          </p:cNvSpPr>
          <p:nvPr/>
        </p:nvSpPr>
        <p:spPr>
          <a:xfrm>
            <a:off x="2165684" y="5138034"/>
            <a:ext cx="115211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6" name="TextBox 65">
            <a:extLst>
              <a:ext uri="{FF2B5EF4-FFF2-40B4-BE49-F238E27FC236}">
                <a16:creationId xmlns:a16="http://schemas.microsoft.com/office/drawing/2014/main" id="{F9B77B53-E6BA-471E-8D82-EA1B21AAF016}"/>
              </a:ext>
            </a:extLst>
          </p:cNvPr>
          <p:cNvSpPr>
            <a:spLocks noGrp="1"/>
          </p:cNvSpPr>
          <p:nvPr/>
        </p:nvSpPr>
        <p:spPr>
          <a:xfrm>
            <a:off x="605224" y="5174473"/>
            <a:ext cx="1531291"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Write important.txt</a:t>
            </a:r>
          </a:p>
        </p:txBody>
      </p:sp>
      <p:sp>
        <p:nvSpPr>
          <p:cNvPr id="67" name="TextBox 66">
            <a:extLst>
              <a:ext uri="{FF2B5EF4-FFF2-40B4-BE49-F238E27FC236}">
                <a16:creationId xmlns:a16="http://schemas.microsoft.com/office/drawing/2014/main" id="{6FD31802-7524-47D5-9694-57DC65D6FF90}"/>
              </a:ext>
            </a:extLst>
          </p:cNvPr>
          <p:cNvSpPr>
            <a:spLocks noGrp="1"/>
          </p:cNvSpPr>
          <p:nvPr/>
        </p:nvSpPr>
        <p:spPr>
          <a:xfrm>
            <a:off x="2340688" y="5174473"/>
            <a:ext cx="947942" cy="269655"/>
          </a:xfrm>
          <a:prstGeom prst="rect">
            <a:avLst/>
          </a:prstGeom>
          <a:noFill/>
          <a:ln>
            <a:noFill/>
          </a:ln>
          <a:effectLst/>
        </p:spPr>
        <p:txBody>
          <a:bodyPr wrap="none" lIns="0" tIns="0" rIns="0" bIns="0" anchor="ctr">
            <a:spAutoFit/>
          </a:bodyPr>
          <a:lstStyle/>
          <a:p>
            <a:pPr algn="l">
              <a:buNone/>
            </a:pPr>
            <a:r>
              <a:rPr sz="1180" b="1">
                <a:solidFill>
                  <a:srgbClr val="052C7E"/>
                </a:solidFill>
                <a:latin typeface="IPAexGothic"/>
                <a:ea typeface="IPAexGothic"/>
                <a:cs typeface="IPAexGothic"/>
              </a:rPr>
              <a:t>Approval</a:t>
            </a:r>
          </a:p>
        </p:txBody>
      </p:sp>
      <p:sp>
        <p:nvSpPr>
          <p:cNvPr id="68" name="Rectangle 67">
            <a:extLst>
              <a:ext uri="{FF2B5EF4-FFF2-40B4-BE49-F238E27FC236}">
                <a16:creationId xmlns:a16="http://schemas.microsoft.com/office/drawing/2014/main" id="{D25DB9FE-E06E-4278-8DC2-90BB4A01FD7C}"/>
              </a:ext>
            </a:extLst>
          </p:cNvPr>
          <p:cNvSpPr>
            <a:spLocks noGrp="1"/>
          </p:cNvSpPr>
          <p:nvPr/>
        </p:nvSpPr>
        <p:spPr>
          <a:xfrm>
            <a:off x="430220" y="5480569"/>
            <a:ext cx="173546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Rectangle 68">
            <a:extLst>
              <a:ext uri="{FF2B5EF4-FFF2-40B4-BE49-F238E27FC236}">
                <a16:creationId xmlns:a16="http://schemas.microsoft.com/office/drawing/2014/main" id="{318FC4BA-8E04-43E4-AA7D-B5660A52B27B}"/>
              </a:ext>
            </a:extLst>
          </p:cNvPr>
          <p:cNvSpPr>
            <a:spLocks noGrp="1"/>
          </p:cNvSpPr>
          <p:nvPr/>
        </p:nvSpPr>
        <p:spPr>
          <a:xfrm>
            <a:off x="2165684" y="5480569"/>
            <a:ext cx="1152114" cy="34253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TextBox 69">
            <a:extLst>
              <a:ext uri="{FF2B5EF4-FFF2-40B4-BE49-F238E27FC236}">
                <a16:creationId xmlns:a16="http://schemas.microsoft.com/office/drawing/2014/main" id="{1FB6CD65-2338-4C26-9DDC-B0DEB8430CCC}"/>
              </a:ext>
            </a:extLst>
          </p:cNvPr>
          <p:cNvSpPr>
            <a:spLocks noGrp="1"/>
          </p:cNvSpPr>
          <p:nvPr/>
        </p:nvSpPr>
        <p:spPr>
          <a:xfrm>
            <a:off x="605224" y="5517009"/>
            <a:ext cx="1531291" cy="269655"/>
          </a:xfrm>
          <a:prstGeom prst="rect">
            <a:avLst/>
          </a:prstGeom>
          <a:noFill/>
          <a:ln>
            <a:noFill/>
          </a:ln>
          <a:effectLst/>
        </p:spPr>
        <p:txBody>
          <a:bodyPr wrap="none" lIns="0" tIns="0" rIns="0" bIns="0" anchor="ctr">
            <a:spAutoFit/>
          </a:bodyPr>
          <a:lstStyle/>
          <a:p>
            <a:pPr algn="l">
              <a:buNone/>
            </a:pPr>
            <a:r>
              <a:rPr sz="1120" b="1">
                <a:solidFill>
                  <a:srgbClr val="052C7E"/>
                </a:solidFill>
                <a:latin typeface="IPAexGothic"/>
                <a:ea typeface="IPAexGothic"/>
                <a:cs typeface="IPAexGothic"/>
              </a:rPr>
              <a:t>Delete important.txt</a:t>
            </a:r>
          </a:p>
        </p:txBody>
      </p:sp>
      <p:sp>
        <p:nvSpPr>
          <p:cNvPr id="71" name="TextBox 70">
            <a:extLst>
              <a:ext uri="{FF2B5EF4-FFF2-40B4-BE49-F238E27FC236}">
                <a16:creationId xmlns:a16="http://schemas.microsoft.com/office/drawing/2014/main" id="{D9FC929F-BCAA-4566-9B2F-7EBAE7FD49C2}"/>
              </a:ext>
            </a:extLst>
          </p:cNvPr>
          <p:cNvSpPr>
            <a:spLocks noGrp="1"/>
          </p:cNvSpPr>
          <p:nvPr/>
        </p:nvSpPr>
        <p:spPr>
          <a:xfrm>
            <a:off x="2340688" y="5517009"/>
            <a:ext cx="947942" cy="269655"/>
          </a:xfrm>
          <a:prstGeom prst="rect">
            <a:avLst/>
          </a:prstGeom>
          <a:noFill/>
          <a:ln>
            <a:noFill/>
          </a:ln>
          <a:effectLst/>
        </p:spPr>
        <p:txBody>
          <a:bodyPr wrap="none" lIns="0" tIns="0" rIns="0" bIns="0" anchor="ctr">
            <a:spAutoFit/>
          </a:bodyPr>
          <a:lstStyle/>
          <a:p>
            <a:pPr algn="l">
              <a:buNone/>
            </a:pPr>
            <a:r>
              <a:rPr sz="1180" b="1">
                <a:solidFill>
                  <a:srgbClr val="052C7E"/>
                </a:solidFill>
                <a:latin typeface="IPAexGothic"/>
                <a:ea typeface="IPAexGothic"/>
                <a:cs typeface="IPAexGothic"/>
              </a:rPr>
              <a:t>Deny</a:t>
            </a:r>
          </a:p>
        </p:txBody>
      </p:sp>
      <p:sp>
        <p:nvSpPr>
          <p:cNvPr id="72" name="Rounded Rectangle 71">
            <a:extLst>
              <a:ext uri="{FF2B5EF4-FFF2-40B4-BE49-F238E27FC236}">
                <a16:creationId xmlns:a16="http://schemas.microsoft.com/office/drawing/2014/main" id="{D5DCF035-D173-479A-B374-49BBD7630F51}"/>
              </a:ext>
            </a:extLst>
          </p:cNvPr>
          <p:cNvSpPr>
            <a:spLocks noGrp="1"/>
          </p:cNvSpPr>
          <p:nvPr/>
        </p:nvSpPr>
        <p:spPr>
          <a:xfrm>
            <a:off x="3609473" y="3760603"/>
            <a:ext cx="3835521" cy="269655"/>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3" name="TextBox 72">
            <a:extLst>
              <a:ext uri="{FF2B5EF4-FFF2-40B4-BE49-F238E27FC236}">
                <a16:creationId xmlns:a16="http://schemas.microsoft.com/office/drawing/2014/main" id="{D11F73D3-8B8E-410C-9758-53122CD9F57F}"/>
              </a:ext>
            </a:extLst>
          </p:cNvPr>
          <p:cNvSpPr>
            <a:spLocks noGrp="1"/>
          </p:cNvSpPr>
          <p:nvPr/>
        </p:nvSpPr>
        <p:spPr>
          <a:xfrm>
            <a:off x="3609473" y="3760603"/>
            <a:ext cx="3835521" cy="26965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処理の流れ（イメージ）</a:t>
            </a:r>
          </a:p>
        </p:txBody>
      </p:sp>
      <p:sp>
        <p:nvSpPr>
          <p:cNvPr id="74" name="Rounded Rectangle 73">
            <a:extLst>
              <a:ext uri="{FF2B5EF4-FFF2-40B4-BE49-F238E27FC236}">
                <a16:creationId xmlns:a16="http://schemas.microsoft.com/office/drawing/2014/main" id="{F25698C3-46D6-4CAD-94A6-470B39BAB32A}"/>
              </a:ext>
            </a:extLst>
          </p:cNvPr>
          <p:cNvSpPr>
            <a:spLocks noGrp="1"/>
          </p:cNvSpPr>
          <p:nvPr/>
        </p:nvSpPr>
        <p:spPr>
          <a:xfrm>
            <a:off x="3609473" y="4030259"/>
            <a:ext cx="3835521" cy="1938528"/>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5" name="TextBox 74">
            <a:extLst>
              <a:ext uri="{FF2B5EF4-FFF2-40B4-BE49-F238E27FC236}">
                <a16:creationId xmlns:a16="http://schemas.microsoft.com/office/drawing/2014/main" id="{E819C5A4-189A-413D-9572-6F19DD1F8DA0}"/>
              </a:ext>
            </a:extLst>
          </p:cNvPr>
          <p:cNvSpPr>
            <a:spLocks noGrp="1"/>
          </p:cNvSpPr>
          <p:nvPr/>
        </p:nvSpPr>
        <p:spPr>
          <a:xfrm>
            <a:off x="3850105" y="4059411"/>
            <a:ext cx="1166698" cy="160335"/>
          </a:xfrm>
          <a:prstGeom prst="rect">
            <a:avLst/>
          </a:prstGeom>
          <a:noFill/>
          <a:ln>
            <a:noFill/>
          </a:ln>
          <a:effectLst/>
        </p:spPr>
        <p:txBody>
          <a:bodyPr wrap="none" lIns="0" tIns="0" rIns="0" bIns="0" anchor="ctr">
            <a:spAutoFit/>
          </a:bodyPr>
          <a:lstStyle/>
          <a:p>
            <a:pPr algn="ctr">
              <a:buNone/>
            </a:pPr>
            <a:r>
              <a:rPr sz="1220" b="1">
                <a:solidFill>
                  <a:srgbClr val="052C7E"/>
                </a:solidFill>
                <a:latin typeface="IPAexGothic"/>
                <a:ea typeface="IPAexGothic"/>
                <a:cs typeface="IPAexGothic"/>
              </a:rPr>
              <a:t>OpenAI</a:t>
            </a:r>
          </a:p>
        </p:txBody>
      </p:sp>
      <p:sp>
        <p:nvSpPr>
          <p:cNvPr id="76" name="TextBox 75">
            <a:extLst>
              <a:ext uri="{FF2B5EF4-FFF2-40B4-BE49-F238E27FC236}">
                <a16:creationId xmlns:a16="http://schemas.microsoft.com/office/drawing/2014/main" id="{3AD16508-41BF-47F0-AC4F-5E55A59AAB1E}"/>
              </a:ext>
            </a:extLst>
          </p:cNvPr>
          <p:cNvSpPr>
            <a:spLocks noGrp="1"/>
          </p:cNvSpPr>
          <p:nvPr/>
        </p:nvSpPr>
        <p:spPr>
          <a:xfrm>
            <a:off x="5804325" y="4059411"/>
            <a:ext cx="1166698" cy="160335"/>
          </a:xfrm>
          <a:prstGeom prst="rect">
            <a:avLst/>
          </a:prstGeom>
          <a:noFill/>
          <a:ln>
            <a:noFill/>
          </a:ln>
          <a:effectLst/>
        </p:spPr>
        <p:txBody>
          <a:bodyPr wrap="none" lIns="0" tIns="0" rIns="0" bIns="0" anchor="ctr">
            <a:spAutoFit/>
          </a:bodyPr>
          <a:lstStyle/>
          <a:p>
            <a:pPr algn="ctr">
              <a:buNone/>
            </a:pPr>
            <a:r>
              <a:rPr sz="1220" b="1">
                <a:solidFill>
                  <a:srgbClr val="052C7E"/>
                </a:solidFill>
                <a:latin typeface="IPAexGothic"/>
                <a:ea typeface="IPAexGothic"/>
                <a:cs typeface="IPAexGothic"/>
              </a:rPr>
              <a:t>Claude</a:t>
            </a:r>
          </a:p>
        </p:txBody>
      </p:sp>
      <p:sp>
        <p:nvSpPr>
          <p:cNvPr id="77" name="Rounded Rectangle 76">
            <a:extLst>
              <a:ext uri="{FF2B5EF4-FFF2-40B4-BE49-F238E27FC236}">
                <a16:creationId xmlns:a16="http://schemas.microsoft.com/office/drawing/2014/main" id="{DB3669F1-282A-434F-9C73-648499D25A1E}"/>
              </a:ext>
            </a:extLst>
          </p:cNvPr>
          <p:cNvSpPr>
            <a:spLocks noGrp="1"/>
          </p:cNvSpPr>
          <p:nvPr/>
        </p:nvSpPr>
        <p:spPr>
          <a:xfrm>
            <a:off x="3813645" y="4314490"/>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 name="TextBox 77">
            <a:extLst>
              <a:ext uri="{FF2B5EF4-FFF2-40B4-BE49-F238E27FC236}">
                <a16:creationId xmlns:a16="http://schemas.microsoft.com/office/drawing/2014/main" id="{0675229A-85D8-45EC-B702-A3729A5B0D03}"/>
              </a:ext>
            </a:extLst>
          </p:cNvPr>
          <p:cNvSpPr>
            <a:spLocks noGrp="1"/>
          </p:cNvSpPr>
          <p:nvPr/>
        </p:nvSpPr>
        <p:spPr>
          <a:xfrm>
            <a:off x="3813645" y="4314490"/>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Tool Call</a:t>
            </a:r>
          </a:p>
        </p:txBody>
      </p:sp>
      <p:sp>
        <p:nvSpPr>
          <p:cNvPr id="79" name="TextBox 78">
            <a:extLst>
              <a:ext uri="{FF2B5EF4-FFF2-40B4-BE49-F238E27FC236}">
                <a16:creationId xmlns:a16="http://schemas.microsoft.com/office/drawing/2014/main" id="{B0A25A56-2F8F-48D8-9330-0CB303C75F92}"/>
              </a:ext>
            </a:extLst>
          </p:cNvPr>
          <p:cNvSpPr>
            <a:spLocks noGrp="1"/>
          </p:cNvSpPr>
          <p:nvPr/>
        </p:nvSpPr>
        <p:spPr>
          <a:xfrm>
            <a:off x="4418870" y="4540418"/>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80" name="Rounded Rectangle 79">
            <a:extLst>
              <a:ext uri="{FF2B5EF4-FFF2-40B4-BE49-F238E27FC236}">
                <a16:creationId xmlns:a16="http://schemas.microsoft.com/office/drawing/2014/main" id="{D21AB2DE-AF72-4D37-91A3-BA99B21565A8}"/>
              </a:ext>
            </a:extLst>
          </p:cNvPr>
          <p:cNvSpPr>
            <a:spLocks noGrp="1"/>
          </p:cNvSpPr>
          <p:nvPr/>
        </p:nvSpPr>
        <p:spPr>
          <a:xfrm>
            <a:off x="3813645" y="4620586"/>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1" name="TextBox 80">
            <a:extLst>
              <a:ext uri="{FF2B5EF4-FFF2-40B4-BE49-F238E27FC236}">
                <a16:creationId xmlns:a16="http://schemas.microsoft.com/office/drawing/2014/main" id="{ED91F2AD-130D-4C05-89D2-0E492DFAA20B}"/>
              </a:ext>
            </a:extLst>
          </p:cNvPr>
          <p:cNvSpPr>
            <a:spLocks noGrp="1"/>
          </p:cNvSpPr>
          <p:nvPr/>
        </p:nvSpPr>
        <p:spPr>
          <a:xfrm>
            <a:off x="3813645" y="4620586"/>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needs_approval</a:t>
            </a:r>
          </a:p>
        </p:txBody>
      </p:sp>
      <p:sp>
        <p:nvSpPr>
          <p:cNvPr id="82" name="TextBox 81">
            <a:extLst>
              <a:ext uri="{FF2B5EF4-FFF2-40B4-BE49-F238E27FC236}">
                <a16:creationId xmlns:a16="http://schemas.microsoft.com/office/drawing/2014/main" id="{332E0A18-0AC7-4B4D-A0DB-E4BC595C6B52}"/>
              </a:ext>
            </a:extLst>
          </p:cNvPr>
          <p:cNvSpPr>
            <a:spLocks noGrp="1"/>
          </p:cNvSpPr>
          <p:nvPr/>
        </p:nvSpPr>
        <p:spPr>
          <a:xfrm>
            <a:off x="4418870" y="4846514"/>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83" name="Rounded Rectangle 82">
            <a:extLst>
              <a:ext uri="{FF2B5EF4-FFF2-40B4-BE49-F238E27FC236}">
                <a16:creationId xmlns:a16="http://schemas.microsoft.com/office/drawing/2014/main" id="{DF30A1FA-B920-4E50-B26E-E003B7AF600E}"/>
              </a:ext>
            </a:extLst>
          </p:cNvPr>
          <p:cNvSpPr>
            <a:spLocks noGrp="1"/>
          </p:cNvSpPr>
          <p:nvPr/>
        </p:nvSpPr>
        <p:spPr>
          <a:xfrm>
            <a:off x="3813645" y="4926682"/>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TextBox 83">
            <a:extLst>
              <a:ext uri="{FF2B5EF4-FFF2-40B4-BE49-F238E27FC236}">
                <a16:creationId xmlns:a16="http://schemas.microsoft.com/office/drawing/2014/main" id="{CD92E2BD-C3BE-4DBC-B333-AC4754F90F38}"/>
              </a:ext>
            </a:extLst>
          </p:cNvPr>
          <p:cNvSpPr>
            <a:spLocks noGrp="1"/>
          </p:cNvSpPr>
          <p:nvPr/>
        </p:nvSpPr>
        <p:spPr>
          <a:xfrm>
            <a:off x="3813645" y="4926682"/>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Pause</a:t>
            </a:r>
          </a:p>
        </p:txBody>
      </p:sp>
      <p:sp>
        <p:nvSpPr>
          <p:cNvPr id="85" name="TextBox 84">
            <a:extLst>
              <a:ext uri="{FF2B5EF4-FFF2-40B4-BE49-F238E27FC236}">
                <a16:creationId xmlns:a16="http://schemas.microsoft.com/office/drawing/2014/main" id="{29540F5D-2795-4122-B965-BFAB5689B18B}"/>
              </a:ext>
            </a:extLst>
          </p:cNvPr>
          <p:cNvSpPr>
            <a:spLocks noGrp="1"/>
          </p:cNvSpPr>
          <p:nvPr/>
        </p:nvSpPr>
        <p:spPr>
          <a:xfrm>
            <a:off x="4418870" y="5152609"/>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86" name="Rounded Rectangle 85">
            <a:extLst>
              <a:ext uri="{FF2B5EF4-FFF2-40B4-BE49-F238E27FC236}">
                <a16:creationId xmlns:a16="http://schemas.microsoft.com/office/drawing/2014/main" id="{5CF0B943-66FF-4DA6-8E66-235988E4724D}"/>
              </a:ext>
            </a:extLst>
          </p:cNvPr>
          <p:cNvSpPr>
            <a:spLocks noGrp="1"/>
          </p:cNvSpPr>
          <p:nvPr/>
        </p:nvSpPr>
        <p:spPr>
          <a:xfrm>
            <a:off x="3813645" y="5232777"/>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7" name="TextBox 86">
            <a:extLst>
              <a:ext uri="{FF2B5EF4-FFF2-40B4-BE49-F238E27FC236}">
                <a16:creationId xmlns:a16="http://schemas.microsoft.com/office/drawing/2014/main" id="{89DDE95E-3FC1-4C4B-9B31-C8A313BA735D}"/>
              </a:ext>
            </a:extLst>
          </p:cNvPr>
          <p:cNvSpPr>
            <a:spLocks noGrp="1"/>
          </p:cNvSpPr>
          <p:nvPr/>
        </p:nvSpPr>
        <p:spPr>
          <a:xfrm>
            <a:off x="3813645" y="5232777"/>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Approve ／ Reject</a:t>
            </a:r>
          </a:p>
        </p:txBody>
      </p:sp>
      <p:sp>
        <p:nvSpPr>
          <p:cNvPr id="88" name="TextBox 87">
            <a:extLst>
              <a:ext uri="{FF2B5EF4-FFF2-40B4-BE49-F238E27FC236}">
                <a16:creationId xmlns:a16="http://schemas.microsoft.com/office/drawing/2014/main" id="{33AE27E0-E6B0-49AF-9E64-AC6050D2F64F}"/>
              </a:ext>
            </a:extLst>
          </p:cNvPr>
          <p:cNvSpPr>
            <a:spLocks noGrp="1"/>
          </p:cNvSpPr>
          <p:nvPr/>
        </p:nvSpPr>
        <p:spPr>
          <a:xfrm>
            <a:off x="4418870" y="5458705"/>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89" name="Rounded Rectangle 88">
            <a:extLst>
              <a:ext uri="{FF2B5EF4-FFF2-40B4-BE49-F238E27FC236}">
                <a16:creationId xmlns:a16="http://schemas.microsoft.com/office/drawing/2014/main" id="{065DB21C-B355-4D8E-B472-BAEAED7348A2}"/>
              </a:ext>
            </a:extLst>
          </p:cNvPr>
          <p:cNvSpPr>
            <a:spLocks noGrp="1"/>
          </p:cNvSpPr>
          <p:nvPr/>
        </p:nvSpPr>
        <p:spPr>
          <a:xfrm>
            <a:off x="3813645" y="5538873"/>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0" name="TextBox 89">
            <a:extLst>
              <a:ext uri="{FF2B5EF4-FFF2-40B4-BE49-F238E27FC236}">
                <a16:creationId xmlns:a16="http://schemas.microsoft.com/office/drawing/2014/main" id="{A7A3C120-AD71-485C-A007-C9EF4C86DAD6}"/>
              </a:ext>
            </a:extLst>
          </p:cNvPr>
          <p:cNvSpPr>
            <a:spLocks noGrp="1"/>
          </p:cNvSpPr>
          <p:nvPr/>
        </p:nvSpPr>
        <p:spPr>
          <a:xfrm>
            <a:off x="3813645" y="5538873"/>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Resume</a:t>
            </a:r>
          </a:p>
        </p:txBody>
      </p:sp>
      <p:sp>
        <p:nvSpPr>
          <p:cNvPr id="91" name="Rounded Rectangle 90">
            <a:extLst>
              <a:ext uri="{FF2B5EF4-FFF2-40B4-BE49-F238E27FC236}">
                <a16:creationId xmlns:a16="http://schemas.microsoft.com/office/drawing/2014/main" id="{C6058620-F3F9-4B1F-8934-290BC663CC36}"/>
              </a:ext>
            </a:extLst>
          </p:cNvPr>
          <p:cNvSpPr>
            <a:spLocks noGrp="1"/>
          </p:cNvSpPr>
          <p:nvPr/>
        </p:nvSpPr>
        <p:spPr>
          <a:xfrm>
            <a:off x="5673071" y="4314490"/>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2" name="TextBox 91">
            <a:extLst>
              <a:ext uri="{FF2B5EF4-FFF2-40B4-BE49-F238E27FC236}">
                <a16:creationId xmlns:a16="http://schemas.microsoft.com/office/drawing/2014/main" id="{7AE71699-D361-4BB9-A4FC-FE4CCF4A5F17}"/>
              </a:ext>
            </a:extLst>
          </p:cNvPr>
          <p:cNvSpPr>
            <a:spLocks noGrp="1"/>
          </p:cNvSpPr>
          <p:nvPr/>
        </p:nvSpPr>
        <p:spPr>
          <a:xfrm>
            <a:off x="5673071" y="4314490"/>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Tool Request</a:t>
            </a:r>
          </a:p>
        </p:txBody>
      </p:sp>
      <p:sp>
        <p:nvSpPr>
          <p:cNvPr id="93" name="TextBox 92">
            <a:extLst>
              <a:ext uri="{FF2B5EF4-FFF2-40B4-BE49-F238E27FC236}">
                <a16:creationId xmlns:a16="http://schemas.microsoft.com/office/drawing/2014/main" id="{0ABB0EBA-2C1F-4651-AAD5-29EE33C9545C}"/>
              </a:ext>
            </a:extLst>
          </p:cNvPr>
          <p:cNvSpPr>
            <a:spLocks noGrp="1"/>
          </p:cNvSpPr>
          <p:nvPr/>
        </p:nvSpPr>
        <p:spPr>
          <a:xfrm>
            <a:off x="6278296" y="4540418"/>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94" name="Rounded Rectangle 93">
            <a:extLst>
              <a:ext uri="{FF2B5EF4-FFF2-40B4-BE49-F238E27FC236}">
                <a16:creationId xmlns:a16="http://schemas.microsoft.com/office/drawing/2014/main" id="{9FDBD790-E3D0-497B-BD3F-6A3D3DABCB33}"/>
              </a:ext>
            </a:extLst>
          </p:cNvPr>
          <p:cNvSpPr>
            <a:spLocks noGrp="1"/>
          </p:cNvSpPr>
          <p:nvPr/>
        </p:nvSpPr>
        <p:spPr>
          <a:xfrm>
            <a:off x="5673071" y="4620586"/>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5" name="TextBox 94">
            <a:extLst>
              <a:ext uri="{FF2B5EF4-FFF2-40B4-BE49-F238E27FC236}">
                <a16:creationId xmlns:a16="http://schemas.microsoft.com/office/drawing/2014/main" id="{CCCC8514-94F3-4E3A-8B76-D3C2678552D3}"/>
              </a:ext>
            </a:extLst>
          </p:cNvPr>
          <p:cNvSpPr>
            <a:spLocks noGrp="1"/>
          </p:cNvSpPr>
          <p:nvPr/>
        </p:nvSpPr>
        <p:spPr>
          <a:xfrm>
            <a:off x="5673071" y="4620586"/>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Permission判断</a:t>
            </a:r>
          </a:p>
        </p:txBody>
      </p:sp>
      <p:sp>
        <p:nvSpPr>
          <p:cNvPr id="96" name="TextBox 95">
            <a:extLst>
              <a:ext uri="{FF2B5EF4-FFF2-40B4-BE49-F238E27FC236}">
                <a16:creationId xmlns:a16="http://schemas.microsoft.com/office/drawing/2014/main" id="{CF489289-A9BC-41CA-BC35-040BE555D260}"/>
              </a:ext>
            </a:extLst>
          </p:cNvPr>
          <p:cNvSpPr>
            <a:spLocks noGrp="1"/>
          </p:cNvSpPr>
          <p:nvPr/>
        </p:nvSpPr>
        <p:spPr>
          <a:xfrm>
            <a:off x="6278296" y="4846514"/>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97" name="Rounded Rectangle 96">
            <a:extLst>
              <a:ext uri="{FF2B5EF4-FFF2-40B4-BE49-F238E27FC236}">
                <a16:creationId xmlns:a16="http://schemas.microsoft.com/office/drawing/2014/main" id="{0A854BED-F092-4629-B2B5-1D988A4D1AA7}"/>
              </a:ext>
            </a:extLst>
          </p:cNvPr>
          <p:cNvSpPr>
            <a:spLocks noGrp="1"/>
          </p:cNvSpPr>
          <p:nvPr/>
        </p:nvSpPr>
        <p:spPr>
          <a:xfrm>
            <a:off x="5673071" y="4926682"/>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8" name="TextBox 97">
            <a:extLst>
              <a:ext uri="{FF2B5EF4-FFF2-40B4-BE49-F238E27FC236}">
                <a16:creationId xmlns:a16="http://schemas.microsoft.com/office/drawing/2014/main" id="{1C1F97BB-5D91-41F0-B5E6-CFB06AB9CCCA}"/>
              </a:ext>
            </a:extLst>
          </p:cNvPr>
          <p:cNvSpPr>
            <a:spLocks noGrp="1"/>
          </p:cNvSpPr>
          <p:nvPr/>
        </p:nvSpPr>
        <p:spPr>
          <a:xfrm>
            <a:off x="5673071" y="4926682"/>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Ask</a:t>
            </a:r>
          </a:p>
        </p:txBody>
      </p:sp>
      <p:sp>
        <p:nvSpPr>
          <p:cNvPr id="99" name="TextBox 98">
            <a:extLst>
              <a:ext uri="{FF2B5EF4-FFF2-40B4-BE49-F238E27FC236}">
                <a16:creationId xmlns:a16="http://schemas.microsoft.com/office/drawing/2014/main" id="{929A07D3-E4E1-40F8-AA56-C04619250F30}"/>
              </a:ext>
            </a:extLst>
          </p:cNvPr>
          <p:cNvSpPr>
            <a:spLocks noGrp="1"/>
          </p:cNvSpPr>
          <p:nvPr/>
        </p:nvSpPr>
        <p:spPr>
          <a:xfrm>
            <a:off x="6278296" y="5152609"/>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100" name="Rounded Rectangle 99">
            <a:extLst>
              <a:ext uri="{FF2B5EF4-FFF2-40B4-BE49-F238E27FC236}">
                <a16:creationId xmlns:a16="http://schemas.microsoft.com/office/drawing/2014/main" id="{04A75165-0379-412C-B40C-6F7C57C1C52B}"/>
              </a:ext>
            </a:extLst>
          </p:cNvPr>
          <p:cNvSpPr>
            <a:spLocks noGrp="1"/>
          </p:cNvSpPr>
          <p:nvPr/>
        </p:nvSpPr>
        <p:spPr>
          <a:xfrm>
            <a:off x="5673071" y="5232777"/>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1" name="TextBox 100">
            <a:extLst>
              <a:ext uri="{FF2B5EF4-FFF2-40B4-BE49-F238E27FC236}">
                <a16:creationId xmlns:a16="http://schemas.microsoft.com/office/drawing/2014/main" id="{11DC8BFD-7501-481F-BDC5-208C8D3026D2}"/>
              </a:ext>
            </a:extLst>
          </p:cNvPr>
          <p:cNvSpPr>
            <a:spLocks noGrp="1"/>
          </p:cNvSpPr>
          <p:nvPr/>
        </p:nvSpPr>
        <p:spPr>
          <a:xfrm>
            <a:off x="5673071" y="5232777"/>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can_use_tool</a:t>
            </a:r>
          </a:p>
        </p:txBody>
      </p:sp>
      <p:sp>
        <p:nvSpPr>
          <p:cNvPr id="102" name="TextBox 101">
            <a:extLst>
              <a:ext uri="{FF2B5EF4-FFF2-40B4-BE49-F238E27FC236}">
                <a16:creationId xmlns:a16="http://schemas.microsoft.com/office/drawing/2014/main" id="{82838F14-0960-43FA-BFCA-A1E10ECE8F29}"/>
              </a:ext>
            </a:extLst>
          </p:cNvPr>
          <p:cNvSpPr>
            <a:spLocks noGrp="1"/>
          </p:cNvSpPr>
          <p:nvPr/>
        </p:nvSpPr>
        <p:spPr>
          <a:xfrm>
            <a:off x="6278296" y="5458705"/>
            <a:ext cx="116669" cy="87455"/>
          </a:xfrm>
          <a:prstGeom prst="rect">
            <a:avLst/>
          </a:prstGeom>
          <a:noFill/>
          <a:ln>
            <a:noFill/>
          </a:ln>
          <a:effectLst/>
        </p:spPr>
        <p:txBody>
          <a:bodyPr wrap="none" lIns="0" tIns="0" rIns="0" bIns="0" anchor="ctr">
            <a:spAutoFit/>
          </a:bodyPr>
          <a:lstStyle/>
          <a:p>
            <a:pPr algn="ctr">
              <a:buNone/>
            </a:pPr>
            <a:r>
              <a:rPr sz="1150" b="1">
                <a:solidFill>
                  <a:srgbClr val="052C7E"/>
                </a:solidFill>
                <a:latin typeface="IPAexGothic"/>
                <a:ea typeface="IPAexGothic"/>
                <a:cs typeface="IPAexGothic"/>
              </a:rPr>
              <a:t>↓</a:t>
            </a:r>
          </a:p>
        </p:txBody>
      </p:sp>
      <p:sp>
        <p:nvSpPr>
          <p:cNvPr id="103" name="Rounded Rectangle 102">
            <a:extLst>
              <a:ext uri="{FF2B5EF4-FFF2-40B4-BE49-F238E27FC236}">
                <a16:creationId xmlns:a16="http://schemas.microsoft.com/office/drawing/2014/main" id="{30EA1286-237C-446D-BCC9-7E59C676AC32}"/>
              </a:ext>
            </a:extLst>
          </p:cNvPr>
          <p:cNvSpPr>
            <a:spLocks noGrp="1"/>
          </p:cNvSpPr>
          <p:nvPr/>
        </p:nvSpPr>
        <p:spPr>
          <a:xfrm>
            <a:off x="5673071" y="5538873"/>
            <a:ext cx="1327119" cy="211351"/>
          </a:xfrm>
          <a:prstGeom prst="roundRect">
            <a:avLst>
              <a:gd name="adj" fmla="val 2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4" name="TextBox 103">
            <a:extLst>
              <a:ext uri="{FF2B5EF4-FFF2-40B4-BE49-F238E27FC236}">
                <a16:creationId xmlns:a16="http://schemas.microsoft.com/office/drawing/2014/main" id="{04E144BF-383F-4C6C-9F4C-997A08F09C13}"/>
              </a:ext>
            </a:extLst>
          </p:cNvPr>
          <p:cNvSpPr>
            <a:spLocks noGrp="1"/>
          </p:cNvSpPr>
          <p:nvPr/>
        </p:nvSpPr>
        <p:spPr>
          <a:xfrm>
            <a:off x="5673071" y="5538873"/>
            <a:ext cx="1327119" cy="211351"/>
          </a:xfrm>
          <a:prstGeom prst="rect">
            <a:avLst/>
          </a:prstGeom>
          <a:noFill/>
          <a:ln>
            <a:noFill/>
          </a:ln>
          <a:effectLst/>
        </p:spPr>
        <p:txBody>
          <a:bodyPr wrap="none" lIns="0" tIns="0" rIns="0" bIns="0" anchor="ctr">
            <a:spAutoFit/>
          </a:bodyPr>
          <a:lstStyle/>
          <a:p>
            <a:pPr algn="ctr">
              <a:buNone/>
            </a:pPr>
            <a:r>
              <a:rPr sz="1019" b="1">
                <a:solidFill>
                  <a:srgbClr val="052C7E"/>
                </a:solidFill>
                <a:latin typeface="IPAexGothic"/>
                <a:ea typeface="IPAexGothic"/>
                <a:cs typeface="IPAexGothic"/>
              </a:rPr>
              <a:t>Approve ／ Reject</a:t>
            </a:r>
          </a:p>
        </p:txBody>
      </p:sp>
      <p:sp>
        <p:nvSpPr>
          <p:cNvPr id="105" name="Rounded Rectangle 104">
            <a:extLst>
              <a:ext uri="{FF2B5EF4-FFF2-40B4-BE49-F238E27FC236}">
                <a16:creationId xmlns:a16="http://schemas.microsoft.com/office/drawing/2014/main" id="{64ADEEA5-CD3F-4173-9778-50CB8D64C071}"/>
              </a:ext>
            </a:extLst>
          </p:cNvPr>
          <p:cNvSpPr>
            <a:spLocks noGrp="1"/>
          </p:cNvSpPr>
          <p:nvPr/>
        </p:nvSpPr>
        <p:spPr>
          <a:xfrm>
            <a:off x="7634583" y="3760603"/>
            <a:ext cx="3952191" cy="269655"/>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6" name="TextBox 105">
            <a:extLst>
              <a:ext uri="{FF2B5EF4-FFF2-40B4-BE49-F238E27FC236}">
                <a16:creationId xmlns:a16="http://schemas.microsoft.com/office/drawing/2014/main" id="{0206DD30-9206-4E6A-A472-11E60843FFA6}"/>
              </a:ext>
            </a:extLst>
          </p:cNvPr>
          <p:cNvSpPr>
            <a:spLocks noGrp="1"/>
          </p:cNvSpPr>
          <p:nvPr/>
        </p:nvSpPr>
        <p:spPr>
          <a:xfrm>
            <a:off x="7634583" y="3760603"/>
            <a:ext cx="3952191" cy="269655"/>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ポイント</a:t>
            </a:r>
          </a:p>
        </p:txBody>
      </p:sp>
      <p:sp>
        <p:nvSpPr>
          <p:cNvPr id="107" name="Rounded Rectangle 106">
            <a:extLst>
              <a:ext uri="{FF2B5EF4-FFF2-40B4-BE49-F238E27FC236}">
                <a16:creationId xmlns:a16="http://schemas.microsoft.com/office/drawing/2014/main" id="{71703291-37B2-47CA-B483-F2BBF57F8CD6}"/>
              </a:ext>
            </a:extLst>
          </p:cNvPr>
          <p:cNvSpPr>
            <a:spLocks noGrp="1"/>
          </p:cNvSpPr>
          <p:nvPr/>
        </p:nvSpPr>
        <p:spPr>
          <a:xfrm>
            <a:off x="7634583" y="4030259"/>
            <a:ext cx="3952191" cy="1938528"/>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8" name="TextBox 107">
            <a:extLst>
              <a:ext uri="{FF2B5EF4-FFF2-40B4-BE49-F238E27FC236}">
                <a16:creationId xmlns:a16="http://schemas.microsoft.com/office/drawing/2014/main" id="{1DE49B25-3FFD-421E-80CA-30427CBD247A}"/>
              </a:ext>
            </a:extLst>
          </p:cNvPr>
          <p:cNvSpPr>
            <a:spLocks noGrp="1"/>
          </p:cNvSpPr>
          <p:nvPr/>
        </p:nvSpPr>
        <p:spPr>
          <a:xfrm>
            <a:off x="7889798" y="4292626"/>
            <a:ext cx="3317798" cy="349823"/>
          </a:xfrm>
          <a:prstGeom prst="rect">
            <a:avLst/>
          </a:prstGeom>
          <a:noFill/>
          <a:ln>
            <a:noFill/>
          </a:ln>
          <a:effectLst/>
        </p:spPr>
        <p:txBody>
          <a:bodyPr wrap="square" lIns="0" tIns="0" rIns="0" bIns="0" anchor="ctr">
            <a:spAutoFit/>
          </a:bodyPr>
          <a:lstStyle/>
          <a:p>
            <a:pPr algn="l">
              <a:buNone/>
            </a:pPr>
            <a:r>
              <a:rPr sz="1070" b="0">
                <a:solidFill>
                  <a:srgbClr val="0A1220"/>
                </a:solidFill>
                <a:latin typeface="IPAexGothic"/>
                <a:ea typeface="IPAexGothic"/>
                <a:cs typeface="IPAexGothic"/>
              </a:rPr>
              <a:t>・  ApprovalはAllowとDenyの中間にある</a:t>
            </a:r>
          </a:p>
          <a:p>
            <a:pPr algn="l">
              <a:buNone/>
            </a:pPr>
            <a:r>
              <a:rPr sz="1070" b="0">
                <a:solidFill>
                  <a:srgbClr val="0A1220"/>
                </a:solidFill>
                <a:latin typeface="IPAexGothic"/>
                <a:ea typeface="IPAexGothic"/>
                <a:cs typeface="IPAexGothic"/>
              </a:rPr>
              <a:t>重要な判断である．</a:t>
            </a:r>
          </a:p>
        </p:txBody>
      </p:sp>
      <p:sp>
        <p:nvSpPr>
          <p:cNvPr id="109" name="TextBox 108">
            <a:extLst>
              <a:ext uri="{FF2B5EF4-FFF2-40B4-BE49-F238E27FC236}">
                <a16:creationId xmlns:a16="http://schemas.microsoft.com/office/drawing/2014/main" id="{FE4A462B-3AA7-421A-B2C1-F3C22BB8FC67}"/>
              </a:ext>
            </a:extLst>
          </p:cNvPr>
          <p:cNvSpPr>
            <a:spLocks noGrp="1"/>
          </p:cNvSpPr>
          <p:nvPr/>
        </p:nvSpPr>
        <p:spPr>
          <a:xfrm>
            <a:off x="7889798" y="4802786"/>
            <a:ext cx="3317798" cy="349823"/>
          </a:xfrm>
          <a:prstGeom prst="rect">
            <a:avLst/>
          </a:prstGeom>
          <a:noFill/>
          <a:ln>
            <a:noFill/>
          </a:ln>
          <a:effectLst/>
        </p:spPr>
        <p:txBody>
          <a:bodyPr wrap="square" lIns="0" tIns="0" rIns="0" bIns="0" anchor="ctr">
            <a:spAutoFit/>
          </a:bodyPr>
          <a:lstStyle/>
          <a:p>
            <a:pPr algn="l">
              <a:buNone/>
            </a:pPr>
            <a:r>
              <a:rPr sz="1070" b="0">
                <a:solidFill>
                  <a:srgbClr val="0A1220"/>
                </a:solidFill>
                <a:latin typeface="IPAexGothic"/>
                <a:ea typeface="IPAexGothic"/>
                <a:cs typeface="IPAexGothic"/>
              </a:rPr>
              <a:t>・  完全禁止にしなくても，人間確認を挟むことで</a:t>
            </a:r>
          </a:p>
          <a:p>
            <a:pPr algn="l">
              <a:buNone/>
            </a:pPr>
            <a:r>
              <a:rPr sz="1070" b="0">
                <a:solidFill>
                  <a:srgbClr val="0A1220"/>
                </a:solidFill>
                <a:latin typeface="IPAexGothic"/>
                <a:ea typeface="IPAexGothic"/>
                <a:cs typeface="IPAexGothic"/>
              </a:rPr>
              <a:t>安全性と利便性を両立できる．</a:t>
            </a:r>
          </a:p>
        </p:txBody>
      </p:sp>
      <p:sp>
        <p:nvSpPr>
          <p:cNvPr id="110" name="TextBox 109">
            <a:extLst>
              <a:ext uri="{FF2B5EF4-FFF2-40B4-BE49-F238E27FC236}">
                <a16:creationId xmlns:a16="http://schemas.microsoft.com/office/drawing/2014/main" id="{97D0738F-7DB9-4FF5-B297-B99B28B1BF0E}"/>
              </a:ext>
            </a:extLst>
          </p:cNvPr>
          <p:cNvSpPr>
            <a:spLocks noGrp="1"/>
          </p:cNvSpPr>
          <p:nvPr/>
        </p:nvSpPr>
        <p:spPr>
          <a:xfrm>
            <a:off x="7889798" y="5312945"/>
            <a:ext cx="3317798" cy="349823"/>
          </a:xfrm>
          <a:prstGeom prst="rect">
            <a:avLst/>
          </a:prstGeom>
          <a:noFill/>
          <a:ln>
            <a:noFill/>
          </a:ln>
          <a:effectLst/>
        </p:spPr>
        <p:txBody>
          <a:bodyPr wrap="square" lIns="0" tIns="0" rIns="0" bIns="0" anchor="ctr">
            <a:spAutoFit/>
          </a:bodyPr>
          <a:lstStyle/>
          <a:p>
            <a:pPr algn="l">
              <a:buNone/>
            </a:pPr>
            <a:r>
              <a:rPr sz="1070" b="0">
                <a:solidFill>
                  <a:srgbClr val="0A1220"/>
                </a:solidFill>
                <a:latin typeface="IPAexGothic"/>
                <a:ea typeface="IPAexGothic"/>
                <a:cs typeface="IPAexGothic"/>
              </a:rPr>
              <a:t>・  重要ファイルへの変更など，組織Policyを</a:t>
            </a:r>
          </a:p>
          <a:p>
            <a:pPr algn="l">
              <a:buNone/>
            </a:pPr>
            <a:r>
              <a:rPr sz="1070" b="0">
                <a:solidFill>
                  <a:srgbClr val="0A1220"/>
                </a:solidFill>
                <a:latin typeface="IPAexGothic"/>
                <a:ea typeface="IPAexGothic"/>
                <a:cs typeface="IPAexGothic"/>
              </a:rPr>
              <a:t>段階的に適用しやすい．</a:t>
            </a:r>
          </a:p>
        </p:txBody>
      </p:sp>
      <p:sp>
        <p:nvSpPr>
          <p:cNvPr id="111" name="Rounded Rectangle 110">
            <a:extLst>
              <a:ext uri="{FF2B5EF4-FFF2-40B4-BE49-F238E27FC236}">
                <a16:creationId xmlns:a16="http://schemas.microsoft.com/office/drawing/2014/main" id="{F3546AC0-5327-419B-801D-B209A1EE5437}"/>
              </a:ext>
            </a:extLst>
          </p:cNvPr>
          <p:cNvSpPr>
            <a:spLocks noGrp="1"/>
          </p:cNvSpPr>
          <p:nvPr/>
        </p:nvSpPr>
        <p:spPr>
          <a:xfrm>
            <a:off x="298966" y="6158352"/>
            <a:ext cx="11338851" cy="444567"/>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2" name="Rounded Rectangle 111">
            <a:extLst>
              <a:ext uri="{FF2B5EF4-FFF2-40B4-BE49-F238E27FC236}">
                <a16:creationId xmlns:a16="http://schemas.microsoft.com/office/drawing/2014/main" id="{5B3A95FA-8D01-4936-AA3C-516638260DD5}"/>
              </a:ext>
            </a:extLst>
          </p:cNvPr>
          <p:cNvSpPr>
            <a:spLocks noGrp="1"/>
          </p:cNvSpPr>
          <p:nvPr/>
        </p:nvSpPr>
        <p:spPr>
          <a:xfrm>
            <a:off x="298966" y="6158352"/>
            <a:ext cx="1400038" cy="444567"/>
          </a:xfrm>
          <a:prstGeom prst="roundRect">
            <a:avLst>
              <a:gd name="adj" fmla="val 12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3" name="TextBox 112">
            <a:extLst>
              <a:ext uri="{FF2B5EF4-FFF2-40B4-BE49-F238E27FC236}">
                <a16:creationId xmlns:a16="http://schemas.microsoft.com/office/drawing/2014/main" id="{28CF1135-DCCC-4AF5-BEF5-D2451AA2E377}"/>
              </a:ext>
            </a:extLst>
          </p:cNvPr>
          <p:cNvSpPr>
            <a:spLocks noGrp="1"/>
          </p:cNvSpPr>
          <p:nvPr/>
        </p:nvSpPr>
        <p:spPr>
          <a:xfrm>
            <a:off x="422928" y="6267672"/>
            <a:ext cx="1130239" cy="218639"/>
          </a:xfrm>
          <a:prstGeom prst="rect">
            <a:avLst/>
          </a:prstGeom>
          <a:noFill/>
          <a:ln>
            <a:noFill/>
          </a:ln>
          <a:effectLst/>
        </p:spPr>
        <p:txBody>
          <a:bodyPr wrap="none" lIns="0" tIns="0" rIns="0" bIns="0" anchor="ctr">
            <a:spAutoFit/>
          </a:bodyPr>
          <a:lstStyle/>
          <a:p>
            <a:pPr algn="ctr">
              <a:buNone/>
            </a:pPr>
            <a:r>
              <a:rPr sz="1230" b="1">
                <a:solidFill>
                  <a:srgbClr val="0B3691"/>
                </a:solidFill>
                <a:latin typeface="IPAexGothic"/>
                <a:ea typeface="IPAexGothic"/>
                <a:cs typeface="IPAexGothic"/>
              </a:rPr>
              <a:t>違いのまとめ</a:t>
            </a:r>
          </a:p>
        </p:txBody>
      </p:sp>
      <p:sp>
        <p:nvSpPr>
          <p:cNvPr id="114" name="TextBox 113">
            <a:extLst>
              <a:ext uri="{FF2B5EF4-FFF2-40B4-BE49-F238E27FC236}">
                <a16:creationId xmlns:a16="http://schemas.microsoft.com/office/drawing/2014/main" id="{9F2B65BD-09E7-4D2E-968B-71484BFED0AA}"/>
              </a:ext>
            </a:extLst>
          </p:cNvPr>
          <p:cNvSpPr>
            <a:spLocks noGrp="1"/>
          </p:cNvSpPr>
          <p:nvPr/>
        </p:nvSpPr>
        <p:spPr>
          <a:xfrm>
            <a:off x="1903176" y="6267672"/>
            <a:ext cx="8640861" cy="218639"/>
          </a:xfrm>
          <a:prstGeom prst="rect">
            <a:avLst/>
          </a:prstGeom>
          <a:noFill/>
          <a:ln>
            <a:noFill/>
          </a:ln>
          <a:effectLst/>
        </p:spPr>
        <p:txBody>
          <a:bodyPr wrap="none" lIns="0" tIns="0" rIns="0" bIns="0" anchor="ctr">
            <a:spAutoFit/>
          </a:bodyPr>
          <a:lstStyle/>
          <a:p>
            <a:pPr algn="l">
              <a:buNone/>
            </a:pPr>
            <a:r>
              <a:rPr sz="1110" b="1">
                <a:solidFill>
                  <a:srgbClr val="052C7E"/>
                </a:solidFill>
                <a:latin typeface="IPAexGothic"/>
                <a:ea typeface="IPAexGothic"/>
                <a:cs typeface="IPAexGothic"/>
              </a:rPr>
              <a:t>OpenAIはneeds_approvalでRunを中断・再開し，ClaudeはPermission Systemとcan_use_toolでApproval Flowを構成する．</a:t>
            </a:r>
          </a:p>
        </p:txBody>
      </p:sp>
      <p:sp>
        <p:nvSpPr>
          <p:cNvPr id="115" name="TextBox 114">
            <a:extLst>
              <a:ext uri="{FF2B5EF4-FFF2-40B4-BE49-F238E27FC236}">
                <a16:creationId xmlns:a16="http://schemas.microsoft.com/office/drawing/2014/main" id="{C6DFA202-AF13-4F6C-9194-C9D5CA67561A}"/>
              </a:ext>
            </a:extLst>
          </p:cNvPr>
          <p:cNvSpPr>
            <a:spLocks noGrp="1"/>
          </p:cNvSpPr>
          <p:nvPr/>
        </p:nvSpPr>
        <p:spPr>
          <a:xfrm>
            <a:off x="11681569" y="6493600"/>
            <a:ext cx="291674" cy="174911"/>
          </a:xfrm>
          <a:prstGeom prst="rect">
            <a:avLst/>
          </a:prstGeom>
          <a:noFill/>
          <a:ln>
            <a:noFill/>
          </a:ln>
          <a:effectLst/>
        </p:spPr>
        <p:txBody>
          <a:bodyPr wrap="none" lIns="0" tIns="0" rIns="0" bIns="0" anchor="ctr">
            <a:spAutoFit/>
          </a:bodyPr>
          <a:lstStyle/>
          <a:p>
            <a:pPr algn="ctr">
              <a:buNone/>
            </a:pPr>
            <a:r>
              <a:rPr sz="1330" b="1">
                <a:solidFill>
                  <a:srgbClr val="052C7E"/>
                </a:solidFill>
                <a:latin typeface="IPAexGothic"/>
                <a:ea typeface="IPAexGothic"/>
                <a:cs typeface="IPAexGothic"/>
              </a:rPr>
              <a:t>A5</a:t>
            </a:r>
          </a:p>
        </p:txBody>
      </p:sp>
    </p:spTree>
    <p:extLst>
      <p:ext uri="{BB962C8B-B14F-4D97-AF65-F5344CB8AC3E}">
        <p14:creationId xmlns:p14="http://schemas.microsoft.com/office/powerpoint/2010/main" val="375825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230518-9171-412A-9407-7AE9C20180EE}"/>
              </a:ext>
            </a:extLst>
          </p:cNvPr>
          <p:cNvSpPr>
            <a:spLocks noGrp="1"/>
          </p:cNvSpPr>
          <p:nvPr/>
        </p:nvSpPr>
        <p:spPr>
          <a:xfrm>
            <a:off x="328133" y="182199"/>
            <a:ext cx="7146028" cy="335247"/>
          </a:xfrm>
          <a:prstGeom prst="rect">
            <a:avLst/>
          </a:prstGeom>
          <a:noFill/>
          <a:ln>
            <a:noFill/>
          </a:ln>
          <a:effectLst/>
        </p:spPr>
        <p:txBody>
          <a:bodyPr wrap="none" lIns="0" tIns="0" rIns="0" bIns="0" anchor="ctr">
            <a:spAutoFit/>
          </a:bodyPr>
          <a:lstStyle/>
          <a:p>
            <a:pPr algn="l">
              <a:buNone/>
            </a:pPr>
            <a:r>
              <a:rPr sz="2030" b="1">
                <a:solidFill>
                  <a:srgbClr val="052C7E"/>
                </a:solidFill>
                <a:latin typeface="IPAexGothic"/>
              </a:rPr>
              <a:t>Appendix A6． Tool Visibility／Permission</a:t>
            </a:r>
          </a:p>
        </p:txBody>
      </p:sp>
      <p:sp>
        <p:nvSpPr>
          <p:cNvPr id="4" name="TextBox 3">
            <a:extLst>
              <a:ext uri="{FF2B5EF4-FFF2-40B4-BE49-F238E27FC236}">
                <a16:creationId xmlns:a16="http://schemas.microsoft.com/office/drawing/2014/main" id="{94C6D978-FC88-43DC-B7F0-1E4802A9B27E}"/>
              </a:ext>
            </a:extLst>
          </p:cNvPr>
          <p:cNvSpPr>
            <a:spLocks noGrp="1"/>
          </p:cNvSpPr>
          <p:nvPr/>
        </p:nvSpPr>
        <p:spPr>
          <a:xfrm>
            <a:off x="10624248" y="247791"/>
            <a:ext cx="1093779" cy="174911"/>
          </a:xfrm>
          <a:prstGeom prst="rect">
            <a:avLst/>
          </a:prstGeom>
          <a:noFill/>
          <a:ln>
            <a:noFill/>
          </a:ln>
          <a:effectLst/>
        </p:spPr>
        <p:txBody>
          <a:bodyPr wrap="none" lIns="0" tIns="0" rIns="0" bIns="0" anchor="ctr">
            <a:spAutoFit/>
          </a:bodyPr>
          <a:lstStyle/>
          <a:p>
            <a:pPr algn="ctr">
              <a:buNone/>
            </a:pPr>
            <a:r>
              <a:rPr sz="1160" b="1">
                <a:solidFill>
                  <a:srgbClr val="052C7E"/>
                </a:solidFill>
                <a:latin typeface="IPAexGothic"/>
                <a:ea typeface="IPAexGothic"/>
                <a:cs typeface="IPAexGothic"/>
              </a:rPr>
              <a:t>行動・権限制御</a:t>
            </a:r>
          </a:p>
        </p:txBody>
      </p:sp>
      <p:sp>
        <p:nvSpPr>
          <p:cNvPr id="5" name="Rectangle 4">
            <a:extLst>
              <a:ext uri="{FF2B5EF4-FFF2-40B4-BE49-F238E27FC236}">
                <a16:creationId xmlns:a16="http://schemas.microsoft.com/office/drawing/2014/main" id="{EDF42716-A84B-4437-AC19-FC9DACD812FA}"/>
              </a:ext>
            </a:extLst>
          </p:cNvPr>
          <p:cNvSpPr>
            <a:spLocks noGrp="1"/>
          </p:cNvSpPr>
          <p:nvPr/>
        </p:nvSpPr>
        <p:spPr>
          <a:xfrm>
            <a:off x="204172" y="517447"/>
            <a:ext cx="11608650" cy="36439"/>
          </a:xfrm>
          <a:prstGeom prst="rect">
            <a:avLst/>
          </a:prstGeom>
          <a:solidFill>
            <a:srgbClr val="052C7E"/>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AD0FE5B-D5F3-4A68-AC2F-7EA4537BCA50}"/>
              </a:ext>
            </a:extLst>
          </p:cNvPr>
          <p:cNvSpPr>
            <a:spLocks noGrp="1"/>
          </p:cNvSpPr>
          <p:nvPr/>
        </p:nvSpPr>
        <p:spPr>
          <a:xfrm>
            <a:off x="386468" y="903710"/>
            <a:ext cx="10864880" cy="160335"/>
          </a:xfrm>
          <a:prstGeom prst="rect">
            <a:avLst/>
          </a:prstGeom>
          <a:noFill/>
          <a:ln>
            <a:noFill/>
          </a:ln>
          <a:effectLst/>
        </p:spPr>
        <p:txBody>
          <a:bodyPr wrap="none" lIns="0" tIns="0" rIns="0" bIns="0" anchor="ctr">
            <a:spAutoFit/>
          </a:bodyPr>
          <a:lstStyle/>
          <a:p>
            <a:pPr algn="l">
              <a:buNone/>
            </a:pPr>
            <a:r>
              <a:rPr sz="1160" b="1">
                <a:solidFill>
                  <a:srgbClr val="0A1220"/>
                </a:solidFill>
                <a:latin typeface="IPAexGothic"/>
              </a:rPr>
              <a:t>Tool Governanceでは，そもそもAgentにどのToolを見せるかという「Tool Visibility」と，Tool Callを実行してよいかという「Authorization」を分けて考える必要がある．</a:t>
            </a:r>
          </a:p>
        </p:txBody>
      </p:sp>
      <p:sp>
        <p:nvSpPr>
          <p:cNvPr id="7" name="TextBox 6">
            <a:extLst>
              <a:ext uri="{FF2B5EF4-FFF2-40B4-BE49-F238E27FC236}">
                <a16:creationId xmlns:a16="http://schemas.microsoft.com/office/drawing/2014/main" id="{49662504-2D6D-4D0B-AA4B-9A91A24EDEA1}"/>
              </a:ext>
            </a:extLst>
          </p:cNvPr>
          <p:cNvSpPr>
            <a:spLocks noGrp="1"/>
          </p:cNvSpPr>
          <p:nvPr/>
        </p:nvSpPr>
        <p:spPr>
          <a:xfrm>
            <a:off x="386468" y="1115062"/>
            <a:ext cx="10864880" cy="160335"/>
          </a:xfrm>
          <a:prstGeom prst="rect">
            <a:avLst/>
          </a:prstGeom>
          <a:noFill/>
          <a:ln>
            <a:noFill/>
          </a:ln>
          <a:effectLst/>
        </p:spPr>
        <p:txBody>
          <a:bodyPr wrap="none" lIns="0" tIns="0" rIns="0" bIns="0" anchor="ctr">
            <a:spAutoFit/>
          </a:bodyPr>
          <a:lstStyle/>
          <a:p>
            <a:pPr algn="l">
              <a:buNone/>
            </a:pPr>
            <a:r>
              <a:rPr sz="1160" b="1">
                <a:solidFill>
                  <a:srgbClr val="0A1220"/>
                </a:solidFill>
                <a:latin typeface="IPAexGothic"/>
              </a:rPr>
              <a:t>OpenAIはis_enabledやMCP Tool Filter，Claudeはtools，allowed_tools，disallowed_tools，Permission Modeなどを組み合わせて制御する．</a:t>
            </a:r>
          </a:p>
        </p:txBody>
      </p:sp>
      <p:sp>
        <p:nvSpPr>
          <p:cNvPr id="8" name="TextBox 7">
            <a:extLst>
              <a:ext uri="{FF2B5EF4-FFF2-40B4-BE49-F238E27FC236}">
                <a16:creationId xmlns:a16="http://schemas.microsoft.com/office/drawing/2014/main" id="{194962E4-31E0-4C0C-9E02-4462B13996F2}"/>
              </a:ext>
            </a:extLst>
          </p:cNvPr>
          <p:cNvSpPr>
            <a:spLocks noGrp="1"/>
          </p:cNvSpPr>
          <p:nvPr/>
        </p:nvSpPr>
        <p:spPr>
          <a:xfrm>
            <a:off x="7401243" y="641343"/>
            <a:ext cx="4389703" cy="131183"/>
          </a:xfrm>
          <a:prstGeom prst="rect">
            <a:avLst/>
          </a:prstGeom>
          <a:noFill/>
          <a:ln>
            <a:noFill/>
          </a:ln>
          <a:effectLst/>
        </p:spPr>
        <p:txBody>
          <a:bodyPr wrap="none" lIns="0" tIns="0" rIns="0" bIns="0" anchor="ctr">
            <a:spAutoFit/>
          </a:bodyPr>
          <a:lstStyle/>
          <a:p>
            <a:pPr algn="r">
              <a:buNone/>
            </a:pPr>
            <a:r>
              <a:rPr sz="790" b="1">
                <a:solidFill>
                  <a:srgbClr val="052C7E"/>
                </a:solidFill>
                <a:latin typeface="IPAexGothic"/>
                <a:ea typeface="IPAexGothic"/>
                <a:cs typeface="IPAexGothic"/>
              </a:rPr>
              <a:t>対象バージョン： OpenAI Agents SDK 0.22.0 ／ Claude Agent SDK 0.2.144</a:t>
            </a:r>
          </a:p>
        </p:txBody>
      </p:sp>
      <p:sp>
        <p:nvSpPr>
          <p:cNvPr id="9" name="Rectangle 8">
            <a:extLst>
              <a:ext uri="{FF2B5EF4-FFF2-40B4-BE49-F238E27FC236}">
                <a16:creationId xmlns:a16="http://schemas.microsoft.com/office/drawing/2014/main" id="{469C25BA-50C5-4C17-A9E9-6DF5157E9867}"/>
              </a:ext>
            </a:extLst>
          </p:cNvPr>
          <p:cNvSpPr>
            <a:spLocks noGrp="1"/>
          </p:cNvSpPr>
          <p:nvPr/>
        </p:nvSpPr>
        <p:spPr>
          <a:xfrm>
            <a:off x="332304" y="1421158"/>
            <a:ext cx="11812822" cy="335247"/>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6B72131-CA5A-465A-BC97-A7C023A70E50}"/>
              </a:ext>
            </a:extLst>
          </p:cNvPr>
          <p:cNvSpPr>
            <a:spLocks noGrp="1"/>
          </p:cNvSpPr>
          <p:nvPr/>
        </p:nvSpPr>
        <p:spPr>
          <a:xfrm>
            <a:off x="332304" y="1421158"/>
            <a:ext cx="2318813" cy="335247"/>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観点</a:t>
            </a:r>
          </a:p>
        </p:txBody>
      </p:sp>
      <p:sp>
        <p:nvSpPr>
          <p:cNvPr id="11" name="TextBox 10">
            <a:extLst>
              <a:ext uri="{FF2B5EF4-FFF2-40B4-BE49-F238E27FC236}">
                <a16:creationId xmlns:a16="http://schemas.microsoft.com/office/drawing/2014/main" id="{CA8426D0-0E66-480F-B360-E5CA3529ADC1}"/>
              </a:ext>
            </a:extLst>
          </p:cNvPr>
          <p:cNvSpPr>
            <a:spLocks noGrp="1"/>
          </p:cNvSpPr>
          <p:nvPr/>
        </p:nvSpPr>
        <p:spPr>
          <a:xfrm>
            <a:off x="2651118" y="1421158"/>
            <a:ext cx="4243865" cy="335247"/>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OpenAI Agents SDK</a:t>
            </a:r>
          </a:p>
        </p:txBody>
      </p:sp>
      <p:sp>
        <p:nvSpPr>
          <p:cNvPr id="12" name="TextBox 11">
            <a:extLst>
              <a:ext uri="{FF2B5EF4-FFF2-40B4-BE49-F238E27FC236}">
                <a16:creationId xmlns:a16="http://schemas.microsoft.com/office/drawing/2014/main" id="{7F32CB49-3CE8-402F-B5D2-0EA0ED02B4C8}"/>
              </a:ext>
            </a:extLst>
          </p:cNvPr>
          <p:cNvSpPr>
            <a:spLocks noGrp="1"/>
          </p:cNvSpPr>
          <p:nvPr/>
        </p:nvSpPr>
        <p:spPr>
          <a:xfrm>
            <a:off x="6894984" y="1421158"/>
            <a:ext cx="5250143" cy="335247"/>
          </a:xfrm>
          <a:prstGeom prst="rect">
            <a:avLst/>
          </a:prstGeom>
          <a:noFill/>
          <a:ln>
            <a:noFill/>
          </a:ln>
          <a:effectLst/>
        </p:spPr>
        <p:txBody>
          <a:bodyPr wrap="none" lIns="0" tIns="0" rIns="0" bIns="0" anchor="ctr">
            <a:spAutoFit/>
          </a:bodyPr>
          <a:lstStyle/>
          <a:p>
            <a:pPr algn="ctr">
              <a:buNone/>
            </a:pPr>
            <a:r>
              <a:rPr sz="1370" b="1">
                <a:solidFill>
                  <a:srgbClr val="0B3691"/>
                </a:solidFill>
                <a:latin typeface="IPAexGothic"/>
                <a:ea typeface="IPAexGothic"/>
                <a:cs typeface="IPAexGothic"/>
              </a:rPr>
              <a:t>Claude Agent SDK</a:t>
            </a:r>
          </a:p>
        </p:txBody>
      </p:sp>
      <p:sp>
        <p:nvSpPr>
          <p:cNvPr id="13" name="Rectangle 12">
            <a:extLst>
              <a:ext uri="{FF2B5EF4-FFF2-40B4-BE49-F238E27FC236}">
                <a16:creationId xmlns:a16="http://schemas.microsoft.com/office/drawing/2014/main" id="{27C0F846-8887-4B99-BDF4-41914D2D0EC0}"/>
              </a:ext>
            </a:extLst>
          </p:cNvPr>
          <p:cNvSpPr>
            <a:spLocks noGrp="1"/>
          </p:cNvSpPr>
          <p:nvPr/>
        </p:nvSpPr>
        <p:spPr>
          <a:xfrm>
            <a:off x="332304" y="1756405"/>
            <a:ext cx="2318813" cy="422703"/>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A4273D3D-A84E-4F07-9216-4DDAB4540686}"/>
              </a:ext>
            </a:extLst>
          </p:cNvPr>
          <p:cNvSpPr>
            <a:spLocks noGrp="1"/>
          </p:cNvSpPr>
          <p:nvPr/>
        </p:nvSpPr>
        <p:spPr>
          <a:xfrm>
            <a:off x="2651118" y="1756405"/>
            <a:ext cx="4243865" cy="422703"/>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38C74E15-7919-48EB-A874-ED5D31D70638}"/>
              </a:ext>
            </a:extLst>
          </p:cNvPr>
          <p:cNvSpPr>
            <a:spLocks noGrp="1"/>
          </p:cNvSpPr>
          <p:nvPr/>
        </p:nvSpPr>
        <p:spPr>
          <a:xfrm>
            <a:off x="6894984" y="1756405"/>
            <a:ext cx="5250143" cy="422703"/>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D18F1D96-703B-49B7-8735-3176C1FD57F3}"/>
              </a:ext>
            </a:extLst>
          </p:cNvPr>
          <p:cNvSpPr>
            <a:spLocks noGrp="1"/>
          </p:cNvSpPr>
          <p:nvPr/>
        </p:nvSpPr>
        <p:spPr>
          <a:xfrm>
            <a:off x="463558" y="1792845"/>
            <a:ext cx="2114641" cy="364399"/>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公開範囲を制御する主な機能</a:t>
            </a:r>
          </a:p>
        </p:txBody>
      </p:sp>
      <p:sp>
        <p:nvSpPr>
          <p:cNvPr id="17" name="TextBox 16">
            <a:extLst>
              <a:ext uri="{FF2B5EF4-FFF2-40B4-BE49-F238E27FC236}">
                <a16:creationId xmlns:a16="http://schemas.microsoft.com/office/drawing/2014/main" id="{D83677AE-269F-4345-891D-DA0CB604EE78}"/>
              </a:ext>
            </a:extLst>
          </p:cNvPr>
          <p:cNvSpPr>
            <a:spLocks noGrp="1"/>
          </p:cNvSpPr>
          <p:nvPr/>
        </p:nvSpPr>
        <p:spPr>
          <a:xfrm>
            <a:off x="2855290" y="1792845"/>
            <a:ext cx="3981358" cy="364399"/>
          </a:xfrm>
          <a:prstGeom prst="rect">
            <a:avLst/>
          </a:prstGeom>
          <a:noFill/>
          <a:ln>
            <a:noFill/>
          </a:ln>
          <a:effectLst/>
        </p:spPr>
        <p:txBody>
          <a:bodyPr wrap="none" lIns="0" tIns="0" rIns="0" bIns="0" anchor="ctr">
            <a:spAutoFit/>
          </a:bodyPr>
          <a:lstStyle/>
          <a:p>
            <a:pPr algn="l">
              <a:buNone/>
            </a:pPr>
            <a:r>
              <a:rPr sz="1150" b="1">
                <a:solidFill>
                  <a:srgbClr val="052C7E"/>
                </a:solidFill>
                <a:latin typeface="IPAexGothic"/>
                <a:ea typeface="IPAexGothic"/>
                <a:cs typeface="IPAexGothic"/>
              </a:rPr>
              <a:t>is_enabled，MCP Tool Filter</a:t>
            </a:r>
          </a:p>
        </p:txBody>
      </p:sp>
      <p:sp>
        <p:nvSpPr>
          <p:cNvPr id="18" name="TextBox 17">
            <a:extLst>
              <a:ext uri="{FF2B5EF4-FFF2-40B4-BE49-F238E27FC236}">
                <a16:creationId xmlns:a16="http://schemas.microsoft.com/office/drawing/2014/main" id="{D0EDBCAA-62B5-447E-8936-471677186B95}"/>
              </a:ext>
            </a:extLst>
          </p:cNvPr>
          <p:cNvSpPr>
            <a:spLocks noGrp="1"/>
          </p:cNvSpPr>
          <p:nvPr/>
        </p:nvSpPr>
        <p:spPr>
          <a:xfrm>
            <a:off x="7099156" y="1792845"/>
            <a:ext cx="4973052" cy="364399"/>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tools，allowed_tools，disallowed_tools，Permission Mode</a:t>
            </a:r>
          </a:p>
        </p:txBody>
      </p:sp>
      <p:sp>
        <p:nvSpPr>
          <p:cNvPr id="19" name="Rectangle 18">
            <a:extLst>
              <a:ext uri="{FF2B5EF4-FFF2-40B4-BE49-F238E27FC236}">
                <a16:creationId xmlns:a16="http://schemas.microsoft.com/office/drawing/2014/main" id="{1A407761-EF92-43AA-B4DE-820A2B766BD3}"/>
              </a:ext>
            </a:extLst>
          </p:cNvPr>
          <p:cNvSpPr>
            <a:spLocks noGrp="1"/>
          </p:cNvSpPr>
          <p:nvPr/>
        </p:nvSpPr>
        <p:spPr>
          <a:xfrm>
            <a:off x="332304" y="2179109"/>
            <a:ext cx="2318813" cy="40812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365CE963-97B5-48A2-8657-A6134FA14BBE}"/>
              </a:ext>
            </a:extLst>
          </p:cNvPr>
          <p:cNvSpPr>
            <a:spLocks noGrp="1"/>
          </p:cNvSpPr>
          <p:nvPr/>
        </p:nvSpPr>
        <p:spPr>
          <a:xfrm>
            <a:off x="2651118" y="2179109"/>
            <a:ext cx="4243865"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7A70859C-D13A-4F15-B6EF-A98AD8705B38}"/>
              </a:ext>
            </a:extLst>
          </p:cNvPr>
          <p:cNvSpPr>
            <a:spLocks noGrp="1"/>
          </p:cNvSpPr>
          <p:nvPr/>
        </p:nvSpPr>
        <p:spPr>
          <a:xfrm>
            <a:off x="6894984" y="2179109"/>
            <a:ext cx="5250143"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F20E487-3A18-4B52-94B7-7B7FD2CA44C3}"/>
              </a:ext>
            </a:extLst>
          </p:cNvPr>
          <p:cNvSpPr>
            <a:spLocks noGrp="1"/>
          </p:cNvSpPr>
          <p:nvPr/>
        </p:nvSpPr>
        <p:spPr>
          <a:xfrm>
            <a:off x="463558" y="2215549"/>
            <a:ext cx="2114641" cy="349823"/>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基本的な考え方</a:t>
            </a:r>
          </a:p>
        </p:txBody>
      </p:sp>
      <p:sp>
        <p:nvSpPr>
          <p:cNvPr id="23" name="TextBox 22">
            <a:extLst>
              <a:ext uri="{FF2B5EF4-FFF2-40B4-BE49-F238E27FC236}">
                <a16:creationId xmlns:a16="http://schemas.microsoft.com/office/drawing/2014/main" id="{090B6EE2-E547-406E-AA6C-BA44FA5B0EA4}"/>
              </a:ext>
            </a:extLst>
          </p:cNvPr>
          <p:cNvSpPr>
            <a:spLocks noGrp="1"/>
          </p:cNvSpPr>
          <p:nvPr/>
        </p:nvSpPr>
        <p:spPr>
          <a:xfrm>
            <a:off x="2855290" y="2215549"/>
            <a:ext cx="3981358" cy="349823"/>
          </a:xfrm>
          <a:prstGeom prst="rect">
            <a:avLst/>
          </a:prstGeom>
          <a:noFill/>
          <a:ln>
            <a:noFill/>
          </a:ln>
          <a:effectLst/>
        </p:spPr>
        <p:txBody>
          <a:bodyPr wrap="none" lIns="0" tIns="0" rIns="0" bIns="0" anchor="ctr">
            <a:spAutoFit/>
          </a:bodyPr>
          <a:lstStyle/>
          <a:p>
            <a:pPr algn="l">
              <a:buNone/>
            </a:pPr>
            <a:r>
              <a:rPr sz="1150" b="1">
                <a:solidFill>
                  <a:srgbClr val="052C7E"/>
                </a:solidFill>
                <a:latin typeface="IPAexGothic"/>
              </a:rPr>
              <a:t>Runtime Contextに応じてToolを見せるかを切り替える</a:t>
            </a:r>
          </a:p>
        </p:txBody>
      </p:sp>
      <p:sp>
        <p:nvSpPr>
          <p:cNvPr id="24" name="TextBox 23">
            <a:extLst>
              <a:ext uri="{FF2B5EF4-FFF2-40B4-BE49-F238E27FC236}">
                <a16:creationId xmlns:a16="http://schemas.microsoft.com/office/drawing/2014/main" id="{1675CB44-B7B9-447A-ACC1-89338E4586C4}"/>
              </a:ext>
            </a:extLst>
          </p:cNvPr>
          <p:cNvSpPr>
            <a:spLocks noGrp="1"/>
          </p:cNvSpPr>
          <p:nvPr/>
        </p:nvSpPr>
        <p:spPr>
          <a:xfrm>
            <a:off x="7099156" y="2215549"/>
            <a:ext cx="4973052" cy="349823"/>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事前承認，Deny rule，実行モードを組み合わせる</a:t>
            </a:r>
          </a:p>
        </p:txBody>
      </p:sp>
      <p:sp>
        <p:nvSpPr>
          <p:cNvPr id="25" name="Rectangle 24">
            <a:extLst>
              <a:ext uri="{FF2B5EF4-FFF2-40B4-BE49-F238E27FC236}">
                <a16:creationId xmlns:a16="http://schemas.microsoft.com/office/drawing/2014/main" id="{C6972CCF-93B9-47FD-B5FF-09EE9D0F3E49}"/>
              </a:ext>
            </a:extLst>
          </p:cNvPr>
          <p:cNvSpPr>
            <a:spLocks noGrp="1"/>
          </p:cNvSpPr>
          <p:nvPr/>
        </p:nvSpPr>
        <p:spPr>
          <a:xfrm>
            <a:off x="332304" y="2587236"/>
            <a:ext cx="2318813" cy="40812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F6D3639E-F20D-49A3-A0D4-370424D15704}"/>
              </a:ext>
            </a:extLst>
          </p:cNvPr>
          <p:cNvSpPr>
            <a:spLocks noGrp="1"/>
          </p:cNvSpPr>
          <p:nvPr/>
        </p:nvSpPr>
        <p:spPr>
          <a:xfrm>
            <a:off x="2651118" y="2587236"/>
            <a:ext cx="4243865"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7BA895CC-14BB-478B-90A2-D2ECB7D48E5D}"/>
              </a:ext>
            </a:extLst>
          </p:cNvPr>
          <p:cNvSpPr>
            <a:spLocks noGrp="1"/>
          </p:cNvSpPr>
          <p:nvPr/>
        </p:nvSpPr>
        <p:spPr>
          <a:xfrm>
            <a:off x="6894984" y="2587236"/>
            <a:ext cx="5250143"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C08F937-8140-4EC6-BC31-0208E549F3B9}"/>
              </a:ext>
            </a:extLst>
          </p:cNvPr>
          <p:cNvSpPr>
            <a:spLocks noGrp="1"/>
          </p:cNvSpPr>
          <p:nvPr/>
        </p:nvSpPr>
        <p:spPr>
          <a:xfrm>
            <a:off x="463558" y="2623676"/>
            <a:ext cx="2114641" cy="349823"/>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一般ユーザー向けの例</a:t>
            </a:r>
          </a:p>
        </p:txBody>
      </p:sp>
      <p:sp>
        <p:nvSpPr>
          <p:cNvPr id="29" name="TextBox 28">
            <a:extLst>
              <a:ext uri="{FF2B5EF4-FFF2-40B4-BE49-F238E27FC236}">
                <a16:creationId xmlns:a16="http://schemas.microsoft.com/office/drawing/2014/main" id="{85D338CF-C833-4759-A694-0E555F997A39}"/>
              </a:ext>
            </a:extLst>
          </p:cNvPr>
          <p:cNvSpPr>
            <a:spLocks noGrp="1"/>
          </p:cNvSpPr>
          <p:nvPr/>
        </p:nvSpPr>
        <p:spPr>
          <a:xfrm>
            <a:off x="2855290" y="2623676"/>
            <a:ext cx="3981358" cy="349823"/>
          </a:xfrm>
          <a:prstGeom prst="rect">
            <a:avLst/>
          </a:prstGeom>
          <a:noFill/>
          <a:ln>
            <a:noFill/>
          </a:ln>
          <a:effectLst/>
        </p:spPr>
        <p:txBody>
          <a:bodyPr wrap="none" lIns="0" tIns="0" rIns="0" bIns="0" anchor="ctr">
            <a:spAutoFit/>
          </a:bodyPr>
          <a:lstStyle/>
          <a:p>
            <a:pPr algn="l">
              <a:buNone/>
            </a:pPr>
            <a:r>
              <a:rPr sz="1100" b="1">
                <a:solidFill>
                  <a:srgbClr val="052C7E"/>
                </a:solidFill>
                <a:latin typeface="IPAexGothic"/>
                <a:ea typeface="IPAexGothic"/>
                <a:cs typeface="IPAexGothic"/>
              </a:rPr>
              <a:t>read_file，write_fileを公開し，delete_fileは非公開</a:t>
            </a:r>
          </a:p>
        </p:txBody>
      </p:sp>
      <p:sp>
        <p:nvSpPr>
          <p:cNvPr id="30" name="TextBox 29">
            <a:extLst>
              <a:ext uri="{FF2B5EF4-FFF2-40B4-BE49-F238E27FC236}">
                <a16:creationId xmlns:a16="http://schemas.microsoft.com/office/drawing/2014/main" id="{4107625B-CAD7-4839-9C9A-0B39B4D8241D}"/>
              </a:ext>
            </a:extLst>
          </p:cNvPr>
          <p:cNvSpPr>
            <a:spLocks noGrp="1"/>
          </p:cNvSpPr>
          <p:nvPr/>
        </p:nvSpPr>
        <p:spPr>
          <a:xfrm>
            <a:off x="7099156" y="2623676"/>
            <a:ext cx="4973052" cy="349823"/>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Readは事前承認，Bashはdisallowed_toolsで禁止など</a:t>
            </a:r>
          </a:p>
        </p:txBody>
      </p:sp>
      <p:sp>
        <p:nvSpPr>
          <p:cNvPr id="31" name="Rectangle 30">
            <a:extLst>
              <a:ext uri="{FF2B5EF4-FFF2-40B4-BE49-F238E27FC236}">
                <a16:creationId xmlns:a16="http://schemas.microsoft.com/office/drawing/2014/main" id="{BFDF2587-C639-4A4A-9871-F52FD8F03916}"/>
              </a:ext>
            </a:extLst>
          </p:cNvPr>
          <p:cNvSpPr>
            <a:spLocks noGrp="1"/>
          </p:cNvSpPr>
          <p:nvPr/>
        </p:nvSpPr>
        <p:spPr>
          <a:xfrm>
            <a:off x="332304" y="2995364"/>
            <a:ext cx="2318813" cy="40812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72949152-E380-4EA5-8CAC-911D1B19F004}"/>
              </a:ext>
            </a:extLst>
          </p:cNvPr>
          <p:cNvSpPr>
            <a:spLocks noGrp="1"/>
          </p:cNvSpPr>
          <p:nvPr/>
        </p:nvSpPr>
        <p:spPr>
          <a:xfrm>
            <a:off x="2651118" y="2995364"/>
            <a:ext cx="4243865"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49A49391-F3EE-4481-8CC9-E0FA7B6EDCB3}"/>
              </a:ext>
            </a:extLst>
          </p:cNvPr>
          <p:cNvSpPr>
            <a:spLocks noGrp="1"/>
          </p:cNvSpPr>
          <p:nvPr/>
        </p:nvSpPr>
        <p:spPr>
          <a:xfrm>
            <a:off x="6894984" y="2995364"/>
            <a:ext cx="5250143"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E99ADB95-EE09-42E2-B39D-F08FF3530070}"/>
              </a:ext>
            </a:extLst>
          </p:cNvPr>
          <p:cNvSpPr>
            <a:spLocks noGrp="1"/>
          </p:cNvSpPr>
          <p:nvPr/>
        </p:nvSpPr>
        <p:spPr>
          <a:xfrm>
            <a:off x="463558" y="3031804"/>
            <a:ext cx="2114641" cy="349823"/>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Authorizationとの関係</a:t>
            </a:r>
          </a:p>
        </p:txBody>
      </p:sp>
      <p:sp>
        <p:nvSpPr>
          <p:cNvPr id="35" name="TextBox 34">
            <a:extLst>
              <a:ext uri="{FF2B5EF4-FFF2-40B4-BE49-F238E27FC236}">
                <a16:creationId xmlns:a16="http://schemas.microsoft.com/office/drawing/2014/main" id="{6838EFD3-BCC3-482C-AF04-A1B656CB20D5}"/>
              </a:ext>
            </a:extLst>
          </p:cNvPr>
          <p:cNvSpPr>
            <a:spLocks noGrp="1"/>
          </p:cNvSpPr>
          <p:nvPr/>
        </p:nvSpPr>
        <p:spPr>
          <a:xfrm>
            <a:off x="2855290" y="3031804"/>
            <a:ext cx="3981358" cy="349823"/>
          </a:xfrm>
          <a:prstGeom prst="rect">
            <a:avLst/>
          </a:prstGeom>
          <a:noFill/>
          <a:ln>
            <a:noFill/>
          </a:ln>
          <a:effectLst/>
        </p:spPr>
        <p:txBody>
          <a:bodyPr wrap="none" lIns="0" tIns="0" rIns="0" bIns="0" anchor="ctr">
            <a:spAutoFit/>
          </a:bodyPr>
          <a:lstStyle/>
          <a:p>
            <a:pPr algn="l">
              <a:buNone/>
            </a:pPr>
            <a:r>
              <a:rPr sz="1150" b="1">
                <a:solidFill>
                  <a:srgbClr val="052C7E"/>
                </a:solidFill>
                <a:latin typeface="IPAexGothic"/>
                <a:ea typeface="IPAexGothic"/>
                <a:cs typeface="IPAexGothic"/>
              </a:rPr>
              <a:t>Tool visibilityはAuthorizationそのものではない</a:t>
            </a:r>
          </a:p>
        </p:txBody>
      </p:sp>
      <p:sp>
        <p:nvSpPr>
          <p:cNvPr id="36" name="TextBox 35">
            <a:extLst>
              <a:ext uri="{FF2B5EF4-FFF2-40B4-BE49-F238E27FC236}">
                <a16:creationId xmlns:a16="http://schemas.microsoft.com/office/drawing/2014/main" id="{FA8EB9AA-AEB7-409F-BC67-E3357FB68443}"/>
              </a:ext>
            </a:extLst>
          </p:cNvPr>
          <p:cNvSpPr>
            <a:spLocks noGrp="1"/>
          </p:cNvSpPr>
          <p:nvPr/>
        </p:nvSpPr>
        <p:spPr>
          <a:xfrm>
            <a:off x="7099156" y="3031804"/>
            <a:ext cx="4973052" cy="349823"/>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allowed_toolsはTool削除用whitelistではない</a:t>
            </a:r>
          </a:p>
        </p:txBody>
      </p:sp>
      <p:sp>
        <p:nvSpPr>
          <p:cNvPr id="37" name="Rectangle 36">
            <a:extLst>
              <a:ext uri="{FF2B5EF4-FFF2-40B4-BE49-F238E27FC236}">
                <a16:creationId xmlns:a16="http://schemas.microsoft.com/office/drawing/2014/main" id="{9DEF0344-D943-468B-A92F-41655C197F21}"/>
              </a:ext>
            </a:extLst>
          </p:cNvPr>
          <p:cNvSpPr>
            <a:spLocks noGrp="1"/>
          </p:cNvSpPr>
          <p:nvPr/>
        </p:nvSpPr>
        <p:spPr>
          <a:xfrm>
            <a:off x="332304" y="3403492"/>
            <a:ext cx="2318813" cy="40812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702B2C58-62D8-4807-A86F-7A72FC1FE744}"/>
              </a:ext>
            </a:extLst>
          </p:cNvPr>
          <p:cNvSpPr>
            <a:spLocks noGrp="1"/>
          </p:cNvSpPr>
          <p:nvPr/>
        </p:nvSpPr>
        <p:spPr>
          <a:xfrm>
            <a:off x="2651118" y="3403492"/>
            <a:ext cx="4243865"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EE824866-0BA3-4178-A687-C00FACEB8004}"/>
              </a:ext>
            </a:extLst>
          </p:cNvPr>
          <p:cNvSpPr>
            <a:spLocks noGrp="1"/>
          </p:cNvSpPr>
          <p:nvPr/>
        </p:nvSpPr>
        <p:spPr>
          <a:xfrm>
            <a:off x="6894984" y="3403492"/>
            <a:ext cx="5250143"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E2FD046C-5002-45FB-9AAF-9F111CB483C4}"/>
              </a:ext>
            </a:extLst>
          </p:cNvPr>
          <p:cNvSpPr>
            <a:spLocks noGrp="1"/>
          </p:cNvSpPr>
          <p:nvPr/>
        </p:nvSpPr>
        <p:spPr>
          <a:xfrm>
            <a:off x="463558" y="3439931"/>
            <a:ext cx="2114641" cy="349823"/>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Permissionの粒度</a:t>
            </a:r>
          </a:p>
        </p:txBody>
      </p:sp>
      <p:sp>
        <p:nvSpPr>
          <p:cNvPr id="41" name="TextBox 40">
            <a:extLst>
              <a:ext uri="{FF2B5EF4-FFF2-40B4-BE49-F238E27FC236}">
                <a16:creationId xmlns:a16="http://schemas.microsoft.com/office/drawing/2014/main" id="{9D59EDA4-2D9D-4D40-9B31-C7235571BA1C}"/>
              </a:ext>
            </a:extLst>
          </p:cNvPr>
          <p:cNvSpPr>
            <a:spLocks noGrp="1"/>
          </p:cNvSpPr>
          <p:nvPr/>
        </p:nvSpPr>
        <p:spPr>
          <a:xfrm>
            <a:off x="2855290" y="3439931"/>
            <a:ext cx="3981358" cy="349823"/>
          </a:xfrm>
          <a:prstGeom prst="rect">
            <a:avLst/>
          </a:prstGeom>
          <a:noFill/>
          <a:ln>
            <a:noFill/>
          </a:ln>
          <a:effectLst/>
        </p:spPr>
        <p:txBody>
          <a:bodyPr wrap="none" lIns="0" tIns="0" rIns="0" bIns="0" anchor="ctr">
            <a:spAutoFit/>
          </a:bodyPr>
          <a:lstStyle/>
          <a:p>
            <a:pPr algn="l">
              <a:buNone/>
            </a:pPr>
            <a:r>
              <a:rPr sz="1150" b="1">
                <a:solidFill>
                  <a:srgbClr val="052C7E"/>
                </a:solidFill>
                <a:latin typeface="IPAexGothic"/>
                <a:ea typeface="IPAexGothic"/>
                <a:cs typeface="IPAexGothic"/>
              </a:rPr>
              <a:t>Tool公開と実行前制御を組み合わせる</a:t>
            </a:r>
          </a:p>
        </p:txBody>
      </p:sp>
      <p:sp>
        <p:nvSpPr>
          <p:cNvPr id="42" name="TextBox 41">
            <a:extLst>
              <a:ext uri="{FF2B5EF4-FFF2-40B4-BE49-F238E27FC236}">
                <a16:creationId xmlns:a16="http://schemas.microsoft.com/office/drawing/2014/main" id="{88B9381B-7BDE-4DFE-93A5-68843B68D020}"/>
              </a:ext>
            </a:extLst>
          </p:cNvPr>
          <p:cNvSpPr>
            <a:spLocks noGrp="1"/>
          </p:cNvSpPr>
          <p:nvPr/>
        </p:nvSpPr>
        <p:spPr>
          <a:xfrm>
            <a:off x="7099156" y="3439931"/>
            <a:ext cx="4973052" cy="349823"/>
          </a:xfrm>
          <a:prstGeom prst="rect">
            <a:avLst/>
          </a:prstGeom>
          <a:noFill/>
          <a:ln>
            <a:noFill/>
          </a:ln>
          <a:effectLst/>
        </p:spPr>
        <p:txBody>
          <a:bodyPr wrap="none" lIns="0" tIns="0" rIns="0" bIns="0" anchor="ctr">
            <a:spAutoFit/>
          </a:bodyPr>
          <a:lstStyle/>
          <a:p>
            <a:pPr algn="l">
              <a:buNone/>
            </a:pPr>
            <a:r>
              <a:rPr sz="1150" b="1">
                <a:solidFill>
                  <a:srgbClr val="052C7E"/>
                </a:solidFill>
                <a:latin typeface="IPAexGothic"/>
                <a:ea typeface="IPAexGothic"/>
                <a:cs typeface="IPAexGothic"/>
              </a:rPr>
              <a:t>Allow，Ask，DenyやPermission Modeを利用可能</a:t>
            </a:r>
          </a:p>
        </p:txBody>
      </p:sp>
      <p:sp>
        <p:nvSpPr>
          <p:cNvPr id="43" name="Rectangle 42">
            <a:extLst>
              <a:ext uri="{FF2B5EF4-FFF2-40B4-BE49-F238E27FC236}">
                <a16:creationId xmlns:a16="http://schemas.microsoft.com/office/drawing/2014/main" id="{7445E3EC-66B1-4686-9D2D-1130DC7C1DC9}"/>
              </a:ext>
            </a:extLst>
          </p:cNvPr>
          <p:cNvSpPr>
            <a:spLocks noGrp="1"/>
          </p:cNvSpPr>
          <p:nvPr/>
        </p:nvSpPr>
        <p:spPr>
          <a:xfrm>
            <a:off x="332304" y="3811619"/>
            <a:ext cx="2318813" cy="408127"/>
          </a:xfrm>
          <a:prstGeom prst="rect">
            <a:avLst/>
          </a:prstGeom>
          <a:no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FCB4C340-C0D8-4337-A7EC-0E6DDDD3B183}"/>
              </a:ext>
            </a:extLst>
          </p:cNvPr>
          <p:cNvSpPr>
            <a:spLocks noGrp="1"/>
          </p:cNvSpPr>
          <p:nvPr/>
        </p:nvSpPr>
        <p:spPr>
          <a:xfrm>
            <a:off x="2651118" y="3811619"/>
            <a:ext cx="4243865"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BBCC01A0-A209-47C9-8873-8DF1CD8C9442}"/>
              </a:ext>
            </a:extLst>
          </p:cNvPr>
          <p:cNvSpPr>
            <a:spLocks noGrp="1"/>
          </p:cNvSpPr>
          <p:nvPr/>
        </p:nvSpPr>
        <p:spPr>
          <a:xfrm>
            <a:off x="6894984" y="3811619"/>
            <a:ext cx="5250143" cy="408127"/>
          </a:xfrm>
          <a:prstGeom prst="rect">
            <a:avLst/>
          </a:prstGeom>
          <a:solidFill>
            <a:srgbClr val="FFFFFF"/>
          </a:solidFill>
          <a:ln w="9525">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724AABCE-5A7B-4C89-9679-247D30622F5C}"/>
              </a:ext>
            </a:extLst>
          </p:cNvPr>
          <p:cNvSpPr>
            <a:spLocks noGrp="1"/>
          </p:cNvSpPr>
          <p:nvPr/>
        </p:nvSpPr>
        <p:spPr>
          <a:xfrm>
            <a:off x="463558" y="3848059"/>
            <a:ext cx="2114641" cy="349823"/>
          </a:xfrm>
          <a:prstGeom prst="rect">
            <a:avLst/>
          </a:prstGeom>
          <a:noFill/>
          <a:ln>
            <a:noFill/>
          </a:ln>
          <a:effectLst/>
        </p:spPr>
        <p:txBody>
          <a:bodyPr wrap="none" lIns="0" tIns="0" rIns="0" bIns="0" anchor="ctr">
            <a:spAutoFit/>
          </a:bodyPr>
          <a:lstStyle/>
          <a:p>
            <a:pPr algn="l">
              <a:buNone/>
            </a:pPr>
            <a:r>
              <a:rPr sz="1080" b="1">
                <a:solidFill>
                  <a:srgbClr val="052C7E"/>
                </a:solidFill>
                <a:latin typeface="IPAexGothic"/>
                <a:ea typeface="IPAexGothic"/>
                <a:cs typeface="IPAexGothic"/>
              </a:rPr>
              <a:t>注意点</a:t>
            </a:r>
          </a:p>
        </p:txBody>
      </p:sp>
      <p:sp>
        <p:nvSpPr>
          <p:cNvPr id="47" name="TextBox 46">
            <a:extLst>
              <a:ext uri="{FF2B5EF4-FFF2-40B4-BE49-F238E27FC236}">
                <a16:creationId xmlns:a16="http://schemas.microsoft.com/office/drawing/2014/main" id="{DBC37E5B-A127-4E08-8E52-EA175E9206FA}"/>
              </a:ext>
            </a:extLst>
          </p:cNvPr>
          <p:cNvSpPr>
            <a:spLocks noGrp="1"/>
          </p:cNvSpPr>
          <p:nvPr/>
        </p:nvSpPr>
        <p:spPr>
          <a:xfrm>
            <a:off x="2855290" y="3848059"/>
            <a:ext cx="3981358" cy="349823"/>
          </a:xfrm>
          <a:prstGeom prst="rect">
            <a:avLst/>
          </a:prstGeom>
          <a:noFill/>
          <a:ln>
            <a:noFill/>
          </a:ln>
          <a:effectLst/>
        </p:spPr>
        <p:txBody>
          <a:bodyPr wrap="none" lIns="0" tIns="0" rIns="0" bIns="0" anchor="ctr">
            <a:spAutoFit/>
          </a:bodyPr>
          <a:lstStyle/>
          <a:p>
            <a:pPr algn="l">
              <a:buNone/>
            </a:pPr>
            <a:r>
              <a:rPr sz="1100" b="1">
                <a:solidFill>
                  <a:srgbClr val="052C7E"/>
                </a:solidFill>
                <a:latin typeface="IPAexGothic"/>
                <a:ea typeface="IPAexGothic"/>
                <a:cs typeface="IPAexGothic"/>
              </a:rPr>
              <a:t>見せないことは攻撃面縮小に有効だが最終認可ではない</a:t>
            </a:r>
          </a:p>
        </p:txBody>
      </p:sp>
      <p:sp>
        <p:nvSpPr>
          <p:cNvPr id="48" name="TextBox 47">
            <a:extLst>
              <a:ext uri="{FF2B5EF4-FFF2-40B4-BE49-F238E27FC236}">
                <a16:creationId xmlns:a16="http://schemas.microsoft.com/office/drawing/2014/main" id="{218DD657-FFFC-4E74-B866-8D13B523C718}"/>
              </a:ext>
            </a:extLst>
          </p:cNvPr>
          <p:cNvSpPr>
            <a:spLocks noGrp="1"/>
          </p:cNvSpPr>
          <p:nvPr/>
        </p:nvSpPr>
        <p:spPr>
          <a:xfrm>
            <a:off x="7099156" y="3848059"/>
            <a:ext cx="4973052" cy="349823"/>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Tool禁止にはdisallowed_toolsが重要．bypassPermissions利用は慎重に扱う</a:t>
            </a:r>
          </a:p>
        </p:txBody>
      </p:sp>
      <p:sp>
        <p:nvSpPr>
          <p:cNvPr id="49" name="Rounded Rectangle 48">
            <a:extLst>
              <a:ext uri="{FF2B5EF4-FFF2-40B4-BE49-F238E27FC236}">
                <a16:creationId xmlns:a16="http://schemas.microsoft.com/office/drawing/2014/main" id="{8D9A0829-ED9F-4A99-9817-00FF52B70065}"/>
              </a:ext>
            </a:extLst>
          </p:cNvPr>
          <p:cNvSpPr>
            <a:spLocks noGrp="1"/>
          </p:cNvSpPr>
          <p:nvPr/>
        </p:nvSpPr>
        <p:spPr>
          <a:xfrm>
            <a:off x="317721" y="4380082"/>
            <a:ext cx="3368842" cy="276943"/>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488E7A1A-93B2-42F5-B5E9-9E9036EF9BFF}"/>
              </a:ext>
            </a:extLst>
          </p:cNvPr>
          <p:cNvSpPr>
            <a:spLocks noGrp="1"/>
          </p:cNvSpPr>
          <p:nvPr/>
        </p:nvSpPr>
        <p:spPr>
          <a:xfrm>
            <a:off x="317721" y="4380082"/>
            <a:ext cx="3368842" cy="276943"/>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Visibility と Authorization</a:t>
            </a:r>
          </a:p>
        </p:txBody>
      </p:sp>
      <p:sp>
        <p:nvSpPr>
          <p:cNvPr id="51" name="Rounded Rectangle 50">
            <a:extLst>
              <a:ext uri="{FF2B5EF4-FFF2-40B4-BE49-F238E27FC236}">
                <a16:creationId xmlns:a16="http://schemas.microsoft.com/office/drawing/2014/main" id="{61A0FEBC-EC10-482E-B4F7-F2281C2FC14B}"/>
              </a:ext>
            </a:extLst>
          </p:cNvPr>
          <p:cNvSpPr>
            <a:spLocks noGrp="1"/>
          </p:cNvSpPr>
          <p:nvPr/>
        </p:nvSpPr>
        <p:spPr>
          <a:xfrm>
            <a:off x="317721" y="4657026"/>
            <a:ext cx="3368842" cy="1335024"/>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F73C421F-1242-4A97-83D5-3684F1E1B1A0}"/>
              </a:ext>
            </a:extLst>
          </p:cNvPr>
          <p:cNvSpPr>
            <a:spLocks noGrp="1"/>
          </p:cNvSpPr>
          <p:nvPr/>
        </p:nvSpPr>
        <p:spPr>
          <a:xfrm>
            <a:off x="448974" y="4853802"/>
            <a:ext cx="2960497" cy="145759"/>
          </a:xfrm>
          <a:prstGeom prst="rect">
            <a:avLst/>
          </a:prstGeom>
          <a:noFill/>
          <a:ln>
            <a:noFill/>
          </a:ln>
          <a:effectLst/>
        </p:spPr>
        <p:txBody>
          <a:bodyPr wrap="none" lIns="0" tIns="0" rIns="0" bIns="0" anchor="ctr">
            <a:spAutoFit/>
          </a:bodyPr>
          <a:lstStyle/>
          <a:p>
            <a:pPr algn="l">
              <a:buNone/>
            </a:pPr>
            <a:r>
              <a:rPr sz="1019" b="0">
                <a:solidFill>
                  <a:srgbClr val="0A1220"/>
                </a:solidFill>
                <a:latin typeface="IPAexGothic"/>
              </a:rPr>
              <a:t>Tool Visibility：AgentにそのToolを見せるか</a:t>
            </a:r>
          </a:p>
        </p:txBody>
      </p:sp>
      <p:sp>
        <p:nvSpPr>
          <p:cNvPr id="53" name="TextBox 52">
            <a:extLst>
              <a:ext uri="{FF2B5EF4-FFF2-40B4-BE49-F238E27FC236}">
                <a16:creationId xmlns:a16="http://schemas.microsoft.com/office/drawing/2014/main" id="{AF5B6FCD-2D3B-494B-8673-6704980F4892}"/>
              </a:ext>
            </a:extLst>
          </p:cNvPr>
          <p:cNvSpPr>
            <a:spLocks noGrp="1"/>
          </p:cNvSpPr>
          <p:nvPr/>
        </p:nvSpPr>
        <p:spPr>
          <a:xfrm>
            <a:off x="448974" y="5094306"/>
            <a:ext cx="3026124" cy="276943"/>
          </a:xfrm>
          <a:prstGeom prst="rect">
            <a:avLst/>
          </a:prstGeom>
          <a:noFill/>
          <a:ln>
            <a:noFill/>
          </a:ln>
          <a:effectLst/>
        </p:spPr>
        <p:txBody>
          <a:bodyPr wrap="none" lIns="0" tIns="0" rIns="0" bIns="0" anchor="ctr">
            <a:spAutoFit/>
          </a:bodyPr>
          <a:lstStyle/>
          <a:p>
            <a:pPr algn="l">
              <a:buNone/>
            </a:pPr>
            <a:r>
              <a:rPr sz="1019" b="0">
                <a:solidFill>
                  <a:srgbClr val="0A1220"/>
                </a:solidFill>
                <a:latin typeface="IPAexGothic"/>
              </a:rPr>
              <a:t>Authorization：ActionやResourceへのアクセスを許可するか</a:t>
            </a:r>
          </a:p>
        </p:txBody>
      </p:sp>
      <p:sp>
        <p:nvSpPr>
          <p:cNvPr id="54" name="Rectangle 53">
            <a:extLst>
              <a:ext uri="{FF2B5EF4-FFF2-40B4-BE49-F238E27FC236}">
                <a16:creationId xmlns:a16="http://schemas.microsoft.com/office/drawing/2014/main" id="{5625CEF7-3863-41FB-83AB-B47BF4C11E80}"/>
              </a:ext>
            </a:extLst>
          </p:cNvPr>
          <p:cNvSpPr>
            <a:spLocks noGrp="1"/>
          </p:cNvSpPr>
          <p:nvPr/>
        </p:nvSpPr>
        <p:spPr>
          <a:xfrm>
            <a:off x="441682" y="5385825"/>
            <a:ext cx="2880287" cy="7287"/>
          </a:xfrm>
          <a:prstGeom prst="rect">
            <a:avLst/>
          </a:prstGeom>
          <a:solidFill>
            <a:srgbClr val="4869AA"/>
          </a:solidFill>
          <a:ln>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902E7C56-55B6-46BE-BEC5-8D7C751CFBF6}"/>
              </a:ext>
            </a:extLst>
          </p:cNvPr>
          <p:cNvSpPr>
            <a:spLocks noGrp="1"/>
          </p:cNvSpPr>
          <p:nvPr/>
        </p:nvSpPr>
        <p:spPr>
          <a:xfrm>
            <a:off x="755233" y="5553449"/>
            <a:ext cx="2566736" cy="276943"/>
          </a:xfrm>
          <a:prstGeom prst="rect">
            <a:avLst/>
          </a:prstGeom>
          <a:noFill/>
          <a:ln>
            <a:noFill/>
          </a:ln>
          <a:effectLst/>
        </p:spPr>
        <p:txBody>
          <a:bodyPr wrap="none" lIns="0" tIns="0" rIns="0" bIns="0" anchor="ctr">
            <a:spAutoFit/>
          </a:bodyPr>
          <a:lstStyle/>
          <a:p>
            <a:pPr algn="ctr">
              <a:buNone/>
            </a:pPr>
            <a:r>
              <a:rPr sz="1500" b="1">
                <a:solidFill>
                  <a:srgbClr val="052C7E"/>
                </a:solidFill>
                <a:latin typeface="IPAexGothic"/>
                <a:ea typeface="IPAexGothic"/>
                <a:cs typeface="IPAexGothic"/>
              </a:rPr>
              <a:t>Visibility ≠ Authorization</a:t>
            </a:r>
          </a:p>
        </p:txBody>
      </p:sp>
      <p:sp>
        <p:nvSpPr>
          <p:cNvPr id="56" name="Rounded Rectangle 55">
            <a:extLst>
              <a:ext uri="{FF2B5EF4-FFF2-40B4-BE49-F238E27FC236}">
                <a16:creationId xmlns:a16="http://schemas.microsoft.com/office/drawing/2014/main" id="{621FA0AE-ACD6-4AE8-AC8A-71F320299B17}"/>
              </a:ext>
            </a:extLst>
          </p:cNvPr>
          <p:cNvSpPr>
            <a:spLocks noGrp="1"/>
          </p:cNvSpPr>
          <p:nvPr/>
        </p:nvSpPr>
        <p:spPr>
          <a:xfrm>
            <a:off x="3919902" y="4380082"/>
            <a:ext cx="3864688" cy="276943"/>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EBA4BBC5-ECFD-45A1-845E-ECF0DB43BF72}"/>
              </a:ext>
            </a:extLst>
          </p:cNvPr>
          <p:cNvSpPr>
            <a:spLocks noGrp="1"/>
          </p:cNvSpPr>
          <p:nvPr/>
        </p:nvSpPr>
        <p:spPr>
          <a:xfrm>
            <a:off x="3919902" y="4380082"/>
            <a:ext cx="3864688" cy="276943"/>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簡単な例</a:t>
            </a:r>
          </a:p>
        </p:txBody>
      </p:sp>
      <p:sp>
        <p:nvSpPr>
          <p:cNvPr id="58" name="Rounded Rectangle 57">
            <a:extLst>
              <a:ext uri="{FF2B5EF4-FFF2-40B4-BE49-F238E27FC236}">
                <a16:creationId xmlns:a16="http://schemas.microsoft.com/office/drawing/2014/main" id="{554CF77D-C021-4788-BCB0-7BE99434B88F}"/>
              </a:ext>
            </a:extLst>
          </p:cNvPr>
          <p:cNvSpPr>
            <a:spLocks noGrp="1"/>
          </p:cNvSpPr>
          <p:nvPr/>
        </p:nvSpPr>
        <p:spPr>
          <a:xfrm>
            <a:off x="3919902" y="4657026"/>
            <a:ext cx="3864688" cy="1335024"/>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Rectangle 58">
            <a:extLst>
              <a:ext uri="{FF2B5EF4-FFF2-40B4-BE49-F238E27FC236}">
                <a16:creationId xmlns:a16="http://schemas.microsoft.com/office/drawing/2014/main" id="{18D0CE09-DAC0-48F7-9FF8-802D0817C978}"/>
              </a:ext>
            </a:extLst>
          </p:cNvPr>
          <p:cNvSpPr>
            <a:spLocks noGrp="1"/>
          </p:cNvSpPr>
          <p:nvPr/>
        </p:nvSpPr>
        <p:spPr>
          <a:xfrm>
            <a:off x="4051156" y="4708042"/>
            <a:ext cx="1750047" cy="30609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0" name="Rectangle 59">
            <a:extLst>
              <a:ext uri="{FF2B5EF4-FFF2-40B4-BE49-F238E27FC236}">
                <a16:creationId xmlns:a16="http://schemas.microsoft.com/office/drawing/2014/main" id="{078E2A02-6E04-481E-9850-8BEF6B7D2237}"/>
              </a:ext>
            </a:extLst>
          </p:cNvPr>
          <p:cNvSpPr>
            <a:spLocks noGrp="1"/>
          </p:cNvSpPr>
          <p:nvPr/>
        </p:nvSpPr>
        <p:spPr>
          <a:xfrm>
            <a:off x="5801204" y="4708042"/>
            <a:ext cx="1844842" cy="306095"/>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D0B2F93F-B590-4433-A147-1315C8F88F1D}"/>
              </a:ext>
            </a:extLst>
          </p:cNvPr>
          <p:cNvSpPr>
            <a:spLocks noGrp="1"/>
          </p:cNvSpPr>
          <p:nvPr/>
        </p:nvSpPr>
        <p:spPr>
          <a:xfrm>
            <a:off x="4051156" y="4708042"/>
            <a:ext cx="1750047" cy="306095"/>
          </a:xfrm>
          <a:prstGeom prst="rect">
            <a:avLst/>
          </a:prstGeom>
          <a:noFill/>
          <a:ln>
            <a:noFill/>
          </a:ln>
          <a:effectLst/>
        </p:spPr>
        <p:txBody>
          <a:bodyPr wrap="none" lIns="0" tIns="0" rIns="0" bIns="0" anchor="ctr">
            <a:spAutoFit/>
          </a:bodyPr>
          <a:lstStyle/>
          <a:p>
            <a:pPr algn="ctr">
              <a:buNone/>
            </a:pPr>
            <a:r>
              <a:rPr sz="1080" b="1">
                <a:solidFill>
                  <a:srgbClr val="052C7E"/>
                </a:solidFill>
                <a:latin typeface="IPAexGothic"/>
                <a:ea typeface="IPAexGothic"/>
                <a:cs typeface="IPAexGothic"/>
              </a:rPr>
              <a:t>OpenAI Agents SDK</a:t>
            </a:r>
          </a:p>
        </p:txBody>
      </p:sp>
      <p:sp>
        <p:nvSpPr>
          <p:cNvPr id="62" name="TextBox 61">
            <a:extLst>
              <a:ext uri="{FF2B5EF4-FFF2-40B4-BE49-F238E27FC236}">
                <a16:creationId xmlns:a16="http://schemas.microsoft.com/office/drawing/2014/main" id="{51C260A4-769D-4708-8EA5-3EDF4C5CC798}"/>
              </a:ext>
            </a:extLst>
          </p:cNvPr>
          <p:cNvSpPr>
            <a:spLocks noGrp="1"/>
          </p:cNvSpPr>
          <p:nvPr/>
        </p:nvSpPr>
        <p:spPr>
          <a:xfrm>
            <a:off x="5801204" y="4708042"/>
            <a:ext cx="1844842" cy="306095"/>
          </a:xfrm>
          <a:prstGeom prst="rect">
            <a:avLst/>
          </a:prstGeom>
          <a:noFill/>
          <a:ln>
            <a:noFill/>
          </a:ln>
          <a:effectLst/>
        </p:spPr>
        <p:txBody>
          <a:bodyPr wrap="none" lIns="0" tIns="0" rIns="0" bIns="0" anchor="ctr">
            <a:spAutoFit/>
          </a:bodyPr>
          <a:lstStyle/>
          <a:p>
            <a:pPr algn="ctr">
              <a:buNone/>
            </a:pPr>
            <a:r>
              <a:rPr sz="1080" b="1">
                <a:solidFill>
                  <a:srgbClr val="052C7E"/>
                </a:solidFill>
                <a:latin typeface="IPAexGothic"/>
                <a:ea typeface="IPAexGothic"/>
                <a:cs typeface="IPAexGothic"/>
              </a:rPr>
              <a:t>Claude Agent SDK</a:t>
            </a:r>
          </a:p>
        </p:txBody>
      </p:sp>
      <p:sp>
        <p:nvSpPr>
          <p:cNvPr id="63" name="TextBox 62">
            <a:extLst>
              <a:ext uri="{FF2B5EF4-FFF2-40B4-BE49-F238E27FC236}">
                <a16:creationId xmlns:a16="http://schemas.microsoft.com/office/drawing/2014/main" id="{D558EBB0-23CE-4E84-A92B-F7FF9BD7DB17}"/>
              </a:ext>
            </a:extLst>
          </p:cNvPr>
          <p:cNvSpPr>
            <a:spLocks noGrp="1"/>
          </p:cNvSpPr>
          <p:nvPr/>
        </p:nvSpPr>
        <p:spPr>
          <a:xfrm>
            <a:off x="4211577" y="5057866"/>
            <a:ext cx="1385454" cy="145759"/>
          </a:xfrm>
          <a:prstGeom prst="rect">
            <a:avLst/>
          </a:prstGeom>
          <a:noFill/>
          <a:ln>
            <a:noFill/>
          </a:ln>
          <a:effectLst/>
        </p:spPr>
        <p:txBody>
          <a:bodyPr wrap="none" lIns="0" tIns="0" rIns="0" bIns="0" anchor="ctr">
            <a:spAutoFit/>
          </a:bodyPr>
          <a:lstStyle/>
          <a:p>
            <a:pPr algn="l">
              <a:buNone/>
            </a:pPr>
            <a:r>
              <a:rPr sz="1019" b="1">
                <a:solidFill>
                  <a:srgbClr val="052C7E"/>
                </a:solidFill>
                <a:latin typeface="IPAexGothic"/>
                <a:ea typeface="IPAexGothic"/>
                <a:cs typeface="IPAexGothic"/>
              </a:rPr>
              <a:t>一般ユーザー</a:t>
            </a:r>
          </a:p>
        </p:txBody>
      </p:sp>
      <p:sp>
        <p:nvSpPr>
          <p:cNvPr id="64" name="TextBox 63">
            <a:extLst>
              <a:ext uri="{FF2B5EF4-FFF2-40B4-BE49-F238E27FC236}">
                <a16:creationId xmlns:a16="http://schemas.microsoft.com/office/drawing/2014/main" id="{D13B99FB-681D-4B99-B05C-99A3881A7D43}"/>
              </a:ext>
            </a:extLst>
          </p:cNvPr>
          <p:cNvSpPr>
            <a:spLocks noGrp="1"/>
          </p:cNvSpPr>
          <p:nvPr/>
        </p:nvSpPr>
        <p:spPr>
          <a:xfrm>
            <a:off x="4211577" y="5269217"/>
            <a:ext cx="1385454" cy="145759"/>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read_file ○</a:t>
            </a:r>
          </a:p>
        </p:txBody>
      </p:sp>
      <p:sp>
        <p:nvSpPr>
          <p:cNvPr id="65" name="TextBox 64">
            <a:extLst>
              <a:ext uri="{FF2B5EF4-FFF2-40B4-BE49-F238E27FC236}">
                <a16:creationId xmlns:a16="http://schemas.microsoft.com/office/drawing/2014/main" id="{F31EA00B-BEAB-423F-BD7C-D7AE3EE88A14}"/>
              </a:ext>
            </a:extLst>
          </p:cNvPr>
          <p:cNvSpPr>
            <a:spLocks noGrp="1"/>
          </p:cNvSpPr>
          <p:nvPr/>
        </p:nvSpPr>
        <p:spPr>
          <a:xfrm>
            <a:off x="4211577" y="5480569"/>
            <a:ext cx="1385454" cy="145759"/>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write_file ○</a:t>
            </a:r>
          </a:p>
        </p:txBody>
      </p:sp>
      <p:sp>
        <p:nvSpPr>
          <p:cNvPr id="66" name="TextBox 65">
            <a:extLst>
              <a:ext uri="{FF2B5EF4-FFF2-40B4-BE49-F238E27FC236}">
                <a16:creationId xmlns:a16="http://schemas.microsoft.com/office/drawing/2014/main" id="{00022BA1-DCF9-44FF-906C-A5CB4622625D}"/>
              </a:ext>
            </a:extLst>
          </p:cNvPr>
          <p:cNvSpPr>
            <a:spLocks noGrp="1"/>
          </p:cNvSpPr>
          <p:nvPr/>
        </p:nvSpPr>
        <p:spPr>
          <a:xfrm>
            <a:off x="4211577" y="5691921"/>
            <a:ext cx="1385454" cy="145759"/>
          </a:xfrm>
          <a:prstGeom prst="rect">
            <a:avLst/>
          </a:prstGeom>
          <a:noFill/>
          <a:ln>
            <a:noFill/>
          </a:ln>
          <a:effectLst/>
        </p:spPr>
        <p:txBody>
          <a:bodyPr wrap="none" lIns="0" tIns="0" rIns="0" bIns="0" anchor="ctr">
            <a:spAutoFit/>
          </a:bodyPr>
          <a:lstStyle/>
          <a:p>
            <a:pPr algn="l">
              <a:buNone/>
            </a:pPr>
            <a:r>
              <a:rPr sz="1060" b="1">
                <a:solidFill>
                  <a:srgbClr val="052C7E"/>
                </a:solidFill>
                <a:latin typeface="IPAexGothic"/>
                <a:ea typeface="IPAexGothic"/>
                <a:cs typeface="IPAexGothic"/>
              </a:rPr>
              <a:t>delete_file  非公開</a:t>
            </a:r>
          </a:p>
        </p:txBody>
      </p:sp>
      <p:sp>
        <p:nvSpPr>
          <p:cNvPr id="67" name="TextBox 66">
            <a:extLst>
              <a:ext uri="{FF2B5EF4-FFF2-40B4-BE49-F238E27FC236}">
                <a16:creationId xmlns:a16="http://schemas.microsoft.com/office/drawing/2014/main" id="{A8B9DFF9-9A4C-44E5-8B60-D12FC93BB91F}"/>
              </a:ext>
            </a:extLst>
          </p:cNvPr>
          <p:cNvSpPr>
            <a:spLocks noGrp="1"/>
          </p:cNvSpPr>
          <p:nvPr/>
        </p:nvSpPr>
        <p:spPr>
          <a:xfrm>
            <a:off x="5815788" y="5057866"/>
            <a:ext cx="1677129" cy="218639"/>
          </a:xfrm>
          <a:prstGeom prst="rect">
            <a:avLst/>
          </a:prstGeom>
          <a:noFill/>
          <a:ln>
            <a:noFill/>
          </a:ln>
          <a:effectLst/>
        </p:spPr>
        <p:txBody>
          <a:bodyPr wrap="none" lIns="0" tIns="0" rIns="0" bIns="0" anchor="ctr">
            <a:spAutoFit/>
          </a:bodyPr>
          <a:lstStyle/>
          <a:p>
            <a:pPr algn="l">
              <a:buNone/>
            </a:pPr>
            <a:r>
              <a:rPr sz="960" b="1">
                <a:solidFill>
                  <a:srgbClr val="052C7E"/>
                </a:solidFill>
                <a:latin typeface="IPAexGothic"/>
                <a:ea typeface="IPAexGothic"/>
                <a:cs typeface="IPAexGothic"/>
              </a:rPr>
              <a:t>allowed_tools=[Read,</a:t>
            </a:r>
          </a:p>
          <a:p>
            <a:pPr algn="l">
              <a:buNone/>
            </a:pPr>
            <a:r>
              <a:rPr sz="960" b="1">
                <a:solidFill>
                  <a:srgbClr val="052C7E"/>
                </a:solidFill>
                <a:latin typeface="IPAexGothic"/>
                <a:ea typeface="IPAexGothic"/>
                <a:cs typeface="IPAexGothic"/>
              </a:rPr>
              <a:t>Write]</a:t>
            </a:r>
          </a:p>
        </p:txBody>
      </p:sp>
      <p:sp>
        <p:nvSpPr>
          <p:cNvPr id="68" name="TextBox 67">
            <a:extLst>
              <a:ext uri="{FF2B5EF4-FFF2-40B4-BE49-F238E27FC236}">
                <a16:creationId xmlns:a16="http://schemas.microsoft.com/office/drawing/2014/main" id="{69D05F95-4931-4F13-B02A-27B1445759A0}"/>
              </a:ext>
            </a:extLst>
          </p:cNvPr>
          <p:cNvSpPr>
            <a:spLocks noGrp="1"/>
          </p:cNvSpPr>
          <p:nvPr/>
        </p:nvSpPr>
        <p:spPr>
          <a:xfrm>
            <a:off x="5815788" y="5269217"/>
            <a:ext cx="1677129" cy="145759"/>
          </a:xfrm>
          <a:prstGeom prst="rect">
            <a:avLst/>
          </a:prstGeom>
          <a:noFill/>
          <a:ln>
            <a:noFill/>
          </a:ln>
          <a:effectLst/>
        </p:spPr>
        <p:txBody>
          <a:bodyPr wrap="none" lIns="0" tIns="0" rIns="0" bIns="0" anchor="ctr">
            <a:spAutoFit/>
          </a:bodyPr>
          <a:lstStyle/>
          <a:p>
            <a:pPr algn="l">
              <a:buNone/>
            </a:pPr>
            <a:r>
              <a:rPr sz="1050" b="1">
                <a:solidFill>
                  <a:srgbClr val="052C7E"/>
                </a:solidFill>
                <a:latin typeface="IPAexGothic"/>
                <a:ea typeface="IPAexGothic"/>
                <a:cs typeface="IPAexGothic"/>
              </a:rPr>
              <a:t>Read：事前承認</a:t>
            </a:r>
          </a:p>
        </p:txBody>
      </p:sp>
      <p:sp>
        <p:nvSpPr>
          <p:cNvPr id="69" name="TextBox 68">
            <a:extLst>
              <a:ext uri="{FF2B5EF4-FFF2-40B4-BE49-F238E27FC236}">
                <a16:creationId xmlns:a16="http://schemas.microsoft.com/office/drawing/2014/main" id="{96656448-1A86-42D5-B07F-A805EABF8262}"/>
              </a:ext>
            </a:extLst>
          </p:cNvPr>
          <p:cNvSpPr>
            <a:spLocks noGrp="1"/>
          </p:cNvSpPr>
          <p:nvPr/>
        </p:nvSpPr>
        <p:spPr>
          <a:xfrm>
            <a:off x="5815788" y="5480569"/>
            <a:ext cx="1677129" cy="145759"/>
          </a:xfrm>
          <a:prstGeom prst="rect">
            <a:avLst/>
          </a:prstGeom>
          <a:noFill/>
          <a:ln>
            <a:noFill/>
          </a:ln>
          <a:effectLst/>
        </p:spPr>
        <p:txBody>
          <a:bodyPr wrap="none" lIns="0" tIns="0" rIns="0" bIns="0" anchor="ctr">
            <a:spAutoFit/>
          </a:bodyPr>
          <a:lstStyle/>
          <a:p>
            <a:pPr algn="l">
              <a:buNone/>
            </a:pPr>
            <a:r>
              <a:rPr sz="1050" b="1">
                <a:solidFill>
                  <a:srgbClr val="052C7E"/>
                </a:solidFill>
                <a:latin typeface="IPAexGothic"/>
                <a:ea typeface="IPAexGothic"/>
                <a:cs typeface="IPAexGothic"/>
              </a:rPr>
              <a:t>Write：事前承認</a:t>
            </a:r>
          </a:p>
        </p:txBody>
      </p:sp>
      <p:sp>
        <p:nvSpPr>
          <p:cNvPr id="70" name="TextBox 69">
            <a:extLst>
              <a:ext uri="{FF2B5EF4-FFF2-40B4-BE49-F238E27FC236}">
                <a16:creationId xmlns:a16="http://schemas.microsoft.com/office/drawing/2014/main" id="{0A207561-CC8B-4DF4-874A-70CE628CDD31}"/>
              </a:ext>
            </a:extLst>
          </p:cNvPr>
          <p:cNvSpPr>
            <a:spLocks noGrp="1"/>
          </p:cNvSpPr>
          <p:nvPr/>
        </p:nvSpPr>
        <p:spPr>
          <a:xfrm>
            <a:off x="5815788" y="5691921"/>
            <a:ext cx="1677129" cy="145759"/>
          </a:xfrm>
          <a:prstGeom prst="rect">
            <a:avLst/>
          </a:prstGeom>
          <a:noFill/>
          <a:ln>
            <a:noFill/>
          </a:ln>
          <a:effectLst/>
        </p:spPr>
        <p:txBody>
          <a:bodyPr wrap="none" lIns="0" tIns="0" rIns="0" bIns="0" anchor="ctr">
            <a:spAutoFit/>
          </a:bodyPr>
          <a:lstStyle/>
          <a:p>
            <a:pPr algn="l">
              <a:buNone/>
            </a:pPr>
            <a:r>
              <a:rPr sz="1050" b="1">
                <a:solidFill>
                  <a:srgbClr val="052C7E"/>
                </a:solidFill>
                <a:latin typeface="IPAexGothic"/>
              </a:rPr>
              <a:t>Bash：必ず消えるとは限らない</a:t>
            </a:r>
          </a:p>
        </p:txBody>
      </p:sp>
      <p:sp>
        <p:nvSpPr>
          <p:cNvPr id="71" name="Rounded Rectangle 70">
            <a:extLst>
              <a:ext uri="{FF2B5EF4-FFF2-40B4-BE49-F238E27FC236}">
                <a16:creationId xmlns:a16="http://schemas.microsoft.com/office/drawing/2014/main" id="{AF388BA0-AA01-4A10-8B2C-C4B19C48A315}"/>
              </a:ext>
            </a:extLst>
          </p:cNvPr>
          <p:cNvSpPr>
            <a:spLocks noGrp="1"/>
          </p:cNvSpPr>
          <p:nvPr/>
        </p:nvSpPr>
        <p:spPr>
          <a:xfrm>
            <a:off x="7945012" y="4380082"/>
            <a:ext cx="3806353" cy="276943"/>
          </a:xfrm>
          <a:prstGeom prst="roundRect">
            <a:avLst>
              <a:gd name="adj" fmla="val 35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TextBox 71">
            <a:extLst>
              <a:ext uri="{FF2B5EF4-FFF2-40B4-BE49-F238E27FC236}">
                <a16:creationId xmlns:a16="http://schemas.microsoft.com/office/drawing/2014/main" id="{35625377-3C49-4D32-B41D-C784840222D3}"/>
              </a:ext>
            </a:extLst>
          </p:cNvPr>
          <p:cNvSpPr>
            <a:spLocks noGrp="1"/>
          </p:cNvSpPr>
          <p:nvPr/>
        </p:nvSpPr>
        <p:spPr>
          <a:xfrm>
            <a:off x="7945012" y="4380082"/>
            <a:ext cx="3806353" cy="276943"/>
          </a:xfrm>
          <a:prstGeom prst="rect">
            <a:avLst/>
          </a:prstGeom>
          <a:noFill/>
          <a:ln>
            <a:noFill/>
          </a:ln>
          <a:effectLst/>
        </p:spPr>
        <p:txBody>
          <a:bodyPr wrap="none" lIns="0" tIns="0" rIns="0" bIns="0" anchor="ctr">
            <a:spAutoFit/>
          </a:bodyPr>
          <a:lstStyle/>
          <a:p>
            <a:pPr algn="ctr">
              <a:buNone/>
            </a:pPr>
            <a:r>
              <a:rPr sz="1200" b="1">
                <a:solidFill>
                  <a:srgbClr val="0B3691"/>
                </a:solidFill>
                <a:latin typeface="IPAexGothic"/>
                <a:ea typeface="IPAexGothic"/>
                <a:cs typeface="IPAexGothic"/>
              </a:rPr>
              <a:t>ポイント</a:t>
            </a:r>
          </a:p>
        </p:txBody>
      </p:sp>
      <p:sp>
        <p:nvSpPr>
          <p:cNvPr id="73" name="Rounded Rectangle 72">
            <a:extLst>
              <a:ext uri="{FF2B5EF4-FFF2-40B4-BE49-F238E27FC236}">
                <a16:creationId xmlns:a16="http://schemas.microsoft.com/office/drawing/2014/main" id="{A4687E69-1B55-419C-8CFA-5C15BF6BF1FB}"/>
              </a:ext>
            </a:extLst>
          </p:cNvPr>
          <p:cNvSpPr>
            <a:spLocks noGrp="1"/>
          </p:cNvSpPr>
          <p:nvPr/>
        </p:nvSpPr>
        <p:spPr>
          <a:xfrm>
            <a:off x="7945012" y="4657026"/>
            <a:ext cx="3806353" cy="1335024"/>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4" name="TextBox 73">
            <a:extLst>
              <a:ext uri="{FF2B5EF4-FFF2-40B4-BE49-F238E27FC236}">
                <a16:creationId xmlns:a16="http://schemas.microsoft.com/office/drawing/2014/main" id="{8F5556BA-A342-4F1D-A04E-BEBE6C75588B}"/>
              </a:ext>
            </a:extLst>
          </p:cNvPr>
          <p:cNvSpPr>
            <a:spLocks noGrp="1"/>
          </p:cNvSpPr>
          <p:nvPr/>
        </p:nvSpPr>
        <p:spPr>
          <a:xfrm>
            <a:off x="8098142" y="4839226"/>
            <a:ext cx="3427176" cy="189487"/>
          </a:xfrm>
          <a:prstGeom prst="rect">
            <a:avLst/>
          </a:prstGeom>
          <a:noFill/>
          <a:ln>
            <a:noFill/>
          </a:ln>
          <a:effectLst/>
        </p:spPr>
        <p:txBody>
          <a:bodyPr wrap="none" lIns="0" tIns="0" rIns="0" bIns="0" anchor="ctr">
            <a:spAutoFit/>
          </a:bodyPr>
          <a:lstStyle/>
          <a:p>
            <a:pPr algn="l">
              <a:buNone/>
            </a:pPr>
            <a:r>
              <a:rPr sz="990" b="0">
                <a:solidFill>
                  <a:srgbClr val="0A1220"/>
                </a:solidFill>
                <a:latin typeface="IPAexGothic"/>
                <a:ea typeface="IPAexGothic"/>
                <a:cs typeface="IPAexGothic"/>
              </a:rPr>
              <a:t>・  見せないことは有効だが，最終的な認可とは別である．</a:t>
            </a:r>
          </a:p>
        </p:txBody>
      </p:sp>
      <p:sp>
        <p:nvSpPr>
          <p:cNvPr id="75" name="TextBox 74">
            <a:extLst>
              <a:ext uri="{FF2B5EF4-FFF2-40B4-BE49-F238E27FC236}">
                <a16:creationId xmlns:a16="http://schemas.microsoft.com/office/drawing/2014/main" id="{40302065-7048-44A6-8DE1-FF88FC5C1D87}"/>
              </a:ext>
            </a:extLst>
          </p:cNvPr>
          <p:cNvSpPr>
            <a:spLocks noGrp="1"/>
          </p:cNvSpPr>
          <p:nvPr/>
        </p:nvSpPr>
        <p:spPr>
          <a:xfrm>
            <a:off x="8098142" y="5116170"/>
            <a:ext cx="3427176" cy="189487"/>
          </a:xfrm>
          <a:prstGeom prst="rect">
            <a:avLst/>
          </a:prstGeom>
          <a:noFill/>
          <a:ln>
            <a:noFill/>
          </a:ln>
          <a:effectLst/>
        </p:spPr>
        <p:txBody>
          <a:bodyPr wrap="none" lIns="0" tIns="0" rIns="0" bIns="0" anchor="ctr">
            <a:spAutoFit/>
          </a:bodyPr>
          <a:lstStyle/>
          <a:p>
            <a:pPr algn="l">
              <a:buNone/>
            </a:pPr>
            <a:r>
              <a:rPr sz="990" b="0">
                <a:solidFill>
                  <a:srgbClr val="0A1220"/>
                </a:solidFill>
                <a:latin typeface="IPAexGothic"/>
                <a:ea typeface="IPAexGothic"/>
                <a:cs typeface="IPAexGothic"/>
              </a:rPr>
              <a:t>・  OpenAIでは公開範囲と実行前制御を組み合わせる．</a:t>
            </a:r>
          </a:p>
        </p:txBody>
      </p:sp>
      <p:sp>
        <p:nvSpPr>
          <p:cNvPr id="76" name="TextBox 75">
            <a:extLst>
              <a:ext uri="{FF2B5EF4-FFF2-40B4-BE49-F238E27FC236}">
                <a16:creationId xmlns:a16="http://schemas.microsoft.com/office/drawing/2014/main" id="{2FFCBD7A-41CB-48AC-9C23-E51F877C2237}"/>
              </a:ext>
            </a:extLst>
          </p:cNvPr>
          <p:cNvSpPr>
            <a:spLocks noGrp="1"/>
          </p:cNvSpPr>
          <p:nvPr/>
        </p:nvSpPr>
        <p:spPr>
          <a:xfrm>
            <a:off x="8098142" y="5393113"/>
            <a:ext cx="3427176" cy="189487"/>
          </a:xfrm>
          <a:prstGeom prst="rect">
            <a:avLst/>
          </a:prstGeom>
          <a:noFill/>
          <a:ln>
            <a:noFill/>
          </a:ln>
          <a:effectLst/>
        </p:spPr>
        <p:txBody>
          <a:bodyPr wrap="none" lIns="0" tIns="0" rIns="0" bIns="0" anchor="ctr">
            <a:spAutoFit/>
          </a:bodyPr>
          <a:lstStyle/>
          <a:p>
            <a:pPr algn="l">
              <a:buNone/>
            </a:pPr>
            <a:r>
              <a:rPr sz="990" b="0">
                <a:solidFill>
                  <a:srgbClr val="0A1220"/>
                </a:solidFill>
                <a:latin typeface="IPAexGothic"/>
                <a:ea typeface="IPAexGothic"/>
                <a:cs typeface="IPAexGothic"/>
              </a:rPr>
              <a:t>・  Claudeではallowed_toolsとdisallowed_toolsの役割が異なる．</a:t>
            </a:r>
          </a:p>
        </p:txBody>
      </p:sp>
      <p:sp>
        <p:nvSpPr>
          <p:cNvPr id="77" name="TextBox 76">
            <a:extLst>
              <a:ext uri="{FF2B5EF4-FFF2-40B4-BE49-F238E27FC236}">
                <a16:creationId xmlns:a16="http://schemas.microsoft.com/office/drawing/2014/main" id="{0CE9C985-899F-4639-9094-D650FC448256}"/>
              </a:ext>
            </a:extLst>
          </p:cNvPr>
          <p:cNvSpPr>
            <a:spLocks noGrp="1"/>
          </p:cNvSpPr>
          <p:nvPr/>
        </p:nvSpPr>
        <p:spPr>
          <a:xfrm>
            <a:off x="8098142" y="5670057"/>
            <a:ext cx="3427176" cy="189487"/>
          </a:xfrm>
          <a:prstGeom prst="rect">
            <a:avLst/>
          </a:prstGeom>
          <a:noFill/>
          <a:ln>
            <a:noFill/>
          </a:ln>
          <a:effectLst/>
        </p:spPr>
        <p:txBody>
          <a:bodyPr wrap="none" lIns="0" tIns="0" rIns="0" bIns="0" anchor="ctr">
            <a:spAutoFit/>
          </a:bodyPr>
          <a:lstStyle/>
          <a:p>
            <a:pPr algn="l">
              <a:buNone/>
            </a:pPr>
            <a:r>
              <a:rPr sz="990" b="0">
                <a:solidFill>
                  <a:srgbClr val="0A1220"/>
                </a:solidFill>
                <a:latin typeface="IPAexGothic"/>
                <a:ea typeface="IPAexGothic"/>
                <a:cs typeface="IPAexGothic"/>
              </a:rPr>
              <a:t>・  Permission Modeの設定次第で挙動が変わる．</a:t>
            </a:r>
          </a:p>
        </p:txBody>
      </p:sp>
      <p:sp>
        <p:nvSpPr>
          <p:cNvPr id="78" name="Rounded Rectangle 77">
            <a:extLst>
              <a:ext uri="{FF2B5EF4-FFF2-40B4-BE49-F238E27FC236}">
                <a16:creationId xmlns:a16="http://schemas.microsoft.com/office/drawing/2014/main" id="{C294DE0F-01A8-4A37-9CCD-A81F0BBDF0FA}"/>
              </a:ext>
            </a:extLst>
          </p:cNvPr>
          <p:cNvSpPr>
            <a:spLocks noGrp="1"/>
          </p:cNvSpPr>
          <p:nvPr/>
        </p:nvSpPr>
        <p:spPr>
          <a:xfrm>
            <a:off x="332304" y="6151064"/>
            <a:ext cx="11375310" cy="510159"/>
          </a:xfrm>
          <a:prstGeom prst="roundRect">
            <a:avLst>
              <a:gd name="adj" fmla="val 12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9" name="Rounded Rectangle 78">
            <a:extLst>
              <a:ext uri="{FF2B5EF4-FFF2-40B4-BE49-F238E27FC236}">
                <a16:creationId xmlns:a16="http://schemas.microsoft.com/office/drawing/2014/main" id="{C3314EDC-CB65-4F84-BD6F-B21981A0E666}"/>
              </a:ext>
            </a:extLst>
          </p:cNvPr>
          <p:cNvSpPr>
            <a:spLocks noGrp="1"/>
          </p:cNvSpPr>
          <p:nvPr/>
        </p:nvSpPr>
        <p:spPr>
          <a:xfrm>
            <a:off x="332304" y="6151064"/>
            <a:ext cx="1341703" cy="510159"/>
          </a:xfrm>
          <a:prstGeom prst="roundRect">
            <a:avLst>
              <a:gd name="adj" fmla="val 12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0" name="TextBox 79">
            <a:extLst>
              <a:ext uri="{FF2B5EF4-FFF2-40B4-BE49-F238E27FC236}">
                <a16:creationId xmlns:a16="http://schemas.microsoft.com/office/drawing/2014/main" id="{AAE5B1B6-E3FD-4D81-AE1B-BDB649122770}"/>
              </a:ext>
            </a:extLst>
          </p:cNvPr>
          <p:cNvSpPr>
            <a:spLocks noGrp="1"/>
          </p:cNvSpPr>
          <p:nvPr/>
        </p:nvSpPr>
        <p:spPr>
          <a:xfrm>
            <a:off x="507309" y="6296824"/>
            <a:ext cx="1020861" cy="218639"/>
          </a:xfrm>
          <a:prstGeom prst="rect">
            <a:avLst/>
          </a:prstGeom>
          <a:noFill/>
          <a:ln>
            <a:noFill/>
          </a:ln>
          <a:effectLst/>
        </p:spPr>
        <p:txBody>
          <a:bodyPr wrap="none" lIns="0" tIns="0" rIns="0" bIns="0" anchor="ctr">
            <a:spAutoFit/>
          </a:bodyPr>
          <a:lstStyle/>
          <a:p>
            <a:pPr algn="ctr">
              <a:buNone/>
            </a:pPr>
            <a:r>
              <a:rPr sz="1240" b="1">
                <a:solidFill>
                  <a:srgbClr val="0B3691"/>
                </a:solidFill>
                <a:latin typeface="IPAexGothic"/>
                <a:ea typeface="IPAexGothic"/>
                <a:cs typeface="IPAexGothic"/>
              </a:rPr>
              <a:t>違いのまとめ</a:t>
            </a:r>
          </a:p>
        </p:txBody>
      </p:sp>
      <p:sp>
        <p:nvSpPr>
          <p:cNvPr id="81" name="TextBox 80">
            <a:extLst>
              <a:ext uri="{FF2B5EF4-FFF2-40B4-BE49-F238E27FC236}">
                <a16:creationId xmlns:a16="http://schemas.microsoft.com/office/drawing/2014/main" id="{57D206D2-3E86-4D3D-B5FA-BBE35235F3EF}"/>
              </a:ext>
            </a:extLst>
          </p:cNvPr>
          <p:cNvSpPr>
            <a:spLocks noGrp="1"/>
          </p:cNvSpPr>
          <p:nvPr/>
        </p:nvSpPr>
        <p:spPr>
          <a:xfrm>
            <a:off x="1929223" y="6274960"/>
            <a:ext cx="9260669" cy="247791"/>
          </a:xfrm>
          <a:prstGeom prst="rect">
            <a:avLst/>
          </a:prstGeom>
          <a:noFill/>
          <a:ln>
            <a:noFill/>
          </a:ln>
          <a:effectLst/>
        </p:spPr>
        <p:txBody>
          <a:bodyPr wrap="none" lIns="0" tIns="0" rIns="0" bIns="0" anchor="ctr">
            <a:spAutoFit/>
          </a:bodyPr>
          <a:lstStyle/>
          <a:p>
            <a:pPr algn="l">
              <a:buNone/>
            </a:pPr>
            <a:r>
              <a:rPr sz="700" b="1">
                <a:solidFill>
                  <a:srgbClr val="052C7E"/>
                </a:solidFill>
                <a:latin typeface="IPAexGothic"/>
              </a:rPr>
              <a:t>Tool VisibilityとAuthorizationは別であり，OpenAIはis_enabled等，Claudeはallowed_tools／disallowed_tools等を組み合わせて制御する．</a:t>
            </a:r>
          </a:p>
        </p:txBody>
      </p:sp>
      <p:sp>
        <p:nvSpPr>
          <p:cNvPr id="82" name="TextBox 81">
            <a:extLst>
              <a:ext uri="{FF2B5EF4-FFF2-40B4-BE49-F238E27FC236}">
                <a16:creationId xmlns:a16="http://schemas.microsoft.com/office/drawing/2014/main" id="{9B82521C-18F4-4DE0-9FA7-DAF52DA5C7E9}"/>
              </a:ext>
            </a:extLst>
          </p:cNvPr>
          <p:cNvSpPr>
            <a:spLocks noGrp="1"/>
          </p:cNvSpPr>
          <p:nvPr/>
        </p:nvSpPr>
        <p:spPr>
          <a:xfrm>
            <a:off x="11666985" y="6493600"/>
            <a:ext cx="291674" cy="174911"/>
          </a:xfrm>
          <a:prstGeom prst="rect">
            <a:avLst/>
          </a:prstGeom>
          <a:noFill/>
          <a:ln>
            <a:noFill/>
          </a:ln>
          <a:effectLst/>
        </p:spPr>
        <p:txBody>
          <a:bodyPr wrap="none" lIns="0" tIns="0" rIns="0" bIns="0" anchor="ctr">
            <a:spAutoFit/>
          </a:bodyPr>
          <a:lstStyle/>
          <a:p>
            <a:pPr algn="ctr">
              <a:buNone/>
            </a:pPr>
            <a:r>
              <a:rPr sz="1330" b="1">
                <a:solidFill>
                  <a:srgbClr val="052C7E"/>
                </a:solidFill>
                <a:latin typeface="IPAexGothic"/>
                <a:ea typeface="IPAexGothic"/>
                <a:cs typeface="IPAexGothic"/>
              </a:rPr>
              <a:t>A6</a:t>
            </a:r>
          </a:p>
        </p:txBody>
      </p:sp>
    </p:spTree>
    <p:extLst>
      <p:ext uri="{BB962C8B-B14F-4D97-AF65-F5344CB8AC3E}">
        <p14:creationId xmlns:p14="http://schemas.microsoft.com/office/powerpoint/2010/main" val="1139376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92827-0219-40BD-A569-ACA47839916A}"/>
              </a:ext>
            </a:extLst>
          </p:cNvPr>
          <p:cNvSpPr>
            <a:spLocks noGrp="1"/>
          </p:cNvSpPr>
          <p:nvPr/>
        </p:nvSpPr>
        <p:spPr>
          <a:xfrm>
            <a:off x="0" y="0"/>
            <a:ext cx="12191999" cy="15240"/>
          </a:xfrm>
          <a:prstGeom prst="rect">
            <a:avLst/>
          </a:prstGeom>
          <a:solidFill>
            <a:srgbClr val="092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2454266-1490-4815-AB10-D2EA06B2CEF7}"/>
              </a:ext>
            </a:extLst>
          </p:cNvPr>
          <p:cNvSpPr>
            <a:spLocks noGrp="1"/>
          </p:cNvSpPr>
          <p:nvPr/>
        </p:nvSpPr>
        <p:spPr>
          <a:xfrm>
            <a:off x="164592" y="109728"/>
            <a:ext cx="6400800" cy="310896"/>
          </a:xfrm>
          <a:prstGeom prst="rect">
            <a:avLst/>
          </a:prstGeom>
          <a:noFill/>
          <a:effectLst/>
        </p:spPr>
        <p:txBody>
          <a:bodyPr wrap="square" lIns="0" tIns="0" rIns="0" bIns="0" anchor="t">
            <a:spAutoFit/>
          </a:bodyPr>
          <a:lstStyle/>
          <a:p>
            <a:pPr algn="l">
              <a:spcBef>
                <a:spcPts val="0"/>
              </a:spcBef>
              <a:spcAft>
                <a:spcPts val="0"/>
              </a:spcAft>
              <a:buNone/>
            </a:pPr>
            <a:r>
              <a:rPr sz="2550" b="1">
                <a:solidFill>
                  <a:srgbClr val="092E79"/>
                </a:solidFill>
                <a:latin typeface="Noto Sans CJK JP"/>
                <a:ea typeface="Noto Sans CJK JP"/>
                <a:cs typeface="Noto Sans CJK JP"/>
              </a:rPr>
              <a:t>Appendix A7．MCP制御</a:t>
            </a:r>
          </a:p>
        </p:txBody>
      </p:sp>
      <p:sp>
        <p:nvSpPr>
          <p:cNvPr id="4" name="TextBox 3">
            <a:extLst>
              <a:ext uri="{FF2B5EF4-FFF2-40B4-BE49-F238E27FC236}">
                <a16:creationId xmlns:a16="http://schemas.microsoft.com/office/drawing/2014/main" id="{620E5C02-A6EC-481F-80F1-AB7394370465}"/>
              </a:ext>
            </a:extLst>
          </p:cNvPr>
          <p:cNvSpPr>
            <a:spLocks noGrp="1"/>
          </p:cNvSpPr>
          <p:nvPr/>
        </p:nvSpPr>
        <p:spPr>
          <a:xfrm>
            <a:off x="10652760" y="109728"/>
            <a:ext cx="1325880" cy="164592"/>
          </a:xfrm>
          <a:prstGeom prst="rect">
            <a:avLst/>
          </a:prstGeom>
          <a:noFill/>
          <a:effectLst/>
        </p:spPr>
        <p:txBody>
          <a:bodyPr wrap="square" lIns="0" tIns="0" rIns="0" bIns="0" anchor="t">
            <a:spAutoFit/>
          </a:bodyPr>
          <a:lstStyle/>
          <a:p>
            <a:pPr algn="r">
              <a:spcBef>
                <a:spcPts val="0"/>
              </a:spcBef>
              <a:spcAft>
                <a:spcPts val="0"/>
              </a:spcAft>
              <a:buNone/>
            </a:pPr>
            <a:r>
              <a:rPr sz="1340" b="1">
                <a:solidFill>
                  <a:srgbClr val="092E79"/>
                </a:solidFill>
                <a:latin typeface="Noto Sans CJK JP"/>
                <a:ea typeface="Noto Sans CJK JP"/>
                <a:cs typeface="Noto Sans CJK JP"/>
              </a:rPr>
              <a:t>行動・権限制御</a:t>
            </a:r>
          </a:p>
        </p:txBody>
      </p:sp>
      <p:sp>
        <p:nvSpPr>
          <p:cNvPr id="5" name="Rectangle 4">
            <a:extLst>
              <a:ext uri="{FF2B5EF4-FFF2-40B4-BE49-F238E27FC236}">
                <a16:creationId xmlns:a16="http://schemas.microsoft.com/office/drawing/2014/main" id="{36C7F7F4-3778-41E7-96A9-FA69EDC90F7C}"/>
              </a:ext>
            </a:extLst>
          </p:cNvPr>
          <p:cNvSpPr>
            <a:spLocks noGrp="1"/>
          </p:cNvSpPr>
          <p:nvPr/>
        </p:nvSpPr>
        <p:spPr>
          <a:xfrm>
            <a:off x="137160" y="548640"/>
            <a:ext cx="11731752" cy="20320"/>
          </a:xfrm>
          <a:prstGeom prst="rect">
            <a:avLst/>
          </a:prstGeom>
          <a:solidFill>
            <a:srgbClr val="092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9241C49-443B-443C-B997-8A074A8E3570}"/>
              </a:ext>
            </a:extLst>
          </p:cNvPr>
          <p:cNvSpPr>
            <a:spLocks noGrp="1"/>
          </p:cNvSpPr>
          <p:nvPr/>
        </p:nvSpPr>
        <p:spPr>
          <a:xfrm>
            <a:off x="164592" y="667512"/>
            <a:ext cx="10972800" cy="292608"/>
          </a:xfrm>
          <a:prstGeom prst="rect">
            <a:avLst/>
          </a:prstGeom>
          <a:noFill/>
          <a:effectLst/>
        </p:spPr>
        <p:txBody>
          <a:bodyPr wrap="square" lIns="0" tIns="0" rIns="0" bIns="0" anchor="t">
            <a:spAutoFit/>
          </a:bodyPr>
          <a:lstStyle/>
          <a:p>
            <a:pPr algn="l">
              <a:spcBef>
                <a:spcPts val="0"/>
              </a:spcBef>
              <a:spcAft>
                <a:spcPts val="0"/>
              </a:spcAft>
              <a:buNone/>
            </a:pPr>
            <a:r>
              <a:rPr sz="1350" b="0">
                <a:solidFill>
                  <a:srgbClr val="000000"/>
                </a:solidFill>
                <a:latin typeface="Noto Sans CJK JP"/>
                <a:ea typeface="Noto Sans CJK JP"/>
                <a:cs typeface="Noto Sans CJK JP"/>
              </a:rPr>
              <a:t>MCPを利用すると，外部ServerのToolをAgentから呼び出せる．</a:t>
            </a:r>
          </a:p>
          <a:p>
            <a:pPr algn="l">
              <a:spcBef>
                <a:spcPts val="0"/>
              </a:spcBef>
              <a:spcAft>
                <a:spcPts val="0"/>
              </a:spcAft>
              <a:buNone/>
            </a:pPr>
            <a:r>
              <a:rPr sz="1350" b="0">
                <a:solidFill>
                  <a:srgbClr val="000000"/>
                </a:solidFill>
                <a:latin typeface="Noto Sans CJK JP"/>
                <a:ea typeface="Noto Sans CJK JP"/>
                <a:cs typeface="Noto Sans CJK JP"/>
              </a:rPr>
              <a:t>そのため，「どのMCP Toolを公開するか」「実行を許可するか」「Server側で何を認可するか」を分けて考える必要がある．</a:t>
            </a:r>
          </a:p>
        </p:txBody>
      </p:sp>
      <p:sp>
        <p:nvSpPr>
          <p:cNvPr id="7" name="TextBox 6">
            <a:extLst>
              <a:ext uri="{FF2B5EF4-FFF2-40B4-BE49-F238E27FC236}">
                <a16:creationId xmlns:a16="http://schemas.microsoft.com/office/drawing/2014/main" id="{889C0686-9105-4364-8BCB-B2A732365ADE}"/>
              </a:ext>
            </a:extLst>
          </p:cNvPr>
          <p:cNvSpPr>
            <a:spLocks noGrp="1"/>
          </p:cNvSpPr>
          <p:nvPr/>
        </p:nvSpPr>
        <p:spPr>
          <a:xfrm>
            <a:off x="164592" y="987552"/>
            <a:ext cx="3657600" cy="164592"/>
          </a:xfrm>
          <a:prstGeom prst="rect">
            <a:avLst/>
          </a:prstGeom>
          <a:noFill/>
          <a:effectLst/>
        </p:spPr>
        <p:txBody>
          <a:bodyPr wrap="square" lIns="0" tIns="0" rIns="0" bIns="0" anchor="t">
            <a:spAutoFit/>
          </a:bodyPr>
          <a:lstStyle/>
          <a:p>
            <a:pPr algn="l">
              <a:spcBef>
                <a:spcPts val="0"/>
              </a:spcBef>
              <a:spcAft>
                <a:spcPts val="0"/>
              </a:spcAft>
              <a:buNone/>
            </a:pPr>
            <a:endParaRPr/>
          </a:p>
        </p:txBody>
      </p:sp>
      <p:sp>
        <p:nvSpPr>
          <p:cNvPr id="8" name="Rounded Rectangle 7">
            <a:extLst>
              <a:ext uri="{FF2B5EF4-FFF2-40B4-BE49-F238E27FC236}">
                <a16:creationId xmlns:a16="http://schemas.microsoft.com/office/drawing/2014/main" id="{6327A507-3D7A-4C11-A1AC-BAEDF3EAB183}"/>
              </a:ext>
            </a:extLst>
          </p:cNvPr>
          <p:cNvSpPr>
            <a:spLocks noGrp="1"/>
          </p:cNvSpPr>
          <p:nvPr/>
        </p:nvSpPr>
        <p:spPr>
          <a:xfrm>
            <a:off x="283464" y="1298448"/>
            <a:ext cx="2606040" cy="612648"/>
          </a:xfrm>
          <a:prstGeom prst="roundRect">
            <a:avLst>
              <a:gd name="adj" fmla="val 5000"/>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18288" anchor="ctr"/>
          <a:lstStyle/>
          <a:p>
            <a:pPr algn="ctr">
              <a:spcBef>
                <a:spcPts val="0"/>
              </a:spcBef>
              <a:spcAft>
                <a:spcPts val="0"/>
              </a:spcAft>
              <a:buNone/>
            </a:pPr>
            <a:r>
              <a:rPr sz="1450" b="1">
                <a:solidFill>
                  <a:srgbClr val="092E79"/>
                </a:solidFill>
                <a:latin typeface="Noto Sans CJK JP"/>
                <a:ea typeface="Noto Sans CJK JP"/>
                <a:cs typeface="Noto Sans CJK JP"/>
              </a:rPr>
              <a:t>① Tool公開の制御</a:t>
            </a:r>
          </a:p>
          <a:p>
            <a:pPr algn="ctr">
              <a:spcBef>
                <a:spcPts val="0"/>
              </a:spcBef>
              <a:spcAft>
                <a:spcPts val="0"/>
              </a:spcAft>
              <a:buNone/>
            </a:pPr>
            <a:r>
              <a:rPr sz="1220" b="0">
                <a:solidFill>
                  <a:srgbClr val="000000"/>
                </a:solidFill>
                <a:latin typeface="Noto Sans CJK JP"/>
                <a:ea typeface="Noto Sans CJK JP"/>
                <a:cs typeface="Noto Sans CJK JP"/>
              </a:rPr>
              <a:t>どのMCP ToolをAgentに</a:t>
            </a:r>
          </a:p>
          <a:p>
            <a:pPr algn="ctr">
              <a:spcBef>
                <a:spcPts val="0"/>
              </a:spcBef>
              <a:spcAft>
                <a:spcPts val="0"/>
              </a:spcAft>
              <a:buNone/>
            </a:pPr>
            <a:r>
              <a:rPr sz="1220" b="0">
                <a:solidFill>
                  <a:srgbClr val="000000"/>
                </a:solidFill>
                <a:latin typeface="Noto Sans CJK JP"/>
                <a:ea typeface="Noto Sans CJK JP"/>
                <a:cs typeface="Noto Sans CJK JP"/>
              </a:rPr>
              <a:t>見せるかを決める</a:t>
            </a:r>
          </a:p>
        </p:txBody>
      </p:sp>
      <p:sp>
        <p:nvSpPr>
          <p:cNvPr id="9" name="Right Arrow 8">
            <a:extLst>
              <a:ext uri="{FF2B5EF4-FFF2-40B4-BE49-F238E27FC236}">
                <a16:creationId xmlns:a16="http://schemas.microsoft.com/office/drawing/2014/main" id="{5F1AEBBE-7CBC-43C9-AF9A-8EEB5FFDCAD2}"/>
              </a:ext>
            </a:extLst>
          </p:cNvPr>
          <p:cNvSpPr>
            <a:spLocks noGrp="1"/>
          </p:cNvSpPr>
          <p:nvPr/>
        </p:nvSpPr>
        <p:spPr>
          <a:xfrm>
            <a:off x="3044952" y="1408176"/>
            <a:ext cx="365760" cy="237744"/>
          </a:xfrm>
          <a:prstGeom prst="rightArrow">
            <a:avLst/>
          </a:prstGeom>
          <a:solidFill>
            <a:srgbClr val="092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ounded Rectangle 9">
            <a:extLst>
              <a:ext uri="{FF2B5EF4-FFF2-40B4-BE49-F238E27FC236}">
                <a16:creationId xmlns:a16="http://schemas.microsoft.com/office/drawing/2014/main" id="{C1E43D6B-2FEE-4271-8DBD-EC4CD2F84A87}"/>
              </a:ext>
            </a:extLst>
          </p:cNvPr>
          <p:cNvSpPr>
            <a:spLocks noGrp="1"/>
          </p:cNvSpPr>
          <p:nvPr/>
        </p:nvSpPr>
        <p:spPr>
          <a:xfrm>
            <a:off x="3493008" y="1298448"/>
            <a:ext cx="2606040" cy="612648"/>
          </a:xfrm>
          <a:prstGeom prst="roundRect">
            <a:avLst>
              <a:gd name="adj" fmla="val 5000"/>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18288" anchor="ctr"/>
          <a:lstStyle/>
          <a:p>
            <a:pPr algn="ctr">
              <a:spcBef>
                <a:spcPts val="0"/>
              </a:spcBef>
              <a:spcAft>
                <a:spcPts val="0"/>
              </a:spcAft>
              <a:buNone/>
            </a:pPr>
            <a:r>
              <a:rPr sz="1450" b="1">
                <a:solidFill>
                  <a:srgbClr val="092E79"/>
                </a:solidFill>
                <a:latin typeface="Noto Sans CJK JP"/>
                <a:ea typeface="Noto Sans CJK JP"/>
                <a:cs typeface="Noto Sans CJK JP"/>
              </a:rPr>
              <a:t>② Tool実行の制御</a:t>
            </a:r>
          </a:p>
          <a:p>
            <a:pPr algn="ctr">
              <a:spcBef>
                <a:spcPts val="0"/>
              </a:spcBef>
              <a:spcAft>
                <a:spcPts val="0"/>
              </a:spcAft>
              <a:buNone/>
            </a:pPr>
            <a:r>
              <a:rPr sz="1220" b="0">
                <a:solidFill>
                  <a:srgbClr val="000000"/>
                </a:solidFill>
                <a:latin typeface="Noto Sans CJK JP"/>
                <a:ea typeface="Noto Sans CJK JP"/>
                <a:cs typeface="Noto Sans CJK JP"/>
              </a:rPr>
              <a:t>Toolが呼び出されたときに</a:t>
            </a:r>
          </a:p>
          <a:p>
            <a:pPr algn="ctr">
              <a:spcBef>
                <a:spcPts val="0"/>
              </a:spcBef>
              <a:spcAft>
                <a:spcPts val="0"/>
              </a:spcAft>
              <a:buNone/>
            </a:pPr>
            <a:r>
              <a:rPr sz="1220" b="0">
                <a:solidFill>
                  <a:srgbClr val="000000"/>
                </a:solidFill>
                <a:latin typeface="Noto Sans CJK JP"/>
                <a:ea typeface="Noto Sans CJK JP"/>
                <a:cs typeface="Noto Sans CJK JP"/>
              </a:rPr>
              <a:t>実行してよいかを判断する</a:t>
            </a:r>
          </a:p>
        </p:txBody>
      </p:sp>
      <p:sp>
        <p:nvSpPr>
          <p:cNvPr id="11" name="Right Arrow 10">
            <a:extLst>
              <a:ext uri="{FF2B5EF4-FFF2-40B4-BE49-F238E27FC236}">
                <a16:creationId xmlns:a16="http://schemas.microsoft.com/office/drawing/2014/main" id="{682BDC1B-D98A-465B-BF8E-1B9758C22A4F}"/>
              </a:ext>
            </a:extLst>
          </p:cNvPr>
          <p:cNvSpPr>
            <a:spLocks noGrp="1"/>
          </p:cNvSpPr>
          <p:nvPr/>
        </p:nvSpPr>
        <p:spPr>
          <a:xfrm>
            <a:off x="6281928" y="1408176"/>
            <a:ext cx="365760" cy="237744"/>
          </a:xfrm>
          <a:prstGeom prst="rightArrow">
            <a:avLst/>
          </a:prstGeom>
          <a:solidFill>
            <a:srgbClr val="092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ounded Rectangle 11">
            <a:extLst>
              <a:ext uri="{FF2B5EF4-FFF2-40B4-BE49-F238E27FC236}">
                <a16:creationId xmlns:a16="http://schemas.microsoft.com/office/drawing/2014/main" id="{3D6123E8-5C3A-4889-8C37-60E5D62F234A}"/>
              </a:ext>
            </a:extLst>
          </p:cNvPr>
          <p:cNvSpPr>
            <a:spLocks noGrp="1"/>
          </p:cNvSpPr>
          <p:nvPr/>
        </p:nvSpPr>
        <p:spPr>
          <a:xfrm>
            <a:off x="6729984" y="1298448"/>
            <a:ext cx="2606040" cy="612648"/>
          </a:xfrm>
          <a:prstGeom prst="roundRect">
            <a:avLst>
              <a:gd name="adj" fmla="val 5000"/>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18288" anchor="ctr"/>
          <a:lstStyle/>
          <a:p>
            <a:pPr algn="ctr">
              <a:spcBef>
                <a:spcPts val="0"/>
              </a:spcBef>
              <a:spcAft>
                <a:spcPts val="0"/>
              </a:spcAft>
              <a:buNone/>
            </a:pPr>
            <a:r>
              <a:rPr sz="1450" b="1">
                <a:solidFill>
                  <a:srgbClr val="092E79"/>
                </a:solidFill>
                <a:latin typeface="Noto Sans CJK JP"/>
                <a:ea typeface="Noto Sans CJK JP"/>
                <a:cs typeface="Noto Sans CJK JP"/>
              </a:rPr>
              <a:t>③ Server側の認可</a:t>
            </a:r>
          </a:p>
          <a:p>
            <a:pPr algn="ctr">
              <a:spcBef>
                <a:spcPts val="0"/>
              </a:spcBef>
              <a:spcAft>
                <a:spcPts val="0"/>
              </a:spcAft>
              <a:buNone/>
            </a:pPr>
            <a:r>
              <a:rPr sz="1220" b="0">
                <a:solidFill>
                  <a:srgbClr val="000000"/>
                </a:solidFill>
                <a:latin typeface="Noto Sans CJK JP"/>
                <a:ea typeface="Noto Sans CJK JP"/>
                <a:cs typeface="Noto Sans CJK JP"/>
              </a:rPr>
              <a:t>MCP Server内部でResourceへの</a:t>
            </a:r>
          </a:p>
          <a:p>
            <a:pPr algn="ctr">
              <a:spcBef>
                <a:spcPts val="0"/>
              </a:spcBef>
              <a:spcAft>
                <a:spcPts val="0"/>
              </a:spcAft>
              <a:buNone/>
            </a:pPr>
            <a:r>
              <a:rPr sz="1220" b="0">
                <a:solidFill>
                  <a:srgbClr val="000000"/>
                </a:solidFill>
                <a:latin typeface="Noto Sans CJK JP"/>
                <a:ea typeface="Noto Sans CJK JP"/>
                <a:cs typeface="Noto Sans CJK JP"/>
              </a:rPr>
              <a:t>アクセスを認可する</a:t>
            </a:r>
          </a:p>
        </p:txBody>
      </p:sp>
      <p:sp>
        <p:nvSpPr>
          <p:cNvPr id="13" name="Rounded Rectangle 12">
            <a:extLst>
              <a:ext uri="{FF2B5EF4-FFF2-40B4-BE49-F238E27FC236}">
                <a16:creationId xmlns:a16="http://schemas.microsoft.com/office/drawing/2014/main" id="{FDCFE24D-F935-4C68-AC9D-0F0A78C01D7C}"/>
              </a:ext>
            </a:extLst>
          </p:cNvPr>
          <p:cNvSpPr>
            <a:spLocks noGrp="1"/>
          </p:cNvSpPr>
          <p:nvPr/>
        </p:nvSpPr>
        <p:spPr>
          <a:xfrm>
            <a:off x="9546336" y="1271016"/>
            <a:ext cx="2148840" cy="713232"/>
          </a:xfrm>
          <a:prstGeom prst="roundRect">
            <a:avLst>
              <a:gd name="adj" fmla="val 5000"/>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wrap="square" tIns="22860" bIns="22860" anchor="ctr"/>
          <a:lstStyle/>
          <a:p>
            <a:pPr algn="l">
              <a:spcBef>
                <a:spcPts val="0"/>
              </a:spcBef>
              <a:spcAft>
                <a:spcPts val="0"/>
              </a:spcAft>
              <a:buNone/>
            </a:pPr>
            <a:r>
              <a:rPr sz="730">
                <a:latin typeface="Meiryo"/>
              </a:rPr>
              <a:t>重要な注意点</a:t>
            </a:r>
          </a:p>
          <a:p>
            <a:pPr algn="l"/>
            <a:r>
              <a:rPr sz="730">
                <a:latin typeface="Meiryo"/>
              </a:rPr>
              <a:t>SDK側のMCP制御だけで</a:t>
            </a:r>
          </a:p>
          <a:p>
            <a:pPr algn="l"/>
            <a:r>
              <a:rPr sz="730">
                <a:latin typeface="Meiryo"/>
              </a:rPr>
              <a:t>Server内部のAuthorizationが</a:t>
            </a:r>
          </a:p>
          <a:p>
            <a:pPr algn="l"/>
            <a:r>
              <a:rPr sz="730">
                <a:latin typeface="Meiryo"/>
              </a:rPr>
              <a:t>完成するわけではない．</a:t>
            </a:r>
          </a:p>
          <a:p>
            <a:pPr algn="l"/>
            <a:r>
              <a:rPr sz="730">
                <a:latin typeface="Meiryo"/>
              </a:rPr>
              <a:t>Server側にも適切な認可が必要．</a:t>
            </a:r>
          </a:p>
        </p:txBody>
      </p:sp>
      <p:sp>
        <p:nvSpPr>
          <p:cNvPr id="14" name="Rectangle 13">
            <a:extLst>
              <a:ext uri="{FF2B5EF4-FFF2-40B4-BE49-F238E27FC236}">
                <a16:creationId xmlns:a16="http://schemas.microsoft.com/office/drawing/2014/main" id="{7C3D1574-2F59-4D03-B805-5AAC65C4BB74}"/>
              </a:ext>
            </a:extLst>
          </p:cNvPr>
          <p:cNvSpPr>
            <a:spLocks noGrp="1"/>
          </p:cNvSpPr>
          <p:nvPr/>
        </p:nvSpPr>
        <p:spPr>
          <a:xfrm>
            <a:off x="274320" y="2011680"/>
            <a:ext cx="2103120" cy="283464"/>
          </a:xfrm>
          <a:prstGeom prst="rect">
            <a:avLst/>
          </a:prstGeom>
          <a:solidFill>
            <a:srgbClr val="EEF2F7"/>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961C0D72-805B-46CA-A74D-65BAEE700049}"/>
              </a:ext>
            </a:extLst>
          </p:cNvPr>
          <p:cNvSpPr>
            <a:spLocks noGrp="1"/>
          </p:cNvSpPr>
          <p:nvPr/>
        </p:nvSpPr>
        <p:spPr>
          <a:xfrm>
            <a:off x="2377440" y="2011680"/>
            <a:ext cx="4544568" cy="283464"/>
          </a:xfrm>
          <a:prstGeom prst="rect">
            <a:avLst/>
          </a:prstGeom>
          <a:solidFill>
            <a:srgbClr val="EEF2F7"/>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333955E4-7E5D-434D-8EDB-4F098F696731}"/>
              </a:ext>
            </a:extLst>
          </p:cNvPr>
          <p:cNvSpPr>
            <a:spLocks noGrp="1"/>
          </p:cNvSpPr>
          <p:nvPr/>
        </p:nvSpPr>
        <p:spPr>
          <a:xfrm>
            <a:off x="6922008" y="2011680"/>
            <a:ext cx="4764024" cy="283464"/>
          </a:xfrm>
          <a:prstGeom prst="rect">
            <a:avLst/>
          </a:prstGeom>
          <a:solidFill>
            <a:srgbClr val="EEF2F7"/>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AD5DF5F4-EF22-4D79-9BFB-716CB334332F}"/>
              </a:ext>
            </a:extLst>
          </p:cNvPr>
          <p:cNvSpPr>
            <a:spLocks noGrp="1"/>
          </p:cNvSpPr>
          <p:nvPr/>
        </p:nvSpPr>
        <p:spPr>
          <a:xfrm>
            <a:off x="274320" y="2295144"/>
            <a:ext cx="2103120" cy="402336"/>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91F7CD9-9D2D-4413-93EE-F2FEE2A4BF23}"/>
              </a:ext>
            </a:extLst>
          </p:cNvPr>
          <p:cNvSpPr>
            <a:spLocks noGrp="1"/>
          </p:cNvSpPr>
          <p:nvPr/>
        </p:nvSpPr>
        <p:spPr>
          <a:xfrm>
            <a:off x="2377440" y="2295144"/>
            <a:ext cx="4544568" cy="402336"/>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FCF598C5-C414-46E3-BB3D-A5CBDF0B183D}"/>
              </a:ext>
            </a:extLst>
          </p:cNvPr>
          <p:cNvSpPr>
            <a:spLocks noGrp="1"/>
          </p:cNvSpPr>
          <p:nvPr/>
        </p:nvSpPr>
        <p:spPr>
          <a:xfrm>
            <a:off x="6922008" y="2295144"/>
            <a:ext cx="4764024" cy="402336"/>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203DD565-918B-401E-B32F-08F5EEFE666E}"/>
              </a:ext>
            </a:extLst>
          </p:cNvPr>
          <p:cNvSpPr>
            <a:spLocks noGrp="1"/>
          </p:cNvSpPr>
          <p:nvPr/>
        </p:nvSpPr>
        <p:spPr>
          <a:xfrm>
            <a:off x="274320" y="2697480"/>
            <a:ext cx="2103120" cy="530352"/>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6CF3B28-B8A9-495D-A1A3-09D8660F975C}"/>
              </a:ext>
            </a:extLst>
          </p:cNvPr>
          <p:cNvSpPr>
            <a:spLocks noGrp="1"/>
          </p:cNvSpPr>
          <p:nvPr/>
        </p:nvSpPr>
        <p:spPr>
          <a:xfrm>
            <a:off x="2377440" y="2697480"/>
            <a:ext cx="4544568" cy="530352"/>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ECC477A5-B956-47A3-8043-62C3D0C65840}"/>
              </a:ext>
            </a:extLst>
          </p:cNvPr>
          <p:cNvSpPr>
            <a:spLocks noGrp="1"/>
          </p:cNvSpPr>
          <p:nvPr/>
        </p:nvSpPr>
        <p:spPr>
          <a:xfrm>
            <a:off x="6922008" y="2697480"/>
            <a:ext cx="4764024" cy="530352"/>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D14EBD79-77EC-4D32-B06A-3A96658A0A6D}"/>
              </a:ext>
            </a:extLst>
          </p:cNvPr>
          <p:cNvSpPr>
            <a:spLocks noGrp="1"/>
          </p:cNvSpPr>
          <p:nvPr/>
        </p:nvSpPr>
        <p:spPr>
          <a:xfrm>
            <a:off x="274320" y="3227832"/>
            <a:ext cx="2103120"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42930FD0-59A0-4334-8FAF-A62788CB43DA}"/>
              </a:ext>
            </a:extLst>
          </p:cNvPr>
          <p:cNvSpPr>
            <a:spLocks noGrp="1"/>
          </p:cNvSpPr>
          <p:nvPr/>
        </p:nvSpPr>
        <p:spPr>
          <a:xfrm>
            <a:off x="2377440" y="3227832"/>
            <a:ext cx="4544568"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C564E32F-BA1A-46F4-94B2-660F0E8ED38A}"/>
              </a:ext>
            </a:extLst>
          </p:cNvPr>
          <p:cNvSpPr>
            <a:spLocks noGrp="1"/>
          </p:cNvSpPr>
          <p:nvPr/>
        </p:nvSpPr>
        <p:spPr>
          <a:xfrm>
            <a:off x="6922008" y="3227832"/>
            <a:ext cx="4764024"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8503283-ABAD-4CEA-8D62-6A5942A2B8F9}"/>
              </a:ext>
            </a:extLst>
          </p:cNvPr>
          <p:cNvSpPr>
            <a:spLocks noGrp="1"/>
          </p:cNvSpPr>
          <p:nvPr/>
        </p:nvSpPr>
        <p:spPr>
          <a:xfrm>
            <a:off x="274320" y="3739896"/>
            <a:ext cx="2103120"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35A3990C-A608-4FDC-BCF3-1BF75D35D34D}"/>
              </a:ext>
            </a:extLst>
          </p:cNvPr>
          <p:cNvSpPr>
            <a:spLocks noGrp="1"/>
          </p:cNvSpPr>
          <p:nvPr/>
        </p:nvSpPr>
        <p:spPr>
          <a:xfrm>
            <a:off x="2377440" y="3739896"/>
            <a:ext cx="4544568"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3B3A9BBB-62C5-4B75-92F5-19935BD84AD1}"/>
              </a:ext>
            </a:extLst>
          </p:cNvPr>
          <p:cNvSpPr>
            <a:spLocks noGrp="1"/>
          </p:cNvSpPr>
          <p:nvPr/>
        </p:nvSpPr>
        <p:spPr>
          <a:xfrm>
            <a:off x="6922008" y="3739896"/>
            <a:ext cx="4764024" cy="51206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ectangle 28">
            <a:extLst>
              <a:ext uri="{FF2B5EF4-FFF2-40B4-BE49-F238E27FC236}">
                <a16:creationId xmlns:a16="http://schemas.microsoft.com/office/drawing/2014/main" id="{DCCEB09B-DE96-4C28-B524-B3642C3D9092}"/>
              </a:ext>
            </a:extLst>
          </p:cNvPr>
          <p:cNvSpPr>
            <a:spLocks noGrp="1"/>
          </p:cNvSpPr>
          <p:nvPr/>
        </p:nvSpPr>
        <p:spPr>
          <a:xfrm>
            <a:off x="274320" y="4251960"/>
            <a:ext cx="2103120" cy="457200"/>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A8706482-948D-4A3B-A2A5-4C8880715CA5}"/>
              </a:ext>
            </a:extLst>
          </p:cNvPr>
          <p:cNvSpPr>
            <a:spLocks noGrp="1"/>
          </p:cNvSpPr>
          <p:nvPr/>
        </p:nvSpPr>
        <p:spPr>
          <a:xfrm>
            <a:off x="2377440" y="4251960"/>
            <a:ext cx="4544568" cy="457200"/>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3CF2A6FB-9C5B-4906-B91B-7A00DFF2D6ED}"/>
              </a:ext>
            </a:extLst>
          </p:cNvPr>
          <p:cNvSpPr>
            <a:spLocks noGrp="1"/>
          </p:cNvSpPr>
          <p:nvPr/>
        </p:nvSpPr>
        <p:spPr>
          <a:xfrm>
            <a:off x="6922008" y="4251960"/>
            <a:ext cx="4764024" cy="457200"/>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BD1596E-9C7A-431F-B424-24B486CB2D22}"/>
              </a:ext>
            </a:extLst>
          </p:cNvPr>
          <p:cNvSpPr>
            <a:spLocks noGrp="1"/>
          </p:cNvSpPr>
          <p:nvPr/>
        </p:nvSpPr>
        <p:spPr>
          <a:xfrm>
            <a:off x="274320" y="4709160"/>
            <a:ext cx="2103120" cy="55778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1B6A2807-8535-455B-A105-00C4C201DED5}"/>
              </a:ext>
            </a:extLst>
          </p:cNvPr>
          <p:cNvSpPr>
            <a:spLocks noGrp="1"/>
          </p:cNvSpPr>
          <p:nvPr/>
        </p:nvSpPr>
        <p:spPr>
          <a:xfrm>
            <a:off x="2377440" y="4709160"/>
            <a:ext cx="4544568" cy="55778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C825F253-62F8-4761-9BBB-061DB5680E30}"/>
              </a:ext>
            </a:extLst>
          </p:cNvPr>
          <p:cNvSpPr>
            <a:spLocks noGrp="1"/>
          </p:cNvSpPr>
          <p:nvPr/>
        </p:nvSpPr>
        <p:spPr>
          <a:xfrm>
            <a:off x="6922008" y="4709160"/>
            <a:ext cx="4764024" cy="557784"/>
          </a:xfrm>
          <a:prstGeom prst="rect">
            <a:avLst/>
          </a:prstGeom>
          <a:solidFill>
            <a:srgbClr val="FFFFFF"/>
          </a:solidFill>
          <a:ln w="1016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FA33461E-D7A9-4098-AD8B-A225717F0964}"/>
              </a:ext>
            </a:extLst>
          </p:cNvPr>
          <p:cNvSpPr>
            <a:spLocks noGrp="1"/>
          </p:cNvSpPr>
          <p:nvPr/>
        </p:nvSpPr>
        <p:spPr>
          <a:xfrm>
            <a:off x="292608" y="2020824"/>
            <a:ext cx="2066544" cy="265176"/>
          </a:xfrm>
          <a:prstGeom prst="rect">
            <a:avLst/>
          </a:prstGeom>
          <a:noFill/>
          <a:effectLst/>
        </p:spPr>
        <p:txBody>
          <a:bodyPr wrap="square" lIns="0" tIns="0" rIns="0" bIns="0" anchor="ctr">
            <a:spAutoFit/>
          </a:bodyPr>
          <a:lstStyle/>
          <a:p>
            <a:pPr algn="ctr">
              <a:spcBef>
                <a:spcPts val="0"/>
              </a:spcBef>
              <a:spcAft>
                <a:spcPts val="0"/>
              </a:spcAft>
              <a:buNone/>
            </a:pPr>
            <a:r>
              <a:rPr sz="1420" b="1">
                <a:solidFill>
                  <a:srgbClr val="0B3691"/>
                </a:solidFill>
                <a:latin typeface="Noto Sans CJK JP"/>
                <a:ea typeface="Noto Sans CJK JP"/>
                <a:cs typeface="Noto Sans CJK JP"/>
              </a:rPr>
              <a:t>観点</a:t>
            </a:r>
          </a:p>
        </p:txBody>
      </p:sp>
      <p:sp>
        <p:nvSpPr>
          <p:cNvPr id="36" name="TextBox 35">
            <a:extLst>
              <a:ext uri="{FF2B5EF4-FFF2-40B4-BE49-F238E27FC236}">
                <a16:creationId xmlns:a16="http://schemas.microsoft.com/office/drawing/2014/main" id="{F1381265-0144-42D7-8949-C73DACF85C34}"/>
              </a:ext>
            </a:extLst>
          </p:cNvPr>
          <p:cNvSpPr>
            <a:spLocks noGrp="1"/>
          </p:cNvSpPr>
          <p:nvPr/>
        </p:nvSpPr>
        <p:spPr>
          <a:xfrm>
            <a:off x="2395728" y="2020824"/>
            <a:ext cx="4507992" cy="265176"/>
          </a:xfrm>
          <a:prstGeom prst="rect">
            <a:avLst/>
          </a:prstGeom>
          <a:noFill/>
          <a:effectLst/>
        </p:spPr>
        <p:txBody>
          <a:bodyPr wrap="square" lIns="0" tIns="0" rIns="0" bIns="0" anchor="ctr">
            <a:spAutoFit/>
          </a:bodyPr>
          <a:lstStyle/>
          <a:p>
            <a:pPr algn="ctr">
              <a:spcBef>
                <a:spcPts val="0"/>
              </a:spcBef>
              <a:spcAft>
                <a:spcPts val="0"/>
              </a:spcAft>
              <a:buNone/>
            </a:pPr>
            <a:r>
              <a:rPr sz="1420" b="1">
                <a:solidFill>
                  <a:srgbClr val="0B3691"/>
                </a:solidFill>
                <a:latin typeface="Noto Sans CJK JP"/>
                <a:ea typeface="Noto Sans CJK JP"/>
                <a:cs typeface="Noto Sans CJK JP"/>
              </a:rPr>
              <a:t>OpenAI Agents SDK</a:t>
            </a:r>
          </a:p>
        </p:txBody>
      </p:sp>
      <p:sp>
        <p:nvSpPr>
          <p:cNvPr id="37" name="TextBox 36">
            <a:extLst>
              <a:ext uri="{FF2B5EF4-FFF2-40B4-BE49-F238E27FC236}">
                <a16:creationId xmlns:a16="http://schemas.microsoft.com/office/drawing/2014/main" id="{498C5FEE-D2E4-4973-8288-B11F39A92906}"/>
              </a:ext>
            </a:extLst>
          </p:cNvPr>
          <p:cNvSpPr>
            <a:spLocks noGrp="1"/>
          </p:cNvSpPr>
          <p:nvPr/>
        </p:nvSpPr>
        <p:spPr>
          <a:xfrm>
            <a:off x="6940296" y="2020824"/>
            <a:ext cx="4727448" cy="265176"/>
          </a:xfrm>
          <a:prstGeom prst="rect">
            <a:avLst/>
          </a:prstGeom>
          <a:noFill/>
          <a:effectLst/>
        </p:spPr>
        <p:txBody>
          <a:bodyPr wrap="square" lIns="0" tIns="0" rIns="0" bIns="0" anchor="ctr">
            <a:spAutoFit/>
          </a:bodyPr>
          <a:lstStyle/>
          <a:p>
            <a:pPr algn="ctr">
              <a:spcBef>
                <a:spcPts val="0"/>
              </a:spcBef>
              <a:spcAft>
                <a:spcPts val="0"/>
              </a:spcAft>
              <a:buNone/>
            </a:pPr>
            <a:r>
              <a:rPr sz="1420" b="1">
                <a:solidFill>
                  <a:srgbClr val="0B3691"/>
                </a:solidFill>
                <a:latin typeface="Noto Sans CJK JP"/>
                <a:ea typeface="Noto Sans CJK JP"/>
                <a:cs typeface="Noto Sans CJK JP"/>
              </a:rPr>
              <a:t>Claude Agent SDK</a:t>
            </a:r>
          </a:p>
        </p:txBody>
      </p:sp>
      <p:sp>
        <p:nvSpPr>
          <p:cNvPr id="38" name="TextBox 37">
            <a:extLst>
              <a:ext uri="{FF2B5EF4-FFF2-40B4-BE49-F238E27FC236}">
                <a16:creationId xmlns:a16="http://schemas.microsoft.com/office/drawing/2014/main" id="{D5A35DFA-BAB6-4CA1-B295-676DBBA7DE2D}"/>
              </a:ext>
            </a:extLst>
          </p:cNvPr>
          <p:cNvSpPr>
            <a:spLocks noGrp="1"/>
          </p:cNvSpPr>
          <p:nvPr/>
        </p:nvSpPr>
        <p:spPr>
          <a:xfrm>
            <a:off x="402336" y="2313432"/>
            <a:ext cx="1847088" cy="365760"/>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MCP利用</a:t>
            </a:r>
          </a:p>
        </p:txBody>
      </p:sp>
      <p:sp>
        <p:nvSpPr>
          <p:cNvPr id="39" name="TextBox 38">
            <a:extLst>
              <a:ext uri="{FF2B5EF4-FFF2-40B4-BE49-F238E27FC236}">
                <a16:creationId xmlns:a16="http://schemas.microsoft.com/office/drawing/2014/main" id="{10D76A85-C6F7-48C4-8248-1E6FA1037978}"/>
              </a:ext>
            </a:extLst>
          </p:cNvPr>
          <p:cNvSpPr>
            <a:spLocks noGrp="1"/>
          </p:cNvSpPr>
          <p:nvPr/>
        </p:nvSpPr>
        <p:spPr>
          <a:xfrm>
            <a:off x="402336" y="2715768"/>
            <a:ext cx="1847088" cy="493776"/>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Tool公開の制御</a:t>
            </a:r>
          </a:p>
          <a:p>
            <a:pPr algn="l">
              <a:spcBef>
                <a:spcPts val="0"/>
              </a:spcBef>
              <a:spcAft>
                <a:spcPts val="0"/>
              </a:spcAft>
              <a:buNone/>
            </a:pPr>
            <a:r>
              <a:rPr sz="1300" b="1">
                <a:solidFill>
                  <a:srgbClr val="092E79"/>
                </a:solidFill>
                <a:latin typeface="Noto Sans CJK JP"/>
                <a:ea typeface="Noto Sans CJK JP"/>
                <a:cs typeface="Noto Sans CJK JP"/>
              </a:rPr>
              <a:t>（レイヤー①）</a:t>
            </a:r>
          </a:p>
        </p:txBody>
      </p:sp>
      <p:sp>
        <p:nvSpPr>
          <p:cNvPr id="40" name="TextBox 39">
            <a:extLst>
              <a:ext uri="{FF2B5EF4-FFF2-40B4-BE49-F238E27FC236}">
                <a16:creationId xmlns:a16="http://schemas.microsoft.com/office/drawing/2014/main" id="{BF1D8B3F-6E7A-42AB-9B47-268D09A8F9C7}"/>
              </a:ext>
            </a:extLst>
          </p:cNvPr>
          <p:cNvSpPr>
            <a:spLocks noGrp="1"/>
          </p:cNvSpPr>
          <p:nvPr/>
        </p:nvSpPr>
        <p:spPr>
          <a:xfrm>
            <a:off x="402336" y="3246120"/>
            <a:ext cx="1847088" cy="475488"/>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Tool実行の制御</a:t>
            </a:r>
          </a:p>
          <a:p>
            <a:pPr algn="l">
              <a:spcBef>
                <a:spcPts val="0"/>
              </a:spcBef>
              <a:spcAft>
                <a:spcPts val="0"/>
              </a:spcAft>
              <a:buNone/>
            </a:pPr>
            <a:r>
              <a:rPr sz="1300" b="1">
                <a:solidFill>
                  <a:srgbClr val="092E79"/>
                </a:solidFill>
                <a:latin typeface="Noto Sans CJK JP"/>
                <a:ea typeface="Noto Sans CJK JP"/>
                <a:cs typeface="Noto Sans CJK JP"/>
              </a:rPr>
              <a:t>（レイヤー②）</a:t>
            </a:r>
          </a:p>
        </p:txBody>
      </p:sp>
      <p:sp>
        <p:nvSpPr>
          <p:cNvPr id="41" name="TextBox 40">
            <a:extLst>
              <a:ext uri="{FF2B5EF4-FFF2-40B4-BE49-F238E27FC236}">
                <a16:creationId xmlns:a16="http://schemas.microsoft.com/office/drawing/2014/main" id="{50DA7131-4541-41E2-A7FD-80D5CEC01100}"/>
              </a:ext>
            </a:extLst>
          </p:cNvPr>
          <p:cNvSpPr>
            <a:spLocks noGrp="1"/>
          </p:cNvSpPr>
          <p:nvPr/>
        </p:nvSpPr>
        <p:spPr>
          <a:xfrm>
            <a:off x="402336" y="3758184"/>
            <a:ext cx="1847088" cy="475488"/>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コンテキスト依存の制御</a:t>
            </a:r>
          </a:p>
        </p:txBody>
      </p:sp>
      <p:sp>
        <p:nvSpPr>
          <p:cNvPr id="42" name="TextBox 41">
            <a:extLst>
              <a:ext uri="{FF2B5EF4-FFF2-40B4-BE49-F238E27FC236}">
                <a16:creationId xmlns:a16="http://schemas.microsoft.com/office/drawing/2014/main" id="{2FAF8E2F-EF72-43BE-B40B-18970F6B5332}"/>
              </a:ext>
            </a:extLst>
          </p:cNvPr>
          <p:cNvSpPr>
            <a:spLocks noGrp="1"/>
          </p:cNvSpPr>
          <p:nvPr/>
        </p:nvSpPr>
        <p:spPr>
          <a:xfrm>
            <a:off x="402336" y="4270248"/>
            <a:ext cx="1847088" cy="420624"/>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Server設定の固定</a:t>
            </a:r>
          </a:p>
        </p:txBody>
      </p:sp>
      <p:sp>
        <p:nvSpPr>
          <p:cNvPr id="43" name="TextBox 42">
            <a:extLst>
              <a:ext uri="{FF2B5EF4-FFF2-40B4-BE49-F238E27FC236}">
                <a16:creationId xmlns:a16="http://schemas.microsoft.com/office/drawing/2014/main" id="{21B2285B-AA6E-41D9-9ED6-6B650E7A81C3}"/>
              </a:ext>
            </a:extLst>
          </p:cNvPr>
          <p:cNvSpPr>
            <a:spLocks noGrp="1"/>
          </p:cNvSpPr>
          <p:nvPr/>
        </p:nvSpPr>
        <p:spPr>
          <a:xfrm>
            <a:off x="402336" y="4727448"/>
            <a:ext cx="1847088" cy="521208"/>
          </a:xfrm>
          <a:prstGeom prst="rect">
            <a:avLst/>
          </a:prstGeom>
          <a:noFill/>
          <a:effectLst/>
        </p:spPr>
        <p:txBody>
          <a:bodyPr wrap="square" lIns="0" tIns="0" rIns="0" bIns="0" anchor="ctr">
            <a:spAutoFit/>
          </a:bodyPr>
          <a:lstStyle/>
          <a:p>
            <a:pPr algn="l">
              <a:spcBef>
                <a:spcPts val="0"/>
              </a:spcBef>
              <a:spcAft>
                <a:spcPts val="0"/>
              </a:spcAft>
              <a:buNone/>
            </a:pPr>
            <a:r>
              <a:rPr sz="1300" b="1">
                <a:solidFill>
                  <a:srgbClr val="092E79"/>
                </a:solidFill>
                <a:latin typeface="Noto Sans CJK JP"/>
                <a:ea typeface="Noto Sans CJK JP"/>
                <a:cs typeface="Noto Sans CJK JP"/>
              </a:rPr>
              <a:t>Server側のAuthorization</a:t>
            </a:r>
          </a:p>
          <a:p>
            <a:pPr algn="l">
              <a:spcBef>
                <a:spcPts val="0"/>
              </a:spcBef>
              <a:spcAft>
                <a:spcPts val="0"/>
              </a:spcAft>
              <a:buNone/>
            </a:pPr>
            <a:r>
              <a:rPr sz="1300" b="1">
                <a:solidFill>
                  <a:srgbClr val="092E79"/>
                </a:solidFill>
                <a:latin typeface="Noto Sans CJK JP"/>
                <a:ea typeface="Noto Sans CJK JP"/>
                <a:cs typeface="Noto Sans CJK JP"/>
              </a:rPr>
              <a:t>（レイヤー③）</a:t>
            </a:r>
          </a:p>
        </p:txBody>
      </p:sp>
      <p:sp>
        <p:nvSpPr>
          <p:cNvPr id="44" name="TextBox 43">
            <a:extLst>
              <a:ext uri="{FF2B5EF4-FFF2-40B4-BE49-F238E27FC236}">
                <a16:creationId xmlns:a16="http://schemas.microsoft.com/office/drawing/2014/main" id="{F3C64709-3E46-4EE8-A7C8-4C5E75D072A5}"/>
              </a:ext>
            </a:extLst>
          </p:cNvPr>
          <p:cNvSpPr>
            <a:spLocks noGrp="1"/>
          </p:cNvSpPr>
          <p:nvPr/>
        </p:nvSpPr>
        <p:spPr>
          <a:xfrm>
            <a:off x="2478024" y="2322576"/>
            <a:ext cx="4343400" cy="347472"/>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利用可能</a:t>
            </a:r>
          </a:p>
          <a:p>
            <a:pPr algn="l">
              <a:spcBef>
                <a:spcPts val="0"/>
              </a:spcBef>
              <a:spcAft>
                <a:spcPts val="0"/>
              </a:spcAft>
              <a:buNone/>
            </a:pPr>
            <a:r>
              <a:rPr sz="915" b="0">
                <a:solidFill>
                  <a:srgbClr val="000000"/>
                </a:solidFill>
                <a:latin typeface="Noto Sans CJK JP"/>
                <a:ea typeface="Noto Sans CJK JP"/>
                <a:cs typeface="Noto Sans CJK JP"/>
              </a:rPr>
              <a:t>MCP Client機能を提供</a:t>
            </a:r>
          </a:p>
        </p:txBody>
      </p:sp>
      <p:sp>
        <p:nvSpPr>
          <p:cNvPr id="45" name="TextBox 44">
            <a:extLst>
              <a:ext uri="{FF2B5EF4-FFF2-40B4-BE49-F238E27FC236}">
                <a16:creationId xmlns:a16="http://schemas.microsoft.com/office/drawing/2014/main" id="{240755A7-DAEE-4C37-B9E9-31FB8DDCF8E6}"/>
              </a:ext>
            </a:extLst>
          </p:cNvPr>
          <p:cNvSpPr>
            <a:spLocks noGrp="1"/>
          </p:cNvSpPr>
          <p:nvPr/>
        </p:nvSpPr>
        <p:spPr>
          <a:xfrm>
            <a:off x="2478024" y="2724912"/>
            <a:ext cx="4343400" cy="475488"/>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Static／Dynamic Filter</a:t>
            </a:r>
          </a:p>
          <a:p>
            <a:pPr algn="l">
              <a:spcBef>
                <a:spcPts val="0"/>
              </a:spcBef>
              <a:spcAft>
                <a:spcPts val="0"/>
              </a:spcAft>
              <a:buNone/>
            </a:pPr>
            <a:r>
              <a:rPr sz="915" b="0">
                <a:solidFill>
                  <a:srgbClr val="000000"/>
                </a:solidFill>
                <a:latin typeface="Noto Sans CJK JP"/>
                <a:ea typeface="Noto Sans CJK JP"/>
                <a:cs typeface="Noto Sans CJK JP"/>
              </a:rPr>
              <a:t>MCP ServerやToolを静的または動的ルールで絞り込み，</a:t>
            </a:r>
          </a:p>
          <a:p>
            <a:pPr algn="l">
              <a:spcBef>
                <a:spcPts val="0"/>
              </a:spcBef>
              <a:spcAft>
                <a:spcPts val="0"/>
              </a:spcAft>
              <a:buNone/>
            </a:pPr>
            <a:r>
              <a:rPr sz="915" b="0">
                <a:solidFill>
                  <a:srgbClr val="000000"/>
                </a:solidFill>
                <a:latin typeface="Noto Sans CJK JP"/>
                <a:ea typeface="Noto Sans CJK JP"/>
                <a:cs typeface="Noto Sans CJK JP"/>
              </a:rPr>
              <a:t>Agentに公開するToolの範囲を制御できる．</a:t>
            </a:r>
          </a:p>
        </p:txBody>
      </p:sp>
      <p:sp>
        <p:nvSpPr>
          <p:cNvPr id="46" name="TextBox 45">
            <a:extLst>
              <a:ext uri="{FF2B5EF4-FFF2-40B4-BE49-F238E27FC236}">
                <a16:creationId xmlns:a16="http://schemas.microsoft.com/office/drawing/2014/main" id="{DD2B6298-9ADF-454B-9D54-4D86F54BAE89}"/>
              </a:ext>
            </a:extLst>
          </p:cNvPr>
          <p:cNvSpPr>
            <a:spLocks noGrp="1"/>
          </p:cNvSpPr>
          <p:nvPr/>
        </p:nvSpPr>
        <p:spPr>
          <a:xfrm>
            <a:off x="2478024" y="3255264"/>
            <a:ext cx="4343400" cy="457200"/>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require_approval</a:t>
            </a:r>
          </a:p>
          <a:p>
            <a:pPr algn="l">
              <a:spcBef>
                <a:spcPts val="0"/>
              </a:spcBef>
              <a:spcAft>
                <a:spcPts val="0"/>
              </a:spcAft>
              <a:buNone/>
            </a:pPr>
            <a:r>
              <a:rPr sz="915" b="0">
                <a:solidFill>
                  <a:srgbClr val="000000"/>
                </a:solidFill>
                <a:latin typeface="Noto Sans CJK JP"/>
                <a:ea typeface="Noto Sans CJK JP"/>
                <a:cs typeface="Noto Sans CJK JP"/>
              </a:rPr>
              <a:t>MCP ToolごとにApproval Requirementを設定でき，</a:t>
            </a:r>
          </a:p>
          <a:p>
            <a:pPr algn="l">
              <a:spcBef>
                <a:spcPts val="0"/>
              </a:spcBef>
              <a:spcAft>
                <a:spcPts val="0"/>
              </a:spcAft>
              <a:buNone/>
            </a:pPr>
            <a:r>
              <a:rPr sz="915" b="0">
                <a:solidFill>
                  <a:srgbClr val="000000"/>
                </a:solidFill>
                <a:latin typeface="Noto Sans CJK JP"/>
                <a:ea typeface="Noto Sans CJK JP"/>
                <a:cs typeface="Noto Sans CJK JP"/>
              </a:rPr>
              <a:t>Tool実行前に人間確認を挟むことができる．</a:t>
            </a:r>
          </a:p>
        </p:txBody>
      </p:sp>
      <p:sp>
        <p:nvSpPr>
          <p:cNvPr id="47" name="TextBox 46">
            <a:extLst>
              <a:ext uri="{FF2B5EF4-FFF2-40B4-BE49-F238E27FC236}">
                <a16:creationId xmlns:a16="http://schemas.microsoft.com/office/drawing/2014/main" id="{2F52038F-CC76-44E2-A21C-9D22E460DD94}"/>
              </a:ext>
            </a:extLst>
          </p:cNvPr>
          <p:cNvSpPr>
            <a:spLocks noGrp="1"/>
          </p:cNvSpPr>
          <p:nvPr/>
        </p:nvSpPr>
        <p:spPr>
          <a:xfrm>
            <a:off x="2478024" y="3767328"/>
            <a:ext cx="4343400" cy="457200"/>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Dynamic Filter</a:t>
            </a:r>
          </a:p>
          <a:p>
            <a:pPr algn="l">
              <a:spcBef>
                <a:spcPts val="0"/>
              </a:spcBef>
              <a:spcAft>
                <a:spcPts val="0"/>
              </a:spcAft>
              <a:buNone/>
            </a:pPr>
            <a:r>
              <a:rPr sz="915" b="0">
                <a:solidFill>
                  <a:srgbClr val="000000"/>
                </a:solidFill>
                <a:latin typeface="Noto Sans CJK JP"/>
                <a:ea typeface="Noto Sans CJK JP"/>
                <a:cs typeface="Noto Sans CJK JP"/>
              </a:rPr>
              <a:t>ユーザー属性や実行Contextに応じて，公開するMCP Toolを</a:t>
            </a:r>
          </a:p>
          <a:p>
            <a:pPr algn="l">
              <a:spcBef>
                <a:spcPts val="0"/>
              </a:spcBef>
              <a:spcAft>
                <a:spcPts val="0"/>
              </a:spcAft>
              <a:buNone/>
            </a:pPr>
            <a:r>
              <a:rPr sz="915" b="0">
                <a:solidFill>
                  <a:srgbClr val="000000"/>
                </a:solidFill>
                <a:latin typeface="Noto Sans CJK JP"/>
                <a:ea typeface="Noto Sans CJK JP"/>
                <a:cs typeface="Noto Sans CJK JP"/>
              </a:rPr>
              <a:t>動的に切り替えられる．</a:t>
            </a:r>
          </a:p>
        </p:txBody>
      </p:sp>
      <p:sp>
        <p:nvSpPr>
          <p:cNvPr id="48" name="TextBox 47">
            <a:extLst>
              <a:ext uri="{FF2B5EF4-FFF2-40B4-BE49-F238E27FC236}">
                <a16:creationId xmlns:a16="http://schemas.microsoft.com/office/drawing/2014/main" id="{C109F5C9-9D3F-474B-93BE-BE70386E8482}"/>
              </a:ext>
            </a:extLst>
          </p:cNvPr>
          <p:cNvSpPr>
            <a:spLocks noGrp="1"/>
          </p:cNvSpPr>
          <p:nvPr/>
        </p:nvSpPr>
        <p:spPr>
          <a:xfrm>
            <a:off x="2478024" y="4279392"/>
            <a:ext cx="4343400" cy="402336"/>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Application構成で固定</a:t>
            </a:r>
          </a:p>
          <a:p>
            <a:pPr algn="l">
              <a:spcBef>
                <a:spcPts val="0"/>
              </a:spcBef>
              <a:spcAft>
                <a:spcPts val="0"/>
              </a:spcAft>
              <a:buNone/>
            </a:pPr>
            <a:r>
              <a:rPr sz="915" b="0">
                <a:solidFill>
                  <a:srgbClr val="000000"/>
                </a:solidFill>
                <a:latin typeface="Noto Sans CJK JP"/>
                <a:ea typeface="Noto Sans CJK JP"/>
                <a:cs typeface="Noto Sans CJK JP"/>
              </a:rPr>
              <a:t>利用するMCP ServerはApplication側の構成で固定する．</a:t>
            </a:r>
          </a:p>
        </p:txBody>
      </p:sp>
      <p:sp>
        <p:nvSpPr>
          <p:cNvPr id="49" name="TextBox 48">
            <a:extLst>
              <a:ext uri="{FF2B5EF4-FFF2-40B4-BE49-F238E27FC236}">
                <a16:creationId xmlns:a16="http://schemas.microsoft.com/office/drawing/2014/main" id="{DB9FBB66-2AAF-4198-BAB7-E4FE04233554}"/>
              </a:ext>
            </a:extLst>
          </p:cNvPr>
          <p:cNvSpPr>
            <a:spLocks noGrp="1"/>
          </p:cNvSpPr>
          <p:nvPr/>
        </p:nvSpPr>
        <p:spPr>
          <a:xfrm>
            <a:off x="2478024" y="4736592"/>
            <a:ext cx="4343400" cy="502920"/>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別途必要</a:t>
            </a:r>
          </a:p>
          <a:p>
            <a:pPr algn="l">
              <a:spcBef>
                <a:spcPts val="0"/>
              </a:spcBef>
              <a:spcAft>
                <a:spcPts val="0"/>
              </a:spcAft>
              <a:buNone/>
            </a:pPr>
            <a:r>
              <a:rPr sz="915" b="0">
                <a:solidFill>
                  <a:srgbClr val="000000"/>
                </a:solidFill>
                <a:latin typeface="Noto Sans CJK JP"/>
                <a:ea typeface="Noto Sans CJK JP"/>
                <a:cs typeface="Noto Sans CJK JP"/>
              </a:rPr>
              <a:t>MCP Server側でのResource AuthorizationはSDKでは提供されない．</a:t>
            </a:r>
          </a:p>
          <a:p>
            <a:pPr algn="l">
              <a:spcBef>
                <a:spcPts val="0"/>
              </a:spcBef>
              <a:spcAft>
                <a:spcPts val="0"/>
              </a:spcAft>
              <a:buNone/>
            </a:pPr>
            <a:r>
              <a:rPr sz="915" b="0">
                <a:solidFill>
                  <a:srgbClr val="000000"/>
                </a:solidFill>
                <a:latin typeface="Noto Sans CJK JP"/>
                <a:ea typeface="Noto Sans CJK JP"/>
                <a:cs typeface="Noto Sans CJK JP"/>
              </a:rPr>
              <a:t>Server側の認可ポリシーが必要．</a:t>
            </a:r>
          </a:p>
        </p:txBody>
      </p:sp>
      <p:sp>
        <p:nvSpPr>
          <p:cNvPr id="50" name="TextBox 49">
            <a:extLst>
              <a:ext uri="{FF2B5EF4-FFF2-40B4-BE49-F238E27FC236}">
                <a16:creationId xmlns:a16="http://schemas.microsoft.com/office/drawing/2014/main" id="{A4ADD8C3-33ED-4E8B-96DB-89FCACCD4026}"/>
              </a:ext>
            </a:extLst>
          </p:cNvPr>
          <p:cNvSpPr>
            <a:spLocks noGrp="1"/>
          </p:cNvSpPr>
          <p:nvPr/>
        </p:nvSpPr>
        <p:spPr>
          <a:xfrm>
            <a:off x="7022592" y="2322576"/>
            <a:ext cx="4562856" cy="347472"/>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利用可能</a:t>
            </a:r>
          </a:p>
          <a:p>
            <a:pPr algn="l">
              <a:spcBef>
                <a:spcPts val="0"/>
              </a:spcBef>
              <a:spcAft>
                <a:spcPts val="0"/>
              </a:spcAft>
              <a:buNone/>
            </a:pPr>
            <a:r>
              <a:rPr sz="915" b="0">
                <a:solidFill>
                  <a:srgbClr val="000000"/>
                </a:solidFill>
                <a:latin typeface="Noto Sans CJK JP"/>
                <a:ea typeface="Noto Sans CJK JP"/>
                <a:cs typeface="Noto Sans CJK JP"/>
              </a:rPr>
              <a:t>MCP Toolを通常のToolと同様に扱える</a:t>
            </a:r>
          </a:p>
        </p:txBody>
      </p:sp>
      <p:sp>
        <p:nvSpPr>
          <p:cNvPr id="51" name="TextBox 50">
            <a:extLst>
              <a:ext uri="{FF2B5EF4-FFF2-40B4-BE49-F238E27FC236}">
                <a16:creationId xmlns:a16="http://schemas.microsoft.com/office/drawing/2014/main" id="{6DE401B5-3591-4AAE-8601-68FD4B2689D0}"/>
              </a:ext>
            </a:extLst>
          </p:cNvPr>
          <p:cNvSpPr>
            <a:spLocks noGrp="1"/>
          </p:cNvSpPr>
          <p:nvPr/>
        </p:nvSpPr>
        <p:spPr>
          <a:xfrm>
            <a:off x="7022592" y="2724912"/>
            <a:ext cx="4562856" cy="475488"/>
          </a:xfrm>
          <a:prstGeom prst="rect">
            <a:avLst/>
          </a:prstGeom>
          <a:noFill/>
          <a:effectLst/>
        </p:spPr>
        <p:txBody>
          <a:bodyPr wrap="square" lIns="0" tIns="0" rIns="0" bIns="0" anchor="t">
            <a:spAutoFit/>
          </a:bodyPr>
          <a:lstStyle/>
          <a:p>
            <a:pPr algn="l">
              <a:spcBef>
                <a:spcPts val="0"/>
              </a:spcBef>
              <a:spcAft>
                <a:spcPts val="0"/>
              </a:spcAft>
              <a:buNone/>
            </a:pPr>
            <a:r>
              <a:rPr sz="650" b="1">
                <a:solidFill>
                  <a:srgbClr val="092E79"/>
                </a:solidFill>
                <a:latin typeface="Noto Sans CJK JP"/>
              </a:rPr>
              <a:t>Permission / disallowed_tools等</a:t>
            </a:r>
          </a:p>
          <a:p>
            <a:pPr algn="l"/>
            <a:r>
              <a:rPr sz="650" b="1">
                <a:solidFill>
                  <a:srgbClr val="092E79"/>
                </a:solidFill>
                <a:latin typeface="Noto Sans CJK JP"/>
              </a:rPr>
              <a:t>MCP Tool名をPermission対象として制御できる．</a:t>
            </a:r>
          </a:p>
        </p:txBody>
      </p:sp>
      <p:sp>
        <p:nvSpPr>
          <p:cNvPr id="52" name="TextBox 51">
            <a:extLst>
              <a:ext uri="{FF2B5EF4-FFF2-40B4-BE49-F238E27FC236}">
                <a16:creationId xmlns:a16="http://schemas.microsoft.com/office/drawing/2014/main" id="{092E7C8D-C451-4A1C-B0F3-D778E92DFDD5}"/>
              </a:ext>
            </a:extLst>
          </p:cNvPr>
          <p:cNvSpPr>
            <a:spLocks noGrp="1"/>
          </p:cNvSpPr>
          <p:nvPr/>
        </p:nvSpPr>
        <p:spPr>
          <a:xfrm>
            <a:off x="7022592" y="3255264"/>
            <a:ext cx="4562856" cy="457200"/>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Permission Flow</a:t>
            </a:r>
          </a:p>
          <a:p>
            <a:pPr algn="l">
              <a:spcBef>
                <a:spcPts val="0"/>
              </a:spcBef>
              <a:spcAft>
                <a:spcPts val="0"/>
              </a:spcAft>
              <a:buNone/>
            </a:pPr>
            <a:r>
              <a:rPr sz="915" b="0">
                <a:solidFill>
                  <a:srgbClr val="000000"/>
                </a:solidFill>
                <a:latin typeface="Noto Sans CJK JP"/>
                <a:ea typeface="Noto Sans CJK JP"/>
                <a:cs typeface="Noto Sans CJK JP"/>
              </a:rPr>
              <a:t>PreToolUseなどでMCP ToolのTool名や入力を確認し，</a:t>
            </a:r>
          </a:p>
          <a:p>
            <a:pPr algn="l">
              <a:spcBef>
                <a:spcPts val="0"/>
              </a:spcBef>
              <a:spcAft>
                <a:spcPts val="0"/>
              </a:spcAft>
              <a:buNone/>
            </a:pPr>
            <a:r>
              <a:rPr sz="915" b="0">
                <a:solidFill>
                  <a:srgbClr val="000000"/>
                </a:solidFill>
                <a:latin typeface="Noto Sans CJK JP"/>
                <a:ea typeface="Noto Sans CJK JP"/>
                <a:cs typeface="Noto Sans CJK JP"/>
              </a:rPr>
              <a:t>Allow／Ask／Denyを判断できる．</a:t>
            </a:r>
          </a:p>
        </p:txBody>
      </p:sp>
      <p:sp>
        <p:nvSpPr>
          <p:cNvPr id="53" name="TextBox 52">
            <a:extLst>
              <a:ext uri="{FF2B5EF4-FFF2-40B4-BE49-F238E27FC236}">
                <a16:creationId xmlns:a16="http://schemas.microsoft.com/office/drawing/2014/main" id="{3C809A87-7444-42E8-BE73-31BEE29E3C19}"/>
              </a:ext>
            </a:extLst>
          </p:cNvPr>
          <p:cNvSpPr>
            <a:spLocks noGrp="1"/>
          </p:cNvSpPr>
          <p:nvPr/>
        </p:nvSpPr>
        <p:spPr>
          <a:xfrm>
            <a:off x="7022592" y="3767328"/>
            <a:ext cx="4562856" cy="457200"/>
          </a:xfrm>
          <a:prstGeom prst="rect">
            <a:avLst/>
          </a:prstGeom>
          <a:noFill/>
          <a:effectLst/>
        </p:spPr>
        <p:txBody>
          <a:bodyPr wrap="square" lIns="0" tIns="0" rIns="0" bIns="0" anchor="t">
            <a:spAutoFit/>
          </a:bodyPr>
          <a:lstStyle/>
          <a:p>
            <a:pPr algn="l">
              <a:spcBef>
                <a:spcPts val="0"/>
              </a:spcBef>
              <a:spcAft>
                <a:spcPts val="0"/>
              </a:spcAft>
              <a:buNone/>
            </a:pPr>
            <a:r>
              <a:rPr sz="1140" b="1">
                <a:solidFill>
                  <a:srgbClr val="092E79"/>
                </a:solidFill>
                <a:latin typeface="Noto Sans CJK JP"/>
                <a:ea typeface="Noto Sans CJK JP"/>
                <a:cs typeface="Noto Sans CJK JP"/>
              </a:rPr>
              <a:t>Permission／Hooksによる柔軟な制御</a:t>
            </a:r>
          </a:p>
          <a:p>
            <a:pPr algn="l">
              <a:spcBef>
                <a:spcPts val="0"/>
              </a:spcBef>
              <a:spcAft>
                <a:spcPts val="0"/>
              </a:spcAft>
              <a:buNone/>
            </a:pPr>
            <a:r>
              <a:rPr sz="915" b="0">
                <a:solidFill>
                  <a:srgbClr val="000000"/>
                </a:solidFill>
                <a:latin typeface="Noto Sans CJK JP"/>
                <a:ea typeface="Noto Sans CJK JP"/>
                <a:cs typeface="Noto Sans CJK JP"/>
              </a:rPr>
              <a:t>Tool名，入力，ユーザー，環境などを組み合わせて柔軟に判断可能．</a:t>
            </a:r>
          </a:p>
        </p:txBody>
      </p:sp>
      <p:sp>
        <p:nvSpPr>
          <p:cNvPr id="54" name="TextBox 53">
            <a:extLst>
              <a:ext uri="{FF2B5EF4-FFF2-40B4-BE49-F238E27FC236}">
                <a16:creationId xmlns:a16="http://schemas.microsoft.com/office/drawing/2014/main" id="{37D126AB-F84B-4FE6-912E-5B084212D709}"/>
              </a:ext>
            </a:extLst>
          </p:cNvPr>
          <p:cNvSpPr>
            <a:spLocks noGrp="1"/>
          </p:cNvSpPr>
          <p:nvPr/>
        </p:nvSpPr>
        <p:spPr>
          <a:xfrm>
            <a:off x="7022592" y="4279392"/>
            <a:ext cx="4562856" cy="402336"/>
          </a:xfrm>
          <a:prstGeom prst="rect">
            <a:avLst/>
          </a:prstGeom>
          <a:noFill/>
          <a:effectLst/>
        </p:spPr>
        <p:txBody>
          <a:bodyPr wrap="square" lIns="0" tIns="0" rIns="0" bIns="0" anchor="t">
            <a:spAutoFit/>
          </a:bodyPr>
          <a:lstStyle/>
          <a:p>
            <a:pPr algn="l">
              <a:spcBef>
                <a:spcPts val="0"/>
              </a:spcBef>
              <a:spcAft>
                <a:spcPts val="0"/>
              </a:spcAft>
              <a:buNone/>
            </a:pPr>
            <a:r>
              <a:rPr sz="650" b="1">
                <a:solidFill>
                  <a:srgbClr val="092E79"/>
                </a:solidFill>
                <a:latin typeface="Noto Sans CJK JP"/>
              </a:rPr>
              <a:t>strict_mcp_config等</a:t>
            </a:r>
          </a:p>
          <a:p>
            <a:pPr algn="l"/>
            <a:r>
              <a:rPr sz="650" b="1">
                <a:solidFill>
                  <a:srgbClr val="092E79"/>
                </a:solidFill>
                <a:latin typeface="Noto Sans CJK JP"/>
              </a:rPr>
              <a:t>programmatically渡したMCP Serverのみを使う構成をサポートする．</a:t>
            </a:r>
          </a:p>
        </p:txBody>
      </p:sp>
      <p:sp>
        <p:nvSpPr>
          <p:cNvPr id="55" name="TextBox 54">
            <a:extLst>
              <a:ext uri="{FF2B5EF4-FFF2-40B4-BE49-F238E27FC236}">
                <a16:creationId xmlns:a16="http://schemas.microsoft.com/office/drawing/2014/main" id="{5AA5B8BA-F8CE-4A06-B9C2-7A30359A4BC9}"/>
              </a:ext>
            </a:extLst>
          </p:cNvPr>
          <p:cNvSpPr>
            <a:spLocks noGrp="1"/>
          </p:cNvSpPr>
          <p:nvPr/>
        </p:nvSpPr>
        <p:spPr>
          <a:xfrm>
            <a:off x="7022592" y="4736592"/>
            <a:ext cx="4562856" cy="502920"/>
          </a:xfrm>
          <a:prstGeom prst="rect">
            <a:avLst/>
          </a:prstGeom>
          <a:noFill/>
          <a:effectLst/>
        </p:spPr>
        <p:txBody>
          <a:bodyPr wrap="square" lIns="0" tIns="0" rIns="0" bIns="0" anchor="t">
            <a:spAutoFit/>
          </a:bodyPr>
          <a:lstStyle/>
          <a:p>
            <a:pPr algn="l">
              <a:spcBef>
                <a:spcPts val="0"/>
              </a:spcBef>
              <a:spcAft>
                <a:spcPts val="0"/>
              </a:spcAft>
              <a:buNone/>
            </a:pPr>
            <a:r>
              <a:rPr sz="620" b="1">
                <a:solidFill>
                  <a:srgbClr val="092E79"/>
                </a:solidFill>
                <a:latin typeface="Noto Sans CJK JP"/>
              </a:rPr>
              <a:t>別途必要</a:t>
            </a:r>
          </a:p>
          <a:p>
            <a:pPr algn="l"/>
            <a:r>
              <a:rPr sz="620" b="1">
                <a:solidFill>
                  <a:srgbClr val="092E79"/>
                </a:solidFill>
                <a:latin typeface="Noto Sans CJK JP"/>
              </a:rPr>
              <a:t>MCP Server内部のAuthorizationはSDK外の責任．</a:t>
            </a:r>
          </a:p>
          <a:p>
            <a:pPr algn="l"/>
            <a:r>
              <a:rPr sz="620" b="1">
                <a:solidFill>
                  <a:srgbClr val="092E79"/>
                </a:solidFill>
                <a:latin typeface="Noto Sans CJK JP"/>
              </a:rPr>
              <a:t>Server側の認可・認証が必要．</a:t>
            </a:r>
          </a:p>
        </p:txBody>
      </p:sp>
      <p:sp>
        <p:nvSpPr>
          <p:cNvPr id="56" name="Rectangle 55">
            <a:extLst>
              <a:ext uri="{FF2B5EF4-FFF2-40B4-BE49-F238E27FC236}">
                <a16:creationId xmlns:a16="http://schemas.microsoft.com/office/drawing/2014/main" id="{F7CA21DB-17A6-4E93-A6A4-6AFF586FBAE6}"/>
              </a:ext>
            </a:extLst>
          </p:cNvPr>
          <p:cNvSpPr>
            <a:spLocks noGrp="1"/>
          </p:cNvSpPr>
          <p:nvPr/>
        </p:nvSpPr>
        <p:spPr>
          <a:xfrm>
            <a:off x="274320" y="5321808"/>
            <a:ext cx="5376672" cy="1024128"/>
          </a:xfrm>
          <a:prstGeom prst="rect">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Rectangle 56">
            <a:extLst>
              <a:ext uri="{FF2B5EF4-FFF2-40B4-BE49-F238E27FC236}">
                <a16:creationId xmlns:a16="http://schemas.microsoft.com/office/drawing/2014/main" id="{A8E07E8E-C8A2-4F1D-AC22-103765694234}"/>
              </a:ext>
            </a:extLst>
          </p:cNvPr>
          <p:cNvSpPr>
            <a:spLocks noGrp="1"/>
          </p:cNvSpPr>
          <p:nvPr/>
        </p:nvSpPr>
        <p:spPr>
          <a:xfrm>
            <a:off x="274320" y="5321808"/>
            <a:ext cx="5376672" cy="20116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48345D2E-58B5-4DA3-91F4-E7027C43F546}"/>
              </a:ext>
            </a:extLst>
          </p:cNvPr>
          <p:cNvSpPr>
            <a:spLocks noGrp="1"/>
          </p:cNvSpPr>
          <p:nvPr/>
        </p:nvSpPr>
        <p:spPr>
          <a:xfrm>
            <a:off x="274320" y="5330952"/>
            <a:ext cx="5376672" cy="210312"/>
          </a:xfrm>
          <a:prstGeom prst="rect">
            <a:avLst/>
          </a:prstGeom>
          <a:noFill/>
          <a:effectLst/>
        </p:spPr>
        <p:txBody>
          <a:bodyPr wrap="square" lIns="0" tIns="0" rIns="0" bIns="0" anchor="t">
            <a:spAutoFit/>
          </a:bodyPr>
          <a:lstStyle/>
          <a:p>
            <a:pPr algn="ctr">
              <a:spcBef>
                <a:spcPts val="0"/>
              </a:spcBef>
              <a:spcAft>
                <a:spcPts val="0"/>
              </a:spcAft>
              <a:buNone/>
            </a:pPr>
            <a:r>
              <a:rPr sz="1380" b="1">
                <a:solidFill>
                  <a:srgbClr val="0B3691"/>
                </a:solidFill>
                <a:latin typeface="Noto Sans CJK JP"/>
                <a:ea typeface="Noto Sans CJK JP"/>
                <a:cs typeface="Noto Sans CJK JP"/>
              </a:rPr>
              <a:t>まとめ</a:t>
            </a:r>
          </a:p>
        </p:txBody>
      </p:sp>
      <p:sp>
        <p:nvSpPr>
          <p:cNvPr id="59" name="TextBox 58">
            <a:extLst>
              <a:ext uri="{FF2B5EF4-FFF2-40B4-BE49-F238E27FC236}">
                <a16:creationId xmlns:a16="http://schemas.microsoft.com/office/drawing/2014/main" id="{8FA50A57-FB63-411C-B198-5B2B0B185886}"/>
              </a:ext>
            </a:extLst>
          </p:cNvPr>
          <p:cNvSpPr>
            <a:spLocks noGrp="1"/>
          </p:cNvSpPr>
          <p:nvPr/>
        </p:nvSpPr>
        <p:spPr>
          <a:xfrm>
            <a:off x="365760" y="5559552"/>
            <a:ext cx="5230368" cy="749808"/>
          </a:xfrm>
          <a:prstGeom prst="rect">
            <a:avLst/>
          </a:prstGeom>
          <a:noFill/>
          <a:effectLst/>
        </p:spPr>
        <p:txBody>
          <a:bodyPr wrap="square" lIns="0" tIns="0" rIns="0" bIns="0" anchor="t">
            <a:spAutoFit/>
          </a:bodyPr>
          <a:lstStyle/>
          <a:p>
            <a:pPr algn="l">
              <a:spcBef>
                <a:spcPts val="0"/>
              </a:spcBef>
              <a:spcAft>
                <a:spcPts val="0"/>
              </a:spcAft>
              <a:buNone/>
            </a:pPr>
            <a:r>
              <a:rPr sz="660" b="0">
                <a:solidFill>
                  <a:srgbClr val="000000"/>
                </a:solidFill>
                <a:latin typeface="Noto Sans CJK JP"/>
              </a:rPr>
              <a:t>MCP制御では，</a:t>
            </a:r>
          </a:p>
          <a:p>
            <a:pPr algn="l"/>
            <a:r>
              <a:rPr sz="660" b="0">
                <a:solidFill>
                  <a:srgbClr val="000000"/>
                </a:solidFill>
                <a:latin typeface="Noto Sans CJK JP"/>
              </a:rPr>
              <a:t>「公開するToolの範囲」「実行の可否」「Server内部のResource認可」を</a:t>
            </a:r>
          </a:p>
          <a:p>
            <a:pPr algn="l"/>
            <a:r>
              <a:rPr sz="660" b="0">
                <a:solidFill>
                  <a:srgbClr val="000000"/>
                </a:solidFill>
                <a:latin typeface="Noto Sans CJK JP"/>
              </a:rPr>
              <a:t>明確に分離して考えることが重要である．</a:t>
            </a:r>
          </a:p>
          <a:p>
            <a:pPr algn="l"/>
            <a:r>
              <a:rPr sz="660" b="0">
                <a:solidFill>
                  <a:srgbClr val="000000"/>
                </a:solidFill>
                <a:latin typeface="Noto Sans CJK JP"/>
              </a:rPr>
              <a:t>SDKは前二者の制御を支援するが，最終的なResource認可はServer側で実装する必要がある．</a:t>
            </a:r>
          </a:p>
        </p:txBody>
      </p:sp>
      <p:sp>
        <p:nvSpPr>
          <p:cNvPr id="60" name="Rectangle 59">
            <a:extLst>
              <a:ext uri="{FF2B5EF4-FFF2-40B4-BE49-F238E27FC236}">
                <a16:creationId xmlns:a16="http://schemas.microsoft.com/office/drawing/2014/main" id="{21E9834C-2094-4949-AEA3-EBABC092CFFC}"/>
              </a:ext>
            </a:extLst>
          </p:cNvPr>
          <p:cNvSpPr>
            <a:spLocks noGrp="1"/>
          </p:cNvSpPr>
          <p:nvPr/>
        </p:nvSpPr>
        <p:spPr>
          <a:xfrm>
            <a:off x="6053328" y="5321808"/>
            <a:ext cx="5468112" cy="1024128"/>
          </a:xfrm>
          <a:prstGeom prst="rect">
            <a:avLst/>
          </a:prstGeom>
          <a:solidFill>
            <a:srgbClr val="FFFFFF"/>
          </a:solidFill>
          <a:ln w="11430">
            <a:solidFill>
              <a:srgbClr val="092E79"/>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Rectangle 60">
            <a:extLst>
              <a:ext uri="{FF2B5EF4-FFF2-40B4-BE49-F238E27FC236}">
                <a16:creationId xmlns:a16="http://schemas.microsoft.com/office/drawing/2014/main" id="{A184FFC2-C1DE-4EBF-86A3-D09AEC151127}"/>
              </a:ext>
            </a:extLst>
          </p:cNvPr>
          <p:cNvSpPr>
            <a:spLocks noGrp="1"/>
          </p:cNvSpPr>
          <p:nvPr/>
        </p:nvSpPr>
        <p:spPr>
          <a:xfrm>
            <a:off x="6053328" y="5321808"/>
            <a:ext cx="5468112" cy="20116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TextBox 61">
            <a:extLst>
              <a:ext uri="{FF2B5EF4-FFF2-40B4-BE49-F238E27FC236}">
                <a16:creationId xmlns:a16="http://schemas.microsoft.com/office/drawing/2014/main" id="{1666B433-5607-4150-A088-CB22560BBFC6}"/>
              </a:ext>
            </a:extLst>
          </p:cNvPr>
          <p:cNvSpPr>
            <a:spLocks noGrp="1"/>
          </p:cNvSpPr>
          <p:nvPr/>
        </p:nvSpPr>
        <p:spPr>
          <a:xfrm>
            <a:off x="6053328" y="5330952"/>
            <a:ext cx="5468112" cy="195072"/>
          </a:xfrm>
          <a:prstGeom prst="rect">
            <a:avLst/>
          </a:prstGeom>
          <a:noFill/>
          <a:effectLst/>
        </p:spPr>
        <p:txBody>
          <a:bodyPr wrap="square" lIns="0" tIns="0" rIns="0" bIns="0" anchor="t">
            <a:spAutoFit/>
          </a:bodyPr>
          <a:lstStyle/>
          <a:p>
            <a:pPr algn="ctr">
              <a:spcBef>
                <a:spcPts val="0"/>
              </a:spcBef>
              <a:spcAft>
                <a:spcPts val="0"/>
              </a:spcAft>
              <a:buNone/>
            </a:pPr>
            <a:r>
              <a:rPr sz="1280" b="1">
                <a:solidFill>
                  <a:srgbClr val="0B3691"/>
                </a:solidFill>
                <a:latin typeface="Noto Sans CJK JP"/>
                <a:ea typeface="Noto Sans CJK JP"/>
                <a:cs typeface="Noto Sans CJK JP"/>
              </a:rPr>
              <a:t>例：ファイル操作用のMCP Serverを利用する場合</a:t>
            </a:r>
          </a:p>
        </p:txBody>
      </p:sp>
      <p:sp>
        <p:nvSpPr>
          <p:cNvPr id="63" name="TextBox 62">
            <a:extLst>
              <a:ext uri="{FF2B5EF4-FFF2-40B4-BE49-F238E27FC236}">
                <a16:creationId xmlns:a16="http://schemas.microsoft.com/office/drawing/2014/main" id="{5781F93D-FDC2-4653-A3A7-E333B99AC2B2}"/>
              </a:ext>
            </a:extLst>
          </p:cNvPr>
          <p:cNvSpPr>
            <a:spLocks noGrp="1"/>
          </p:cNvSpPr>
          <p:nvPr/>
        </p:nvSpPr>
        <p:spPr>
          <a:xfrm>
            <a:off x="6163056" y="5559552"/>
            <a:ext cx="5266944" cy="749808"/>
          </a:xfrm>
          <a:prstGeom prst="rect">
            <a:avLst/>
          </a:prstGeom>
          <a:noFill/>
          <a:effectLst/>
        </p:spPr>
        <p:txBody>
          <a:bodyPr wrap="square" lIns="0" tIns="0" rIns="0" bIns="0" anchor="t">
            <a:spAutoFit/>
          </a:bodyPr>
          <a:lstStyle/>
          <a:p>
            <a:pPr algn="l">
              <a:spcBef>
                <a:spcPts val="0"/>
              </a:spcBef>
              <a:spcAft>
                <a:spcPts val="0"/>
              </a:spcAft>
              <a:buNone/>
            </a:pPr>
            <a:r>
              <a:rPr sz="670" b="0">
                <a:solidFill>
                  <a:srgbClr val="000000"/>
                </a:solidFill>
                <a:latin typeface="Noto Sans CJK JP"/>
              </a:rPr>
              <a:t>① 一般ユーザーにはdelete_fileを公開しない（Tool Visibility）</a:t>
            </a:r>
          </a:p>
          <a:p>
            <a:pPr algn="l"/>
            <a:r>
              <a:rPr sz="670" b="0">
                <a:solidFill>
                  <a:srgbClr val="000000"/>
                </a:solidFill>
                <a:latin typeface="Noto Sans CJK JP"/>
              </a:rPr>
              <a:t>② 呼び出された場合は実行前に確認を求める（Tool実行制御）</a:t>
            </a:r>
          </a:p>
          <a:p>
            <a:pPr algn="l"/>
            <a:r>
              <a:rPr sz="670" b="0">
                <a:solidFill>
                  <a:srgbClr val="000000"/>
                </a:solidFill>
                <a:latin typeface="Noto Sans CJK JP"/>
              </a:rPr>
              <a:t>③ Server側でも削除対象ディレクトリへのアクセス権をユーザーごとに認可する（Server側認可）</a:t>
            </a:r>
          </a:p>
        </p:txBody>
      </p:sp>
      <p:sp>
        <p:nvSpPr>
          <p:cNvPr id="64" name="TextBox 63">
            <a:extLst>
              <a:ext uri="{FF2B5EF4-FFF2-40B4-BE49-F238E27FC236}">
                <a16:creationId xmlns:a16="http://schemas.microsoft.com/office/drawing/2014/main" id="{4279CF60-B5F7-4FA6-87F5-F6EB81EFF2FC}"/>
              </a:ext>
            </a:extLst>
          </p:cNvPr>
          <p:cNvSpPr>
            <a:spLocks noGrp="1"/>
          </p:cNvSpPr>
          <p:nvPr/>
        </p:nvSpPr>
        <p:spPr>
          <a:xfrm>
            <a:off x="11795760" y="6492240"/>
            <a:ext cx="310896" cy="164592"/>
          </a:xfrm>
          <a:prstGeom prst="rect">
            <a:avLst/>
          </a:prstGeom>
          <a:noFill/>
          <a:effectLst/>
        </p:spPr>
        <p:txBody>
          <a:bodyPr wrap="square" lIns="0" tIns="0" rIns="0" bIns="0" anchor="t">
            <a:spAutoFit/>
          </a:bodyPr>
          <a:lstStyle/>
          <a:p>
            <a:pPr algn="r">
              <a:spcBef>
                <a:spcPts val="0"/>
              </a:spcBef>
              <a:spcAft>
                <a:spcPts val="0"/>
              </a:spcAft>
              <a:buNone/>
            </a:pPr>
            <a:r>
              <a:rPr sz="1430" b="1">
                <a:solidFill>
                  <a:srgbClr val="092E79"/>
                </a:solidFill>
                <a:latin typeface="Noto Sans CJK JP"/>
                <a:ea typeface="Noto Sans CJK JP"/>
                <a:cs typeface="Noto Sans CJK JP"/>
              </a:rPr>
              <a:t>A7</a:t>
            </a:r>
          </a:p>
        </p:txBody>
      </p:sp>
      <p:sp>
        <p:nvSpPr>
          <p:cNvPr id="65" name="TextBox 64"/>
          <p:cNvSpPr txBox="1"/>
          <p:nvPr/>
        </p:nvSpPr>
        <p:spPr>
          <a:xfrm>
            <a:off x="9646920" y="1307592"/>
            <a:ext cx="1938528" cy="548640"/>
          </a:xfrm>
          <a:prstGeom prst="rect">
            <a:avLst/>
          </a:prstGeom>
          <a:noFill/>
          <a:effectLst/>
        </p:spPr>
        <p:txBody>
          <a:bodyPr wrap="square" lIns="27432" tIns="9144" rIns="18288" bIns="9144">
            <a:spAutoFit/>
          </a:bodyPr>
          <a:lstStyle/>
          <a:p>
            <a:pPr algn="l"/>
            <a:r>
              <a:rPr sz="760" b="1">
                <a:solidFill>
                  <a:srgbClr val="000000"/>
                </a:solidFill>
                <a:latin typeface="Meiryo"/>
              </a:rPr>
              <a:t>重要な注意点</a:t>
            </a:r>
          </a:p>
          <a:p>
            <a:pPr algn="l"/>
            <a:r>
              <a:rPr sz="720">
                <a:solidFill>
                  <a:srgbClr val="000000"/>
                </a:solidFill>
                <a:latin typeface="Meiryo"/>
              </a:rPr>
              <a:t>SDK側のMCP制御だけで</a:t>
            </a:r>
          </a:p>
          <a:p>
            <a:pPr algn="l"/>
            <a:r>
              <a:rPr sz="720">
                <a:solidFill>
                  <a:srgbClr val="000000"/>
                </a:solidFill>
                <a:latin typeface="Meiryo"/>
              </a:rPr>
              <a:t>Server内部のAuthorizationが</a:t>
            </a:r>
          </a:p>
          <a:p>
            <a:pPr algn="l"/>
            <a:r>
              <a:rPr sz="720">
                <a:solidFill>
                  <a:srgbClr val="000000"/>
                </a:solidFill>
                <a:latin typeface="Meiryo"/>
              </a:rPr>
              <a:t>完成するわけではない．</a:t>
            </a:r>
          </a:p>
          <a:p>
            <a:pPr algn="l"/>
            <a:r>
              <a:rPr sz="720">
                <a:solidFill>
                  <a:srgbClr val="000000"/>
                </a:solidFill>
                <a:latin typeface="Meiryo"/>
              </a:rPr>
              <a:t>Server側にも適切な認可が必要．</a:t>
            </a:r>
          </a:p>
        </p:txBody>
      </p:sp>
    </p:spTree>
    <p:extLst>
      <p:ext uri="{BB962C8B-B14F-4D97-AF65-F5344CB8AC3E}">
        <p14:creationId xmlns:p14="http://schemas.microsoft.com/office/powerpoint/2010/main" val="1381958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D022ED-71CF-4D75-A19E-818799828326}"/>
              </a:ext>
            </a:extLst>
          </p:cNvPr>
          <p:cNvSpPr>
            <a:spLocks noGrp="1"/>
          </p:cNvSpPr>
          <p:nvPr/>
        </p:nvSpPr>
        <p:spPr>
          <a:xfrm>
            <a:off x="255215" y="816255"/>
            <a:ext cx="678143" cy="51015"/>
          </a:xfrm>
          <a:prstGeom prst="rect">
            <a:avLst/>
          </a:prstGeom>
          <a:solidFill>
            <a:srgbClr val="1D54FF"/>
          </a:solidFill>
          <a:ln>
            <a:solidFill>
              <a:srgbClr val="1D54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BCE0D2D-2C0C-48FB-A33B-DADB736E46E8}"/>
              </a:ext>
            </a:extLst>
          </p:cNvPr>
          <p:cNvSpPr>
            <a:spLocks noGrp="1"/>
          </p:cNvSpPr>
          <p:nvPr/>
        </p:nvSpPr>
        <p:spPr>
          <a:xfrm>
            <a:off x="262507" y="153047"/>
            <a:ext cx="6562679" cy="393551"/>
          </a:xfrm>
          <a:prstGeom prst="rect">
            <a:avLst/>
          </a:prstGeom>
          <a:noFill/>
          <a:ln>
            <a:noFill/>
          </a:ln>
          <a:effectLst/>
        </p:spPr>
        <p:txBody>
          <a:bodyPr wrap="none" lIns="0" tIns="0" rIns="0" bIns="0" anchor="ctr">
            <a:spAutoFit/>
          </a:bodyPr>
          <a:lstStyle/>
          <a:p>
            <a:pPr algn="l">
              <a:buNone/>
            </a:pPr>
            <a:r>
              <a:rPr sz="2100" b="1">
                <a:solidFill>
                  <a:srgbClr val="052C7E"/>
                </a:solidFill>
                <a:latin typeface="IPAexGothic"/>
                <a:ea typeface="IPAexGothic"/>
                <a:cs typeface="IPAexGothic"/>
              </a:rPr>
              <a:t>Appendix A8． Agent Loop制御</a:t>
            </a:r>
          </a:p>
        </p:txBody>
      </p:sp>
      <p:sp>
        <p:nvSpPr>
          <p:cNvPr id="5" name="TextBox 4">
            <a:extLst>
              <a:ext uri="{FF2B5EF4-FFF2-40B4-BE49-F238E27FC236}">
                <a16:creationId xmlns:a16="http://schemas.microsoft.com/office/drawing/2014/main" id="{05C33F70-77B0-4CE0-86B0-F4B22492AFF9}"/>
              </a:ext>
            </a:extLst>
          </p:cNvPr>
          <p:cNvSpPr>
            <a:spLocks noGrp="1"/>
          </p:cNvSpPr>
          <p:nvPr/>
        </p:nvSpPr>
        <p:spPr>
          <a:xfrm>
            <a:off x="10952382" y="123895"/>
            <a:ext cx="947942" cy="189487"/>
          </a:xfrm>
          <a:prstGeom prst="rect">
            <a:avLst/>
          </a:prstGeom>
          <a:noFill/>
          <a:ln>
            <a:noFill/>
          </a:ln>
          <a:effectLst/>
        </p:spPr>
        <p:txBody>
          <a:bodyPr wrap="none" lIns="0" tIns="0" rIns="0" bIns="0" anchor="ctr">
            <a:spAutoFit/>
          </a:bodyPr>
          <a:lstStyle/>
          <a:p>
            <a:pPr algn="ctr">
              <a:buNone/>
            </a:pPr>
            <a:r>
              <a:rPr sz="1180" b="1">
                <a:solidFill>
                  <a:srgbClr val="052C7E"/>
                </a:solidFill>
                <a:latin typeface="IPAexGothic"/>
                <a:ea typeface="IPAexGothic"/>
                <a:cs typeface="IPAexGothic"/>
              </a:rPr>
              <a:t>リソース統制</a:t>
            </a:r>
          </a:p>
        </p:txBody>
      </p:sp>
      <p:sp>
        <p:nvSpPr>
          <p:cNvPr id="6" name="TextBox 5">
            <a:extLst>
              <a:ext uri="{FF2B5EF4-FFF2-40B4-BE49-F238E27FC236}">
                <a16:creationId xmlns:a16="http://schemas.microsoft.com/office/drawing/2014/main" id="{73731F02-D0F0-42F6-BCDC-2AB77B392EEB}"/>
              </a:ext>
            </a:extLst>
          </p:cNvPr>
          <p:cNvSpPr>
            <a:spLocks noGrp="1"/>
          </p:cNvSpPr>
          <p:nvPr/>
        </p:nvSpPr>
        <p:spPr>
          <a:xfrm>
            <a:off x="313550" y="1042182"/>
            <a:ext cx="11302392" cy="204063"/>
          </a:xfrm>
          <a:prstGeom prst="rect">
            <a:avLst/>
          </a:prstGeom>
          <a:noFill/>
          <a:ln>
            <a:noFill/>
          </a:ln>
          <a:effectLst/>
        </p:spPr>
        <p:txBody>
          <a:bodyPr wrap="none" lIns="0" tIns="0" rIns="0" bIns="0" anchor="ctr">
            <a:spAutoFit/>
          </a:bodyPr>
          <a:lstStyle/>
          <a:p>
            <a:pPr algn="l">
              <a:buNone/>
            </a:pPr>
            <a:r>
              <a:rPr sz="1220" b="1">
                <a:solidFill>
                  <a:srgbClr val="052C7E"/>
                </a:solidFill>
                <a:latin typeface="IPAexGothic"/>
                <a:ea typeface="IPAexGothic"/>
                <a:cs typeface="IPAexGothic"/>
              </a:rPr>
              <a:t>AgentはLLMとToolの呼び出しを繰り返すため，終了条件が弱いと想定以上の実行時間，Token，Costを消費する．</a:t>
            </a:r>
          </a:p>
        </p:txBody>
      </p:sp>
      <p:sp>
        <p:nvSpPr>
          <p:cNvPr id="7" name="TextBox 6">
            <a:extLst>
              <a:ext uri="{FF2B5EF4-FFF2-40B4-BE49-F238E27FC236}">
                <a16:creationId xmlns:a16="http://schemas.microsoft.com/office/drawing/2014/main" id="{9A5C8688-9E88-4D07-9459-A21C52B042B4}"/>
              </a:ext>
            </a:extLst>
          </p:cNvPr>
          <p:cNvSpPr>
            <a:spLocks noGrp="1"/>
          </p:cNvSpPr>
          <p:nvPr/>
        </p:nvSpPr>
        <p:spPr>
          <a:xfrm>
            <a:off x="313550" y="1340990"/>
            <a:ext cx="7291865" cy="204063"/>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max_turnsは暴走を抑える基本的な制御である．</a:t>
            </a:r>
          </a:p>
        </p:txBody>
      </p:sp>
      <p:sp>
        <p:nvSpPr>
          <p:cNvPr id="8" name="Rectangle 7">
            <a:extLst>
              <a:ext uri="{FF2B5EF4-FFF2-40B4-BE49-F238E27FC236}">
                <a16:creationId xmlns:a16="http://schemas.microsoft.com/office/drawing/2014/main" id="{24ECA524-75CD-4A8F-B770-0C98C545B147}"/>
              </a:ext>
            </a:extLst>
          </p:cNvPr>
          <p:cNvSpPr>
            <a:spLocks noGrp="1"/>
          </p:cNvSpPr>
          <p:nvPr/>
        </p:nvSpPr>
        <p:spPr>
          <a:xfrm>
            <a:off x="484632" y="1734541"/>
            <a:ext cx="2331720" cy="371687"/>
          </a:xfrm>
          <a:prstGeom prst="rect">
            <a:avLst/>
          </a:prstGeom>
          <a:solidFill>
            <a:srgbClr val="EEF2F7"/>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83F93D89-EB17-4B53-9B9F-F56AAADCBE43}"/>
              </a:ext>
            </a:extLst>
          </p:cNvPr>
          <p:cNvSpPr>
            <a:spLocks noGrp="1"/>
          </p:cNvSpPr>
          <p:nvPr/>
        </p:nvSpPr>
        <p:spPr>
          <a:xfrm>
            <a:off x="2816352" y="1734541"/>
            <a:ext cx="4343400" cy="371687"/>
          </a:xfrm>
          <a:prstGeom prst="rect">
            <a:avLst/>
          </a:prstGeom>
          <a:solidFill>
            <a:srgbClr val="EEF2F7"/>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D1F4BB36-293C-4A1B-BC52-8CE04F61C014}"/>
              </a:ext>
            </a:extLst>
          </p:cNvPr>
          <p:cNvSpPr>
            <a:spLocks noGrp="1"/>
          </p:cNvSpPr>
          <p:nvPr/>
        </p:nvSpPr>
        <p:spPr>
          <a:xfrm>
            <a:off x="7159752" y="1734541"/>
            <a:ext cx="4343400" cy="371687"/>
          </a:xfrm>
          <a:prstGeom prst="rect">
            <a:avLst/>
          </a:prstGeom>
          <a:solidFill>
            <a:srgbClr val="EEF2F7"/>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04F0658-7DBE-41C0-B496-1C4A3002F0EF}"/>
              </a:ext>
            </a:extLst>
          </p:cNvPr>
          <p:cNvSpPr>
            <a:spLocks noGrp="1"/>
          </p:cNvSpPr>
          <p:nvPr/>
        </p:nvSpPr>
        <p:spPr>
          <a:xfrm>
            <a:off x="484632" y="1734541"/>
            <a:ext cx="2331720" cy="371687"/>
          </a:xfrm>
          <a:prstGeom prst="rect">
            <a:avLst/>
          </a:prstGeom>
          <a:noFill/>
          <a:ln>
            <a:noFill/>
          </a:ln>
          <a:effectLst/>
        </p:spPr>
        <p:txBody>
          <a:bodyPr wrap="none" lIns="0" tIns="0" rIns="0" bIns="0" anchor="ctr">
            <a:spAutoFit/>
          </a:bodyPr>
          <a:lstStyle/>
          <a:p>
            <a:pPr algn="ctr">
              <a:buNone/>
            </a:pPr>
            <a:r>
              <a:rPr sz="1420" b="1">
                <a:solidFill>
                  <a:srgbClr val="0B3691"/>
                </a:solidFill>
                <a:latin typeface="IPAexGothic"/>
                <a:ea typeface="IPAexGothic"/>
                <a:cs typeface="IPAexGothic"/>
              </a:rPr>
              <a:t>観点</a:t>
            </a:r>
          </a:p>
        </p:txBody>
      </p:sp>
      <p:sp>
        <p:nvSpPr>
          <p:cNvPr id="12" name="TextBox 11">
            <a:extLst>
              <a:ext uri="{FF2B5EF4-FFF2-40B4-BE49-F238E27FC236}">
                <a16:creationId xmlns:a16="http://schemas.microsoft.com/office/drawing/2014/main" id="{C2500BAC-0681-4E7E-BCDC-04839966BC45}"/>
              </a:ext>
            </a:extLst>
          </p:cNvPr>
          <p:cNvSpPr>
            <a:spLocks noGrp="1"/>
          </p:cNvSpPr>
          <p:nvPr/>
        </p:nvSpPr>
        <p:spPr>
          <a:xfrm>
            <a:off x="2816352" y="1734541"/>
            <a:ext cx="4343400" cy="371687"/>
          </a:xfrm>
          <a:prstGeom prst="rect">
            <a:avLst/>
          </a:prstGeom>
          <a:noFill/>
          <a:ln>
            <a:noFill/>
          </a:ln>
          <a:effectLst/>
        </p:spPr>
        <p:txBody>
          <a:bodyPr wrap="none" lIns="0" tIns="0" rIns="0" bIns="0" anchor="ctr">
            <a:spAutoFit/>
          </a:bodyPr>
          <a:lstStyle/>
          <a:p>
            <a:pPr algn="ctr">
              <a:buNone/>
            </a:pPr>
            <a:r>
              <a:rPr sz="1460" b="1">
                <a:solidFill>
                  <a:srgbClr val="0B3691"/>
                </a:solidFill>
                <a:latin typeface="IPAexGothic"/>
                <a:ea typeface="IPAexGothic"/>
                <a:cs typeface="IPAexGothic"/>
              </a:rPr>
              <a:t>OpenAI Agents SDK</a:t>
            </a:r>
          </a:p>
        </p:txBody>
      </p:sp>
      <p:sp>
        <p:nvSpPr>
          <p:cNvPr id="13" name="TextBox 12">
            <a:extLst>
              <a:ext uri="{FF2B5EF4-FFF2-40B4-BE49-F238E27FC236}">
                <a16:creationId xmlns:a16="http://schemas.microsoft.com/office/drawing/2014/main" id="{2B971232-3F40-4569-8375-4E200E98CAD2}"/>
              </a:ext>
            </a:extLst>
          </p:cNvPr>
          <p:cNvSpPr>
            <a:spLocks noGrp="1"/>
          </p:cNvSpPr>
          <p:nvPr/>
        </p:nvSpPr>
        <p:spPr>
          <a:xfrm>
            <a:off x="7159752" y="1734541"/>
            <a:ext cx="4343400" cy="371687"/>
          </a:xfrm>
          <a:prstGeom prst="rect">
            <a:avLst/>
          </a:prstGeom>
          <a:noFill/>
          <a:ln>
            <a:noFill/>
          </a:ln>
          <a:effectLst/>
        </p:spPr>
        <p:txBody>
          <a:bodyPr wrap="none" lIns="0" tIns="0" rIns="0" bIns="0" anchor="ctr">
            <a:spAutoFit/>
          </a:bodyPr>
          <a:lstStyle/>
          <a:p>
            <a:pPr algn="ctr">
              <a:buNone/>
            </a:pPr>
            <a:r>
              <a:rPr sz="1460" b="1">
                <a:solidFill>
                  <a:srgbClr val="0B3691"/>
                </a:solidFill>
                <a:latin typeface="IPAexGothic"/>
                <a:ea typeface="IPAexGothic"/>
                <a:cs typeface="IPAexGothic"/>
              </a:rPr>
              <a:t>Claude Agent SDK</a:t>
            </a:r>
          </a:p>
        </p:txBody>
      </p:sp>
      <p:sp>
        <p:nvSpPr>
          <p:cNvPr id="14" name="Rectangle 13">
            <a:extLst>
              <a:ext uri="{FF2B5EF4-FFF2-40B4-BE49-F238E27FC236}">
                <a16:creationId xmlns:a16="http://schemas.microsoft.com/office/drawing/2014/main" id="{2BDBF25F-342E-4528-842D-07EF6BF5E37B}"/>
              </a:ext>
            </a:extLst>
          </p:cNvPr>
          <p:cNvSpPr>
            <a:spLocks noGrp="1"/>
          </p:cNvSpPr>
          <p:nvPr/>
        </p:nvSpPr>
        <p:spPr>
          <a:xfrm>
            <a:off x="484632" y="2106229"/>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31843899-7700-4FA2-9409-4F1F050170BE}"/>
              </a:ext>
            </a:extLst>
          </p:cNvPr>
          <p:cNvSpPr>
            <a:spLocks noGrp="1"/>
          </p:cNvSpPr>
          <p:nvPr/>
        </p:nvSpPr>
        <p:spPr>
          <a:xfrm>
            <a:off x="2816352" y="2106229"/>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27CA482C-B54B-438F-A620-5E6C5E24B09E}"/>
              </a:ext>
            </a:extLst>
          </p:cNvPr>
          <p:cNvSpPr>
            <a:spLocks noGrp="1"/>
          </p:cNvSpPr>
          <p:nvPr/>
        </p:nvSpPr>
        <p:spPr>
          <a:xfrm>
            <a:off x="7159752" y="2106229"/>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5543628-2699-4B63-A977-139CB6E2A8DB}"/>
              </a:ext>
            </a:extLst>
          </p:cNvPr>
          <p:cNvSpPr>
            <a:spLocks noGrp="1"/>
          </p:cNvSpPr>
          <p:nvPr/>
        </p:nvSpPr>
        <p:spPr>
          <a:xfrm>
            <a:off x="484632" y="2106229"/>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主な機能</a:t>
            </a:r>
          </a:p>
        </p:txBody>
      </p:sp>
      <p:sp>
        <p:nvSpPr>
          <p:cNvPr id="18" name="TextBox 17">
            <a:extLst>
              <a:ext uri="{FF2B5EF4-FFF2-40B4-BE49-F238E27FC236}">
                <a16:creationId xmlns:a16="http://schemas.microsoft.com/office/drawing/2014/main" id="{21011087-24F9-448F-A6B9-09D79101173E}"/>
              </a:ext>
            </a:extLst>
          </p:cNvPr>
          <p:cNvSpPr>
            <a:spLocks noGrp="1"/>
          </p:cNvSpPr>
          <p:nvPr/>
        </p:nvSpPr>
        <p:spPr>
          <a:xfrm>
            <a:off x="2816352" y="2106229"/>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max_turns</a:t>
            </a:r>
          </a:p>
        </p:txBody>
      </p:sp>
      <p:sp>
        <p:nvSpPr>
          <p:cNvPr id="19" name="TextBox 18">
            <a:extLst>
              <a:ext uri="{FF2B5EF4-FFF2-40B4-BE49-F238E27FC236}">
                <a16:creationId xmlns:a16="http://schemas.microsoft.com/office/drawing/2014/main" id="{9EF5DD76-FECD-479A-95B0-D0F190DD5B89}"/>
              </a:ext>
            </a:extLst>
          </p:cNvPr>
          <p:cNvSpPr>
            <a:spLocks noGrp="1"/>
          </p:cNvSpPr>
          <p:nvPr/>
        </p:nvSpPr>
        <p:spPr>
          <a:xfrm>
            <a:off x="7159752" y="2106229"/>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max_turns</a:t>
            </a:r>
          </a:p>
        </p:txBody>
      </p:sp>
      <p:sp>
        <p:nvSpPr>
          <p:cNvPr id="20" name="Rectangle 19">
            <a:extLst>
              <a:ext uri="{FF2B5EF4-FFF2-40B4-BE49-F238E27FC236}">
                <a16:creationId xmlns:a16="http://schemas.microsoft.com/office/drawing/2014/main" id="{17D1B9EE-9A1D-49EB-9F0A-DC616CCEF749}"/>
              </a:ext>
            </a:extLst>
          </p:cNvPr>
          <p:cNvSpPr>
            <a:spLocks noGrp="1"/>
          </p:cNvSpPr>
          <p:nvPr/>
        </p:nvSpPr>
        <p:spPr>
          <a:xfrm>
            <a:off x="484632" y="2477917"/>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9B46A6BE-78B6-4803-BF3A-A68F0A15FD28}"/>
              </a:ext>
            </a:extLst>
          </p:cNvPr>
          <p:cNvSpPr>
            <a:spLocks noGrp="1"/>
          </p:cNvSpPr>
          <p:nvPr/>
        </p:nvSpPr>
        <p:spPr>
          <a:xfrm>
            <a:off x="2816352" y="2477917"/>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5452466B-0633-46A1-ACE8-BCB251BDF8FE}"/>
              </a:ext>
            </a:extLst>
          </p:cNvPr>
          <p:cNvSpPr>
            <a:spLocks noGrp="1"/>
          </p:cNvSpPr>
          <p:nvPr/>
        </p:nvSpPr>
        <p:spPr>
          <a:xfrm>
            <a:off x="7159752" y="2477917"/>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36589ADE-3799-4EC3-B3A0-2307E4E80FAE}"/>
              </a:ext>
            </a:extLst>
          </p:cNvPr>
          <p:cNvSpPr>
            <a:spLocks noGrp="1"/>
          </p:cNvSpPr>
          <p:nvPr/>
        </p:nvSpPr>
        <p:spPr>
          <a:xfrm>
            <a:off x="484632" y="2477917"/>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制御対象</a:t>
            </a:r>
          </a:p>
        </p:txBody>
      </p:sp>
      <p:sp>
        <p:nvSpPr>
          <p:cNvPr id="24" name="TextBox 23">
            <a:extLst>
              <a:ext uri="{FF2B5EF4-FFF2-40B4-BE49-F238E27FC236}">
                <a16:creationId xmlns:a16="http://schemas.microsoft.com/office/drawing/2014/main" id="{8B33E9F6-793C-4605-9ADD-9986AC686AF0}"/>
              </a:ext>
            </a:extLst>
          </p:cNvPr>
          <p:cNvSpPr>
            <a:spLocks noGrp="1"/>
          </p:cNvSpPr>
          <p:nvPr/>
        </p:nvSpPr>
        <p:spPr>
          <a:xfrm>
            <a:off x="2816352" y="2477917"/>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Agent LoopのTurn数</a:t>
            </a:r>
          </a:p>
        </p:txBody>
      </p:sp>
      <p:sp>
        <p:nvSpPr>
          <p:cNvPr id="25" name="TextBox 24">
            <a:extLst>
              <a:ext uri="{FF2B5EF4-FFF2-40B4-BE49-F238E27FC236}">
                <a16:creationId xmlns:a16="http://schemas.microsoft.com/office/drawing/2014/main" id="{25ED5821-BCD8-4E60-B257-CC76E9848D1D}"/>
              </a:ext>
            </a:extLst>
          </p:cNvPr>
          <p:cNvSpPr>
            <a:spLocks noGrp="1"/>
          </p:cNvSpPr>
          <p:nvPr/>
        </p:nvSpPr>
        <p:spPr>
          <a:xfrm>
            <a:off x="7159752" y="2477917"/>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Agent LoopのTurn数</a:t>
            </a:r>
          </a:p>
        </p:txBody>
      </p:sp>
      <p:sp>
        <p:nvSpPr>
          <p:cNvPr id="26" name="Rectangle 25">
            <a:extLst>
              <a:ext uri="{FF2B5EF4-FFF2-40B4-BE49-F238E27FC236}">
                <a16:creationId xmlns:a16="http://schemas.microsoft.com/office/drawing/2014/main" id="{D2366B0B-31BA-4075-AD1A-A6ACF22624CD}"/>
              </a:ext>
            </a:extLst>
          </p:cNvPr>
          <p:cNvSpPr>
            <a:spLocks noGrp="1"/>
          </p:cNvSpPr>
          <p:nvPr/>
        </p:nvSpPr>
        <p:spPr>
          <a:xfrm>
            <a:off x="484632" y="2849604"/>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78086DF2-7A6A-4EF0-9047-A07648A1B60A}"/>
              </a:ext>
            </a:extLst>
          </p:cNvPr>
          <p:cNvSpPr>
            <a:spLocks noGrp="1"/>
          </p:cNvSpPr>
          <p:nvPr/>
        </p:nvSpPr>
        <p:spPr>
          <a:xfrm>
            <a:off x="2816352" y="2849604"/>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02DED1E0-BA3F-4143-8165-D7E85B33B9DB}"/>
              </a:ext>
            </a:extLst>
          </p:cNvPr>
          <p:cNvSpPr>
            <a:spLocks noGrp="1"/>
          </p:cNvSpPr>
          <p:nvPr/>
        </p:nvSpPr>
        <p:spPr>
          <a:xfrm>
            <a:off x="7159752" y="2849604"/>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540A52C-CFCD-4D6D-88AB-FDE2EA11A44C}"/>
              </a:ext>
            </a:extLst>
          </p:cNvPr>
          <p:cNvSpPr>
            <a:spLocks noGrp="1"/>
          </p:cNvSpPr>
          <p:nvPr/>
        </p:nvSpPr>
        <p:spPr>
          <a:xfrm>
            <a:off x="484632" y="2849604"/>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実行タイミング</a:t>
            </a:r>
          </a:p>
        </p:txBody>
      </p:sp>
      <p:sp>
        <p:nvSpPr>
          <p:cNvPr id="30" name="TextBox 29">
            <a:extLst>
              <a:ext uri="{FF2B5EF4-FFF2-40B4-BE49-F238E27FC236}">
                <a16:creationId xmlns:a16="http://schemas.microsoft.com/office/drawing/2014/main" id="{8FB11E3A-16B8-41AF-87BB-68E47495E745}"/>
              </a:ext>
            </a:extLst>
          </p:cNvPr>
          <p:cNvSpPr>
            <a:spLocks noGrp="1"/>
          </p:cNvSpPr>
          <p:nvPr/>
        </p:nvSpPr>
        <p:spPr>
          <a:xfrm>
            <a:off x="2816352" y="2849604"/>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Run実行時</a:t>
            </a:r>
          </a:p>
        </p:txBody>
      </p:sp>
      <p:sp>
        <p:nvSpPr>
          <p:cNvPr id="31" name="TextBox 30">
            <a:extLst>
              <a:ext uri="{FF2B5EF4-FFF2-40B4-BE49-F238E27FC236}">
                <a16:creationId xmlns:a16="http://schemas.microsoft.com/office/drawing/2014/main" id="{85940BBE-90D9-47E2-B41E-EA726E976CEE}"/>
              </a:ext>
            </a:extLst>
          </p:cNvPr>
          <p:cNvSpPr>
            <a:spLocks noGrp="1"/>
          </p:cNvSpPr>
          <p:nvPr/>
        </p:nvSpPr>
        <p:spPr>
          <a:xfrm>
            <a:off x="7159752" y="2849604"/>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Query実行時</a:t>
            </a:r>
          </a:p>
        </p:txBody>
      </p:sp>
      <p:sp>
        <p:nvSpPr>
          <p:cNvPr id="32" name="Rectangle 31">
            <a:extLst>
              <a:ext uri="{FF2B5EF4-FFF2-40B4-BE49-F238E27FC236}">
                <a16:creationId xmlns:a16="http://schemas.microsoft.com/office/drawing/2014/main" id="{A61DE7C9-CBC9-4704-BA74-7A6A981E3047}"/>
              </a:ext>
            </a:extLst>
          </p:cNvPr>
          <p:cNvSpPr>
            <a:spLocks noGrp="1"/>
          </p:cNvSpPr>
          <p:nvPr/>
        </p:nvSpPr>
        <p:spPr>
          <a:xfrm>
            <a:off x="484632" y="3221292"/>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F4805450-1E78-41DE-AF16-04BF411E0B36}"/>
              </a:ext>
            </a:extLst>
          </p:cNvPr>
          <p:cNvSpPr>
            <a:spLocks noGrp="1"/>
          </p:cNvSpPr>
          <p:nvPr/>
        </p:nvSpPr>
        <p:spPr>
          <a:xfrm>
            <a:off x="2816352" y="3221292"/>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E1729B7C-3516-46C8-84F2-89981680B838}"/>
              </a:ext>
            </a:extLst>
          </p:cNvPr>
          <p:cNvSpPr>
            <a:spLocks noGrp="1"/>
          </p:cNvSpPr>
          <p:nvPr/>
        </p:nvSpPr>
        <p:spPr>
          <a:xfrm>
            <a:off x="7159752" y="3221292"/>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62D0153-7BEA-46FF-BF7B-91A94DB3A392}"/>
              </a:ext>
            </a:extLst>
          </p:cNvPr>
          <p:cNvSpPr>
            <a:spLocks noGrp="1"/>
          </p:cNvSpPr>
          <p:nvPr/>
        </p:nvSpPr>
        <p:spPr>
          <a:xfrm>
            <a:off x="484632" y="3221292"/>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目的</a:t>
            </a:r>
          </a:p>
        </p:txBody>
      </p:sp>
      <p:sp>
        <p:nvSpPr>
          <p:cNvPr id="36" name="TextBox 35">
            <a:extLst>
              <a:ext uri="{FF2B5EF4-FFF2-40B4-BE49-F238E27FC236}">
                <a16:creationId xmlns:a16="http://schemas.microsoft.com/office/drawing/2014/main" id="{A773A371-3A7E-4D53-8A06-61B26E48BAD7}"/>
              </a:ext>
            </a:extLst>
          </p:cNvPr>
          <p:cNvSpPr>
            <a:spLocks noGrp="1"/>
          </p:cNvSpPr>
          <p:nvPr/>
        </p:nvSpPr>
        <p:spPr>
          <a:xfrm>
            <a:off x="2816352" y="3221292"/>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無限ループや過剰反復を防止</a:t>
            </a:r>
          </a:p>
        </p:txBody>
      </p:sp>
      <p:sp>
        <p:nvSpPr>
          <p:cNvPr id="37" name="TextBox 36">
            <a:extLst>
              <a:ext uri="{FF2B5EF4-FFF2-40B4-BE49-F238E27FC236}">
                <a16:creationId xmlns:a16="http://schemas.microsoft.com/office/drawing/2014/main" id="{152A419D-B25F-4C15-90D6-F31E524F9922}"/>
              </a:ext>
            </a:extLst>
          </p:cNvPr>
          <p:cNvSpPr>
            <a:spLocks noGrp="1"/>
          </p:cNvSpPr>
          <p:nvPr/>
        </p:nvSpPr>
        <p:spPr>
          <a:xfrm>
            <a:off x="7159752" y="3221292"/>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無限ループや過剰反復を防止</a:t>
            </a:r>
          </a:p>
        </p:txBody>
      </p:sp>
      <p:sp>
        <p:nvSpPr>
          <p:cNvPr id="38" name="Rectangle 37">
            <a:extLst>
              <a:ext uri="{FF2B5EF4-FFF2-40B4-BE49-F238E27FC236}">
                <a16:creationId xmlns:a16="http://schemas.microsoft.com/office/drawing/2014/main" id="{AB261B40-BC66-4BE1-A7F9-4CC89575AD70}"/>
              </a:ext>
            </a:extLst>
          </p:cNvPr>
          <p:cNvSpPr>
            <a:spLocks noGrp="1"/>
          </p:cNvSpPr>
          <p:nvPr/>
        </p:nvSpPr>
        <p:spPr>
          <a:xfrm>
            <a:off x="484632" y="3592979"/>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BF0AB280-5D28-4D9A-8AF9-4B190C4D1C11}"/>
              </a:ext>
            </a:extLst>
          </p:cNvPr>
          <p:cNvSpPr>
            <a:spLocks noGrp="1"/>
          </p:cNvSpPr>
          <p:nvPr/>
        </p:nvSpPr>
        <p:spPr>
          <a:xfrm>
            <a:off x="2816352" y="3592979"/>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62EAC38E-1839-4310-A922-8E95C2937E25}"/>
              </a:ext>
            </a:extLst>
          </p:cNvPr>
          <p:cNvSpPr>
            <a:spLocks noGrp="1"/>
          </p:cNvSpPr>
          <p:nvPr/>
        </p:nvSpPr>
        <p:spPr>
          <a:xfrm>
            <a:off x="7159752" y="3592979"/>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1BC29897-5A55-43AD-BD03-E149B12B2C90}"/>
              </a:ext>
            </a:extLst>
          </p:cNvPr>
          <p:cNvSpPr>
            <a:spLocks noGrp="1"/>
          </p:cNvSpPr>
          <p:nvPr/>
        </p:nvSpPr>
        <p:spPr>
          <a:xfrm>
            <a:off x="484632" y="3592979"/>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制御できないもの</a:t>
            </a:r>
          </a:p>
        </p:txBody>
      </p:sp>
      <p:sp>
        <p:nvSpPr>
          <p:cNvPr id="42" name="TextBox 41">
            <a:extLst>
              <a:ext uri="{FF2B5EF4-FFF2-40B4-BE49-F238E27FC236}">
                <a16:creationId xmlns:a16="http://schemas.microsoft.com/office/drawing/2014/main" id="{5815374E-B963-4D48-AD39-189B86ABA833}"/>
              </a:ext>
            </a:extLst>
          </p:cNvPr>
          <p:cNvSpPr>
            <a:spLocks noGrp="1"/>
          </p:cNvSpPr>
          <p:nvPr/>
        </p:nvSpPr>
        <p:spPr>
          <a:xfrm>
            <a:off x="2816352" y="3592979"/>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Token量やCostそのものではない</a:t>
            </a:r>
          </a:p>
        </p:txBody>
      </p:sp>
      <p:sp>
        <p:nvSpPr>
          <p:cNvPr id="43" name="TextBox 42">
            <a:extLst>
              <a:ext uri="{FF2B5EF4-FFF2-40B4-BE49-F238E27FC236}">
                <a16:creationId xmlns:a16="http://schemas.microsoft.com/office/drawing/2014/main" id="{B8FC4760-4004-44D2-A04B-A09A16601172}"/>
              </a:ext>
            </a:extLst>
          </p:cNvPr>
          <p:cNvSpPr>
            <a:spLocks noGrp="1"/>
          </p:cNvSpPr>
          <p:nvPr/>
        </p:nvSpPr>
        <p:spPr>
          <a:xfrm>
            <a:off x="7159752" y="3592979"/>
            <a:ext cx="4343400" cy="371687"/>
          </a:xfrm>
          <a:prstGeom prst="rect">
            <a:avLst/>
          </a:prstGeom>
          <a:noFill/>
          <a:ln>
            <a:noFill/>
          </a:ln>
          <a:effectLst/>
        </p:spPr>
        <p:txBody>
          <a:bodyPr wrap="none" lIns="0" tIns="0" rIns="0" bIns="0" anchor="ctr">
            <a:spAutoFit/>
          </a:bodyPr>
          <a:lstStyle/>
          <a:p>
            <a:pPr algn="l">
              <a:buNone/>
            </a:pPr>
            <a:r>
              <a:rPr sz="1260" b="0">
                <a:solidFill>
                  <a:srgbClr val="101623"/>
                </a:solidFill>
                <a:latin typeface="IPAexGothic"/>
                <a:ea typeface="IPAexGothic"/>
                <a:cs typeface="IPAexGothic"/>
              </a:rPr>
              <a:t>Token量やCostそのものではない</a:t>
            </a:r>
          </a:p>
        </p:txBody>
      </p:sp>
      <p:sp>
        <p:nvSpPr>
          <p:cNvPr id="44" name="Rectangle 43">
            <a:extLst>
              <a:ext uri="{FF2B5EF4-FFF2-40B4-BE49-F238E27FC236}">
                <a16:creationId xmlns:a16="http://schemas.microsoft.com/office/drawing/2014/main" id="{34E2CEBB-1030-4EB0-BCB6-F3D9AF34AF58}"/>
              </a:ext>
            </a:extLst>
          </p:cNvPr>
          <p:cNvSpPr>
            <a:spLocks noGrp="1"/>
          </p:cNvSpPr>
          <p:nvPr/>
        </p:nvSpPr>
        <p:spPr>
          <a:xfrm>
            <a:off x="484632" y="3964667"/>
            <a:ext cx="233172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AD53719A-3CF7-4125-AB57-10100571AA75}"/>
              </a:ext>
            </a:extLst>
          </p:cNvPr>
          <p:cNvSpPr>
            <a:spLocks noGrp="1"/>
          </p:cNvSpPr>
          <p:nvPr/>
        </p:nvSpPr>
        <p:spPr>
          <a:xfrm>
            <a:off x="2816352" y="3964667"/>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4A4954E3-4C41-47D8-B3F0-94B2D90E2108}"/>
              </a:ext>
            </a:extLst>
          </p:cNvPr>
          <p:cNvSpPr>
            <a:spLocks noGrp="1"/>
          </p:cNvSpPr>
          <p:nvPr/>
        </p:nvSpPr>
        <p:spPr>
          <a:xfrm>
            <a:off x="7159752" y="3964667"/>
            <a:ext cx="4343400" cy="371687"/>
          </a:xfrm>
          <a:prstGeom prst="rect">
            <a:avLst/>
          </a:prstGeom>
          <a:solidFill>
            <a:srgbClr val="FFFFFF"/>
          </a:solidFill>
          <a:ln w="1016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A62E4DB0-00C1-42CE-9179-5E0E054D5F83}"/>
              </a:ext>
            </a:extLst>
          </p:cNvPr>
          <p:cNvSpPr>
            <a:spLocks noGrp="1"/>
          </p:cNvSpPr>
          <p:nvPr/>
        </p:nvSpPr>
        <p:spPr>
          <a:xfrm>
            <a:off x="484632" y="3964667"/>
            <a:ext cx="2331720" cy="371687"/>
          </a:xfrm>
          <a:prstGeom prst="rect">
            <a:avLst/>
          </a:prstGeom>
          <a:noFill/>
          <a:ln>
            <a:noFill/>
          </a:ln>
          <a:effectLst/>
        </p:spPr>
        <p:txBody>
          <a:bodyPr wrap="none" lIns="0" tIns="0" rIns="0" bIns="0" anchor="ctr">
            <a:spAutoFit/>
          </a:bodyPr>
          <a:lstStyle/>
          <a:p>
            <a:pPr algn="l">
              <a:buNone/>
            </a:pPr>
            <a:r>
              <a:rPr sz="1300" b="1">
                <a:solidFill>
                  <a:srgbClr val="052C7E"/>
                </a:solidFill>
                <a:latin typeface="IPAexGothic"/>
                <a:ea typeface="IPAexGothic"/>
                <a:cs typeface="IPAexGothic"/>
              </a:rPr>
              <a:t>補助的な制御</a:t>
            </a:r>
          </a:p>
        </p:txBody>
      </p:sp>
      <p:sp>
        <p:nvSpPr>
          <p:cNvPr id="48" name="TextBox 47">
            <a:extLst>
              <a:ext uri="{FF2B5EF4-FFF2-40B4-BE49-F238E27FC236}">
                <a16:creationId xmlns:a16="http://schemas.microsoft.com/office/drawing/2014/main" id="{587B1F4E-5042-435D-BEB9-0DC768B8214F}"/>
              </a:ext>
            </a:extLst>
          </p:cNvPr>
          <p:cNvSpPr>
            <a:spLocks noGrp="1"/>
          </p:cNvSpPr>
          <p:nvPr/>
        </p:nvSpPr>
        <p:spPr>
          <a:xfrm>
            <a:off x="2816352" y="3964667"/>
            <a:ext cx="4343400" cy="371687"/>
          </a:xfrm>
          <a:prstGeom prst="rect">
            <a:avLst/>
          </a:prstGeom>
          <a:noFill/>
          <a:ln>
            <a:noFill/>
          </a:ln>
          <a:effectLst/>
        </p:spPr>
        <p:txBody>
          <a:bodyPr wrap="none" lIns="0" tIns="0" rIns="0" bIns="0" anchor="ctr">
            <a:spAutoFit/>
          </a:bodyPr>
          <a:lstStyle/>
          <a:p>
            <a:pPr algn="l">
              <a:buNone/>
            </a:pPr>
            <a:r>
              <a:rPr sz="1180" b="0">
                <a:solidFill>
                  <a:srgbClr val="101623"/>
                </a:solidFill>
                <a:latin typeface="IPAexGothic"/>
                <a:ea typeface="IPAexGothic"/>
                <a:cs typeface="IPAexGothic"/>
              </a:rPr>
              <a:t>ModelSettings.max_tokens，Usage確認</a:t>
            </a:r>
          </a:p>
        </p:txBody>
      </p:sp>
      <p:sp>
        <p:nvSpPr>
          <p:cNvPr id="49" name="TextBox 48">
            <a:extLst>
              <a:ext uri="{FF2B5EF4-FFF2-40B4-BE49-F238E27FC236}">
                <a16:creationId xmlns:a16="http://schemas.microsoft.com/office/drawing/2014/main" id="{CCEE9D34-3873-4DB6-988E-E43874C7ECDE}"/>
              </a:ext>
            </a:extLst>
          </p:cNvPr>
          <p:cNvSpPr>
            <a:spLocks noGrp="1"/>
          </p:cNvSpPr>
          <p:nvPr/>
        </p:nvSpPr>
        <p:spPr>
          <a:xfrm>
            <a:off x="7159752" y="3964667"/>
            <a:ext cx="4343400" cy="371687"/>
          </a:xfrm>
          <a:prstGeom prst="rect">
            <a:avLst/>
          </a:prstGeom>
          <a:noFill/>
          <a:ln>
            <a:noFill/>
          </a:ln>
          <a:effectLst/>
        </p:spPr>
        <p:txBody>
          <a:bodyPr wrap="none" lIns="0" tIns="0" rIns="0" bIns="0" anchor="ctr">
            <a:spAutoFit/>
          </a:bodyPr>
          <a:lstStyle/>
          <a:p>
            <a:pPr algn="l">
              <a:buNone/>
            </a:pPr>
            <a:r>
              <a:rPr sz="1180" b="0">
                <a:solidFill>
                  <a:srgbClr val="101623"/>
                </a:solidFill>
                <a:latin typeface="IPAexGothic"/>
                <a:ea typeface="IPAexGothic"/>
                <a:cs typeface="IPAexGothic"/>
              </a:rPr>
              <a:t>max_tokens，task_budget，max_budget_usd</a:t>
            </a:r>
          </a:p>
        </p:txBody>
      </p:sp>
      <p:sp>
        <p:nvSpPr>
          <p:cNvPr id="50" name="Rectangle 49">
            <a:extLst>
              <a:ext uri="{FF2B5EF4-FFF2-40B4-BE49-F238E27FC236}">
                <a16:creationId xmlns:a16="http://schemas.microsoft.com/office/drawing/2014/main" id="{5197F355-9D0A-43D3-8F32-ECE5227965F3}"/>
              </a:ext>
            </a:extLst>
          </p:cNvPr>
          <p:cNvSpPr>
            <a:spLocks noGrp="1"/>
          </p:cNvSpPr>
          <p:nvPr/>
        </p:nvSpPr>
        <p:spPr>
          <a:xfrm>
            <a:off x="475356" y="4664314"/>
            <a:ext cx="6205377" cy="765239"/>
          </a:xfrm>
          <a:prstGeom prst="rect">
            <a:avLst/>
          </a:prstGeom>
          <a:solidFill>
            <a:srgbClr val="FFFFFF"/>
          </a:solidFill>
          <a:ln w="1270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73021F79-E55C-4C1A-86F2-8122FEE2AC27}"/>
              </a:ext>
            </a:extLst>
          </p:cNvPr>
          <p:cNvSpPr>
            <a:spLocks noGrp="1"/>
          </p:cNvSpPr>
          <p:nvPr/>
        </p:nvSpPr>
        <p:spPr>
          <a:xfrm>
            <a:off x="487504" y="4839226"/>
            <a:ext cx="729186" cy="276943"/>
          </a:xfrm>
          <a:prstGeom prst="rect">
            <a:avLst/>
          </a:prstGeom>
          <a:solidFill>
            <a:srgbClr val="FFFFFF"/>
          </a:solidFill>
          <a:ln w="12700">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7B18EF12-6B18-44C2-B28D-1899820F2F27}"/>
              </a:ext>
            </a:extLst>
          </p:cNvPr>
          <p:cNvSpPr>
            <a:spLocks noGrp="1"/>
          </p:cNvSpPr>
          <p:nvPr/>
        </p:nvSpPr>
        <p:spPr>
          <a:xfrm>
            <a:off x="487504" y="4839226"/>
            <a:ext cx="729186" cy="276943"/>
          </a:xfrm>
          <a:prstGeom prst="rect">
            <a:avLst/>
          </a:prstGeom>
          <a:noFill/>
          <a:ln>
            <a:noFill/>
          </a:ln>
          <a:effectLst/>
        </p:spPr>
        <p:txBody>
          <a:bodyPr wrap="none" lIns="0" tIns="0" rIns="0" bIns="0" anchor="ctr">
            <a:spAutoFit/>
          </a:bodyPr>
          <a:lstStyle/>
          <a:p>
            <a:pPr algn="ctr">
              <a:buNone/>
            </a:pPr>
            <a:r>
              <a:rPr sz="1320" b="0">
                <a:solidFill>
                  <a:srgbClr val="101623"/>
                </a:solidFill>
                <a:latin typeface="IPAexGothic"/>
                <a:ea typeface="IPAexGothic"/>
                <a:cs typeface="IPAexGothic"/>
              </a:rPr>
              <a:t>LLM</a:t>
            </a:r>
          </a:p>
        </p:txBody>
      </p:sp>
      <p:sp>
        <p:nvSpPr>
          <p:cNvPr id="53" name="Rectangle 52">
            <a:extLst>
              <a:ext uri="{FF2B5EF4-FFF2-40B4-BE49-F238E27FC236}">
                <a16:creationId xmlns:a16="http://schemas.microsoft.com/office/drawing/2014/main" id="{BD0892B3-6E5B-409C-BFA9-C6AA73255540}"/>
              </a:ext>
            </a:extLst>
          </p:cNvPr>
          <p:cNvSpPr>
            <a:spLocks noGrp="1"/>
          </p:cNvSpPr>
          <p:nvPr/>
        </p:nvSpPr>
        <p:spPr>
          <a:xfrm>
            <a:off x="1595868" y="4839226"/>
            <a:ext cx="729186" cy="276943"/>
          </a:xfrm>
          <a:prstGeom prst="rect">
            <a:avLst/>
          </a:prstGeom>
          <a:solidFill>
            <a:srgbClr val="FFFFFF"/>
          </a:solidFill>
          <a:ln w="12700">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8432D36E-A4E0-47BA-8ECB-8F89893DB93A}"/>
              </a:ext>
            </a:extLst>
          </p:cNvPr>
          <p:cNvSpPr>
            <a:spLocks noGrp="1"/>
          </p:cNvSpPr>
          <p:nvPr/>
        </p:nvSpPr>
        <p:spPr>
          <a:xfrm>
            <a:off x="1595868" y="4839226"/>
            <a:ext cx="729186" cy="276943"/>
          </a:xfrm>
          <a:prstGeom prst="rect">
            <a:avLst/>
          </a:prstGeom>
          <a:noFill/>
          <a:ln>
            <a:noFill/>
          </a:ln>
          <a:effectLst/>
        </p:spPr>
        <p:txBody>
          <a:bodyPr wrap="none" lIns="0" tIns="0" rIns="0" bIns="0" anchor="ctr">
            <a:spAutoFit/>
          </a:bodyPr>
          <a:lstStyle/>
          <a:p>
            <a:pPr algn="ctr">
              <a:buNone/>
            </a:pPr>
            <a:r>
              <a:rPr sz="1320" b="0">
                <a:solidFill>
                  <a:srgbClr val="101623"/>
                </a:solidFill>
                <a:latin typeface="IPAexGothic"/>
                <a:ea typeface="IPAexGothic"/>
                <a:cs typeface="IPAexGothic"/>
              </a:rPr>
              <a:t>Tool</a:t>
            </a:r>
          </a:p>
        </p:txBody>
      </p:sp>
      <p:sp>
        <p:nvSpPr>
          <p:cNvPr id="55" name="Rectangle 54">
            <a:extLst>
              <a:ext uri="{FF2B5EF4-FFF2-40B4-BE49-F238E27FC236}">
                <a16:creationId xmlns:a16="http://schemas.microsoft.com/office/drawing/2014/main" id="{EC864E8A-9D83-4BCA-A8CD-B9989E90413E}"/>
              </a:ext>
            </a:extLst>
          </p:cNvPr>
          <p:cNvSpPr>
            <a:spLocks noGrp="1"/>
          </p:cNvSpPr>
          <p:nvPr/>
        </p:nvSpPr>
        <p:spPr>
          <a:xfrm>
            <a:off x="2711524" y="4839226"/>
            <a:ext cx="729186" cy="276943"/>
          </a:xfrm>
          <a:prstGeom prst="rect">
            <a:avLst/>
          </a:prstGeom>
          <a:solidFill>
            <a:srgbClr val="FFFFFF"/>
          </a:solidFill>
          <a:ln w="12700">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7051C2C0-851A-400A-B4DD-E608009E16BD}"/>
              </a:ext>
            </a:extLst>
          </p:cNvPr>
          <p:cNvSpPr>
            <a:spLocks noGrp="1"/>
          </p:cNvSpPr>
          <p:nvPr/>
        </p:nvSpPr>
        <p:spPr>
          <a:xfrm>
            <a:off x="2711524" y="4839226"/>
            <a:ext cx="729186" cy="276943"/>
          </a:xfrm>
          <a:prstGeom prst="rect">
            <a:avLst/>
          </a:prstGeom>
          <a:noFill/>
          <a:ln>
            <a:noFill/>
          </a:ln>
          <a:effectLst/>
        </p:spPr>
        <p:txBody>
          <a:bodyPr wrap="none" lIns="0" tIns="0" rIns="0" bIns="0" anchor="ctr">
            <a:spAutoFit/>
          </a:bodyPr>
          <a:lstStyle/>
          <a:p>
            <a:pPr algn="ctr">
              <a:buNone/>
            </a:pPr>
            <a:r>
              <a:rPr sz="1320" b="0">
                <a:solidFill>
                  <a:srgbClr val="101623"/>
                </a:solidFill>
                <a:latin typeface="IPAexGothic"/>
                <a:ea typeface="IPAexGothic"/>
                <a:cs typeface="IPAexGothic"/>
              </a:rPr>
              <a:t>LLM</a:t>
            </a:r>
          </a:p>
        </p:txBody>
      </p:sp>
      <p:sp>
        <p:nvSpPr>
          <p:cNvPr id="57" name="Rectangle 56">
            <a:extLst>
              <a:ext uri="{FF2B5EF4-FFF2-40B4-BE49-F238E27FC236}">
                <a16:creationId xmlns:a16="http://schemas.microsoft.com/office/drawing/2014/main" id="{9F6F825B-B700-40A2-98B8-73B1132F4260}"/>
              </a:ext>
            </a:extLst>
          </p:cNvPr>
          <p:cNvSpPr>
            <a:spLocks noGrp="1"/>
          </p:cNvSpPr>
          <p:nvPr/>
        </p:nvSpPr>
        <p:spPr>
          <a:xfrm>
            <a:off x="3819887" y="4839226"/>
            <a:ext cx="729186" cy="276943"/>
          </a:xfrm>
          <a:prstGeom prst="rect">
            <a:avLst/>
          </a:prstGeom>
          <a:solidFill>
            <a:srgbClr val="FFFFFF"/>
          </a:solidFill>
          <a:ln w="12700">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0E96DDD3-0CF0-4074-B2AC-1F4129B0BE5B}"/>
              </a:ext>
            </a:extLst>
          </p:cNvPr>
          <p:cNvSpPr>
            <a:spLocks noGrp="1"/>
          </p:cNvSpPr>
          <p:nvPr/>
        </p:nvSpPr>
        <p:spPr>
          <a:xfrm>
            <a:off x="3819887" y="4839226"/>
            <a:ext cx="729186" cy="276943"/>
          </a:xfrm>
          <a:prstGeom prst="rect">
            <a:avLst/>
          </a:prstGeom>
          <a:noFill/>
          <a:ln>
            <a:noFill/>
          </a:ln>
          <a:effectLst/>
        </p:spPr>
        <p:txBody>
          <a:bodyPr wrap="none" lIns="0" tIns="0" rIns="0" bIns="0" anchor="ctr">
            <a:spAutoFit/>
          </a:bodyPr>
          <a:lstStyle/>
          <a:p>
            <a:pPr algn="ctr">
              <a:buNone/>
            </a:pPr>
            <a:r>
              <a:rPr sz="1320" b="0">
                <a:solidFill>
                  <a:srgbClr val="101623"/>
                </a:solidFill>
                <a:latin typeface="IPAexGothic"/>
                <a:ea typeface="IPAexGothic"/>
                <a:cs typeface="IPAexGothic"/>
              </a:rPr>
              <a:t>Tool</a:t>
            </a:r>
          </a:p>
        </p:txBody>
      </p:sp>
      <p:sp>
        <p:nvSpPr>
          <p:cNvPr id="59" name="TextBox 58">
            <a:extLst>
              <a:ext uri="{FF2B5EF4-FFF2-40B4-BE49-F238E27FC236}">
                <a16:creationId xmlns:a16="http://schemas.microsoft.com/office/drawing/2014/main" id="{83258E49-F4AB-4A7E-9271-B0DDD85FCAF7}"/>
              </a:ext>
            </a:extLst>
          </p:cNvPr>
          <p:cNvSpPr>
            <a:spLocks noGrp="1"/>
          </p:cNvSpPr>
          <p:nvPr/>
        </p:nvSpPr>
        <p:spPr>
          <a:xfrm>
            <a:off x="1326069" y="4882954"/>
            <a:ext cx="255215" cy="204063"/>
          </a:xfrm>
          <a:prstGeom prst="rect">
            <a:avLst/>
          </a:prstGeom>
          <a:noFill/>
          <a:ln>
            <a:noFill/>
          </a:ln>
          <a:effectLst/>
        </p:spPr>
        <p:txBody>
          <a:bodyPr wrap="none" lIns="0" tIns="0" rIns="0" bIns="0" anchor="ctr">
            <a:spAutoFit/>
          </a:bodyPr>
          <a:lstStyle/>
          <a:p>
            <a:pPr algn="ctr">
              <a:buNone/>
            </a:pPr>
            <a:r>
              <a:rPr sz="1600" b="0">
                <a:solidFill>
                  <a:srgbClr val="101623"/>
                </a:solidFill>
                <a:latin typeface="IPAexGothic"/>
                <a:ea typeface="IPAexGothic"/>
                <a:cs typeface="IPAexGothic"/>
              </a:rPr>
              <a:t>→</a:t>
            </a:r>
          </a:p>
        </p:txBody>
      </p:sp>
      <p:sp>
        <p:nvSpPr>
          <p:cNvPr id="60" name="TextBox 59">
            <a:extLst>
              <a:ext uri="{FF2B5EF4-FFF2-40B4-BE49-F238E27FC236}">
                <a16:creationId xmlns:a16="http://schemas.microsoft.com/office/drawing/2014/main" id="{1E87C27C-5A77-404A-ACED-3C208C361955}"/>
              </a:ext>
            </a:extLst>
          </p:cNvPr>
          <p:cNvSpPr>
            <a:spLocks noGrp="1"/>
          </p:cNvSpPr>
          <p:nvPr/>
        </p:nvSpPr>
        <p:spPr>
          <a:xfrm>
            <a:off x="2434433" y="4882954"/>
            <a:ext cx="255215" cy="204063"/>
          </a:xfrm>
          <a:prstGeom prst="rect">
            <a:avLst/>
          </a:prstGeom>
          <a:noFill/>
          <a:ln>
            <a:noFill/>
          </a:ln>
          <a:effectLst/>
        </p:spPr>
        <p:txBody>
          <a:bodyPr wrap="none" lIns="0" tIns="0" rIns="0" bIns="0" anchor="ctr">
            <a:spAutoFit/>
          </a:bodyPr>
          <a:lstStyle/>
          <a:p>
            <a:pPr algn="ctr">
              <a:buNone/>
            </a:pPr>
            <a:r>
              <a:rPr sz="1600" b="0">
                <a:solidFill>
                  <a:srgbClr val="101623"/>
                </a:solidFill>
                <a:latin typeface="IPAexGothic"/>
                <a:ea typeface="IPAexGothic"/>
                <a:cs typeface="IPAexGothic"/>
              </a:rPr>
              <a:t>→</a:t>
            </a:r>
          </a:p>
        </p:txBody>
      </p:sp>
      <p:sp>
        <p:nvSpPr>
          <p:cNvPr id="61" name="TextBox 60">
            <a:extLst>
              <a:ext uri="{FF2B5EF4-FFF2-40B4-BE49-F238E27FC236}">
                <a16:creationId xmlns:a16="http://schemas.microsoft.com/office/drawing/2014/main" id="{0BE4C242-CEB9-4C0D-94B6-B62539698421}"/>
              </a:ext>
            </a:extLst>
          </p:cNvPr>
          <p:cNvSpPr>
            <a:spLocks noGrp="1"/>
          </p:cNvSpPr>
          <p:nvPr/>
        </p:nvSpPr>
        <p:spPr>
          <a:xfrm>
            <a:off x="3550088" y="4882954"/>
            <a:ext cx="255215" cy="204063"/>
          </a:xfrm>
          <a:prstGeom prst="rect">
            <a:avLst/>
          </a:prstGeom>
          <a:noFill/>
          <a:ln>
            <a:noFill/>
          </a:ln>
          <a:effectLst/>
        </p:spPr>
        <p:txBody>
          <a:bodyPr wrap="none" lIns="0" tIns="0" rIns="0" bIns="0" anchor="ctr">
            <a:spAutoFit/>
          </a:bodyPr>
          <a:lstStyle/>
          <a:p>
            <a:pPr algn="ctr">
              <a:buNone/>
            </a:pPr>
            <a:r>
              <a:rPr sz="1600" b="0">
                <a:solidFill>
                  <a:srgbClr val="101623"/>
                </a:solidFill>
                <a:latin typeface="IPAexGothic"/>
                <a:ea typeface="IPAexGothic"/>
                <a:cs typeface="IPAexGothic"/>
              </a:rPr>
              <a:t>→</a:t>
            </a:r>
          </a:p>
        </p:txBody>
      </p:sp>
      <p:sp>
        <p:nvSpPr>
          <p:cNvPr id="62" name="TextBox 61">
            <a:extLst>
              <a:ext uri="{FF2B5EF4-FFF2-40B4-BE49-F238E27FC236}">
                <a16:creationId xmlns:a16="http://schemas.microsoft.com/office/drawing/2014/main" id="{15E29E4E-A110-4BE9-B882-0D1666DF69AD}"/>
              </a:ext>
            </a:extLst>
          </p:cNvPr>
          <p:cNvSpPr>
            <a:spLocks noGrp="1"/>
          </p:cNvSpPr>
          <p:nvPr/>
        </p:nvSpPr>
        <p:spPr>
          <a:xfrm>
            <a:off x="4702203" y="4846514"/>
            <a:ext cx="437511" cy="247791"/>
          </a:xfrm>
          <a:prstGeom prst="rect">
            <a:avLst/>
          </a:prstGeom>
          <a:noFill/>
          <a:ln>
            <a:noFill/>
          </a:ln>
          <a:effectLst/>
        </p:spPr>
        <p:txBody>
          <a:bodyPr wrap="none" lIns="0" tIns="0" rIns="0" bIns="0" anchor="ctr">
            <a:spAutoFit/>
          </a:bodyPr>
          <a:lstStyle/>
          <a:p>
            <a:pPr algn="ctr">
              <a:buNone/>
            </a:pPr>
            <a:r>
              <a:rPr sz="1600" b="0">
                <a:solidFill>
                  <a:srgbClr val="101623"/>
                </a:solidFill>
                <a:latin typeface="IPAexGothic"/>
                <a:ea typeface="IPAexGothic"/>
                <a:cs typeface="IPAexGothic"/>
              </a:rPr>
              <a:t>→</a:t>
            </a:r>
          </a:p>
        </p:txBody>
      </p:sp>
      <p:sp>
        <p:nvSpPr>
          <p:cNvPr id="63" name="TextBox 62">
            <a:extLst>
              <a:ext uri="{FF2B5EF4-FFF2-40B4-BE49-F238E27FC236}">
                <a16:creationId xmlns:a16="http://schemas.microsoft.com/office/drawing/2014/main" id="{B8E97343-B6BA-4F0B-8013-2A7025C61695}"/>
              </a:ext>
            </a:extLst>
          </p:cNvPr>
          <p:cNvSpPr>
            <a:spLocks noGrp="1"/>
          </p:cNvSpPr>
          <p:nvPr/>
        </p:nvSpPr>
        <p:spPr>
          <a:xfrm>
            <a:off x="5037629" y="4861090"/>
            <a:ext cx="233339" cy="218639"/>
          </a:xfrm>
          <a:prstGeom prst="rect">
            <a:avLst/>
          </a:prstGeom>
          <a:noFill/>
          <a:ln>
            <a:noFill/>
          </a:ln>
          <a:effectLst/>
        </p:spPr>
        <p:txBody>
          <a:bodyPr wrap="none" lIns="0" tIns="0" rIns="0" bIns="0" anchor="ctr">
            <a:spAutoFit/>
          </a:bodyPr>
          <a:lstStyle/>
          <a:p>
            <a:pPr algn="ctr">
              <a:buNone/>
            </a:pPr>
            <a:r>
              <a:rPr sz="1900" b="0">
                <a:solidFill>
                  <a:srgbClr val="101623"/>
                </a:solidFill>
                <a:latin typeface="IPAexGothic"/>
                <a:ea typeface="IPAexGothic"/>
                <a:cs typeface="IPAexGothic"/>
              </a:rPr>
              <a:t>…</a:t>
            </a:r>
          </a:p>
        </p:txBody>
      </p:sp>
      <p:sp>
        <p:nvSpPr>
          <p:cNvPr id="64" name="TextBox 63">
            <a:extLst>
              <a:ext uri="{FF2B5EF4-FFF2-40B4-BE49-F238E27FC236}">
                <a16:creationId xmlns:a16="http://schemas.microsoft.com/office/drawing/2014/main" id="{FA269ABA-5883-409F-BD36-41AB62C6E163}"/>
              </a:ext>
            </a:extLst>
          </p:cNvPr>
          <p:cNvSpPr>
            <a:spLocks noGrp="1"/>
          </p:cNvSpPr>
          <p:nvPr/>
        </p:nvSpPr>
        <p:spPr>
          <a:xfrm>
            <a:off x="5373055" y="4839226"/>
            <a:ext cx="1020861" cy="276943"/>
          </a:xfrm>
          <a:prstGeom prst="rect">
            <a:avLst/>
          </a:prstGeom>
          <a:noFill/>
          <a:ln>
            <a:noFill/>
          </a:ln>
          <a:effectLst/>
        </p:spPr>
        <p:txBody>
          <a:bodyPr wrap="none" lIns="0" tIns="0" rIns="0" bIns="0" anchor="ctr">
            <a:spAutoFit/>
          </a:bodyPr>
          <a:lstStyle/>
          <a:p>
            <a:pPr algn="l">
              <a:buNone/>
            </a:pPr>
            <a:r>
              <a:rPr sz="1240" b="0">
                <a:solidFill>
                  <a:srgbClr val="101623"/>
                </a:solidFill>
                <a:latin typeface="IPAexGothic"/>
                <a:ea typeface="IPAexGothic"/>
                <a:cs typeface="IPAexGothic"/>
              </a:rPr>
              <a:t>max_turns＝N</a:t>
            </a:r>
          </a:p>
        </p:txBody>
      </p:sp>
      <p:sp>
        <p:nvSpPr>
          <p:cNvPr id="65" name="Rectangle 64">
            <a:extLst>
              <a:ext uri="{FF2B5EF4-FFF2-40B4-BE49-F238E27FC236}">
                <a16:creationId xmlns:a16="http://schemas.microsoft.com/office/drawing/2014/main" id="{1BA080CF-EAFD-47A1-BDD6-3842A2F00AFB}"/>
              </a:ext>
            </a:extLst>
          </p:cNvPr>
          <p:cNvSpPr>
            <a:spLocks noGrp="1"/>
          </p:cNvSpPr>
          <p:nvPr/>
        </p:nvSpPr>
        <p:spPr>
          <a:xfrm>
            <a:off x="7087693" y="4606010"/>
            <a:ext cx="4557416" cy="940150"/>
          </a:xfrm>
          <a:prstGeom prst="rect">
            <a:avLst/>
          </a:prstGeom>
          <a:solidFill>
            <a:srgbClr val="FFFFFF"/>
          </a:solidFill>
          <a:ln w="1270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6" name="TextBox 65">
            <a:extLst>
              <a:ext uri="{FF2B5EF4-FFF2-40B4-BE49-F238E27FC236}">
                <a16:creationId xmlns:a16="http://schemas.microsoft.com/office/drawing/2014/main" id="{A911DA65-23DA-4433-B2DC-8D651CB70B47}"/>
              </a:ext>
            </a:extLst>
          </p:cNvPr>
          <p:cNvSpPr>
            <a:spLocks noGrp="1"/>
          </p:cNvSpPr>
          <p:nvPr/>
        </p:nvSpPr>
        <p:spPr>
          <a:xfrm>
            <a:off x="7086600" y="4722618"/>
            <a:ext cx="4343400" cy="182199"/>
          </a:xfrm>
          <a:prstGeom prst="rect">
            <a:avLst/>
          </a:prstGeom>
          <a:noFill/>
          <a:ln>
            <a:noFill/>
          </a:ln>
          <a:effectLst/>
        </p:spPr>
        <p:txBody>
          <a:bodyPr wrap="none" lIns="0" tIns="0" rIns="0" bIns="0" anchor="ctr">
            <a:spAutoFit/>
          </a:bodyPr>
          <a:lstStyle/>
          <a:p>
            <a:pPr algn="l">
              <a:buNone/>
            </a:pPr>
            <a:r>
              <a:rPr sz="1170" b="0">
                <a:solidFill>
                  <a:srgbClr val="101623"/>
                </a:solidFill>
                <a:latin typeface="IPAexGothic"/>
                <a:ea typeface="IPAexGothic"/>
                <a:cs typeface="IPAexGothic"/>
              </a:rPr>
              <a:t>・  Turn数 ≠ Token数 ≠ Cost</a:t>
            </a:r>
          </a:p>
        </p:txBody>
      </p:sp>
      <p:sp>
        <p:nvSpPr>
          <p:cNvPr id="67" name="TextBox 66">
            <a:extLst>
              <a:ext uri="{FF2B5EF4-FFF2-40B4-BE49-F238E27FC236}">
                <a16:creationId xmlns:a16="http://schemas.microsoft.com/office/drawing/2014/main" id="{780A3A89-4CC7-455F-BE36-24A3D4F58589}"/>
              </a:ext>
            </a:extLst>
          </p:cNvPr>
          <p:cNvSpPr>
            <a:spLocks noGrp="1"/>
          </p:cNvSpPr>
          <p:nvPr/>
        </p:nvSpPr>
        <p:spPr>
          <a:xfrm>
            <a:off x="7086600" y="5014138"/>
            <a:ext cx="4343400" cy="182199"/>
          </a:xfrm>
          <a:prstGeom prst="rect">
            <a:avLst/>
          </a:prstGeom>
          <a:noFill/>
          <a:ln>
            <a:noFill/>
          </a:ln>
          <a:effectLst/>
        </p:spPr>
        <p:txBody>
          <a:bodyPr wrap="none" lIns="0" tIns="0" rIns="0" bIns="0" anchor="ctr">
            <a:spAutoFit/>
          </a:bodyPr>
          <a:lstStyle/>
          <a:p>
            <a:pPr algn="l">
              <a:buNone/>
            </a:pPr>
            <a:r>
              <a:rPr sz="1170" b="0">
                <a:solidFill>
                  <a:srgbClr val="101623"/>
                </a:solidFill>
                <a:latin typeface="IPAexGothic"/>
                <a:ea typeface="IPAexGothic"/>
                <a:cs typeface="IPAexGothic"/>
              </a:rPr>
              <a:t>・  max_turnsを設定しても，各Turnが大きければCostは増える</a:t>
            </a:r>
          </a:p>
        </p:txBody>
      </p:sp>
      <p:sp>
        <p:nvSpPr>
          <p:cNvPr id="68" name="TextBox 67">
            <a:extLst>
              <a:ext uri="{FF2B5EF4-FFF2-40B4-BE49-F238E27FC236}">
                <a16:creationId xmlns:a16="http://schemas.microsoft.com/office/drawing/2014/main" id="{A8FA70A6-BF02-48D1-B6B9-1696B18ECB71}"/>
              </a:ext>
            </a:extLst>
          </p:cNvPr>
          <p:cNvSpPr>
            <a:spLocks noGrp="1"/>
          </p:cNvSpPr>
          <p:nvPr/>
        </p:nvSpPr>
        <p:spPr>
          <a:xfrm>
            <a:off x="7086600" y="5305657"/>
            <a:ext cx="4343400" cy="182199"/>
          </a:xfrm>
          <a:prstGeom prst="rect">
            <a:avLst/>
          </a:prstGeom>
          <a:noFill/>
          <a:ln>
            <a:noFill/>
          </a:ln>
          <a:effectLst/>
        </p:spPr>
        <p:txBody>
          <a:bodyPr wrap="none" lIns="0" tIns="0" rIns="0" bIns="0" anchor="ctr">
            <a:spAutoFit/>
          </a:bodyPr>
          <a:lstStyle/>
          <a:p>
            <a:pPr algn="l">
              <a:buNone/>
            </a:pPr>
            <a:r>
              <a:rPr sz="1170" b="0">
                <a:solidFill>
                  <a:srgbClr val="101623"/>
                </a:solidFill>
                <a:latin typeface="IPAexGothic"/>
                <a:ea typeface="IPAexGothic"/>
                <a:cs typeface="IPAexGothic"/>
              </a:rPr>
              <a:t>・  Token／Cost制御はA9，A10で別途整理</a:t>
            </a:r>
          </a:p>
        </p:txBody>
      </p:sp>
      <p:sp>
        <p:nvSpPr>
          <p:cNvPr id="69" name="Rectangle 68">
            <a:extLst>
              <a:ext uri="{FF2B5EF4-FFF2-40B4-BE49-F238E27FC236}">
                <a16:creationId xmlns:a16="http://schemas.microsoft.com/office/drawing/2014/main" id="{65C20F87-3B8E-432F-9C7D-7AA6E81F3818}"/>
              </a:ext>
            </a:extLst>
          </p:cNvPr>
          <p:cNvSpPr>
            <a:spLocks noGrp="1"/>
          </p:cNvSpPr>
          <p:nvPr/>
        </p:nvSpPr>
        <p:spPr>
          <a:xfrm>
            <a:off x="291674" y="5721073"/>
            <a:ext cx="11353435" cy="670495"/>
          </a:xfrm>
          <a:prstGeom prst="rect">
            <a:avLst/>
          </a:prstGeom>
          <a:solidFill>
            <a:srgbClr val="FFFFFF"/>
          </a:solidFill>
          <a:ln w="12700">
            <a:solidFill>
              <a:srgbClr val="9BADD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Rectangle 69">
            <a:extLst>
              <a:ext uri="{FF2B5EF4-FFF2-40B4-BE49-F238E27FC236}">
                <a16:creationId xmlns:a16="http://schemas.microsoft.com/office/drawing/2014/main" id="{78764C85-EDDE-4683-B5AD-60677108420E}"/>
              </a:ext>
            </a:extLst>
          </p:cNvPr>
          <p:cNvSpPr>
            <a:spLocks noGrp="1"/>
          </p:cNvSpPr>
          <p:nvPr/>
        </p:nvSpPr>
        <p:spPr>
          <a:xfrm>
            <a:off x="291674" y="5721073"/>
            <a:ext cx="1764631" cy="670495"/>
          </a:xfrm>
          <a:prstGeom prst="rect">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TextBox 70">
            <a:extLst>
              <a:ext uri="{FF2B5EF4-FFF2-40B4-BE49-F238E27FC236}">
                <a16:creationId xmlns:a16="http://schemas.microsoft.com/office/drawing/2014/main" id="{EFA1E950-2038-4A6C-94C1-9A7EBC9B0709}"/>
              </a:ext>
            </a:extLst>
          </p:cNvPr>
          <p:cNvSpPr>
            <a:spLocks noGrp="1"/>
          </p:cNvSpPr>
          <p:nvPr/>
        </p:nvSpPr>
        <p:spPr>
          <a:xfrm>
            <a:off x="525014" y="5954289"/>
            <a:ext cx="1297952" cy="243840"/>
          </a:xfrm>
          <a:prstGeom prst="rect">
            <a:avLst/>
          </a:prstGeom>
          <a:noFill/>
          <a:ln>
            <a:noFill/>
          </a:ln>
          <a:effectLst/>
        </p:spPr>
        <p:txBody>
          <a:bodyPr wrap="none" lIns="0" tIns="0" rIns="0" bIns="0" anchor="ctr">
            <a:spAutoFit/>
          </a:bodyPr>
          <a:lstStyle/>
          <a:p>
            <a:pPr algn="ctr">
              <a:buNone/>
            </a:pPr>
            <a:r>
              <a:rPr sz="1600" b="1">
                <a:solidFill>
                  <a:srgbClr val="0B3691"/>
                </a:solidFill>
                <a:latin typeface="IPAexGothic"/>
                <a:ea typeface="IPAexGothic"/>
                <a:cs typeface="IPAexGothic"/>
              </a:rPr>
              <a:t>違いのまとめ</a:t>
            </a:r>
          </a:p>
        </p:txBody>
      </p:sp>
      <p:sp>
        <p:nvSpPr>
          <p:cNvPr id="72" name="TextBox 71">
            <a:extLst>
              <a:ext uri="{FF2B5EF4-FFF2-40B4-BE49-F238E27FC236}">
                <a16:creationId xmlns:a16="http://schemas.microsoft.com/office/drawing/2014/main" id="{A3BD0873-D689-4EFC-BA50-36C049682FAA}"/>
              </a:ext>
            </a:extLst>
          </p:cNvPr>
          <p:cNvSpPr>
            <a:spLocks noGrp="1"/>
          </p:cNvSpPr>
          <p:nvPr/>
        </p:nvSpPr>
        <p:spPr>
          <a:xfrm>
            <a:off x="2384440" y="5932425"/>
            <a:ext cx="8662736" cy="276943"/>
          </a:xfrm>
          <a:prstGeom prst="rect">
            <a:avLst/>
          </a:prstGeom>
          <a:noFill/>
          <a:ln>
            <a:noFill/>
          </a:ln>
          <a:effectLst/>
        </p:spPr>
        <p:txBody>
          <a:bodyPr wrap="none" lIns="0" tIns="0" rIns="0" bIns="0" anchor="ctr">
            <a:spAutoFit/>
          </a:bodyPr>
          <a:lstStyle/>
          <a:p>
            <a:pPr algn="l">
              <a:buNone/>
            </a:pPr>
            <a:r>
              <a:rPr sz="1330" b="0">
                <a:solidFill>
                  <a:srgbClr val="101623"/>
                </a:solidFill>
                <a:latin typeface="IPAexGothic"/>
                <a:ea typeface="IPAexGothic"/>
                <a:cs typeface="IPAexGothic"/>
              </a:rPr>
              <a:t>両SDKともmax_turnsでLoop回数を制御するが，これはToken BudgetやCost Budgetの代替ではない．</a:t>
            </a:r>
          </a:p>
        </p:txBody>
      </p:sp>
      <p:sp>
        <p:nvSpPr>
          <p:cNvPr id="73" name="TextBox 72">
            <a:extLst>
              <a:ext uri="{FF2B5EF4-FFF2-40B4-BE49-F238E27FC236}">
                <a16:creationId xmlns:a16="http://schemas.microsoft.com/office/drawing/2014/main" id="{B9FF0EC0-5161-4AD0-9F40-33FD54C36B1B}"/>
              </a:ext>
            </a:extLst>
          </p:cNvPr>
          <p:cNvSpPr>
            <a:spLocks noGrp="1"/>
          </p:cNvSpPr>
          <p:nvPr/>
        </p:nvSpPr>
        <p:spPr>
          <a:xfrm>
            <a:off x="11579482" y="6457160"/>
            <a:ext cx="350009" cy="204063"/>
          </a:xfrm>
          <a:prstGeom prst="rect">
            <a:avLst/>
          </a:prstGeom>
          <a:noFill/>
          <a:ln>
            <a:noFill/>
          </a:ln>
          <a:effectLst/>
        </p:spPr>
        <p:txBody>
          <a:bodyPr wrap="none" lIns="0" tIns="0" rIns="0" bIns="0" anchor="ctr">
            <a:spAutoFit/>
          </a:bodyPr>
          <a:lstStyle/>
          <a:p>
            <a:pPr algn="ctr">
              <a:buNone/>
            </a:pPr>
            <a:r>
              <a:rPr sz="1600" b="1">
                <a:solidFill>
                  <a:srgbClr val="052C7E"/>
                </a:solidFill>
                <a:latin typeface="IPAexGothic"/>
                <a:ea typeface="IPAexGothic"/>
                <a:cs typeface="IPAexGothic"/>
              </a:rPr>
              <a:t>A8</a:t>
            </a:r>
          </a:p>
        </p:txBody>
      </p:sp>
    </p:spTree>
    <p:extLst>
      <p:ext uri="{BB962C8B-B14F-4D97-AF65-F5344CB8AC3E}">
        <p14:creationId xmlns:p14="http://schemas.microsoft.com/office/powerpoint/2010/main" val="325567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E71492-E081-4658-86C0-C566DA9E6D68}"/>
              </a:ext>
            </a:extLst>
          </p:cNvPr>
          <p:cNvSpPr>
            <a:spLocks noGrp="1"/>
          </p:cNvSpPr>
          <p:nvPr/>
        </p:nvSpPr>
        <p:spPr>
          <a:xfrm>
            <a:off x="335425" y="685071"/>
            <a:ext cx="714602" cy="51015"/>
          </a:xfrm>
          <a:prstGeom prst="rect">
            <a:avLst/>
          </a:prstGeom>
          <a:solidFill>
            <a:srgbClr val="1E56FF"/>
          </a:solidFill>
          <a:ln>
            <a:solidFill>
              <a:srgbClr val="1E5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12CA7C6-AD9A-4BBF-BE40-3775A6055177}"/>
              </a:ext>
            </a:extLst>
          </p:cNvPr>
          <p:cNvSpPr>
            <a:spLocks noGrp="1"/>
          </p:cNvSpPr>
          <p:nvPr/>
        </p:nvSpPr>
        <p:spPr>
          <a:xfrm>
            <a:off x="342717" y="131183"/>
            <a:ext cx="8166889" cy="393551"/>
          </a:xfrm>
          <a:prstGeom prst="rect">
            <a:avLst/>
          </a:prstGeom>
          <a:noFill/>
          <a:ln>
            <a:noFill/>
          </a:ln>
          <a:effectLst/>
        </p:spPr>
        <p:txBody>
          <a:bodyPr wrap="none" lIns="0" tIns="0" rIns="0" bIns="0" anchor="ctr">
            <a:spAutoFit/>
          </a:bodyPr>
          <a:lstStyle/>
          <a:p>
            <a:pPr algn="l">
              <a:buNone/>
            </a:pPr>
            <a:r>
              <a:rPr sz="2100" b="1">
                <a:solidFill>
                  <a:srgbClr val="052C7E"/>
                </a:solidFill>
                <a:latin typeface="IPAexGothic"/>
                <a:ea typeface="IPAexGothic"/>
                <a:cs typeface="IPAexGothic"/>
              </a:rPr>
              <a:t>Appendix A9． Token使用量とToken Budget</a:t>
            </a:r>
          </a:p>
        </p:txBody>
      </p:sp>
      <p:sp>
        <p:nvSpPr>
          <p:cNvPr id="5" name="TextBox 4">
            <a:extLst>
              <a:ext uri="{FF2B5EF4-FFF2-40B4-BE49-F238E27FC236}">
                <a16:creationId xmlns:a16="http://schemas.microsoft.com/office/drawing/2014/main" id="{1B7828B7-92F7-4445-90CD-D3A17BEF7E2D}"/>
              </a:ext>
            </a:extLst>
          </p:cNvPr>
          <p:cNvSpPr>
            <a:spLocks noGrp="1"/>
          </p:cNvSpPr>
          <p:nvPr/>
        </p:nvSpPr>
        <p:spPr>
          <a:xfrm>
            <a:off x="10689875" y="182199"/>
            <a:ext cx="984401" cy="189487"/>
          </a:xfrm>
          <a:prstGeom prst="rect">
            <a:avLst/>
          </a:prstGeom>
          <a:noFill/>
          <a:ln>
            <a:noFill/>
          </a:ln>
          <a:effectLst/>
        </p:spPr>
        <p:txBody>
          <a:bodyPr wrap="none" lIns="0" tIns="0" rIns="0" bIns="0" anchor="ctr">
            <a:spAutoFit/>
          </a:bodyPr>
          <a:lstStyle/>
          <a:p>
            <a:pPr algn="ctr">
              <a:buNone/>
            </a:pPr>
            <a:r>
              <a:rPr sz="1180" b="1">
                <a:solidFill>
                  <a:srgbClr val="052C7E"/>
                </a:solidFill>
                <a:latin typeface="IPAexGothic"/>
                <a:ea typeface="IPAexGothic"/>
                <a:cs typeface="IPAexGothic"/>
              </a:rPr>
              <a:t>リソース統制</a:t>
            </a:r>
          </a:p>
        </p:txBody>
      </p:sp>
      <p:sp>
        <p:nvSpPr>
          <p:cNvPr id="6" name="TextBox 5">
            <a:extLst>
              <a:ext uri="{FF2B5EF4-FFF2-40B4-BE49-F238E27FC236}">
                <a16:creationId xmlns:a16="http://schemas.microsoft.com/office/drawing/2014/main" id="{A13C7206-1173-4F2B-AFA2-D017D36E3154}"/>
              </a:ext>
            </a:extLst>
          </p:cNvPr>
          <p:cNvSpPr>
            <a:spLocks noGrp="1"/>
          </p:cNvSpPr>
          <p:nvPr/>
        </p:nvSpPr>
        <p:spPr>
          <a:xfrm>
            <a:off x="350009" y="910998"/>
            <a:ext cx="10573205" cy="240503"/>
          </a:xfrm>
          <a:prstGeom prst="rect">
            <a:avLst/>
          </a:prstGeom>
          <a:noFill/>
          <a:ln>
            <a:noFill/>
          </a:ln>
          <a:effectLst/>
        </p:spPr>
        <p:txBody>
          <a:bodyPr wrap="none" lIns="0" tIns="0" rIns="0" bIns="0" anchor="ctr">
            <a:spAutoFit/>
          </a:bodyPr>
          <a:lstStyle/>
          <a:p>
            <a:pPr algn="l">
              <a:buNone/>
            </a:pPr>
            <a:r>
              <a:rPr sz="1220" b="1">
                <a:solidFill>
                  <a:srgbClr val="052C7E"/>
                </a:solidFill>
                <a:latin typeface="IPAexGothic"/>
                <a:ea typeface="IPAexGothic"/>
                <a:cs typeface="IPAexGothic"/>
              </a:rPr>
              <a:t>Token Governanceでは，どれだけ使ったかを計測することと，指定量を超えないよう制御することを分けて考える必要がある．</a:t>
            </a:r>
          </a:p>
        </p:txBody>
      </p:sp>
      <p:sp>
        <p:nvSpPr>
          <p:cNvPr id="7" name="Rectangle 6">
            <a:extLst>
              <a:ext uri="{FF2B5EF4-FFF2-40B4-BE49-F238E27FC236}">
                <a16:creationId xmlns:a16="http://schemas.microsoft.com/office/drawing/2014/main" id="{2CE1193B-3D74-4595-981D-CA4A0BA5FE50}"/>
              </a:ext>
            </a:extLst>
          </p:cNvPr>
          <p:cNvSpPr>
            <a:spLocks noGrp="1"/>
          </p:cNvSpPr>
          <p:nvPr/>
        </p:nvSpPr>
        <p:spPr>
          <a:xfrm>
            <a:off x="473854" y="1238958"/>
            <a:ext cx="3208420"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DB13AC1F-F2E1-4BAA-9AF0-86CA29B8BC15}"/>
              </a:ext>
            </a:extLst>
          </p:cNvPr>
          <p:cNvSpPr>
            <a:spLocks noGrp="1"/>
          </p:cNvSpPr>
          <p:nvPr/>
        </p:nvSpPr>
        <p:spPr>
          <a:xfrm>
            <a:off x="3682275" y="1238958"/>
            <a:ext cx="3864688"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1F1058DC-0F6E-47E3-B29E-EF240273D1F8}"/>
              </a:ext>
            </a:extLst>
          </p:cNvPr>
          <p:cNvSpPr>
            <a:spLocks noGrp="1"/>
          </p:cNvSpPr>
          <p:nvPr/>
        </p:nvSpPr>
        <p:spPr>
          <a:xfrm>
            <a:off x="7546964" y="1238958"/>
            <a:ext cx="3864688"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0F419CC-3ADB-46E6-A1DE-DB844243EF91}"/>
              </a:ext>
            </a:extLst>
          </p:cNvPr>
          <p:cNvSpPr>
            <a:spLocks noGrp="1"/>
          </p:cNvSpPr>
          <p:nvPr/>
        </p:nvSpPr>
        <p:spPr>
          <a:xfrm>
            <a:off x="473854" y="1238958"/>
            <a:ext cx="3208420" cy="371687"/>
          </a:xfrm>
          <a:prstGeom prst="rect">
            <a:avLst/>
          </a:prstGeom>
          <a:noFill/>
          <a:ln>
            <a:noFill/>
          </a:ln>
          <a:effectLst/>
        </p:spPr>
        <p:txBody>
          <a:bodyPr wrap="none" lIns="0" tIns="0" rIns="0" bIns="0" anchor="ctr">
            <a:spAutoFit/>
          </a:bodyPr>
          <a:lstStyle/>
          <a:p>
            <a:pPr algn="ctr">
              <a:buNone/>
            </a:pPr>
            <a:r>
              <a:rPr sz="1420" b="1">
                <a:solidFill>
                  <a:srgbClr val="0B3691"/>
                </a:solidFill>
                <a:latin typeface="IPAexGothic"/>
                <a:ea typeface="IPAexGothic"/>
                <a:cs typeface="IPAexGothic"/>
              </a:rPr>
              <a:t>観点</a:t>
            </a:r>
          </a:p>
        </p:txBody>
      </p:sp>
      <p:sp>
        <p:nvSpPr>
          <p:cNvPr id="11" name="TextBox 10">
            <a:extLst>
              <a:ext uri="{FF2B5EF4-FFF2-40B4-BE49-F238E27FC236}">
                <a16:creationId xmlns:a16="http://schemas.microsoft.com/office/drawing/2014/main" id="{33950F50-32BF-4B80-AED0-BA5D3502325C}"/>
              </a:ext>
            </a:extLst>
          </p:cNvPr>
          <p:cNvSpPr>
            <a:spLocks noGrp="1"/>
          </p:cNvSpPr>
          <p:nvPr/>
        </p:nvSpPr>
        <p:spPr>
          <a:xfrm>
            <a:off x="3682275" y="1238958"/>
            <a:ext cx="3864688" cy="371687"/>
          </a:xfrm>
          <a:prstGeom prst="rect">
            <a:avLst/>
          </a:prstGeom>
          <a:noFill/>
          <a:ln>
            <a:noFill/>
          </a:ln>
          <a:effectLst/>
        </p:spPr>
        <p:txBody>
          <a:bodyPr wrap="none" lIns="0" tIns="0" rIns="0" bIns="0" anchor="ctr">
            <a:spAutoFit/>
          </a:bodyPr>
          <a:lstStyle/>
          <a:p>
            <a:pPr algn="ctr">
              <a:buNone/>
            </a:pPr>
            <a:r>
              <a:rPr sz="1420" b="1">
                <a:solidFill>
                  <a:srgbClr val="0B3691"/>
                </a:solidFill>
                <a:latin typeface="IPAexGothic"/>
                <a:ea typeface="IPAexGothic"/>
                <a:cs typeface="IPAexGothic"/>
              </a:rPr>
              <a:t>OpenAI Agents SDK</a:t>
            </a:r>
          </a:p>
        </p:txBody>
      </p:sp>
      <p:sp>
        <p:nvSpPr>
          <p:cNvPr id="12" name="TextBox 11">
            <a:extLst>
              <a:ext uri="{FF2B5EF4-FFF2-40B4-BE49-F238E27FC236}">
                <a16:creationId xmlns:a16="http://schemas.microsoft.com/office/drawing/2014/main" id="{781745A8-AFEF-4D4E-BC21-20FE010C4D2B}"/>
              </a:ext>
            </a:extLst>
          </p:cNvPr>
          <p:cNvSpPr>
            <a:spLocks noGrp="1"/>
          </p:cNvSpPr>
          <p:nvPr/>
        </p:nvSpPr>
        <p:spPr>
          <a:xfrm>
            <a:off x="7546964" y="1238958"/>
            <a:ext cx="3864688" cy="371687"/>
          </a:xfrm>
          <a:prstGeom prst="rect">
            <a:avLst/>
          </a:prstGeom>
          <a:noFill/>
          <a:ln>
            <a:noFill/>
          </a:ln>
          <a:effectLst/>
        </p:spPr>
        <p:txBody>
          <a:bodyPr wrap="none" lIns="0" tIns="0" rIns="0" bIns="0" anchor="ctr">
            <a:spAutoFit/>
          </a:bodyPr>
          <a:lstStyle/>
          <a:p>
            <a:pPr algn="ctr">
              <a:buNone/>
            </a:pPr>
            <a:r>
              <a:rPr sz="1420" b="1">
                <a:solidFill>
                  <a:srgbClr val="0B3691"/>
                </a:solidFill>
                <a:latin typeface="IPAexGothic"/>
                <a:ea typeface="IPAexGothic"/>
                <a:cs typeface="IPAexGothic"/>
              </a:rPr>
              <a:t>Claude Agent SDK</a:t>
            </a:r>
          </a:p>
        </p:txBody>
      </p:sp>
      <p:sp>
        <p:nvSpPr>
          <p:cNvPr id="13" name="Rectangle 12">
            <a:extLst>
              <a:ext uri="{FF2B5EF4-FFF2-40B4-BE49-F238E27FC236}">
                <a16:creationId xmlns:a16="http://schemas.microsoft.com/office/drawing/2014/main" id="{32CF77A1-82F6-473D-8FF0-F20AA2EBF168}"/>
              </a:ext>
            </a:extLst>
          </p:cNvPr>
          <p:cNvSpPr>
            <a:spLocks noGrp="1"/>
          </p:cNvSpPr>
          <p:nvPr/>
        </p:nvSpPr>
        <p:spPr>
          <a:xfrm>
            <a:off x="473854" y="1610646"/>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CA36A630-3ABF-46F6-9F8A-1E7C3C83B4EE}"/>
              </a:ext>
            </a:extLst>
          </p:cNvPr>
          <p:cNvSpPr>
            <a:spLocks noGrp="1"/>
          </p:cNvSpPr>
          <p:nvPr/>
        </p:nvSpPr>
        <p:spPr>
          <a:xfrm>
            <a:off x="3682275" y="1610646"/>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96EF1AF4-99F7-459E-B280-C198A78C8856}"/>
              </a:ext>
            </a:extLst>
          </p:cNvPr>
          <p:cNvSpPr>
            <a:spLocks noGrp="1"/>
          </p:cNvSpPr>
          <p:nvPr/>
        </p:nvSpPr>
        <p:spPr>
          <a:xfrm>
            <a:off x="7546964" y="1610646"/>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16C51FB-FC0E-4A1E-AB4A-2D8B3B666F44}"/>
              </a:ext>
            </a:extLst>
          </p:cNvPr>
          <p:cNvSpPr>
            <a:spLocks noGrp="1"/>
          </p:cNvSpPr>
          <p:nvPr/>
        </p:nvSpPr>
        <p:spPr>
          <a:xfrm>
            <a:off x="605108" y="1639798"/>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Input Token計測：</a:t>
            </a:r>
          </a:p>
        </p:txBody>
      </p:sp>
      <p:sp>
        <p:nvSpPr>
          <p:cNvPr id="17" name="TextBox 16">
            <a:extLst>
              <a:ext uri="{FF2B5EF4-FFF2-40B4-BE49-F238E27FC236}">
                <a16:creationId xmlns:a16="http://schemas.microsoft.com/office/drawing/2014/main" id="{4753A474-DFFF-4CDF-9780-3CF62AA98FB4}"/>
              </a:ext>
            </a:extLst>
          </p:cNvPr>
          <p:cNvSpPr>
            <a:spLocks noGrp="1"/>
          </p:cNvSpPr>
          <p:nvPr/>
        </p:nvSpPr>
        <p:spPr>
          <a:xfrm>
            <a:off x="3813529" y="1639798"/>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Usage.input_tokens</a:t>
            </a:r>
          </a:p>
        </p:txBody>
      </p:sp>
      <p:sp>
        <p:nvSpPr>
          <p:cNvPr id="18" name="TextBox 17">
            <a:extLst>
              <a:ext uri="{FF2B5EF4-FFF2-40B4-BE49-F238E27FC236}">
                <a16:creationId xmlns:a16="http://schemas.microsoft.com/office/drawing/2014/main" id="{4B10A908-BA57-464C-957D-5F4DC3443344}"/>
              </a:ext>
            </a:extLst>
          </p:cNvPr>
          <p:cNvSpPr>
            <a:spLocks noGrp="1"/>
          </p:cNvSpPr>
          <p:nvPr/>
        </p:nvSpPr>
        <p:spPr>
          <a:xfrm>
            <a:off x="7678218" y="1639798"/>
            <a:ext cx="3660516" cy="306095"/>
          </a:xfrm>
          <a:prstGeom prst="rect">
            <a:avLst/>
          </a:prstGeom>
          <a:noFill/>
          <a:ln>
            <a:noFill/>
          </a:ln>
          <a:effectLst/>
        </p:spPr>
        <p:txBody>
          <a:bodyPr wrap="none" lIns="0" tIns="0" rIns="0" bIns="0" anchor="ctr">
            <a:spAutoFit/>
          </a:bodyPr>
          <a:lstStyle/>
          <a:p>
            <a:pPr algn="l">
              <a:buNone/>
            </a:pPr>
            <a:r>
              <a:rPr sz="850" b="1">
                <a:solidFill>
                  <a:srgbClr val="052C7E"/>
                </a:solidFill>
                <a:latin typeface="IPAexGothic"/>
              </a:rPr>
              <a:t>AssistantMessage.usage等</a:t>
            </a:r>
          </a:p>
        </p:txBody>
      </p:sp>
      <p:sp>
        <p:nvSpPr>
          <p:cNvPr id="19" name="Rectangle 18">
            <a:extLst>
              <a:ext uri="{FF2B5EF4-FFF2-40B4-BE49-F238E27FC236}">
                <a16:creationId xmlns:a16="http://schemas.microsoft.com/office/drawing/2014/main" id="{BB40250A-B7FD-48E5-A486-D5B91AFD105D}"/>
              </a:ext>
            </a:extLst>
          </p:cNvPr>
          <p:cNvSpPr>
            <a:spLocks noGrp="1"/>
          </p:cNvSpPr>
          <p:nvPr/>
        </p:nvSpPr>
        <p:spPr>
          <a:xfrm>
            <a:off x="473854" y="1975045"/>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42EB5CF8-9377-4C78-BBAE-2498FCF6AABB}"/>
              </a:ext>
            </a:extLst>
          </p:cNvPr>
          <p:cNvSpPr>
            <a:spLocks noGrp="1"/>
          </p:cNvSpPr>
          <p:nvPr/>
        </p:nvSpPr>
        <p:spPr>
          <a:xfrm>
            <a:off x="3682275" y="1975045"/>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C521D000-054D-4A06-BDE0-425175B78D4F}"/>
              </a:ext>
            </a:extLst>
          </p:cNvPr>
          <p:cNvSpPr>
            <a:spLocks noGrp="1"/>
          </p:cNvSpPr>
          <p:nvPr/>
        </p:nvSpPr>
        <p:spPr>
          <a:xfrm>
            <a:off x="7546964" y="1975045"/>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78B9876-2B9E-473E-A45E-52ED222B64FA}"/>
              </a:ext>
            </a:extLst>
          </p:cNvPr>
          <p:cNvSpPr>
            <a:spLocks noGrp="1"/>
          </p:cNvSpPr>
          <p:nvPr/>
        </p:nvSpPr>
        <p:spPr>
          <a:xfrm>
            <a:off x="605108" y="2004197"/>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Output Token計測：</a:t>
            </a:r>
          </a:p>
        </p:txBody>
      </p:sp>
      <p:sp>
        <p:nvSpPr>
          <p:cNvPr id="23" name="TextBox 22">
            <a:extLst>
              <a:ext uri="{FF2B5EF4-FFF2-40B4-BE49-F238E27FC236}">
                <a16:creationId xmlns:a16="http://schemas.microsoft.com/office/drawing/2014/main" id="{BA9C7066-1BF0-4D88-A574-0169D4E818F4}"/>
              </a:ext>
            </a:extLst>
          </p:cNvPr>
          <p:cNvSpPr>
            <a:spLocks noGrp="1"/>
          </p:cNvSpPr>
          <p:nvPr/>
        </p:nvSpPr>
        <p:spPr>
          <a:xfrm>
            <a:off x="3813529" y="2004197"/>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Usage.output_tokens</a:t>
            </a:r>
          </a:p>
        </p:txBody>
      </p:sp>
      <p:sp>
        <p:nvSpPr>
          <p:cNvPr id="24" name="TextBox 23">
            <a:extLst>
              <a:ext uri="{FF2B5EF4-FFF2-40B4-BE49-F238E27FC236}">
                <a16:creationId xmlns:a16="http://schemas.microsoft.com/office/drawing/2014/main" id="{56A476DA-0057-4C33-9D86-37692FBDF2E1}"/>
              </a:ext>
            </a:extLst>
          </p:cNvPr>
          <p:cNvSpPr>
            <a:spLocks noGrp="1"/>
          </p:cNvSpPr>
          <p:nvPr/>
        </p:nvSpPr>
        <p:spPr>
          <a:xfrm>
            <a:off x="7678218" y="2004197"/>
            <a:ext cx="3660516" cy="306095"/>
          </a:xfrm>
          <a:prstGeom prst="rect">
            <a:avLst/>
          </a:prstGeom>
          <a:noFill/>
          <a:ln>
            <a:noFill/>
          </a:ln>
          <a:effectLst/>
        </p:spPr>
        <p:txBody>
          <a:bodyPr wrap="none" lIns="0" tIns="0" rIns="0" bIns="0" anchor="ctr">
            <a:spAutoFit/>
          </a:bodyPr>
          <a:lstStyle/>
          <a:p>
            <a:pPr algn="l">
              <a:buNone/>
            </a:pPr>
            <a:r>
              <a:rPr sz="850" b="1">
                <a:solidFill>
                  <a:srgbClr val="052C7E"/>
                </a:solidFill>
                <a:latin typeface="IPAexGothic"/>
              </a:rPr>
              <a:t>AssistantMessage.usage等</a:t>
            </a:r>
          </a:p>
        </p:txBody>
      </p:sp>
      <p:sp>
        <p:nvSpPr>
          <p:cNvPr id="25" name="Rectangle 24">
            <a:extLst>
              <a:ext uri="{FF2B5EF4-FFF2-40B4-BE49-F238E27FC236}">
                <a16:creationId xmlns:a16="http://schemas.microsoft.com/office/drawing/2014/main" id="{A2555B85-079C-4EF4-B80F-E8F2FCE7B614}"/>
              </a:ext>
            </a:extLst>
          </p:cNvPr>
          <p:cNvSpPr>
            <a:spLocks noGrp="1"/>
          </p:cNvSpPr>
          <p:nvPr/>
        </p:nvSpPr>
        <p:spPr>
          <a:xfrm>
            <a:off x="473854" y="2339445"/>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E92D9D3C-103C-44FA-9D01-03DA7B257E74}"/>
              </a:ext>
            </a:extLst>
          </p:cNvPr>
          <p:cNvSpPr>
            <a:spLocks noGrp="1"/>
          </p:cNvSpPr>
          <p:nvPr/>
        </p:nvSpPr>
        <p:spPr>
          <a:xfrm>
            <a:off x="3682275" y="2339445"/>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843FA737-0CD9-4CD4-8249-99C15F3B1669}"/>
              </a:ext>
            </a:extLst>
          </p:cNvPr>
          <p:cNvSpPr>
            <a:spLocks noGrp="1"/>
          </p:cNvSpPr>
          <p:nvPr/>
        </p:nvSpPr>
        <p:spPr>
          <a:xfrm>
            <a:off x="7546964" y="2339445"/>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425AB20C-8991-45D5-9C42-688514F96FF2}"/>
              </a:ext>
            </a:extLst>
          </p:cNvPr>
          <p:cNvSpPr>
            <a:spLocks noGrp="1"/>
          </p:cNvSpPr>
          <p:nvPr/>
        </p:nvSpPr>
        <p:spPr>
          <a:xfrm>
            <a:off x="605108" y="2368597"/>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Total Token計測：</a:t>
            </a:r>
          </a:p>
        </p:txBody>
      </p:sp>
      <p:sp>
        <p:nvSpPr>
          <p:cNvPr id="29" name="TextBox 28">
            <a:extLst>
              <a:ext uri="{FF2B5EF4-FFF2-40B4-BE49-F238E27FC236}">
                <a16:creationId xmlns:a16="http://schemas.microsoft.com/office/drawing/2014/main" id="{9EC5F139-3AF4-48E2-945D-73E191600B55}"/>
              </a:ext>
            </a:extLst>
          </p:cNvPr>
          <p:cNvSpPr>
            <a:spLocks noGrp="1"/>
          </p:cNvSpPr>
          <p:nvPr/>
        </p:nvSpPr>
        <p:spPr>
          <a:xfrm>
            <a:off x="3813529" y="2368597"/>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Usage.total_tokens</a:t>
            </a:r>
          </a:p>
        </p:txBody>
      </p:sp>
      <p:sp>
        <p:nvSpPr>
          <p:cNvPr id="30" name="TextBox 29">
            <a:extLst>
              <a:ext uri="{FF2B5EF4-FFF2-40B4-BE49-F238E27FC236}">
                <a16:creationId xmlns:a16="http://schemas.microsoft.com/office/drawing/2014/main" id="{1597575E-9536-4684-9D42-63F51A5C4A3D}"/>
              </a:ext>
            </a:extLst>
          </p:cNvPr>
          <p:cNvSpPr>
            <a:spLocks noGrp="1"/>
          </p:cNvSpPr>
          <p:nvPr/>
        </p:nvSpPr>
        <p:spPr>
          <a:xfrm>
            <a:off x="7678218" y="2368597"/>
            <a:ext cx="3660516" cy="306095"/>
          </a:xfrm>
          <a:prstGeom prst="rect">
            <a:avLst/>
          </a:prstGeom>
          <a:noFill/>
          <a:ln>
            <a:noFill/>
          </a:ln>
          <a:effectLst/>
        </p:spPr>
        <p:txBody>
          <a:bodyPr wrap="none" lIns="0" tIns="0" rIns="0" bIns="0" anchor="ctr">
            <a:spAutoFit/>
          </a:bodyPr>
          <a:lstStyle/>
          <a:p>
            <a:pPr algn="l">
              <a:buNone/>
            </a:pPr>
            <a:r>
              <a:rPr sz="850" b="1">
                <a:solidFill>
                  <a:srgbClr val="052C7E"/>
                </a:solidFill>
                <a:latin typeface="IPAexGothic"/>
              </a:rPr>
              <a:t>ResultMessage等</a:t>
            </a:r>
          </a:p>
        </p:txBody>
      </p:sp>
      <p:sp>
        <p:nvSpPr>
          <p:cNvPr id="31" name="Rectangle 30">
            <a:extLst>
              <a:ext uri="{FF2B5EF4-FFF2-40B4-BE49-F238E27FC236}">
                <a16:creationId xmlns:a16="http://schemas.microsoft.com/office/drawing/2014/main" id="{E7DB69D6-07CE-4827-A35F-46F73DC06F1A}"/>
              </a:ext>
            </a:extLst>
          </p:cNvPr>
          <p:cNvSpPr>
            <a:spLocks noGrp="1"/>
          </p:cNvSpPr>
          <p:nvPr/>
        </p:nvSpPr>
        <p:spPr>
          <a:xfrm>
            <a:off x="473854" y="2703844"/>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28BF74AD-5891-4412-81CE-F1292FAB8866}"/>
              </a:ext>
            </a:extLst>
          </p:cNvPr>
          <p:cNvSpPr>
            <a:spLocks noGrp="1"/>
          </p:cNvSpPr>
          <p:nvPr/>
        </p:nvSpPr>
        <p:spPr>
          <a:xfrm>
            <a:off x="3682275" y="2703844"/>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FD1EB187-EF3B-4579-B38D-A23D7021BEA3}"/>
              </a:ext>
            </a:extLst>
          </p:cNvPr>
          <p:cNvSpPr>
            <a:spLocks noGrp="1"/>
          </p:cNvSpPr>
          <p:nvPr/>
        </p:nvSpPr>
        <p:spPr>
          <a:xfrm>
            <a:off x="7546964" y="2703844"/>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3EF096A5-5ADD-4F37-A1BE-D3DBE9FEDB0E}"/>
              </a:ext>
            </a:extLst>
          </p:cNvPr>
          <p:cNvSpPr>
            <a:spLocks noGrp="1"/>
          </p:cNvSpPr>
          <p:nvPr/>
        </p:nvSpPr>
        <p:spPr>
          <a:xfrm>
            <a:off x="605108" y="2732996"/>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Request単位Usage：</a:t>
            </a:r>
          </a:p>
        </p:txBody>
      </p:sp>
      <p:sp>
        <p:nvSpPr>
          <p:cNvPr id="35" name="TextBox 34">
            <a:extLst>
              <a:ext uri="{FF2B5EF4-FFF2-40B4-BE49-F238E27FC236}">
                <a16:creationId xmlns:a16="http://schemas.microsoft.com/office/drawing/2014/main" id="{1F2D929B-ACBB-4CBB-8235-78F102DEF001}"/>
              </a:ext>
            </a:extLst>
          </p:cNvPr>
          <p:cNvSpPr>
            <a:spLocks noGrp="1"/>
          </p:cNvSpPr>
          <p:nvPr/>
        </p:nvSpPr>
        <p:spPr>
          <a:xfrm>
            <a:off x="3813529" y="2732996"/>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request_usage_entries</a:t>
            </a:r>
          </a:p>
        </p:txBody>
      </p:sp>
      <p:sp>
        <p:nvSpPr>
          <p:cNvPr id="36" name="TextBox 35">
            <a:extLst>
              <a:ext uri="{FF2B5EF4-FFF2-40B4-BE49-F238E27FC236}">
                <a16:creationId xmlns:a16="http://schemas.microsoft.com/office/drawing/2014/main" id="{D3F25CAA-8954-4608-A91E-12E94A7A0899}"/>
              </a:ext>
            </a:extLst>
          </p:cNvPr>
          <p:cNvSpPr>
            <a:spLocks noGrp="1"/>
          </p:cNvSpPr>
          <p:nvPr/>
        </p:nvSpPr>
        <p:spPr>
          <a:xfrm>
            <a:off x="7678218" y="2732996"/>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MessageまたはResultのUsage</a:t>
            </a:r>
          </a:p>
        </p:txBody>
      </p:sp>
      <p:sp>
        <p:nvSpPr>
          <p:cNvPr id="37" name="Rectangle 36">
            <a:extLst>
              <a:ext uri="{FF2B5EF4-FFF2-40B4-BE49-F238E27FC236}">
                <a16:creationId xmlns:a16="http://schemas.microsoft.com/office/drawing/2014/main" id="{08F7795D-4316-4422-B525-7CC0787E4294}"/>
              </a:ext>
            </a:extLst>
          </p:cNvPr>
          <p:cNvSpPr>
            <a:spLocks noGrp="1"/>
          </p:cNvSpPr>
          <p:nvPr/>
        </p:nvSpPr>
        <p:spPr>
          <a:xfrm>
            <a:off x="473854" y="3068244"/>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2234470D-BDB6-48B7-AAB2-4BBDFA3848D4}"/>
              </a:ext>
            </a:extLst>
          </p:cNvPr>
          <p:cNvSpPr>
            <a:spLocks noGrp="1"/>
          </p:cNvSpPr>
          <p:nvPr/>
        </p:nvSpPr>
        <p:spPr>
          <a:xfrm>
            <a:off x="3682275" y="3068244"/>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3DC19B76-517B-4352-A0C7-AAF2EF846022}"/>
              </a:ext>
            </a:extLst>
          </p:cNvPr>
          <p:cNvSpPr>
            <a:spLocks noGrp="1"/>
          </p:cNvSpPr>
          <p:nvPr/>
        </p:nvSpPr>
        <p:spPr>
          <a:xfrm>
            <a:off x="7546964" y="3068244"/>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C11EFD85-4970-43F1-A2FE-4AC40830CCD8}"/>
              </a:ext>
            </a:extLst>
          </p:cNvPr>
          <p:cNvSpPr>
            <a:spLocks noGrp="1"/>
          </p:cNvSpPr>
          <p:nvPr/>
        </p:nvSpPr>
        <p:spPr>
          <a:xfrm>
            <a:off x="605108" y="3097396"/>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Run全体Usage：</a:t>
            </a:r>
          </a:p>
        </p:txBody>
      </p:sp>
      <p:sp>
        <p:nvSpPr>
          <p:cNvPr id="41" name="TextBox 40">
            <a:extLst>
              <a:ext uri="{FF2B5EF4-FFF2-40B4-BE49-F238E27FC236}">
                <a16:creationId xmlns:a16="http://schemas.microsoft.com/office/drawing/2014/main" id="{C21ECEDE-A6CB-4356-9CBC-B8BE98A1CC3F}"/>
              </a:ext>
            </a:extLst>
          </p:cNvPr>
          <p:cNvSpPr>
            <a:spLocks noGrp="1"/>
          </p:cNvSpPr>
          <p:nvPr/>
        </p:nvSpPr>
        <p:spPr>
          <a:xfrm>
            <a:off x="3813529" y="3097396"/>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rPr>
              <a:t>RunResult.usage</a:t>
            </a:r>
          </a:p>
        </p:txBody>
      </p:sp>
      <p:sp>
        <p:nvSpPr>
          <p:cNvPr id="42" name="TextBox 41">
            <a:extLst>
              <a:ext uri="{FF2B5EF4-FFF2-40B4-BE49-F238E27FC236}">
                <a16:creationId xmlns:a16="http://schemas.microsoft.com/office/drawing/2014/main" id="{0ADF5A4A-C9DC-4C5C-AF67-1B1430EC572F}"/>
              </a:ext>
            </a:extLst>
          </p:cNvPr>
          <p:cNvSpPr>
            <a:spLocks noGrp="1"/>
          </p:cNvSpPr>
          <p:nvPr/>
        </p:nvSpPr>
        <p:spPr>
          <a:xfrm>
            <a:off x="7678218" y="3097396"/>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ResultMessage等</a:t>
            </a:r>
          </a:p>
        </p:txBody>
      </p:sp>
      <p:sp>
        <p:nvSpPr>
          <p:cNvPr id="43" name="Rectangle 42">
            <a:extLst>
              <a:ext uri="{FF2B5EF4-FFF2-40B4-BE49-F238E27FC236}">
                <a16:creationId xmlns:a16="http://schemas.microsoft.com/office/drawing/2014/main" id="{B50F4B40-16C4-4B59-B26A-CC503772B862}"/>
              </a:ext>
            </a:extLst>
          </p:cNvPr>
          <p:cNvSpPr>
            <a:spLocks noGrp="1"/>
          </p:cNvSpPr>
          <p:nvPr/>
        </p:nvSpPr>
        <p:spPr>
          <a:xfrm>
            <a:off x="473854" y="3432643"/>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32215518-72F6-4949-ABE4-70E0ACBDA572}"/>
              </a:ext>
            </a:extLst>
          </p:cNvPr>
          <p:cNvSpPr>
            <a:spLocks noGrp="1"/>
          </p:cNvSpPr>
          <p:nvPr/>
        </p:nvSpPr>
        <p:spPr>
          <a:xfrm>
            <a:off x="3682275" y="34326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7B2EF7B1-4766-4A1F-83AD-DB84BEA26E48}"/>
              </a:ext>
            </a:extLst>
          </p:cNvPr>
          <p:cNvSpPr>
            <a:spLocks noGrp="1"/>
          </p:cNvSpPr>
          <p:nvPr/>
        </p:nvSpPr>
        <p:spPr>
          <a:xfrm>
            <a:off x="7546964" y="34326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ABCC46D2-C5D8-4421-AD8C-7D481486AA59}"/>
              </a:ext>
            </a:extLst>
          </p:cNvPr>
          <p:cNvSpPr>
            <a:spLocks noGrp="1"/>
          </p:cNvSpPr>
          <p:nvPr/>
        </p:nvSpPr>
        <p:spPr>
          <a:xfrm>
            <a:off x="605108" y="3461795"/>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1 Callの出力上限：</a:t>
            </a:r>
          </a:p>
        </p:txBody>
      </p:sp>
      <p:sp>
        <p:nvSpPr>
          <p:cNvPr id="47" name="TextBox 46">
            <a:extLst>
              <a:ext uri="{FF2B5EF4-FFF2-40B4-BE49-F238E27FC236}">
                <a16:creationId xmlns:a16="http://schemas.microsoft.com/office/drawing/2014/main" id="{AA88FBFB-CA8A-4D1D-B071-D710B519B644}"/>
              </a:ext>
            </a:extLst>
          </p:cNvPr>
          <p:cNvSpPr>
            <a:spLocks noGrp="1"/>
          </p:cNvSpPr>
          <p:nvPr/>
        </p:nvSpPr>
        <p:spPr>
          <a:xfrm>
            <a:off x="3813529" y="34617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ModelSettings.max_tokens</a:t>
            </a:r>
          </a:p>
        </p:txBody>
      </p:sp>
      <p:sp>
        <p:nvSpPr>
          <p:cNvPr id="48" name="TextBox 47">
            <a:extLst>
              <a:ext uri="{FF2B5EF4-FFF2-40B4-BE49-F238E27FC236}">
                <a16:creationId xmlns:a16="http://schemas.microsoft.com/office/drawing/2014/main" id="{585D05EC-4344-4F04-9799-9171A65F1B82}"/>
              </a:ext>
            </a:extLst>
          </p:cNvPr>
          <p:cNvSpPr>
            <a:spLocks noGrp="1"/>
          </p:cNvSpPr>
          <p:nvPr/>
        </p:nvSpPr>
        <p:spPr>
          <a:xfrm>
            <a:off x="7678218" y="34617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API側max_tokens等</a:t>
            </a:r>
          </a:p>
        </p:txBody>
      </p:sp>
      <p:sp>
        <p:nvSpPr>
          <p:cNvPr id="49" name="Rectangle 48">
            <a:extLst>
              <a:ext uri="{FF2B5EF4-FFF2-40B4-BE49-F238E27FC236}">
                <a16:creationId xmlns:a16="http://schemas.microsoft.com/office/drawing/2014/main" id="{A826E08E-87F2-4993-A218-034B2457C19B}"/>
              </a:ext>
            </a:extLst>
          </p:cNvPr>
          <p:cNvSpPr>
            <a:spLocks noGrp="1"/>
          </p:cNvSpPr>
          <p:nvPr/>
        </p:nvSpPr>
        <p:spPr>
          <a:xfrm>
            <a:off x="473854" y="3797043"/>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Rectangle 49">
            <a:extLst>
              <a:ext uri="{FF2B5EF4-FFF2-40B4-BE49-F238E27FC236}">
                <a16:creationId xmlns:a16="http://schemas.microsoft.com/office/drawing/2014/main" id="{CABF0BF1-92A5-43CD-8B06-14D46B8E66C9}"/>
              </a:ext>
            </a:extLst>
          </p:cNvPr>
          <p:cNvSpPr>
            <a:spLocks noGrp="1"/>
          </p:cNvSpPr>
          <p:nvPr/>
        </p:nvSpPr>
        <p:spPr>
          <a:xfrm>
            <a:off x="3682275" y="37970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4AA19F8A-F451-4C93-9250-F6191368E71A}"/>
              </a:ext>
            </a:extLst>
          </p:cNvPr>
          <p:cNvSpPr>
            <a:spLocks noGrp="1"/>
          </p:cNvSpPr>
          <p:nvPr/>
        </p:nvSpPr>
        <p:spPr>
          <a:xfrm>
            <a:off x="7546964" y="37970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CF504173-2E02-4CF3-A87F-EA25B6F14D08}"/>
              </a:ext>
            </a:extLst>
          </p:cNvPr>
          <p:cNvSpPr>
            <a:spLocks noGrp="1"/>
          </p:cNvSpPr>
          <p:nvPr/>
        </p:nvSpPr>
        <p:spPr>
          <a:xfrm>
            <a:off x="605108" y="3826195"/>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Loop全体Token Budget：</a:t>
            </a:r>
          </a:p>
        </p:txBody>
      </p:sp>
      <p:sp>
        <p:nvSpPr>
          <p:cNvPr id="53" name="TextBox 52">
            <a:extLst>
              <a:ext uri="{FF2B5EF4-FFF2-40B4-BE49-F238E27FC236}">
                <a16:creationId xmlns:a16="http://schemas.microsoft.com/office/drawing/2014/main" id="{5FDFB2D9-95FB-4BEE-BA38-00654A6276A9}"/>
              </a:ext>
            </a:extLst>
          </p:cNvPr>
          <p:cNvSpPr>
            <a:spLocks noGrp="1"/>
          </p:cNvSpPr>
          <p:nvPr/>
        </p:nvSpPr>
        <p:spPr>
          <a:xfrm>
            <a:off x="3813529" y="38261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専用同等機能は今回未確認</a:t>
            </a:r>
          </a:p>
        </p:txBody>
      </p:sp>
      <p:sp>
        <p:nvSpPr>
          <p:cNvPr id="54" name="TextBox 53">
            <a:extLst>
              <a:ext uri="{FF2B5EF4-FFF2-40B4-BE49-F238E27FC236}">
                <a16:creationId xmlns:a16="http://schemas.microsoft.com/office/drawing/2014/main" id="{53F8F35B-E32B-4D84-B860-1D45CE59E68F}"/>
              </a:ext>
            </a:extLst>
          </p:cNvPr>
          <p:cNvSpPr>
            <a:spLocks noGrp="1"/>
          </p:cNvSpPr>
          <p:nvPr/>
        </p:nvSpPr>
        <p:spPr>
          <a:xfrm>
            <a:off x="7678218" y="38261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task_budget</a:t>
            </a:r>
          </a:p>
        </p:txBody>
      </p:sp>
      <p:sp>
        <p:nvSpPr>
          <p:cNvPr id="55" name="Rectangle 54">
            <a:extLst>
              <a:ext uri="{FF2B5EF4-FFF2-40B4-BE49-F238E27FC236}">
                <a16:creationId xmlns:a16="http://schemas.microsoft.com/office/drawing/2014/main" id="{FF15CE64-761C-429C-9C7E-82EB29DA803B}"/>
              </a:ext>
            </a:extLst>
          </p:cNvPr>
          <p:cNvSpPr>
            <a:spLocks noGrp="1"/>
          </p:cNvSpPr>
          <p:nvPr/>
        </p:nvSpPr>
        <p:spPr>
          <a:xfrm>
            <a:off x="473854" y="4161443"/>
            <a:ext cx="3208420"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Rectangle 55">
            <a:extLst>
              <a:ext uri="{FF2B5EF4-FFF2-40B4-BE49-F238E27FC236}">
                <a16:creationId xmlns:a16="http://schemas.microsoft.com/office/drawing/2014/main" id="{4AA7899E-DE6D-4F28-B257-2203A5B1CF39}"/>
              </a:ext>
            </a:extLst>
          </p:cNvPr>
          <p:cNvSpPr>
            <a:spLocks noGrp="1"/>
          </p:cNvSpPr>
          <p:nvPr/>
        </p:nvSpPr>
        <p:spPr>
          <a:xfrm>
            <a:off x="3682275" y="41614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Rectangle 56">
            <a:extLst>
              <a:ext uri="{FF2B5EF4-FFF2-40B4-BE49-F238E27FC236}">
                <a16:creationId xmlns:a16="http://schemas.microsoft.com/office/drawing/2014/main" id="{420CA715-43F7-4598-A9FA-A7DDFA5312FB}"/>
              </a:ext>
            </a:extLst>
          </p:cNvPr>
          <p:cNvSpPr>
            <a:spLocks noGrp="1"/>
          </p:cNvSpPr>
          <p:nvPr/>
        </p:nvSpPr>
        <p:spPr>
          <a:xfrm>
            <a:off x="7546964" y="4161443"/>
            <a:ext cx="3864688" cy="364399"/>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BE9C559B-1E06-4843-8F96-06DC0F65D858}"/>
              </a:ext>
            </a:extLst>
          </p:cNvPr>
          <p:cNvSpPr>
            <a:spLocks noGrp="1"/>
          </p:cNvSpPr>
          <p:nvPr/>
        </p:nvSpPr>
        <p:spPr>
          <a:xfrm>
            <a:off x="605108" y="4190595"/>
            <a:ext cx="3004248" cy="306095"/>
          </a:xfrm>
          <a:prstGeom prst="rect">
            <a:avLst/>
          </a:prstGeom>
          <a:noFill/>
          <a:ln>
            <a:noFill/>
          </a:ln>
          <a:effectLst/>
        </p:spPr>
        <p:txBody>
          <a:bodyPr wrap="none" lIns="0" tIns="0" rIns="0" bIns="0" anchor="ctr">
            <a:spAutoFit/>
          </a:bodyPr>
          <a:lstStyle/>
          <a:p>
            <a:pPr algn="l">
              <a:buNone/>
            </a:pPr>
            <a:r>
              <a:rPr sz="1240" b="1">
                <a:solidFill>
                  <a:srgbClr val="052C7E"/>
                </a:solidFill>
                <a:latin typeface="IPAexGothic"/>
                <a:ea typeface="IPAexGothic"/>
                <a:cs typeface="IPAexGothic"/>
              </a:rPr>
              <a:t>Budgetの性質：</a:t>
            </a:r>
          </a:p>
        </p:txBody>
      </p:sp>
      <p:sp>
        <p:nvSpPr>
          <p:cNvPr id="59" name="TextBox 58">
            <a:extLst>
              <a:ext uri="{FF2B5EF4-FFF2-40B4-BE49-F238E27FC236}">
                <a16:creationId xmlns:a16="http://schemas.microsoft.com/office/drawing/2014/main" id="{FB99F047-CCE6-4592-9413-F7757300B7FE}"/>
              </a:ext>
            </a:extLst>
          </p:cNvPr>
          <p:cNvSpPr>
            <a:spLocks noGrp="1"/>
          </p:cNvSpPr>
          <p:nvPr/>
        </p:nvSpPr>
        <p:spPr>
          <a:xfrm>
            <a:off x="3813529" y="41905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ea typeface="IPAexGothic"/>
                <a:cs typeface="IPAexGothic"/>
              </a:rPr>
              <a:t>Application側で設計</a:t>
            </a:r>
          </a:p>
        </p:txBody>
      </p:sp>
      <p:sp>
        <p:nvSpPr>
          <p:cNvPr id="60" name="TextBox 59">
            <a:extLst>
              <a:ext uri="{FF2B5EF4-FFF2-40B4-BE49-F238E27FC236}">
                <a16:creationId xmlns:a16="http://schemas.microsoft.com/office/drawing/2014/main" id="{27E8415D-8AA0-4C8E-A117-05B9EFA43766}"/>
              </a:ext>
            </a:extLst>
          </p:cNvPr>
          <p:cNvSpPr>
            <a:spLocks noGrp="1"/>
          </p:cNvSpPr>
          <p:nvPr/>
        </p:nvSpPr>
        <p:spPr>
          <a:xfrm>
            <a:off x="7678218" y="4190595"/>
            <a:ext cx="3660516" cy="306095"/>
          </a:xfrm>
          <a:prstGeom prst="rect">
            <a:avLst/>
          </a:prstGeom>
          <a:noFill/>
          <a:ln>
            <a:noFill/>
          </a:ln>
          <a:effectLst/>
        </p:spPr>
        <p:txBody>
          <a:bodyPr wrap="none" lIns="0" tIns="0" rIns="0" bIns="0" anchor="ctr">
            <a:spAutoFit/>
          </a:bodyPr>
          <a:lstStyle/>
          <a:p>
            <a:pPr algn="l">
              <a:buNone/>
            </a:pPr>
            <a:r>
              <a:rPr sz="1210" b="1">
                <a:solidFill>
                  <a:srgbClr val="052C7E"/>
                </a:solidFill>
                <a:latin typeface="IPAexGothic"/>
              </a:rPr>
              <a:t>Advisory Budget</a:t>
            </a:r>
          </a:p>
        </p:txBody>
      </p:sp>
      <p:sp>
        <p:nvSpPr>
          <p:cNvPr id="61" name="Rectangle 60">
            <a:extLst>
              <a:ext uri="{FF2B5EF4-FFF2-40B4-BE49-F238E27FC236}">
                <a16:creationId xmlns:a16="http://schemas.microsoft.com/office/drawing/2014/main" id="{F4D644AA-5F60-46FA-8ED4-C3553B2D85DD}"/>
              </a:ext>
            </a:extLst>
          </p:cNvPr>
          <p:cNvSpPr>
            <a:spLocks noGrp="1"/>
          </p:cNvSpPr>
          <p:nvPr/>
        </p:nvSpPr>
        <p:spPr>
          <a:xfrm>
            <a:off x="473854" y="4773634"/>
            <a:ext cx="1917760" cy="437279"/>
          </a:xfrm>
          <a:prstGeom prst="rect">
            <a:avLst/>
          </a:prstGeom>
          <a:solidFill>
            <a:srgbClr val="FFFFFF"/>
          </a:solidFill>
          <a:ln w="1143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Rectangle 61">
            <a:extLst>
              <a:ext uri="{FF2B5EF4-FFF2-40B4-BE49-F238E27FC236}">
                <a16:creationId xmlns:a16="http://schemas.microsoft.com/office/drawing/2014/main" id="{B9E814C0-AEAC-4186-8048-AC45FEEE3491}"/>
              </a:ext>
            </a:extLst>
          </p:cNvPr>
          <p:cNvSpPr>
            <a:spLocks noGrp="1"/>
          </p:cNvSpPr>
          <p:nvPr/>
        </p:nvSpPr>
        <p:spPr>
          <a:xfrm>
            <a:off x="2263599" y="4773634"/>
            <a:ext cx="1983387" cy="437279"/>
          </a:xfrm>
          <a:prstGeom prst="rect">
            <a:avLst/>
          </a:prstGeom>
          <a:solidFill>
            <a:srgbClr val="FFFFFF"/>
          </a:solidFill>
          <a:ln w="1143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Rectangle 62">
            <a:extLst>
              <a:ext uri="{FF2B5EF4-FFF2-40B4-BE49-F238E27FC236}">
                <a16:creationId xmlns:a16="http://schemas.microsoft.com/office/drawing/2014/main" id="{F8D42A1D-6940-40E0-BF90-3F7E2F146314}"/>
              </a:ext>
            </a:extLst>
          </p:cNvPr>
          <p:cNvSpPr>
            <a:spLocks noGrp="1"/>
          </p:cNvSpPr>
          <p:nvPr/>
        </p:nvSpPr>
        <p:spPr>
          <a:xfrm>
            <a:off x="473854" y="5210913"/>
            <a:ext cx="1917760" cy="444567"/>
          </a:xfrm>
          <a:prstGeom prst="rect">
            <a:avLst/>
          </a:prstGeom>
          <a:solidFill>
            <a:srgbClr val="FFFFFF"/>
          </a:solidFill>
          <a:ln w="1143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Rectangle 63">
            <a:extLst>
              <a:ext uri="{FF2B5EF4-FFF2-40B4-BE49-F238E27FC236}">
                <a16:creationId xmlns:a16="http://schemas.microsoft.com/office/drawing/2014/main" id="{66CE49BF-5FE2-49F5-B305-BC431E46ACDE}"/>
              </a:ext>
            </a:extLst>
          </p:cNvPr>
          <p:cNvSpPr>
            <a:spLocks noGrp="1"/>
          </p:cNvSpPr>
          <p:nvPr/>
        </p:nvSpPr>
        <p:spPr>
          <a:xfrm>
            <a:off x="2263599" y="5210913"/>
            <a:ext cx="1983387" cy="444567"/>
          </a:xfrm>
          <a:prstGeom prst="rect">
            <a:avLst/>
          </a:prstGeom>
          <a:solidFill>
            <a:srgbClr val="FFFFFF"/>
          </a:solidFill>
          <a:ln w="1143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627ED6ED-B8ED-402B-91DA-09395DF025CB}"/>
              </a:ext>
            </a:extLst>
          </p:cNvPr>
          <p:cNvSpPr>
            <a:spLocks noGrp="1"/>
          </p:cNvSpPr>
          <p:nvPr/>
        </p:nvSpPr>
        <p:spPr>
          <a:xfrm>
            <a:off x="477091" y="4831938"/>
            <a:ext cx="1735464" cy="306095"/>
          </a:xfrm>
          <a:prstGeom prst="rect">
            <a:avLst/>
          </a:prstGeom>
          <a:noFill/>
          <a:ln>
            <a:noFill/>
          </a:ln>
          <a:effectLst/>
        </p:spPr>
        <p:txBody>
          <a:bodyPr wrap="none" lIns="0" tIns="0" rIns="0" bIns="0" anchor="ctr">
            <a:spAutoFit/>
          </a:bodyPr>
          <a:lstStyle/>
          <a:p>
            <a:pPr algn="l">
              <a:buNone/>
            </a:pPr>
            <a:r>
              <a:rPr sz="1260" b="1">
                <a:solidFill>
                  <a:srgbClr val="052C7E"/>
                </a:solidFill>
                <a:latin typeface="IPAexGothic"/>
                <a:ea typeface="IPAexGothic"/>
                <a:cs typeface="IPAexGothic"/>
              </a:rPr>
              <a:t>Usage Tracking：</a:t>
            </a:r>
          </a:p>
        </p:txBody>
      </p:sp>
      <p:sp>
        <p:nvSpPr>
          <p:cNvPr id="66" name="TextBox 65">
            <a:extLst>
              <a:ext uri="{FF2B5EF4-FFF2-40B4-BE49-F238E27FC236}">
                <a16:creationId xmlns:a16="http://schemas.microsoft.com/office/drawing/2014/main" id="{B902C889-73F0-472C-AEC9-C57DE9E6EB30}"/>
              </a:ext>
            </a:extLst>
          </p:cNvPr>
          <p:cNvSpPr>
            <a:spLocks noGrp="1"/>
          </p:cNvSpPr>
          <p:nvPr/>
        </p:nvSpPr>
        <p:spPr>
          <a:xfrm>
            <a:off x="2409436" y="4831938"/>
            <a:ext cx="1801090" cy="306095"/>
          </a:xfrm>
          <a:prstGeom prst="rect">
            <a:avLst/>
          </a:prstGeom>
          <a:noFill/>
          <a:ln>
            <a:noFill/>
          </a:ln>
          <a:effectLst/>
        </p:spPr>
        <p:txBody>
          <a:bodyPr wrap="none" lIns="0" tIns="0" rIns="0" bIns="0" anchor="ctr">
            <a:spAutoFit/>
          </a:bodyPr>
          <a:lstStyle/>
          <a:p>
            <a:pPr algn="l">
              <a:buNone/>
            </a:pPr>
            <a:r>
              <a:rPr sz="1250" b="1">
                <a:solidFill>
                  <a:srgbClr val="052C7E"/>
                </a:solidFill>
                <a:latin typeface="IPAexGothic"/>
                <a:ea typeface="IPAexGothic"/>
                <a:cs typeface="IPAexGothic"/>
              </a:rPr>
              <a:t>どれだけ使ったか</a:t>
            </a:r>
          </a:p>
        </p:txBody>
      </p:sp>
      <p:sp>
        <p:nvSpPr>
          <p:cNvPr id="67" name="TextBox 66">
            <a:extLst>
              <a:ext uri="{FF2B5EF4-FFF2-40B4-BE49-F238E27FC236}">
                <a16:creationId xmlns:a16="http://schemas.microsoft.com/office/drawing/2014/main" id="{C801E982-7A28-4E60-BB5B-1051C498F640}"/>
              </a:ext>
            </a:extLst>
          </p:cNvPr>
          <p:cNvSpPr>
            <a:spLocks noGrp="1"/>
          </p:cNvSpPr>
          <p:nvPr/>
        </p:nvSpPr>
        <p:spPr>
          <a:xfrm>
            <a:off x="477091" y="5269217"/>
            <a:ext cx="1735464" cy="306095"/>
          </a:xfrm>
          <a:prstGeom prst="rect">
            <a:avLst/>
          </a:prstGeom>
          <a:noFill/>
          <a:ln>
            <a:noFill/>
          </a:ln>
          <a:effectLst/>
        </p:spPr>
        <p:txBody>
          <a:bodyPr wrap="none" lIns="0" tIns="0" rIns="0" bIns="0" anchor="ctr">
            <a:spAutoFit/>
          </a:bodyPr>
          <a:lstStyle/>
          <a:p>
            <a:pPr algn="l">
              <a:buNone/>
            </a:pPr>
            <a:r>
              <a:rPr sz="1260" b="1">
                <a:solidFill>
                  <a:srgbClr val="052C7E"/>
                </a:solidFill>
                <a:latin typeface="IPAexGothic"/>
                <a:ea typeface="IPAexGothic"/>
                <a:cs typeface="IPAexGothic"/>
              </a:rPr>
              <a:t>Budget Control：</a:t>
            </a:r>
          </a:p>
        </p:txBody>
      </p:sp>
      <p:sp>
        <p:nvSpPr>
          <p:cNvPr id="68" name="TextBox 67">
            <a:extLst>
              <a:ext uri="{FF2B5EF4-FFF2-40B4-BE49-F238E27FC236}">
                <a16:creationId xmlns:a16="http://schemas.microsoft.com/office/drawing/2014/main" id="{8A16026A-328F-4318-BF28-98F75EDABB81}"/>
              </a:ext>
            </a:extLst>
          </p:cNvPr>
          <p:cNvSpPr>
            <a:spLocks noGrp="1"/>
          </p:cNvSpPr>
          <p:nvPr/>
        </p:nvSpPr>
        <p:spPr>
          <a:xfrm>
            <a:off x="2409436" y="5269217"/>
            <a:ext cx="1801090" cy="306095"/>
          </a:xfrm>
          <a:prstGeom prst="rect">
            <a:avLst/>
          </a:prstGeom>
          <a:noFill/>
          <a:ln>
            <a:noFill/>
          </a:ln>
          <a:effectLst/>
        </p:spPr>
        <p:txBody>
          <a:bodyPr wrap="none" lIns="0" tIns="0" rIns="0" bIns="0" anchor="ctr">
            <a:spAutoFit/>
          </a:bodyPr>
          <a:lstStyle/>
          <a:p>
            <a:pPr algn="l">
              <a:buNone/>
            </a:pPr>
            <a:r>
              <a:rPr sz="1250" b="1">
                <a:solidFill>
                  <a:srgbClr val="052C7E"/>
                </a:solidFill>
                <a:latin typeface="IPAexGothic"/>
                <a:ea typeface="IPAexGothic"/>
                <a:cs typeface="IPAexGothic"/>
              </a:rPr>
              <a:t>どこまで使わせるか</a:t>
            </a:r>
          </a:p>
        </p:txBody>
      </p:sp>
      <p:sp>
        <p:nvSpPr>
          <p:cNvPr id="69" name="Rounded Rectangle 68">
            <a:extLst>
              <a:ext uri="{FF2B5EF4-FFF2-40B4-BE49-F238E27FC236}">
                <a16:creationId xmlns:a16="http://schemas.microsoft.com/office/drawing/2014/main" id="{6C68B165-820B-4807-B6A8-EFCAB2D46D3B}"/>
              </a:ext>
            </a:extLst>
          </p:cNvPr>
          <p:cNvSpPr>
            <a:spLocks noGrp="1"/>
          </p:cNvSpPr>
          <p:nvPr/>
        </p:nvSpPr>
        <p:spPr>
          <a:xfrm>
            <a:off x="4892841" y="4598722"/>
            <a:ext cx="6628306" cy="1136926"/>
          </a:xfrm>
          <a:prstGeom prst="roundRect">
            <a:avLst>
              <a:gd name="adj" fmla="val 2500"/>
            </a:avLst>
          </a:prstGeom>
          <a:solidFill>
            <a:srgbClr val="FFFFFF"/>
          </a:solidFill>
          <a:ln w="1270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TextBox 69">
            <a:extLst>
              <a:ext uri="{FF2B5EF4-FFF2-40B4-BE49-F238E27FC236}">
                <a16:creationId xmlns:a16="http://schemas.microsoft.com/office/drawing/2014/main" id="{F3543A09-CBA4-48C2-9194-5D2F2530C211}"/>
              </a:ext>
            </a:extLst>
          </p:cNvPr>
          <p:cNvSpPr>
            <a:spLocks noGrp="1"/>
          </p:cNvSpPr>
          <p:nvPr/>
        </p:nvSpPr>
        <p:spPr>
          <a:xfrm>
            <a:off x="5067846" y="4686178"/>
            <a:ext cx="1458373" cy="174911"/>
          </a:xfrm>
          <a:prstGeom prst="rect">
            <a:avLst/>
          </a:prstGeom>
          <a:noFill/>
          <a:ln>
            <a:noFill/>
          </a:ln>
          <a:effectLst/>
        </p:spPr>
        <p:txBody>
          <a:bodyPr wrap="none" lIns="0" tIns="0" rIns="0" bIns="0" anchor="ctr">
            <a:spAutoFit/>
          </a:bodyPr>
          <a:lstStyle/>
          <a:p>
            <a:pPr algn="l">
              <a:buNone/>
            </a:pPr>
            <a:r>
              <a:rPr sz="1230" b="1">
                <a:solidFill>
                  <a:srgbClr val="052C7E"/>
                </a:solidFill>
                <a:latin typeface="IPAexGothic"/>
                <a:ea typeface="IPAexGothic"/>
                <a:cs typeface="IPAexGothic"/>
              </a:rPr>
              <a:t>注意点</a:t>
            </a:r>
          </a:p>
        </p:txBody>
      </p:sp>
      <p:sp>
        <p:nvSpPr>
          <p:cNvPr id="71" name="TextBox 70">
            <a:extLst>
              <a:ext uri="{FF2B5EF4-FFF2-40B4-BE49-F238E27FC236}">
                <a16:creationId xmlns:a16="http://schemas.microsoft.com/office/drawing/2014/main" id="{903F7E28-43FF-4C86-8F74-10B1C2739007}"/>
              </a:ext>
            </a:extLst>
          </p:cNvPr>
          <p:cNvSpPr>
            <a:spLocks noGrp="1"/>
          </p:cNvSpPr>
          <p:nvPr/>
        </p:nvSpPr>
        <p:spPr>
          <a:xfrm>
            <a:off x="5067846" y="4941258"/>
            <a:ext cx="6198085" cy="174911"/>
          </a:xfrm>
          <a:prstGeom prst="rect">
            <a:avLst/>
          </a:prstGeom>
          <a:noFill/>
          <a:ln>
            <a:noFill/>
          </a:ln>
          <a:effectLst/>
        </p:spPr>
        <p:txBody>
          <a:bodyPr wrap="none" lIns="0" tIns="0" rIns="0" bIns="0" anchor="ctr">
            <a:spAutoFit/>
          </a:bodyPr>
          <a:lstStyle/>
          <a:p>
            <a:pPr algn="l">
              <a:buNone/>
            </a:pPr>
            <a:r>
              <a:rPr sz="1160" b="1">
                <a:solidFill>
                  <a:srgbClr val="052C7E"/>
                </a:solidFill>
                <a:latin typeface="IPAexGothic"/>
                <a:ea typeface="IPAexGothic"/>
                <a:cs typeface="IPAexGothic"/>
              </a:rPr>
              <a:t>Usage取得だけではBudget Enforcementにならない</a:t>
            </a:r>
          </a:p>
        </p:txBody>
      </p:sp>
      <p:sp>
        <p:nvSpPr>
          <p:cNvPr id="72" name="TextBox 71">
            <a:extLst>
              <a:ext uri="{FF2B5EF4-FFF2-40B4-BE49-F238E27FC236}">
                <a16:creationId xmlns:a16="http://schemas.microsoft.com/office/drawing/2014/main" id="{5C1E129D-6A99-4750-86BA-F6ED5CA6FD4D}"/>
              </a:ext>
            </a:extLst>
          </p:cNvPr>
          <p:cNvSpPr>
            <a:spLocks noGrp="1"/>
          </p:cNvSpPr>
          <p:nvPr/>
        </p:nvSpPr>
        <p:spPr>
          <a:xfrm>
            <a:off x="5067846" y="5218201"/>
            <a:ext cx="6198085" cy="174911"/>
          </a:xfrm>
          <a:prstGeom prst="rect">
            <a:avLst/>
          </a:prstGeom>
          <a:noFill/>
          <a:ln>
            <a:noFill/>
          </a:ln>
          <a:effectLst/>
        </p:spPr>
        <p:txBody>
          <a:bodyPr wrap="none" lIns="0" tIns="0" rIns="0" bIns="0" anchor="ctr">
            <a:spAutoFit/>
          </a:bodyPr>
          <a:lstStyle/>
          <a:p>
            <a:pPr algn="l">
              <a:buNone/>
            </a:pPr>
            <a:r>
              <a:rPr sz="1110" b="1">
                <a:solidFill>
                  <a:srgbClr val="052C7E"/>
                </a:solidFill>
                <a:latin typeface="IPAexGothic"/>
                <a:ea typeface="IPAexGothic"/>
                <a:cs typeface="IPAexGothic"/>
              </a:rPr>
              <a:t>task_budgetはAgentに残Budgetを意識させる仕組みであり，厳密なHard Capとは区別する</a:t>
            </a:r>
          </a:p>
        </p:txBody>
      </p:sp>
      <p:sp>
        <p:nvSpPr>
          <p:cNvPr id="73" name="TextBox 72">
            <a:extLst>
              <a:ext uri="{FF2B5EF4-FFF2-40B4-BE49-F238E27FC236}">
                <a16:creationId xmlns:a16="http://schemas.microsoft.com/office/drawing/2014/main" id="{46E633F0-9BAC-472D-B3B6-89687AF80717}"/>
              </a:ext>
            </a:extLst>
          </p:cNvPr>
          <p:cNvSpPr>
            <a:spLocks noGrp="1"/>
          </p:cNvSpPr>
          <p:nvPr/>
        </p:nvSpPr>
        <p:spPr>
          <a:xfrm>
            <a:off x="5067846" y="5502433"/>
            <a:ext cx="6198085" cy="174911"/>
          </a:xfrm>
          <a:prstGeom prst="rect">
            <a:avLst/>
          </a:prstGeom>
          <a:noFill/>
          <a:ln>
            <a:noFill/>
          </a:ln>
          <a:effectLst/>
        </p:spPr>
        <p:txBody>
          <a:bodyPr wrap="none" lIns="0" tIns="0" rIns="0" bIns="0" anchor="ctr">
            <a:spAutoFit/>
          </a:bodyPr>
          <a:lstStyle/>
          <a:p>
            <a:pPr algn="l">
              <a:buNone/>
            </a:pPr>
            <a:r>
              <a:rPr sz="1160" b="1">
                <a:solidFill>
                  <a:srgbClr val="052C7E"/>
                </a:solidFill>
                <a:latin typeface="IPAexGothic"/>
                <a:ea typeface="IPAexGothic"/>
                <a:cs typeface="IPAexGothic"/>
              </a:rPr>
              <a:t>Token制御とCost制御も同じではない</a:t>
            </a:r>
          </a:p>
        </p:txBody>
      </p:sp>
      <p:sp>
        <p:nvSpPr>
          <p:cNvPr id="74" name="Rectangle 73">
            <a:extLst>
              <a:ext uri="{FF2B5EF4-FFF2-40B4-BE49-F238E27FC236}">
                <a16:creationId xmlns:a16="http://schemas.microsoft.com/office/drawing/2014/main" id="{0BF173F9-8333-4FAA-9452-6C8CDAABE59B}"/>
              </a:ext>
            </a:extLst>
          </p:cNvPr>
          <p:cNvSpPr>
            <a:spLocks noGrp="1"/>
          </p:cNvSpPr>
          <p:nvPr/>
        </p:nvSpPr>
        <p:spPr>
          <a:xfrm>
            <a:off x="328133" y="5830393"/>
            <a:ext cx="11287808" cy="641343"/>
          </a:xfrm>
          <a:prstGeom prst="rect">
            <a:avLst/>
          </a:prstGeom>
          <a:solidFill>
            <a:srgbClr val="FFFFFF"/>
          </a:solidFill>
          <a:ln w="1270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5" name="Rectangle 74">
            <a:extLst>
              <a:ext uri="{FF2B5EF4-FFF2-40B4-BE49-F238E27FC236}">
                <a16:creationId xmlns:a16="http://schemas.microsoft.com/office/drawing/2014/main" id="{9358DCBF-D0C5-4517-BFA6-D947918C7349}"/>
              </a:ext>
            </a:extLst>
          </p:cNvPr>
          <p:cNvSpPr>
            <a:spLocks noGrp="1"/>
          </p:cNvSpPr>
          <p:nvPr/>
        </p:nvSpPr>
        <p:spPr>
          <a:xfrm>
            <a:off x="328133" y="5830393"/>
            <a:ext cx="1626086" cy="641343"/>
          </a:xfrm>
          <a:prstGeom prst="rect">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6" name="TextBox 75">
            <a:extLst>
              <a:ext uri="{FF2B5EF4-FFF2-40B4-BE49-F238E27FC236}">
                <a16:creationId xmlns:a16="http://schemas.microsoft.com/office/drawing/2014/main" id="{2B24C5E7-C200-44CA-B9FD-A1F74199A33C}"/>
              </a:ext>
            </a:extLst>
          </p:cNvPr>
          <p:cNvSpPr>
            <a:spLocks noGrp="1"/>
          </p:cNvSpPr>
          <p:nvPr/>
        </p:nvSpPr>
        <p:spPr>
          <a:xfrm>
            <a:off x="525014" y="6034456"/>
            <a:ext cx="1225033" cy="228600"/>
          </a:xfrm>
          <a:prstGeom prst="rect">
            <a:avLst/>
          </a:prstGeom>
          <a:noFill/>
          <a:ln>
            <a:noFill/>
          </a:ln>
          <a:effectLst/>
        </p:spPr>
        <p:txBody>
          <a:bodyPr wrap="none" lIns="0" tIns="0" rIns="0" bIns="0" anchor="ctr">
            <a:spAutoFit/>
          </a:bodyPr>
          <a:lstStyle/>
          <a:p>
            <a:pPr algn="ctr">
              <a:buNone/>
            </a:pPr>
            <a:r>
              <a:rPr sz="1500" b="1">
                <a:solidFill>
                  <a:srgbClr val="0B3691"/>
                </a:solidFill>
                <a:latin typeface="IPAexGothic"/>
                <a:ea typeface="IPAexGothic"/>
                <a:cs typeface="IPAexGothic"/>
              </a:rPr>
              <a:t>違いのまとめ</a:t>
            </a:r>
          </a:p>
        </p:txBody>
      </p:sp>
      <p:sp>
        <p:nvSpPr>
          <p:cNvPr id="77" name="TextBox 76">
            <a:extLst>
              <a:ext uri="{FF2B5EF4-FFF2-40B4-BE49-F238E27FC236}">
                <a16:creationId xmlns:a16="http://schemas.microsoft.com/office/drawing/2014/main" id="{6C0EBA3E-732E-402D-8B59-03BE47D91F84}"/>
              </a:ext>
            </a:extLst>
          </p:cNvPr>
          <p:cNvSpPr>
            <a:spLocks noGrp="1"/>
          </p:cNvSpPr>
          <p:nvPr/>
        </p:nvSpPr>
        <p:spPr>
          <a:xfrm>
            <a:off x="2187559" y="5947001"/>
            <a:ext cx="9005454" cy="408127"/>
          </a:xfrm>
          <a:prstGeom prst="rect">
            <a:avLst/>
          </a:prstGeom>
          <a:noFill/>
          <a:ln>
            <a:noFill/>
          </a:ln>
          <a:effectLst/>
        </p:spPr>
        <p:txBody>
          <a:bodyPr wrap="none" lIns="0" tIns="0" rIns="0" bIns="0" anchor="ctr">
            <a:spAutoFit/>
          </a:bodyPr>
          <a:lstStyle/>
          <a:p>
            <a:pPr algn="l">
              <a:buNone/>
            </a:pPr>
            <a:r>
              <a:rPr sz="850" b="1">
                <a:solidFill>
                  <a:srgbClr val="052C7E"/>
                </a:solidFill>
                <a:latin typeface="IPAexGothic"/>
              </a:rPr>
              <a:t>OpenAIはUsage計測を基点にApplication側で制御を設計し，ClaudeはUsageに加えてtask_budgetでTask全体のToken Budgetを意識させられる．</a:t>
            </a:r>
          </a:p>
        </p:txBody>
      </p:sp>
      <p:sp>
        <p:nvSpPr>
          <p:cNvPr id="78" name="TextBox 77">
            <a:extLst>
              <a:ext uri="{FF2B5EF4-FFF2-40B4-BE49-F238E27FC236}">
                <a16:creationId xmlns:a16="http://schemas.microsoft.com/office/drawing/2014/main" id="{65211129-63CA-48E4-998A-07E0777B9173}"/>
              </a:ext>
            </a:extLst>
          </p:cNvPr>
          <p:cNvSpPr>
            <a:spLocks noGrp="1"/>
          </p:cNvSpPr>
          <p:nvPr/>
        </p:nvSpPr>
        <p:spPr>
          <a:xfrm>
            <a:off x="11681569" y="6486312"/>
            <a:ext cx="255215" cy="174911"/>
          </a:xfrm>
          <a:prstGeom prst="rect">
            <a:avLst/>
          </a:prstGeom>
          <a:noFill/>
          <a:ln>
            <a:noFill/>
          </a:ln>
          <a:effectLst/>
        </p:spPr>
        <p:txBody>
          <a:bodyPr wrap="none" lIns="0" tIns="0" rIns="0" bIns="0" anchor="ctr">
            <a:spAutoFit/>
          </a:bodyPr>
          <a:lstStyle/>
          <a:p>
            <a:pPr algn="ctr">
              <a:buNone/>
            </a:pPr>
            <a:r>
              <a:rPr sz="1350" b="1">
                <a:solidFill>
                  <a:srgbClr val="052C7E"/>
                </a:solidFill>
                <a:latin typeface="IPAexGothic"/>
                <a:ea typeface="IPAexGothic"/>
                <a:cs typeface="IPAexGothic"/>
              </a:rPr>
              <a:t>A9</a:t>
            </a:r>
          </a:p>
        </p:txBody>
      </p:sp>
    </p:spTree>
    <p:extLst>
      <p:ext uri="{BB962C8B-B14F-4D97-AF65-F5344CB8AC3E}">
        <p14:creationId xmlns:p14="http://schemas.microsoft.com/office/powerpoint/2010/main" val="422672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2005763-680D-493F-A8EA-B6FDBE372771}"/>
              </a:ext>
            </a:extLst>
          </p:cNvPr>
          <p:cNvSpPr>
            <a:spLocks noGrp="1"/>
          </p:cNvSpPr>
          <p:nvPr/>
        </p:nvSpPr>
        <p:spPr>
          <a:xfrm>
            <a:off x="247923" y="794391"/>
            <a:ext cx="889607" cy="51015"/>
          </a:xfrm>
          <a:prstGeom prst="rect">
            <a:avLst/>
          </a:prstGeom>
          <a:solidFill>
            <a:srgbClr val="1E56FF"/>
          </a:solidFill>
          <a:ln>
            <a:solidFill>
              <a:srgbClr val="1E5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88A1E56-E72E-4405-BE7F-66B42EA6B7E8}"/>
              </a:ext>
            </a:extLst>
          </p:cNvPr>
          <p:cNvSpPr>
            <a:spLocks noGrp="1"/>
          </p:cNvSpPr>
          <p:nvPr/>
        </p:nvSpPr>
        <p:spPr>
          <a:xfrm>
            <a:off x="240631" y="174911"/>
            <a:ext cx="7364784" cy="422703"/>
          </a:xfrm>
          <a:prstGeom prst="rect">
            <a:avLst/>
          </a:prstGeom>
          <a:noFill/>
          <a:ln>
            <a:noFill/>
          </a:ln>
          <a:effectLst/>
        </p:spPr>
        <p:txBody>
          <a:bodyPr wrap="none" lIns="0" tIns="0" rIns="0" bIns="0" anchor="ctr">
            <a:spAutoFit/>
          </a:bodyPr>
          <a:lstStyle/>
          <a:p>
            <a:pPr algn="l">
              <a:buNone/>
            </a:pPr>
            <a:r>
              <a:rPr sz="2100" b="1">
                <a:solidFill>
                  <a:srgbClr val="052C7E"/>
                </a:solidFill>
                <a:latin typeface="IPAexGothic"/>
                <a:ea typeface="IPAexGothic"/>
                <a:cs typeface="IPAexGothic"/>
              </a:rPr>
              <a:t>Appendix A10． Cost計測・Cost制御</a:t>
            </a:r>
          </a:p>
        </p:txBody>
      </p:sp>
      <p:sp>
        <p:nvSpPr>
          <p:cNvPr id="5" name="TextBox 4">
            <a:extLst>
              <a:ext uri="{FF2B5EF4-FFF2-40B4-BE49-F238E27FC236}">
                <a16:creationId xmlns:a16="http://schemas.microsoft.com/office/drawing/2014/main" id="{255863FA-F1E5-43CD-BE97-7AC95F391079}"/>
              </a:ext>
            </a:extLst>
          </p:cNvPr>
          <p:cNvSpPr>
            <a:spLocks noGrp="1"/>
          </p:cNvSpPr>
          <p:nvPr/>
        </p:nvSpPr>
        <p:spPr>
          <a:xfrm>
            <a:off x="10689875" y="182199"/>
            <a:ext cx="984401" cy="189487"/>
          </a:xfrm>
          <a:prstGeom prst="rect">
            <a:avLst/>
          </a:prstGeom>
          <a:noFill/>
          <a:ln>
            <a:noFill/>
          </a:ln>
          <a:effectLst/>
        </p:spPr>
        <p:txBody>
          <a:bodyPr wrap="none" lIns="0" tIns="0" rIns="0" bIns="0" anchor="ctr">
            <a:spAutoFit/>
          </a:bodyPr>
          <a:lstStyle/>
          <a:p>
            <a:pPr algn="ctr">
              <a:buNone/>
            </a:pPr>
            <a:r>
              <a:rPr sz="1180" b="1">
                <a:solidFill>
                  <a:srgbClr val="052C7E"/>
                </a:solidFill>
                <a:latin typeface="IPAexGothic"/>
                <a:ea typeface="IPAexGothic"/>
                <a:cs typeface="IPAexGothic"/>
              </a:rPr>
              <a:t>リソース統制</a:t>
            </a:r>
          </a:p>
        </p:txBody>
      </p:sp>
      <p:sp>
        <p:nvSpPr>
          <p:cNvPr id="6" name="TextBox 5">
            <a:extLst>
              <a:ext uri="{FF2B5EF4-FFF2-40B4-BE49-F238E27FC236}">
                <a16:creationId xmlns:a16="http://schemas.microsoft.com/office/drawing/2014/main" id="{8DE38A40-F72B-4510-844B-8AF032062872}"/>
              </a:ext>
            </a:extLst>
          </p:cNvPr>
          <p:cNvSpPr>
            <a:spLocks noGrp="1"/>
          </p:cNvSpPr>
          <p:nvPr/>
        </p:nvSpPr>
        <p:spPr>
          <a:xfrm>
            <a:off x="466679" y="1166078"/>
            <a:ext cx="10427368" cy="240503"/>
          </a:xfrm>
          <a:prstGeom prst="rect">
            <a:avLst/>
          </a:prstGeom>
          <a:noFill/>
          <a:ln>
            <a:noFill/>
          </a:ln>
          <a:effectLst/>
        </p:spPr>
        <p:txBody>
          <a:bodyPr wrap="none" lIns="0" tIns="0" rIns="0" bIns="0" anchor="ctr">
            <a:spAutoFit/>
          </a:bodyPr>
          <a:lstStyle/>
          <a:p>
            <a:pPr algn="l">
              <a:buNone/>
            </a:pPr>
            <a:r>
              <a:rPr sz="1170" b="0">
                <a:solidFill>
                  <a:srgbClr val="0C1220"/>
                </a:solidFill>
                <a:latin typeface="IPAexGothic"/>
              </a:rPr>
              <a:t>Cost Governanceでは，Cost把握，Budget設定，Budget到達時の停止，正式な請求額確認を別機能として整理する．</a:t>
            </a:r>
          </a:p>
        </p:txBody>
      </p:sp>
      <p:sp>
        <p:nvSpPr>
          <p:cNvPr id="7" name="Rectangle 6">
            <a:extLst>
              <a:ext uri="{FF2B5EF4-FFF2-40B4-BE49-F238E27FC236}">
                <a16:creationId xmlns:a16="http://schemas.microsoft.com/office/drawing/2014/main" id="{35C712FF-A558-4E45-A0C9-25B4042092EF}"/>
              </a:ext>
            </a:extLst>
          </p:cNvPr>
          <p:cNvSpPr>
            <a:spLocks noGrp="1"/>
          </p:cNvSpPr>
          <p:nvPr/>
        </p:nvSpPr>
        <p:spPr>
          <a:xfrm>
            <a:off x="471535" y="1574206"/>
            <a:ext cx="2894870"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4E04E840-4D14-4335-9651-2090AE8E7E2D}"/>
              </a:ext>
            </a:extLst>
          </p:cNvPr>
          <p:cNvSpPr>
            <a:spLocks noGrp="1"/>
          </p:cNvSpPr>
          <p:nvPr/>
        </p:nvSpPr>
        <p:spPr>
          <a:xfrm>
            <a:off x="3366406" y="1574206"/>
            <a:ext cx="3748019"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84F577BF-BD8D-4D99-A621-294AC1A0E912}"/>
              </a:ext>
            </a:extLst>
          </p:cNvPr>
          <p:cNvSpPr>
            <a:spLocks noGrp="1"/>
          </p:cNvSpPr>
          <p:nvPr/>
        </p:nvSpPr>
        <p:spPr>
          <a:xfrm>
            <a:off x="7114425" y="1574206"/>
            <a:ext cx="3682392" cy="371687"/>
          </a:xfrm>
          <a:prstGeom prst="rect">
            <a:avLst/>
          </a:prstGeom>
          <a:solidFill>
            <a:srgbClr val="EEF2F7"/>
          </a:solidFill>
          <a:ln w="1016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868BD99-62D6-4025-B324-C8CE4F172885}"/>
              </a:ext>
            </a:extLst>
          </p:cNvPr>
          <p:cNvSpPr>
            <a:spLocks noGrp="1"/>
          </p:cNvSpPr>
          <p:nvPr/>
        </p:nvSpPr>
        <p:spPr>
          <a:xfrm>
            <a:off x="471535" y="1574206"/>
            <a:ext cx="2894870" cy="371687"/>
          </a:xfrm>
          <a:prstGeom prst="rect">
            <a:avLst/>
          </a:prstGeom>
          <a:noFill/>
          <a:ln>
            <a:noFill/>
          </a:ln>
          <a:effectLst/>
        </p:spPr>
        <p:txBody>
          <a:bodyPr wrap="none" lIns="0" tIns="0" rIns="0" bIns="0" anchor="ctr">
            <a:spAutoFit/>
          </a:bodyPr>
          <a:lstStyle/>
          <a:p>
            <a:pPr algn="ctr">
              <a:buNone/>
            </a:pPr>
            <a:r>
              <a:rPr sz="1400" b="1">
                <a:solidFill>
                  <a:srgbClr val="0B3691"/>
                </a:solidFill>
                <a:latin typeface="IPAexGothic"/>
                <a:ea typeface="IPAexGothic"/>
                <a:cs typeface="IPAexGothic"/>
              </a:rPr>
              <a:t>観点</a:t>
            </a:r>
          </a:p>
        </p:txBody>
      </p:sp>
      <p:sp>
        <p:nvSpPr>
          <p:cNvPr id="11" name="TextBox 10">
            <a:extLst>
              <a:ext uri="{FF2B5EF4-FFF2-40B4-BE49-F238E27FC236}">
                <a16:creationId xmlns:a16="http://schemas.microsoft.com/office/drawing/2014/main" id="{B62DD235-AE79-4485-B424-F1A00E239BE9}"/>
              </a:ext>
            </a:extLst>
          </p:cNvPr>
          <p:cNvSpPr>
            <a:spLocks noGrp="1"/>
          </p:cNvSpPr>
          <p:nvPr/>
        </p:nvSpPr>
        <p:spPr>
          <a:xfrm>
            <a:off x="3366406" y="1574206"/>
            <a:ext cx="3748019" cy="371687"/>
          </a:xfrm>
          <a:prstGeom prst="rect">
            <a:avLst/>
          </a:prstGeom>
          <a:noFill/>
          <a:ln>
            <a:noFill/>
          </a:ln>
          <a:effectLst/>
        </p:spPr>
        <p:txBody>
          <a:bodyPr wrap="none" lIns="0" tIns="0" rIns="0" bIns="0" anchor="ctr">
            <a:spAutoFit/>
          </a:bodyPr>
          <a:lstStyle/>
          <a:p>
            <a:pPr algn="ctr">
              <a:buNone/>
            </a:pPr>
            <a:r>
              <a:rPr sz="1400" b="1">
                <a:solidFill>
                  <a:srgbClr val="0B3691"/>
                </a:solidFill>
                <a:latin typeface="IPAexGothic"/>
                <a:ea typeface="IPAexGothic"/>
                <a:cs typeface="IPAexGothic"/>
              </a:rPr>
              <a:t>OpenAI Agents SDK</a:t>
            </a:r>
          </a:p>
        </p:txBody>
      </p:sp>
      <p:sp>
        <p:nvSpPr>
          <p:cNvPr id="12" name="TextBox 11">
            <a:extLst>
              <a:ext uri="{FF2B5EF4-FFF2-40B4-BE49-F238E27FC236}">
                <a16:creationId xmlns:a16="http://schemas.microsoft.com/office/drawing/2014/main" id="{58B8EC91-73CF-4DC8-B3AA-19D2248D1989}"/>
              </a:ext>
            </a:extLst>
          </p:cNvPr>
          <p:cNvSpPr>
            <a:spLocks noGrp="1"/>
          </p:cNvSpPr>
          <p:nvPr/>
        </p:nvSpPr>
        <p:spPr>
          <a:xfrm>
            <a:off x="7114425" y="1574206"/>
            <a:ext cx="3682392" cy="371687"/>
          </a:xfrm>
          <a:prstGeom prst="rect">
            <a:avLst/>
          </a:prstGeom>
          <a:noFill/>
          <a:ln>
            <a:noFill/>
          </a:ln>
          <a:effectLst/>
        </p:spPr>
        <p:txBody>
          <a:bodyPr wrap="none" lIns="0" tIns="0" rIns="0" bIns="0" anchor="ctr">
            <a:spAutoFit/>
          </a:bodyPr>
          <a:lstStyle/>
          <a:p>
            <a:pPr algn="ctr">
              <a:buNone/>
            </a:pPr>
            <a:r>
              <a:rPr sz="1400" b="1">
                <a:solidFill>
                  <a:srgbClr val="0B3691"/>
                </a:solidFill>
                <a:latin typeface="IPAexGothic"/>
                <a:ea typeface="IPAexGothic"/>
                <a:cs typeface="IPAexGothic"/>
              </a:rPr>
              <a:t>Claude Agent SDK</a:t>
            </a:r>
          </a:p>
        </p:txBody>
      </p:sp>
      <p:sp>
        <p:nvSpPr>
          <p:cNvPr id="13" name="Rectangle 12">
            <a:extLst>
              <a:ext uri="{FF2B5EF4-FFF2-40B4-BE49-F238E27FC236}">
                <a16:creationId xmlns:a16="http://schemas.microsoft.com/office/drawing/2014/main" id="{E801AA76-8FE2-4516-B1BD-589138CDB38D}"/>
              </a:ext>
            </a:extLst>
          </p:cNvPr>
          <p:cNvSpPr>
            <a:spLocks noGrp="1"/>
          </p:cNvSpPr>
          <p:nvPr/>
        </p:nvSpPr>
        <p:spPr>
          <a:xfrm>
            <a:off x="471535" y="1945893"/>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06F90EB7-8934-4B0D-8E39-DBDC32219A3A}"/>
              </a:ext>
            </a:extLst>
          </p:cNvPr>
          <p:cNvSpPr>
            <a:spLocks noGrp="1"/>
          </p:cNvSpPr>
          <p:nvPr/>
        </p:nvSpPr>
        <p:spPr>
          <a:xfrm>
            <a:off x="3366406" y="1945893"/>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DAB283F-A764-45FB-A9D2-1C271182EB53}"/>
              </a:ext>
            </a:extLst>
          </p:cNvPr>
          <p:cNvSpPr>
            <a:spLocks noGrp="1"/>
          </p:cNvSpPr>
          <p:nvPr/>
        </p:nvSpPr>
        <p:spPr>
          <a:xfrm>
            <a:off x="7114425" y="1945893"/>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82DC0F6-3417-4AF2-947A-60715773DBC4}"/>
              </a:ext>
            </a:extLst>
          </p:cNvPr>
          <p:cNvSpPr>
            <a:spLocks noGrp="1"/>
          </p:cNvSpPr>
          <p:nvPr/>
        </p:nvSpPr>
        <p:spPr>
          <a:xfrm>
            <a:off x="617373" y="1982333"/>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Token Usage</a:t>
            </a:r>
          </a:p>
        </p:txBody>
      </p:sp>
      <p:sp>
        <p:nvSpPr>
          <p:cNvPr id="17" name="TextBox 16">
            <a:extLst>
              <a:ext uri="{FF2B5EF4-FFF2-40B4-BE49-F238E27FC236}">
                <a16:creationId xmlns:a16="http://schemas.microsoft.com/office/drawing/2014/main" id="{21DAB82C-7D66-4E75-9CCB-CFE4CF15D192}"/>
              </a:ext>
            </a:extLst>
          </p:cNvPr>
          <p:cNvSpPr>
            <a:spLocks noGrp="1"/>
          </p:cNvSpPr>
          <p:nvPr/>
        </p:nvSpPr>
        <p:spPr>
          <a:xfrm>
            <a:off x="3548703" y="1982333"/>
            <a:ext cx="3456344"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Usage</a:t>
            </a:r>
          </a:p>
        </p:txBody>
      </p:sp>
      <p:sp>
        <p:nvSpPr>
          <p:cNvPr id="18" name="TextBox 17">
            <a:extLst>
              <a:ext uri="{FF2B5EF4-FFF2-40B4-BE49-F238E27FC236}">
                <a16:creationId xmlns:a16="http://schemas.microsoft.com/office/drawing/2014/main" id="{F55DF89E-8B18-4C9B-93B4-6A5C4029383A}"/>
              </a:ext>
            </a:extLst>
          </p:cNvPr>
          <p:cNvSpPr>
            <a:spLocks noGrp="1"/>
          </p:cNvSpPr>
          <p:nvPr/>
        </p:nvSpPr>
        <p:spPr>
          <a:xfrm>
            <a:off x="7296722" y="1982333"/>
            <a:ext cx="3405301"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Usage</a:t>
            </a:r>
          </a:p>
        </p:txBody>
      </p:sp>
      <p:sp>
        <p:nvSpPr>
          <p:cNvPr id="19" name="Rectangle 18">
            <a:extLst>
              <a:ext uri="{FF2B5EF4-FFF2-40B4-BE49-F238E27FC236}">
                <a16:creationId xmlns:a16="http://schemas.microsoft.com/office/drawing/2014/main" id="{400A3135-4D83-4958-A4E9-B66C69C52DED}"/>
              </a:ext>
            </a:extLst>
          </p:cNvPr>
          <p:cNvSpPr>
            <a:spLocks noGrp="1"/>
          </p:cNvSpPr>
          <p:nvPr/>
        </p:nvSpPr>
        <p:spPr>
          <a:xfrm>
            <a:off x="471535" y="2332157"/>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CB102160-128B-4146-A57B-5C3A23ABA9D9}"/>
              </a:ext>
            </a:extLst>
          </p:cNvPr>
          <p:cNvSpPr>
            <a:spLocks noGrp="1"/>
          </p:cNvSpPr>
          <p:nvPr/>
        </p:nvSpPr>
        <p:spPr>
          <a:xfrm>
            <a:off x="3366406" y="2332157"/>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90DC76EA-0C40-42A4-9356-37D3639EBDDE}"/>
              </a:ext>
            </a:extLst>
          </p:cNvPr>
          <p:cNvSpPr>
            <a:spLocks noGrp="1"/>
          </p:cNvSpPr>
          <p:nvPr/>
        </p:nvSpPr>
        <p:spPr>
          <a:xfrm>
            <a:off x="7114425" y="2332157"/>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8C4D17B-F57C-490F-BA9E-BB67D26A1D2D}"/>
              </a:ext>
            </a:extLst>
          </p:cNvPr>
          <p:cNvSpPr>
            <a:spLocks noGrp="1"/>
          </p:cNvSpPr>
          <p:nvPr/>
        </p:nvSpPr>
        <p:spPr>
          <a:xfrm>
            <a:off x="617373" y="2368597"/>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SDK内USD Estimate</a:t>
            </a:r>
          </a:p>
        </p:txBody>
      </p:sp>
      <p:sp>
        <p:nvSpPr>
          <p:cNvPr id="23" name="TextBox 22">
            <a:extLst>
              <a:ext uri="{FF2B5EF4-FFF2-40B4-BE49-F238E27FC236}">
                <a16:creationId xmlns:a16="http://schemas.microsoft.com/office/drawing/2014/main" id="{FD240185-225B-4027-99EC-4D7E147C14FC}"/>
              </a:ext>
            </a:extLst>
          </p:cNvPr>
          <p:cNvSpPr>
            <a:spLocks noGrp="1"/>
          </p:cNvSpPr>
          <p:nvPr/>
        </p:nvSpPr>
        <p:spPr>
          <a:xfrm>
            <a:off x="3548703" y="2368597"/>
            <a:ext cx="3456344"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rPr>
              <a:t>UsageとModel価格から別途算出</a:t>
            </a:r>
          </a:p>
        </p:txBody>
      </p:sp>
      <p:sp>
        <p:nvSpPr>
          <p:cNvPr id="24" name="TextBox 23">
            <a:extLst>
              <a:ext uri="{FF2B5EF4-FFF2-40B4-BE49-F238E27FC236}">
                <a16:creationId xmlns:a16="http://schemas.microsoft.com/office/drawing/2014/main" id="{5C4BED01-9665-4F78-A332-6452476C9B50}"/>
              </a:ext>
            </a:extLst>
          </p:cNvPr>
          <p:cNvSpPr>
            <a:spLocks noGrp="1"/>
          </p:cNvSpPr>
          <p:nvPr/>
        </p:nvSpPr>
        <p:spPr>
          <a:xfrm>
            <a:off x="7296722" y="2368597"/>
            <a:ext cx="3405301"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total_cost_usd</a:t>
            </a:r>
          </a:p>
        </p:txBody>
      </p:sp>
      <p:sp>
        <p:nvSpPr>
          <p:cNvPr id="25" name="Rectangle 24">
            <a:extLst>
              <a:ext uri="{FF2B5EF4-FFF2-40B4-BE49-F238E27FC236}">
                <a16:creationId xmlns:a16="http://schemas.microsoft.com/office/drawing/2014/main" id="{07A6C124-F740-4ED0-B78B-BB9136A05675}"/>
              </a:ext>
            </a:extLst>
          </p:cNvPr>
          <p:cNvSpPr>
            <a:spLocks noGrp="1"/>
          </p:cNvSpPr>
          <p:nvPr/>
        </p:nvSpPr>
        <p:spPr>
          <a:xfrm>
            <a:off x="471535" y="2718420"/>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6088A631-A47E-4726-B06E-5C951A8509F0}"/>
              </a:ext>
            </a:extLst>
          </p:cNvPr>
          <p:cNvSpPr>
            <a:spLocks noGrp="1"/>
          </p:cNvSpPr>
          <p:nvPr/>
        </p:nvSpPr>
        <p:spPr>
          <a:xfrm>
            <a:off x="3366406" y="2718420"/>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EAE8F3F0-65F4-4D38-B7D8-C8C1AA9738B2}"/>
              </a:ext>
            </a:extLst>
          </p:cNvPr>
          <p:cNvSpPr>
            <a:spLocks noGrp="1"/>
          </p:cNvSpPr>
          <p:nvPr/>
        </p:nvSpPr>
        <p:spPr>
          <a:xfrm>
            <a:off x="7114425" y="2718420"/>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4F489A9-4A2A-4D44-9F6F-9D83EB96F976}"/>
              </a:ext>
            </a:extLst>
          </p:cNvPr>
          <p:cNvSpPr>
            <a:spLocks noGrp="1"/>
          </p:cNvSpPr>
          <p:nvPr/>
        </p:nvSpPr>
        <p:spPr>
          <a:xfrm>
            <a:off x="617373" y="2754860"/>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Run単位USD Budget</a:t>
            </a:r>
          </a:p>
        </p:txBody>
      </p:sp>
      <p:sp>
        <p:nvSpPr>
          <p:cNvPr id="29" name="TextBox 28">
            <a:extLst>
              <a:ext uri="{FF2B5EF4-FFF2-40B4-BE49-F238E27FC236}">
                <a16:creationId xmlns:a16="http://schemas.microsoft.com/office/drawing/2014/main" id="{BE8EAEFA-B4BF-4D3F-B93D-9EA33E370AA6}"/>
              </a:ext>
            </a:extLst>
          </p:cNvPr>
          <p:cNvSpPr>
            <a:spLocks noGrp="1"/>
          </p:cNvSpPr>
          <p:nvPr/>
        </p:nvSpPr>
        <p:spPr>
          <a:xfrm>
            <a:off x="3548703" y="2754860"/>
            <a:ext cx="3456344"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rPr>
              <a:t>専用同等Parameterは今回未確認</a:t>
            </a:r>
          </a:p>
        </p:txBody>
      </p:sp>
      <p:sp>
        <p:nvSpPr>
          <p:cNvPr id="30" name="TextBox 29">
            <a:extLst>
              <a:ext uri="{FF2B5EF4-FFF2-40B4-BE49-F238E27FC236}">
                <a16:creationId xmlns:a16="http://schemas.microsoft.com/office/drawing/2014/main" id="{48151A4D-13FE-4328-94AA-E79744967019}"/>
              </a:ext>
            </a:extLst>
          </p:cNvPr>
          <p:cNvSpPr>
            <a:spLocks noGrp="1"/>
          </p:cNvSpPr>
          <p:nvPr/>
        </p:nvSpPr>
        <p:spPr>
          <a:xfrm>
            <a:off x="7296722" y="2754860"/>
            <a:ext cx="3405301"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max_budget_usd</a:t>
            </a:r>
          </a:p>
        </p:txBody>
      </p:sp>
      <p:sp>
        <p:nvSpPr>
          <p:cNvPr id="31" name="Rectangle 30">
            <a:extLst>
              <a:ext uri="{FF2B5EF4-FFF2-40B4-BE49-F238E27FC236}">
                <a16:creationId xmlns:a16="http://schemas.microsoft.com/office/drawing/2014/main" id="{D6A1B190-4BBD-4BA9-8E95-729C2BAB6375}"/>
              </a:ext>
            </a:extLst>
          </p:cNvPr>
          <p:cNvSpPr>
            <a:spLocks noGrp="1"/>
          </p:cNvSpPr>
          <p:nvPr/>
        </p:nvSpPr>
        <p:spPr>
          <a:xfrm>
            <a:off x="471535" y="3104684"/>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E5866BE5-98F6-4649-BB36-4CC67277E7C0}"/>
              </a:ext>
            </a:extLst>
          </p:cNvPr>
          <p:cNvSpPr>
            <a:spLocks noGrp="1"/>
          </p:cNvSpPr>
          <p:nvPr/>
        </p:nvSpPr>
        <p:spPr>
          <a:xfrm>
            <a:off x="3366406" y="3104684"/>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F64CA752-B940-489F-8B7A-7B757EC08FFD}"/>
              </a:ext>
            </a:extLst>
          </p:cNvPr>
          <p:cNvSpPr>
            <a:spLocks noGrp="1"/>
          </p:cNvSpPr>
          <p:nvPr/>
        </p:nvSpPr>
        <p:spPr>
          <a:xfrm>
            <a:off x="7114425" y="3104684"/>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CE294CC6-DE8F-423F-99C2-DBE5D8A13B5A}"/>
              </a:ext>
            </a:extLst>
          </p:cNvPr>
          <p:cNvSpPr>
            <a:spLocks noGrp="1"/>
          </p:cNvSpPr>
          <p:nvPr/>
        </p:nvSpPr>
        <p:spPr>
          <a:xfrm>
            <a:off x="617373" y="3141124"/>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Budget到達時の挙動</a:t>
            </a:r>
          </a:p>
        </p:txBody>
      </p:sp>
      <p:sp>
        <p:nvSpPr>
          <p:cNvPr id="35" name="TextBox 34">
            <a:extLst>
              <a:ext uri="{FF2B5EF4-FFF2-40B4-BE49-F238E27FC236}">
                <a16:creationId xmlns:a16="http://schemas.microsoft.com/office/drawing/2014/main" id="{2D782741-C8EA-427B-9FC4-D13DEED1940B}"/>
              </a:ext>
            </a:extLst>
          </p:cNvPr>
          <p:cNvSpPr>
            <a:spLocks noGrp="1"/>
          </p:cNvSpPr>
          <p:nvPr/>
        </p:nvSpPr>
        <p:spPr>
          <a:xfrm>
            <a:off x="3548703" y="3141124"/>
            <a:ext cx="3456344"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Application側で停止処理を実装</a:t>
            </a:r>
          </a:p>
        </p:txBody>
      </p:sp>
      <p:sp>
        <p:nvSpPr>
          <p:cNvPr id="36" name="TextBox 35">
            <a:extLst>
              <a:ext uri="{FF2B5EF4-FFF2-40B4-BE49-F238E27FC236}">
                <a16:creationId xmlns:a16="http://schemas.microsoft.com/office/drawing/2014/main" id="{A1638BC4-2BDE-4387-9E11-9D8670018742}"/>
              </a:ext>
            </a:extLst>
          </p:cNvPr>
          <p:cNvSpPr>
            <a:spLocks noGrp="1"/>
          </p:cNvSpPr>
          <p:nvPr/>
        </p:nvSpPr>
        <p:spPr>
          <a:xfrm>
            <a:off x="7296722" y="3141124"/>
            <a:ext cx="3405301" cy="313383"/>
          </a:xfrm>
          <a:prstGeom prst="rect">
            <a:avLst/>
          </a:prstGeom>
          <a:noFill/>
          <a:ln>
            <a:noFill/>
          </a:ln>
          <a:effectLst/>
        </p:spPr>
        <p:txBody>
          <a:bodyPr wrap="none" lIns="0" tIns="0" rIns="0" bIns="0" anchor="ctr">
            <a:spAutoFit/>
          </a:bodyPr>
          <a:lstStyle/>
          <a:p>
            <a:pPr algn="l">
              <a:buNone/>
            </a:pPr>
            <a:r>
              <a:rPr sz="1030" b="0">
                <a:solidFill>
                  <a:srgbClr val="0C1220"/>
                </a:solidFill>
                <a:latin typeface="IPAexGothic"/>
                <a:ea typeface="IPAexGothic"/>
                <a:cs typeface="IPAexGothic"/>
              </a:rPr>
              <a:t>Estimated Costに基づき後続Queryを停止</a:t>
            </a:r>
          </a:p>
        </p:txBody>
      </p:sp>
      <p:sp>
        <p:nvSpPr>
          <p:cNvPr id="37" name="Rectangle 36">
            <a:extLst>
              <a:ext uri="{FF2B5EF4-FFF2-40B4-BE49-F238E27FC236}">
                <a16:creationId xmlns:a16="http://schemas.microsoft.com/office/drawing/2014/main" id="{B55E76DD-5CD5-4A46-8492-EF786DA8042C}"/>
              </a:ext>
            </a:extLst>
          </p:cNvPr>
          <p:cNvSpPr>
            <a:spLocks noGrp="1"/>
          </p:cNvSpPr>
          <p:nvPr/>
        </p:nvSpPr>
        <p:spPr>
          <a:xfrm>
            <a:off x="471535" y="3490947"/>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754EF58C-5162-420D-8AB1-0879618EC11F}"/>
              </a:ext>
            </a:extLst>
          </p:cNvPr>
          <p:cNvSpPr>
            <a:spLocks noGrp="1"/>
          </p:cNvSpPr>
          <p:nvPr/>
        </p:nvSpPr>
        <p:spPr>
          <a:xfrm>
            <a:off x="3366406" y="3490947"/>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DF9D6868-EA99-4BA9-ADF0-E6CCA5D35892}"/>
              </a:ext>
            </a:extLst>
          </p:cNvPr>
          <p:cNvSpPr>
            <a:spLocks noGrp="1"/>
          </p:cNvSpPr>
          <p:nvPr/>
        </p:nvSpPr>
        <p:spPr>
          <a:xfrm>
            <a:off x="7114425" y="3490947"/>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68A67DC5-7D5E-4220-844A-AA749F30C466}"/>
              </a:ext>
            </a:extLst>
          </p:cNvPr>
          <p:cNvSpPr>
            <a:spLocks noGrp="1"/>
          </p:cNvSpPr>
          <p:nvPr/>
        </p:nvSpPr>
        <p:spPr>
          <a:xfrm>
            <a:off x="617373" y="3527387"/>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正式Cost確認</a:t>
            </a:r>
          </a:p>
        </p:txBody>
      </p:sp>
      <p:sp>
        <p:nvSpPr>
          <p:cNvPr id="41" name="TextBox 40">
            <a:extLst>
              <a:ext uri="{FF2B5EF4-FFF2-40B4-BE49-F238E27FC236}">
                <a16:creationId xmlns:a16="http://schemas.microsoft.com/office/drawing/2014/main" id="{80506C7A-034F-497D-8BD6-7D89619C4385}"/>
              </a:ext>
            </a:extLst>
          </p:cNvPr>
          <p:cNvSpPr>
            <a:spLocks noGrp="1"/>
          </p:cNvSpPr>
          <p:nvPr/>
        </p:nvSpPr>
        <p:spPr>
          <a:xfrm>
            <a:off x="3548703" y="3527387"/>
            <a:ext cx="3456344"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Platform Costs API等</a:t>
            </a:r>
          </a:p>
        </p:txBody>
      </p:sp>
      <p:sp>
        <p:nvSpPr>
          <p:cNvPr id="42" name="TextBox 41">
            <a:extLst>
              <a:ext uri="{FF2B5EF4-FFF2-40B4-BE49-F238E27FC236}">
                <a16:creationId xmlns:a16="http://schemas.microsoft.com/office/drawing/2014/main" id="{68540200-3559-4734-B82C-971EE259D8F8}"/>
              </a:ext>
            </a:extLst>
          </p:cNvPr>
          <p:cNvSpPr>
            <a:spLocks noGrp="1"/>
          </p:cNvSpPr>
          <p:nvPr/>
        </p:nvSpPr>
        <p:spPr>
          <a:xfrm>
            <a:off x="7296722" y="3527387"/>
            <a:ext cx="3405301" cy="313383"/>
          </a:xfrm>
          <a:prstGeom prst="rect">
            <a:avLst/>
          </a:prstGeom>
          <a:noFill/>
          <a:ln>
            <a:noFill/>
          </a:ln>
          <a:effectLst/>
        </p:spPr>
        <p:txBody>
          <a:bodyPr wrap="none" lIns="0" tIns="0" rIns="0" bIns="0" anchor="ctr">
            <a:spAutoFit/>
          </a:bodyPr>
          <a:lstStyle/>
          <a:p>
            <a:pPr algn="l">
              <a:buNone/>
            </a:pPr>
            <a:r>
              <a:rPr sz="1030" b="0">
                <a:solidFill>
                  <a:srgbClr val="0C1220"/>
                </a:solidFill>
                <a:latin typeface="IPAexGothic"/>
                <a:ea typeface="IPAexGothic"/>
                <a:cs typeface="IPAexGothic"/>
              </a:rPr>
              <a:t>Platform Usage，Cost API等</a:t>
            </a:r>
          </a:p>
        </p:txBody>
      </p:sp>
      <p:sp>
        <p:nvSpPr>
          <p:cNvPr id="43" name="Rectangle 42">
            <a:extLst>
              <a:ext uri="{FF2B5EF4-FFF2-40B4-BE49-F238E27FC236}">
                <a16:creationId xmlns:a16="http://schemas.microsoft.com/office/drawing/2014/main" id="{780C6640-2961-4188-83A3-1DBB93F829F4}"/>
              </a:ext>
            </a:extLst>
          </p:cNvPr>
          <p:cNvSpPr>
            <a:spLocks noGrp="1"/>
          </p:cNvSpPr>
          <p:nvPr/>
        </p:nvSpPr>
        <p:spPr>
          <a:xfrm>
            <a:off x="471535" y="3877211"/>
            <a:ext cx="2894870"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Rectangle 43">
            <a:extLst>
              <a:ext uri="{FF2B5EF4-FFF2-40B4-BE49-F238E27FC236}">
                <a16:creationId xmlns:a16="http://schemas.microsoft.com/office/drawing/2014/main" id="{399A08A4-4352-4CD9-BE41-2F4228F60582}"/>
              </a:ext>
            </a:extLst>
          </p:cNvPr>
          <p:cNvSpPr>
            <a:spLocks noGrp="1"/>
          </p:cNvSpPr>
          <p:nvPr/>
        </p:nvSpPr>
        <p:spPr>
          <a:xfrm>
            <a:off x="3366406" y="3877211"/>
            <a:ext cx="3748019"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ectangle 44">
            <a:extLst>
              <a:ext uri="{FF2B5EF4-FFF2-40B4-BE49-F238E27FC236}">
                <a16:creationId xmlns:a16="http://schemas.microsoft.com/office/drawing/2014/main" id="{1A8FAF22-E2F3-4984-91C3-5922E6404D98}"/>
              </a:ext>
            </a:extLst>
          </p:cNvPr>
          <p:cNvSpPr>
            <a:spLocks noGrp="1"/>
          </p:cNvSpPr>
          <p:nvPr/>
        </p:nvSpPr>
        <p:spPr>
          <a:xfrm>
            <a:off x="7114425" y="3877211"/>
            <a:ext cx="3682392" cy="386263"/>
          </a:xfrm>
          <a:prstGeom prst="rect">
            <a:avLst/>
          </a:prstGeom>
          <a:solidFill>
            <a:srgbClr val="FFFFFF"/>
          </a:solidFill>
          <a:ln w="9525">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46BD5FA6-96C9-4B46-8EE7-8B13A6406B72}"/>
              </a:ext>
            </a:extLst>
          </p:cNvPr>
          <p:cNvSpPr>
            <a:spLocks noGrp="1"/>
          </p:cNvSpPr>
          <p:nvPr/>
        </p:nvSpPr>
        <p:spPr>
          <a:xfrm>
            <a:off x="617373" y="3913651"/>
            <a:ext cx="2661531" cy="313383"/>
          </a:xfrm>
          <a:prstGeom prst="rect">
            <a:avLst/>
          </a:prstGeom>
          <a:noFill/>
          <a:ln>
            <a:noFill/>
          </a:ln>
          <a:effectLst/>
        </p:spPr>
        <p:txBody>
          <a:bodyPr wrap="none" lIns="0" tIns="0" rIns="0" bIns="0" anchor="ctr">
            <a:spAutoFit/>
          </a:bodyPr>
          <a:lstStyle/>
          <a:p>
            <a:pPr algn="l">
              <a:buNone/>
            </a:pPr>
            <a:r>
              <a:rPr sz="1160" b="0">
                <a:solidFill>
                  <a:srgbClr val="0C1220"/>
                </a:solidFill>
                <a:latin typeface="IPAexGothic"/>
                <a:ea typeface="IPAexGothic"/>
                <a:cs typeface="IPAexGothic"/>
              </a:rPr>
              <a:t>Hard Cap性</a:t>
            </a:r>
          </a:p>
        </p:txBody>
      </p:sp>
      <p:sp>
        <p:nvSpPr>
          <p:cNvPr id="47" name="TextBox 46">
            <a:extLst>
              <a:ext uri="{FF2B5EF4-FFF2-40B4-BE49-F238E27FC236}">
                <a16:creationId xmlns:a16="http://schemas.microsoft.com/office/drawing/2014/main" id="{1658EA94-5137-4157-AF80-3DEB08E18C7A}"/>
              </a:ext>
            </a:extLst>
          </p:cNvPr>
          <p:cNvSpPr>
            <a:spLocks noGrp="1"/>
          </p:cNvSpPr>
          <p:nvPr/>
        </p:nvSpPr>
        <p:spPr>
          <a:xfrm>
            <a:off x="3548703" y="3913651"/>
            <a:ext cx="3456344" cy="313383"/>
          </a:xfrm>
          <a:prstGeom prst="rect">
            <a:avLst/>
          </a:prstGeom>
          <a:noFill/>
          <a:ln>
            <a:noFill/>
          </a:ln>
          <a:effectLst/>
        </p:spPr>
        <p:txBody>
          <a:bodyPr wrap="none" lIns="0" tIns="0" rIns="0" bIns="0" anchor="ctr">
            <a:spAutoFit/>
          </a:bodyPr>
          <a:lstStyle/>
          <a:p>
            <a:pPr algn="l">
              <a:buNone/>
            </a:pPr>
            <a:r>
              <a:rPr sz="850" b="0">
                <a:solidFill>
                  <a:srgbClr val="0C1220"/>
                </a:solidFill>
                <a:latin typeface="IPAexGothic"/>
              </a:rPr>
              <a:t>Run単位のSDK専用Hard Capは未確認</a:t>
            </a:r>
          </a:p>
        </p:txBody>
      </p:sp>
      <p:sp>
        <p:nvSpPr>
          <p:cNvPr id="48" name="TextBox 47">
            <a:extLst>
              <a:ext uri="{FF2B5EF4-FFF2-40B4-BE49-F238E27FC236}">
                <a16:creationId xmlns:a16="http://schemas.microsoft.com/office/drawing/2014/main" id="{B49A5896-9077-4967-8A34-769A90DD1621}"/>
              </a:ext>
            </a:extLst>
          </p:cNvPr>
          <p:cNvSpPr>
            <a:spLocks noGrp="1"/>
          </p:cNvSpPr>
          <p:nvPr/>
        </p:nvSpPr>
        <p:spPr>
          <a:xfrm>
            <a:off x="7296722" y="3913651"/>
            <a:ext cx="3405301" cy="313383"/>
          </a:xfrm>
          <a:prstGeom prst="rect">
            <a:avLst/>
          </a:prstGeom>
          <a:noFill/>
          <a:ln>
            <a:noFill/>
          </a:ln>
          <a:effectLst/>
        </p:spPr>
        <p:txBody>
          <a:bodyPr wrap="none" lIns="0" tIns="0" rIns="0" bIns="0" anchor="ctr">
            <a:spAutoFit/>
          </a:bodyPr>
          <a:lstStyle/>
          <a:p>
            <a:pPr algn="l">
              <a:buNone/>
            </a:pPr>
            <a:r>
              <a:rPr sz="1140" b="0">
                <a:solidFill>
                  <a:srgbClr val="0C1220"/>
                </a:solidFill>
                <a:latin typeface="IPAexGothic"/>
                <a:ea typeface="IPAexGothic"/>
                <a:cs typeface="IPAexGothic"/>
              </a:rPr>
              <a:t>実請求額の厳密なHard Capではない</a:t>
            </a:r>
          </a:p>
        </p:txBody>
      </p:sp>
      <p:sp>
        <p:nvSpPr>
          <p:cNvPr id="49" name="Rectangle 48">
            <a:extLst>
              <a:ext uri="{FF2B5EF4-FFF2-40B4-BE49-F238E27FC236}">
                <a16:creationId xmlns:a16="http://schemas.microsoft.com/office/drawing/2014/main" id="{A0096269-5F50-463A-BA70-C083BE57CDBA}"/>
              </a:ext>
            </a:extLst>
          </p:cNvPr>
          <p:cNvSpPr>
            <a:spLocks noGrp="1"/>
          </p:cNvSpPr>
          <p:nvPr/>
        </p:nvSpPr>
        <p:spPr>
          <a:xfrm>
            <a:off x="471535" y="4467538"/>
            <a:ext cx="1137531" cy="1071334"/>
          </a:xfrm>
          <a:prstGeom prst="rect">
            <a:avLst/>
          </a:prstGeom>
          <a:solidFill>
            <a:srgbClr val="FFFFFF"/>
          </a:solidFill>
          <a:ln w="1397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985C6009-09E5-4EE4-980F-41CF92384EF6}"/>
              </a:ext>
            </a:extLst>
          </p:cNvPr>
          <p:cNvSpPr>
            <a:spLocks noGrp="1"/>
          </p:cNvSpPr>
          <p:nvPr/>
        </p:nvSpPr>
        <p:spPr>
          <a:xfrm>
            <a:off x="471535" y="4846514"/>
            <a:ext cx="1137531" cy="306095"/>
          </a:xfrm>
          <a:prstGeom prst="rect">
            <a:avLst/>
          </a:prstGeom>
          <a:noFill/>
          <a:ln>
            <a:noFill/>
          </a:ln>
          <a:effectLst/>
        </p:spPr>
        <p:txBody>
          <a:bodyPr wrap="none" lIns="0" tIns="0" rIns="0" bIns="0" anchor="ctr">
            <a:spAutoFit/>
          </a:bodyPr>
          <a:lstStyle/>
          <a:p>
            <a:pPr algn="ctr">
              <a:buNone/>
            </a:pPr>
            <a:r>
              <a:rPr sz="1400" b="1">
                <a:solidFill>
                  <a:srgbClr val="052C7E"/>
                </a:solidFill>
                <a:latin typeface="IPAexGothic"/>
                <a:ea typeface="IPAexGothic"/>
                <a:cs typeface="IPAexGothic"/>
              </a:rPr>
              <a:t>計測</a:t>
            </a:r>
          </a:p>
        </p:txBody>
      </p:sp>
      <p:sp>
        <p:nvSpPr>
          <p:cNvPr id="51" name="TextBox 50">
            <a:extLst>
              <a:ext uri="{FF2B5EF4-FFF2-40B4-BE49-F238E27FC236}">
                <a16:creationId xmlns:a16="http://schemas.microsoft.com/office/drawing/2014/main" id="{371E16DA-5087-433F-98CF-CA600BD5E026}"/>
              </a:ext>
            </a:extLst>
          </p:cNvPr>
          <p:cNvSpPr>
            <a:spLocks noGrp="1"/>
          </p:cNvSpPr>
          <p:nvPr/>
        </p:nvSpPr>
        <p:spPr>
          <a:xfrm>
            <a:off x="1696569" y="4868378"/>
            <a:ext cx="233339" cy="262367"/>
          </a:xfrm>
          <a:prstGeom prst="rect">
            <a:avLst/>
          </a:prstGeom>
          <a:noFill/>
          <a:ln>
            <a:noFill/>
          </a:ln>
          <a:effectLst/>
        </p:spPr>
        <p:txBody>
          <a:bodyPr wrap="none" lIns="0" tIns="0" rIns="0" bIns="0" anchor="ctr">
            <a:spAutoFit/>
          </a:bodyPr>
          <a:lstStyle/>
          <a:p>
            <a:pPr algn="ctr">
              <a:buNone/>
            </a:pPr>
            <a:r>
              <a:rPr sz="2200" b="1">
                <a:solidFill>
                  <a:srgbClr val="052C7E"/>
                </a:solidFill>
                <a:latin typeface="IPAexGothic"/>
                <a:ea typeface="IPAexGothic"/>
                <a:cs typeface="IPAexGothic"/>
              </a:rPr>
              <a:t>→</a:t>
            </a:r>
          </a:p>
        </p:txBody>
      </p:sp>
      <p:sp>
        <p:nvSpPr>
          <p:cNvPr id="52" name="Rectangle 51">
            <a:extLst>
              <a:ext uri="{FF2B5EF4-FFF2-40B4-BE49-F238E27FC236}">
                <a16:creationId xmlns:a16="http://schemas.microsoft.com/office/drawing/2014/main" id="{AA7CBE28-5691-49F1-8009-B5351EEBBFC6}"/>
              </a:ext>
            </a:extLst>
          </p:cNvPr>
          <p:cNvSpPr>
            <a:spLocks noGrp="1"/>
          </p:cNvSpPr>
          <p:nvPr/>
        </p:nvSpPr>
        <p:spPr>
          <a:xfrm>
            <a:off x="1959076" y="4467538"/>
            <a:ext cx="1137531" cy="1071334"/>
          </a:xfrm>
          <a:prstGeom prst="rect">
            <a:avLst/>
          </a:prstGeom>
          <a:solidFill>
            <a:srgbClr val="FFFFFF"/>
          </a:solidFill>
          <a:ln w="1397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758EE522-22BE-43F3-AD55-7273A6E38332}"/>
              </a:ext>
            </a:extLst>
          </p:cNvPr>
          <p:cNvSpPr>
            <a:spLocks noGrp="1"/>
          </p:cNvSpPr>
          <p:nvPr/>
        </p:nvSpPr>
        <p:spPr>
          <a:xfrm>
            <a:off x="1959076" y="4846514"/>
            <a:ext cx="1137531" cy="306095"/>
          </a:xfrm>
          <a:prstGeom prst="rect">
            <a:avLst/>
          </a:prstGeom>
          <a:noFill/>
          <a:ln>
            <a:noFill/>
          </a:ln>
          <a:effectLst/>
        </p:spPr>
        <p:txBody>
          <a:bodyPr wrap="none" lIns="0" tIns="0" rIns="0" bIns="0" anchor="ctr">
            <a:spAutoFit/>
          </a:bodyPr>
          <a:lstStyle/>
          <a:p>
            <a:pPr algn="ctr">
              <a:buNone/>
            </a:pPr>
            <a:r>
              <a:rPr sz="1400" b="1">
                <a:solidFill>
                  <a:srgbClr val="052C7E"/>
                </a:solidFill>
                <a:latin typeface="IPAexGothic"/>
                <a:ea typeface="IPAexGothic"/>
                <a:cs typeface="IPAexGothic"/>
              </a:rPr>
              <a:t>Budget設定</a:t>
            </a:r>
          </a:p>
        </p:txBody>
      </p:sp>
      <p:sp>
        <p:nvSpPr>
          <p:cNvPr id="54" name="TextBox 53">
            <a:extLst>
              <a:ext uri="{FF2B5EF4-FFF2-40B4-BE49-F238E27FC236}">
                <a16:creationId xmlns:a16="http://schemas.microsoft.com/office/drawing/2014/main" id="{350B7379-EC7F-4FC6-867E-5654FE003E5E}"/>
              </a:ext>
            </a:extLst>
          </p:cNvPr>
          <p:cNvSpPr>
            <a:spLocks noGrp="1"/>
          </p:cNvSpPr>
          <p:nvPr/>
        </p:nvSpPr>
        <p:spPr>
          <a:xfrm>
            <a:off x="3184109" y="4868378"/>
            <a:ext cx="233339" cy="262367"/>
          </a:xfrm>
          <a:prstGeom prst="rect">
            <a:avLst/>
          </a:prstGeom>
          <a:noFill/>
          <a:ln>
            <a:noFill/>
          </a:ln>
          <a:effectLst/>
        </p:spPr>
        <p:txBody>
          <a:bodyPr wrap="none" lIns="0" tIns="0" rIns="0" bIns="0" anchor="ctr">
            <a:spAutoFit/>
          </a:bodyPr>
          <a:lstStyle/>
          <a:p>
            <a:pPr algn="ctr">
              <a:buNone/>
            </a:pPr>
            <a:r>
              <a:rPr sz="2200" b="1">
                <a:solidFill>
                  <a:srgbClr val="052C7E"/>
                </a:solidFill>
                <a:latin typeface="IPAexGothic"/>
                <a:ea typeface="IPAexGothic"/>
                <a:cs typeface="IPAexGothic"/>
              </a:rPr>
              <a:t>→</a:t>
            </a:r>
          </a:p>
        </p:txBody>
      </p:sp>
      <p:sp>
        <p:nvSpPr>
          <p:cNvPr id="55" name="Rectangle 54">
            <a:extLst>
              <a:ext uri="{FF2B5EF4-FFF2-40B4-BE49-F238E27FC236}">
                <a16:creationId xmlns:a16="http://schemas.microsoft.com/office/drawing/2014/main" id="{5A2DFDDB-9720-43E3-B90C-B7692779E914}"/>
              </a:ext>
            </a:extLst>
          </p:cNvPr>
          <p:cNvSpPr>
            <a:spLocks noGrp="1"/>
          </p:cNvSpPr>
          <p:nvPr/>
        </p:nvSpPr>
        <p:spPr>
          <a:xfrm>
            <a:off x="3446617" y="4467538"/>
            <a:ext cx="1137531" cy="1071334"/>
          </a:xfrm>
          <a:prstGeom prst="rect">
            <a:avLst/>
          </a:prstGeom>
          <a:solidFill>
            <a:srgbClr val="FFFFFF"/>
          </a:solidFill>
          <a:ln w="1397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36EE9F96-2710-48DA-B489-A9A52B90F10A}"/>
              </a:ext>
            </a:extLst>
          </p:cNvPr>
          <p:cNvSpPr>
            <a:spLocks noGrp="1"/>
          </p:cNvSpPr>
          <p:nvPr/>
        </p:nvSpPr>
        <p:spPr>
          <a:xfrm>
            <a:off x="3446617" y="4846514"/>
            <a:ext cx="1137531" cy="306095"/>
          </a:xfrm>
          <a:prstGeom prst="rect">
            <a:avLst/>
          </a:prstGeom>
          <a:noFill/>
          <a:ln>
            <a:noFill/>
          </a:ln>
          <a:effectLst/>
        </p:spPr>
        <p:txBody>
          <a:bodyPr wrap="none" lIns="0" tIns="0" rIns="0" bIns="0" anchor="ctr">
            <a:spAutoFit/>
          </a:bodyPr>
          <a:lstStyle/>
          <a:p>
            <a:pPr algn="ctr">
              <a:buNone/>
            </a:pPr>
            <a:r>
              <a:rPr sz="1400" b="1">
                <a:solidFill>
                  <a:srgbClr val="052C7E"/>
                </a:solidFill>
                <a:latin typeface="IPAexGothic"/>
                <a:ea typeface="IPAexGothic"/>
                <a:cs typeface="IPAexGothic"/>
              </a:rPr>
              <a:t>実行停止</a:t>
            </a:r>
          </a:p>
        </p:txBody>
      </p:sp>
      <p:sp>
        <p:nvSpPr>
          <p:cNvPr id="57" name="TextBox 56">
            <a:extLst>
              <a:ext uri="{FF2B5EF4-FFF2-40B4-BE49-F238E27FC236}">
                <a16:creationId xmlns:a16="http://schemas.microsoft.com/office/drawing/2014/main" id="{5ADA27A8-C9A7-45C0-8DEF-523890328AD9}"/>
              </a:ext>
            </a:extLst>
          </p:cNvPr>
          <p:cNvSpPr>
            <a:spLocks noGrp="1"/>
          </p:cNvSpPr>
          <p:nvPr/>
        </p:nvSpPr>
        <p:spPr>
          <a:xfrm>
            <a:off x="4671650" y="4868378"/>
            <a:ext cx="233339" cy="262367"/>
          </a:xfrm>
          <a:prstGeom prst="rect">
            <a:avLst/>
          </a:prstGeom>
          <a:noFill/>
          <a:ln>
            <a:noFill/>
          </a:ln>
          <a:effectLst/>
        </p:spPr>
        <p:txBody>
          <a:bodyPr wrap="none" lIns="0" tIns="0" rIns="0" bIns="0" anchor="ctr">
            <a:spAutoFit/>
          </a:bodyPr>
          <a:lstStyle/>
          <a:p>
            <a:pPr algn="ctr">
              <a:buNone/>
            </a:pPr>
            <a:r>
              <a:rPr sz="2200" b="1">
                <a:solidFill>
                  <a:srgbClr val="052C7E"/>
                </a:solidFill>
                <a:latin typeface="IPAexGothic"/>
                <a:ea typeface="IPAexGothic"/>
                <a:cs typeface="IPAexGothic"/>
              </a:rPr>
              <a:t>→</a:t>
            </a:r>
          </a:p>
        </p:txBody>
      </p:sp>
      <p:sp>
        <p:nvSpPr>
          <p:cNvPr id="58" name="Rectangle 57">
            <a:extLst>
              <a:ext uri="{FF2B5EF4-FFF2-40B4-BE49-F238E27FC236}">
                <a16:creationId xmlns:a16="http://schemas.microsoft.com/office/drawing/2014/main" id="{BB334E90-098A-4CF3-9563-105F6A0D54E3}"/>
              </a:ext>
            </a:extLst>
          </p:cNvPr>
          <p:cNvSpPr>
            <a:spLocks noGrp="1"/>
          </p:cNvSpPr>
          <p:nvPr/>
        </p:nvSpPr>
        <p:spPr>
          <a:xfrm>
            <a:off x="4934157" y="4467538"/>
            <a:ext cx="1137531" cy="1071334"/>
          </a:xfrm>
          <a:prstGeom prst="rect">
            <a:avLst/>
          </a:prstGeom>
          <a:solidFill>
            <a:srgbClr val="FFFFFF"/>
          </a:solidFill>
          <a:ln w="1397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EE27DD33-8B00-46B6-81FD-73FE0EF87EAC}"/>
              </a:ext>
            </a:extLst>
          </p:cNvPr>
          <p:cNvSpPr>
            <a:spLocks noGrp="1"/>
          </p:cNvSpPr>
          <p:nvPr/>
        </p:nvSpPr>
        <p:spPr>
          <a:xfrm>
            <a:off x="4934157" y="4846514"/>
            <a:ext cx="1137531" cy="306095"/>
          </a:xfrm>
          <a:prstGeom prst="rect">
            <a:avLst/>
          </a:prstGeom>
          <a:noFill/>
          <a:ln>
            <a:noFill/>
          </a:ln>
          <a:effectLst/>
        </p:spPr>
        <p:txBody>
          <a:bodyPr wrap="none" lIns="0" tIns="0" rIns="0" bIns="0" anchor="ctr">
            <a:spAutoFit/>
          </a:bodyPr>
          <a:lstStyle/>
          <a:p>
            <a:pPr algn="ctr">
              <a:buNone/>
            </a:pPr>
            <a:r>
              <a:rPr sz="1400" b="1">
                <a:solidFill>
                  <a:srgbClr val="052C7E"/>
                </a:solidFill>
                <a:latin typeface="IPAexGothic"/>
                <a:ea typeface="IPAexGothic"/>
                <a:cs typeface="IPAexGothic"/>
              </a:rPr>
              <a:t>正式請求</a:t>
            </a:r>
          </a:p>
        </p:txBody>
      </p:sp>
      <p:sp>
        <p:nvSpPr>
          <p:cNvPr id="60" name="Rectangle 59">
            <a:extLst>
              <a:ext uri="{FF2B5EF4-FFF2-40B4-BE49-F238E27FC236}">
                <a16:creationId xmlns:a16="http://schemas.microsoft.com/office/drawing/2014/main" id="{01C65F17-C2DE-46F6-AFE5-1C23A86BE7B0}"/>
              </a:ext>
            </a:extLst>
          </p:cNvPr>
          <p:cNvSpPr>
            <a:spLocks noGrp="1"/>
          </p:cNvSpPr>
          <p:nvPr/>
        </p:nvSpPr>
        <p:spPr>
          <a:xfrm>
            <a:off x="6497052" y="4438386"/>
            <a:ext cx="4812631" cy="1173366"/>
          </a:xfrm>
          <a:prstGeom prst="rect">
            <a:avLst/>
          </a:prstGeom>
          <a:solidFill>
            <a:srgbClr val="FFFFFF"/>
          </a:solidFill>
          <a:ln w="1270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D566BBFC-1F1E-4AC5-B4FC-E6E855956D56}"/>
              </a:ext>
            </a:extLst>
          </p:cNvPr>
          <p:cNvSpPr>
            <a:spLocks noGrp="1"/>
          </p:cNvSpPr>
          <p:nvPr/>
        </p:nvSpPr>
        <p:spPr>
          <a:xfrm>
            <a:off x="6635597" y="4511266"/>
            <a:ext cx="1093779" cy="174911"/>
          </a:xfrm>
          <a:prstGeom prst="rect">
            <a:avLst/>
          </a:prstGeom>
          <a:noFill/>
          <a:ln>
            <a:noFill/>
          </a:ln>
          <a:effectLst/>
        </p:spPr>
        <p:txBody>
          <a:bodyPr wrap="none" lIns="0" tIns="0" rIns="0" bIns="0" anchor="ctr">
            <a:spAutoFit/>
          </a:bodyPr>
          <a:lstStyle/>
          <a:p>
            <a:pPr algn="l">
              <a:buNone/>
            </a:pPr>
            <a:r>
              <a:rPr sz="1220" b="1">
                <a:solidFill>
                  <a:srgbClr val="052C7E"/>
                </a:solidFill>
                <a:latin typeface="IPAexGothic"/>
                <a:ea typeface="IPAexGothic"/>
                <a:cs typeface="IPAexGothic"/>
              </a:rPr>
              <a:t>注意点</a:t>
            </a:r>
          </a:p>
        </p:txBody>
      </p:sp>
      <p:sp>
        <p:nvSpPr>
          <p:cNvPr id="62" name="TextBox 61">
            <a:extLst>
              <a:ext uri="{FF2B5EF4-FFF2-40B4-BE49-F238E27FC236}">
                <a16:creationId xmlns:a16="http://schemas.microsoft.com/office/drawing/2014/main" id="{FAB98BAF-CE94-4FC6-8D79-BD11BEBE1F90}"/>
              </a:ext>
            </a:extLst>
          </p:cNvPr>
          <p:cNvSpPr>
            <a:spLocks noGrp="1"/>
          </p:cNvSpPr>
          <p:nvPr/>
        </p:nvSpPr>
        <p:spPr>
          <a:xfrm>
            <a:off x="6642889" y="4715330"/>
            <a:ext cx="4448038" cy="174911"/>
          </a:xfrm>
          <a:prstGeom prst="rect">
            <a:avLst/>
          </a:prstGeom>
          <a:noFill/>
          <a:ln>
            <a:noFill/>
          </a:ln>
          <a:effectLst/>
        </p:spPr>
        <p:txBody>
          <a:bodyPr wrap="none" lIns="0" tIns="0" rIns="0" bIns="0" anchor="ctr">
            <a:spAutoFit/>
          </a:bodyPr>
          <a:lstStyle/>
          <a:p>
            <a:pPr algn="l">
              <a:buNone/>
            </a:pPr>
            <a:r>
              <a:rPr sz="1040" b="0">
                <a:solidFill>
                  <a:srgbClr val="0C1220"/>
                </a:solidFill>
                <a:latin typeface="IPAexGothic"/>
                <a:ea typeface="IPAexGothic"/>
                <a:cs typeface="IPAexGothic"/>
              </a:rPr>
              <a:t>total_cost_usdはestimateとして扱う</a:t>
            </a:r>
          </a:p>
        </p:txBody>
      </p:sp>
      <p:sp>
        <p:nvSpPr>
          <p:cNvPr id="63" name="TextBox 62">
            <a:extLst>
              <a:ext uri="{FF2B5EF4-FFF2-40B4-BE49-F238E27FC236}">
                <a16:creationId xmlns:a16="http://schemas.microsoft.com/office/drawing/2014/main" id="{1A53091A-29BE-4441-B0F6-EF0F5DDC2200}"/>
              </a:ext>
            </a:extLst>
          </p:cNvPr>
          <p:cNvSpPr>
            <a:spLocks noGrp="1"/>
          </p:cNvSpPr>
          <p:nvPr/>
        </p:nvSpPr>
        <p:spPr>
          <a:xfrm>
            <a:off x="6642889" y="4926682"/>
            <a:ext cx="4448038" cy="174911"/>
          </a:xfrm>
          <a:prstGeom prst="rect">
            <a:avLst/>
          </a:prstGeom>
          <a:noFill/>
          <a:ln>
            <a:noFill/>
          </a:ln>
          <a:effectLst/>
        </p:spPr>
        <p:txBody>
          <a:bodyPr wrap="none" lIns="0" tIns="0" rIns="0" bIns="0" anchor="ctr">
            <a:spAutoFit/>
          </a:bodyPr>
          <a:lstStyle/>
          <a:p>
            <a:pPr algn="l">
              <a:buNone/>
            </a:pPr>
            <a:r>
              <a:rPr sz="1040" b="0">
                <a:solidFill>
                  <a:srgbClr val="0C1220"/>
                </a:solidFill>
                <a:latin typeface="IPAexGothic"/>
              </a:rPr>
              <a:t>max_budget_usdはAPI call後に判定される場合がある</a:t>
            </a:r>
          </a:p>
        </p:txBody>
      </p:sp>
      <p:sp>
        <p:nvSpPr>
          <p:cNvPr id="64" name="TextBox 63">
            <a:extLst>
              <a:ext uri="{FF2B5EF4-FFF2-40B4-BE49-F238E27FC236}">
                <a16:creationId xmlns:a16="http://schemas.microsoft.com/office/drawing/2014/main" id="{CDFC34F3-C3AC-40AE-A6EB-9E2B00C9E8A5}"/>
              </a:ext>
            </a:extLst>
          </p:cNvPr>
          <p:cNvSpPr>
            <a:spLocks noGrp="1"/>
          </p:cNvSpPr>
          <p:nvPr/>
        </p:nvSpPr>
        <p:spPr>
          <a:xfrm>
            <a:off x="6642889" y="5138034"/>
            <a:ext cx="4448038" cy="174911"/>
          </a:xfrm>
          <a:prstGeom prst="rect">
            <a:avLst/>
          </a:prstGeom>
          <a:noFill/>
          <a:ln>
            <a:noFill/>
          </a:ln>
          <a:effectLst/>
        </p:spPr>
        <p:txBody>
          <a:bodyPr wrap="none" lIns="0" tIns="0" rIns="0" bIns="0" anchor="ctr">
            <a:spAutoFit/>
          </a:bodyPr>
          <a:lstStyle/>
          <a:p>
            <a:pPr algn="l">
              <a:buNone/>
            </a:pPr>
            <a:r>
              <a:rPr sz="1040" b="0">
                <a:solidFill>
                  <a:srgbClr val="0C1220"/>
                </a:solidFill>
                <a:latin typeface="IPAexGothic"/>
                <a:ea typeface="IPAexGothic"/>
                <a:cs typeface="IPAexGothic"/>
              </a:rPr>
              <a:t>実CostがBudgetを少し超える可能性がある</a:t>
            </a:r>
          </a:p>
        </p:txBody>
      </p:sp>
      <p:sp>
        <p:nvSpPr>
          <p:cNvPr id="65" name="TextBox 64">
            <a:extLst>
              <a:ext uri="{FF2B5EF4-FFF2-40B4-BE49-F238E27FC236}">
                <a16:creationId xmlns:a16="http://schemas.microsoft.com/office/drawing/2014/main" id="{7001964C-2FD9-4127-A123-349AF8407FE5}"/>
              </a:ext>
            </a:extLst>
          </p:cNvPr>
          <p:cNvSpPr>
            <a:spLocks noGrp="1"/>
          </p:cNvSpPr>
          <p:nvPr/>
        </p:nvSpPr>
        <p:spPr>
          <a:xfrm>
            <a:off x="6642889" y="5349385"/>
            <a:ext cx="4448038" cy="174911"/>
          </a:xfrm>
          <a:prstGeom prst="rect">
            <a:avLst/>
          </a:prstGeom>
          <a:noFill/>
          <a:ln>
            <a:noFill/>
          </a:ln>
          <a:effectLst/>
        </p:spPr>
        <p:txBody>
          <a:bodyPr wrap="none" lIns="0" tIns="0" rIns="0" bIns="0" anchor="ctr">
            <a:spAutoFit/>
          </a:bodyPr>
          <a:lstStyle/>
          <a:p>
            <a:pPr algn="l">
              <a:buNone/>
            </a:pPr>
            <a:r>
              <a:rPr sz="1040" b="0">
                <a:solidFill>
                  <a:srgbClr val="0C1220"/>
                </a:solidFill>
                <a:latin typeface="IPAexGothic"/>
                <a:ea typeface="IPAexGothic"/>
                <a:cs typeface="IPAexGothic"/>
              </a:rPr>
              <a:t>Platform側のSpend LimitとSDK内Run制御を混同しない</a:t>
            </a:r>
          </a:p>
        </p:txBody>
      </p:sp>
      <p:sp>
        <p:nvSpPr>
          <p:cNvPr id="66" name="Rectangle 65">
            <a:extLst>
              <a:ext uri="{FF2B5EF4-FFF2-40B4-BE49-F238E27FC236}">
                <a16:creationId xmlns:a16="http://schemas.microsoft.com/office/drawing/2014/main" id="{253F9BB5-E19E-4C62-9A95-6B8ACFBE0DF3}"/>
              </a:ext>
            </a:extLst>
          </p:cNvPr>
          <p:cNvSpPr>
            <a:spLocks noGrp="1"/>
          </p:cNvSpPr>
          <p:nvPr/>
        </p:nvSpPr>
        <p:spPr>
          <a:xfrm>
            <a:off x="444803" y="5808529"/>
            <a:ext cx="10937798" cy="641343"/>
          </a:xfrm>
          <a:prstGeom prst="rect">
            <a:avLst/>
          </a:prstGeom>
          <a:solidFill>
            <a:srgbClr val="FFFFFF"/>
          </a:solidFill>
          <a:ln w="12700">
            <a:solidFill>
              <a:srgbClr val="364E9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Rectangle 66">
            <a:extLst>
              <a:ext uri="{FF2B5EF4-FFF2-40B4-BE49-F238E27FC236}">
                <a16:creationId xmlns:a16="http://schemas.microsoft.com/office/drawing/2014/main" id="{E3CD5FEE-2F5B-4A16-B3B8-46DC91FBBA19}"/>
              </a:ext>
            </a:extLst>
          </p:cNvPr>
          <p:cNvSpPr>
            <a:spLocks noGrp="1"/>
          </p:cNvSpPr>
          <p:nvPr/>
        </p:nvSpPr>
        <p:spPr>
          <a:xfrm>
            <a:off x="444803" y="5808529"/>
            <a:ext cx="1647961" cy="641343"/>
          </a:xfrm>
          <a:prstGeom prst="rect">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TextBox 67">
            <a:extLst>
              <a:ext uri="{FF2B5EF4-FFF2-40B4-BE49-F238E27FC236}">
                <a16:creationId xmlns:a16="http://schemas.microsoft.com/office/drawing/2014/main" id="{6EB08D6E-243B-4F8E-8631-11466DF71DEC}"/>
              </a:ext>
            </a:extLst>
          </p:cNvPr>
          <p:cNvSpPr>
            <a:spLocks noGrp="1"/>
          </p:cNvSpPr>
          <p:nvPr/>
        </p:nvSpPr>
        <p:spPr>
          <a:xfrm>
            <a:off x="619808" y="6012592"/>
            <a:ext cx="1268784" cy="233215"/>
          </a:xfrm>
          <a:prstGeom prst="rect">
            <a:avLst/>
          </a:prstGeom>
          <a:noFill/>
          <a:ln>
            <a:noFill/>
          </a:ln>
          <a:effectLst/>
        </p:spPr>
        <p:txBody>
          <a:bodyPr wrap="none" lIns="0" tIns="0" rIns="0" bIns="0" anchor="ctr">
            <a:spAutoFit/>
          </a:bodyPr>
          <a:lstStyle/>
          <a:p>
            <a:pPr algn="ctr">
              <a:buNone/>
            </a:pPr>
            <a:r>
              <a:rPr sz="1520" b="1">
                <a:solidFill>
                  <a:srgbClr val="0B3691"/>
                </a:solidFill>
                <a:latin typeface="IPAexGothic"/>
                <a:ea typeface="IPAexGothic"/>
                <a:cs typeface="IPAexGothic"/>
              </a:rPr>
              <a:t>違いのまとめ</a:t>
            </a:r>
          </a:p>
        </p:txBody>
      </p:sp>
      <p:sp>
        <p:nvSpPr>
          <p:cNvPr id="69" name="TextBox 68">
            <a:extLst>
              <a:ext uri="{FF2B5EF4-FFF2-40B4-BE49-F238E27FC236}">
                <a16:creationId xmlns:a16="http://schemas.microsoft.com/office/drawing/2014/main" id="{27BDDAB4-EE7C-4DA0-81CE-5CC3F1BCFE0B}"/>
              </a:ext>
            </a:extLst>
          </p:cNvPr>
          <p:cNvSpPr>
            <a:spLocks noGrp="1"/>
          </p:cNvSpPr>
          <p:nvPr/>
        </p:nvSpPr>
        <p:spPr>
          <a:xfrm>
            <a:off x="2377148" y="6005304"/>
            <a:ext cx="8604401" cy="233215"/>
          </a:xfrm>
          <a:prstGeom prst="rect">
            <a:avLst/>
          </a:prstGeom>
          <a:noFill/>
          <a:ln>
            <a:noFill/>
          </a:ln>
          <a:effectLst/>
        </p:spPr>
        <p:txBody>
          <a:bodyPr wrap="none" lIns="0" tIns="0" rIns="0" bIns="0" anchor="ctr">
            <a:spAutoFit/>
          </a:bodyPr>
          <a:lstStyle/>
          <a:p>
            <a:pPr algn="l">
              <a:buNone/>
            </a:pPr>
            <a:r>
              <a:rPr sz="850" b="0">
                <a:solidFill>
                  <a:srgbClr val="0C1220"/>
                </a:solidFill>
                <a:latin typeface="IPAexGothic"/>
              </a:rPr>
              <a:t>ClaudeはRun単位の推定Cost Budget指定を持つ一方，OpenAIはSDK Usageを基にApplication側でCost Policyを設計する必要がある．</a:t>
            </a:r>
          </a:p>
        </p:txBody>
      </p:sp>
      <p:sp>
        <p:nvSpPr>
          <p:cNvPr id="70" name="TextBox 69">
            <a:extLst>
              <a:ext uri="{FF2B5EF4-FFF2-40B4-BE49-F238E27FC236}">
                <a16:creationId xmlns:a16="http://schemas.microsoft.com/office/drawing/2014/main" id="{F9BC083F-B9BD-46E2-AE4A-45B05E605E95}"/>
              </a:ext>
            </a:extLst>
          </p:cNvPr>
          <p:cNvSpPr>
            <a:spLocks noGrp="1"/>
          </p:cNvSpPr>
          <p:nvPr/>
        </p:nvSpPr>
        <p:spPr>
          <a:xfrm>
            <a:off x="11491980" y="6486312"/>
            <a:ext cx="393760" cy="182199"/>
          </a:xfrm>
          <a:prstGeom prst="rect">
            <a:avLst/>
          </a:prstGeom>
          <a:noFill/>
          <a:ln>
            <a:noFill/>
          </a:ln>
          <a:effectLst/>
        </p:spPr>
        <p:txBody>
          <a:bodyPr wrap="none" lIns="0" tIns="0" rIns="0" bIns="0" anchor="ctr">
            <a:spAutoFit/>
          </a:bodyPr>
          <a:lstStyle/>
          <a:p>
            <a:pPr algn="ctr">
              <a:buNone/>
            </a:pPr>
            <a:r>
              <a:rPr sz="1340" b="1">
                <a:solidFill>
                  <a:srgbClr val="052C7E"/>
                </a:solidFill>
                <a:latin typeface="IPAexGothic"/>
                <a:ea typeface="IPAexGothic"/>
                <a:cs typeface="IPAexGothic"/>
              </a:rPr>
              <a:t>A10</a:t>
            </a:r>
          </a:p>
        </p:txBody>
      </p:sp>
    </p:spTree>
    <p:extLst>
      <p:ext uri="{BB962C8B-B14F-4D97-AF65-F5344CB8AC3E}">
        <p14:creationId xmlns:p14="http://schemas.microsoft.com/office/powerpoint/2010/main" val="886326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14DB7B-1588-4D6E-A0AB-88384FB6A8A8}"/>
              </a:ext>
            </a:extLst>
          </p:cNvPr>
          <p:cNvSpPr>
            <a:spLocks noGrp="1"/>
          </p:cNvSpPr>
          <p:nvPr/>
        </p:nvSpPr>
        <p:spPr>
          <a:xfrm>
            <a:off x="262507" y="160335"/>
            <a:ext cx="9625262" cy="400839"/>
          </a:xfrm>
          <a:prstGeom prst="rect">
            <a:avLst/>
          </a:prstGeom>
          <a:noFill/>
          <a:ln>
            <a:noFill/>
          </a:ln>
          <a:effectLst/>
        </p:spPr>
        <p:txBody>
          <a:bodyPr wrap="none" lIns="0" tIns="0" rIns="0" bIns="0" anchor="ctr">
            <a:spAutoFit/>
          </a:bodyPr>
          <a:lstStyle/>
          <a:p>
            <a:pPr algn="l">
              <a:buNone/>
            </a:pPr>
            <a:r>
              <a:rPr sz="2200" b="1">
                <a:solidFill>
                  <a:srgbClr val="052C7E"/>
                </a:solidFill>
                <a:latin typeface="IPAexGothic"/>
                <a:ea typeface="IPAexGothic"/>
                <a:cs typeface="IPAexGothic"/>
              </a:rPr>
              <a:t>Appendix A11． Sandbox・実行環境・Settings分離</a:t>
            </a:r>
          </a:p>
        </p:txBody>
      </p:sp>
      <p:sp>
        <p:nvSpPr>
          <p:cNvPr id="4" name="TextBox 3">
            <a:extLst>
              <a:ext uri="{FF2B5EF4-FFF2-40B4-BE49-F238E27FC236}">
                <a16:creationId xmlns:a16="http://schemas.microsoft.com/office/drawing/2014/main" id="{38D02667-E9E8-4634-872C-685ACEBEA1F8}"/>
              </a:ext>
            </a:extLst>
          </p:cNvPr>
          <p:cNvSpPr>
            <a:spLocks noGrp="1"/>
          </p:cNvSpPr>
          <p:nvPr/>
        </p:nvSpPr>
        <p:spPr>
          <a:xfrm>
            <a:off x="10952382" y="218639"/>
            <a:ext cx="875023" cy="204063"/>
          </a:xfrm>
          <a:prstGeom prst="rect">
            <a:avLst/>
          </a:prstGeom>
          <a:noFill/>
          <a:ln>
            <a:noFill/>
          </a:ln>
          <a:effectLst/>
        </p:spPr>
        <p:txBody>
          <a:bodyPr wrap="none" lIns="0" tIns="0" rIns="0" bIns="0" anchor="ctr">
            <a:spAutoFit/>
          </a:bodyPr>
          <a:lstStyle/>
          <a:p>
            <a:pPr algn="ctr">
              <a:buNone/>
            </a:pPr>
            <a:r>
              <a:rPr sz="1200" b="1">
                <a:solidFill>
                  <a:srgbClr val="052C7E"/>
                </a:solidFill>
                <a:latin typeface="IPAexGothic"/>
                <a:ea typeface="IPAexGothic"/>
                <a:cs typeface="IPAexGothic"/>
              </a:rPr>
              <a:t>実行環境</a:t>
            </a:r>
          </a:p>
        </p:txBody>
      </p:sp>
      <p:sp>
        <p:nvSpPr>
          <p:cNvPr id="5" name="Rectangle 4">
            <a:extLst>
              <a:ext uri="{FF2B5EF4-FFF2-40B4-BE49-F238E27FC236}">
                <a16:creationId xmlns:a16="http://schemas.microsoft.com/office/drawing/2014/main" id="{011A3CF6-EF3F-42CE-B5A8-CA7178B3F370}"/>
              </a:ext>
            </a:extLst>
          </p:cNvPr>
          <p:cNvSpPr>
            <a:spLocks noGrp="1"/>
          </p:cNvSpPr>
          <p:nvPr/>
        </p:nvSpPr>
        <p:spPr>
          <a:xfrm>
            <a:off x="247923" y="663207"/>
            <a:ext cx="823980" cy="51015"/>
          </a:xfrm>
          <a:prstGeom prst="rect">
            <a:avLst/>
          </a:prstGeom>
          <a:solidFill>
            <a:srgbClr val="1F54FF"/>
          </a:solidFill>
          <a:ln>
            <a:solidFill>
              <a:srgbClr val="1F54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BF7DC02-1E03-4C9D-A5EE-4A0A3E383746}"/>
              </a:ext>
            </a:extLst>
          </p:cNvPr>
          <p:cNvSpPr>
            <a:spLocks noGrp="1"/>
          </p:cNvSpPr>
          <p:nvPr/>
        </p:nvSpPr>
        <p:spPr>
          <a:xfrm>
            <a:off x="510430" y="962014"/>
            <a:ext cx="9916937" cy="451855"/>
          </a:xfrm>
          <a:prstGeom prst="rect">
            <a:avLst/>
          </a:prstGeom>
          <a:noFill/>
          <a:ln>
            <a:noFill/>
          </a:ln>
          <a:effectLst/>
        </p:spPr>
        <p:txBody>
          <a:bodyPr wrap="none" lIns="0" tIns="0" rIns="0" bIns="0" anchor="ctr">
            <a:spAutoFit/>
          </a:bodyPr>
          <a:lstStyle/>
          <a:p>
            <a:pPr algn="l">
              <a:buNone/>
            </a:pPr>
            <a:r>
              <a:rPr sz="1630" b="0">
                <a:solidFill>
                  <a:srgbClr val="0A1220"/>
                </a:solidFill>
                <a:latin typeface="IPAexGothic"/>
              </a:rPr>
              <a:t>Runtime Policyは，このActionを実行してよいかを判断する．一方，SandboxはAgentが到達できる</a:t>
            </a:r>
          </a:p>
          <a:p>
            <a:pPr algn="l"/>
            <a:r>
              <a:rPr sz="1630" b="0">
                <a:solidFill>
                  <a:srgbClr val="0A1220"/>
                </a:solidFill>
                <a:latin typeface="IPAexGothic"/>
              </a:rPr>
              <a:t>FilesystemやNetworkの範囲そのものを制限する．</a:t>
            </a:r>
          </a:p>
        </p:txBody>
      </p:sp>
      <p:sp>
        <p:nvSpPr>
          <p:cNvPr id="7" name="Rectangle 6">
            <a:extLst>
              <a:ext uri="{FF2B5EF4-FFF2-40B4-BE49-F238E27FC236}">
                <a16:creationId xmlns:a16="http://schemas.microsoft.com/office/drawing/2014/main" id="{EDA558A2-9C18-442D-A4DF-BC5ACCBB1098}"/>
              </a:ext>
            </a:extLst>
          </p:cNvPr>
          <p:cNvSpPr>
            <a:spLocks noGrp="1"/>
          </p:cNvSpPr>
          <p:nvPr/>
        </p:nvSpPr>
        <p:spPr>
          <a:xfrm>
            <a:off x="488555" y="1537766"/>
            <a:ext cx="11010717" cy="349823"/>
          </a:xfrm>
          <a:prstGeom prst="rect">
            <a:avLst/>
          </a:prstGeom>
          <a:solidFill>
            <a:srgbClr val="EEF2F7"/>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5C1832A-C0BE-4772-9820-8D2315C7DB2A}"/>
              </a:ext>
            </a:extLst>
          </p:cNvPr>
          <p:cNvSpPr>
            <a:spLocks noGrp="1"/>
          </p:cNvSpPr>
          <p:nvPr/>
        </p:nvSpPr>
        <p:spPr>
          <a:xfrm>
            <a:off x="488555" y="1537766"/>
            <a:ext cx="4083444" cy="349823"/>
          </a:xfrm>
          <a:prstGeom prst="rect">
            <a:avLst/>
          </a:prstGeom>
          <a:noFill/>
          <a:ln>
            <a:noFill/>
          </a:ln>
          <a:effectLst/>
        </p:spPr>
        <p:txBody>
          <a:bodyPr wrap="none" lIns="0" tIns="0" rIns="0" bIns="0" anchor="ctr">
            <a:spAutoFit/>
          </a:bodyPr>
          <a:lstStyle/>
          <a:p>
            <a:pPr algn="ctr">
              <a:buNone/>
            </a:pPr>
            <a:r>
              <a:rPr sz="1500" b="1">
                <a:solidFill>
                  <a:srgbClr val="0B3691"/>
                </a:solidFill>
                <a:latin typeface="IPAexGothic"/>
                <a:ea typeface="IPAexGothic"/>
                <a:cs typeface="IPAexGothic"/>
              </a:rPr>
              <a:t>観点</a:t>
            </a:r>
          </a:p>
        </p:txBody>
      </p:sp>
      <p:sp>
        <p:nvSpPr>
          <p:cNvPr id="9" name="TextBox 8">
            <a:extLst>
              <a:ext uri="{FF2B5EF4-FFF2-40B4-BE49-F238E27FC236}">
                <a16:creationId xmlns:a16="http://schemas.microsoft.com/office/drawing/2014/main" id="{6E4A60AC-B924-413B-A2A0-AA80AFA44522}"/>
              </a:ext>
            </a:extLst>
          </p:cNvPr>
          <p:cNvSpPr>
            <a:spLocks noGrp="1"/>
          </p:cNvSpPr>
          <p:nvPr/>
        </p:nvSpPr>
        <p:spPr>
          <a:xfrm>
            <a:off x="4571999" y="1537766"/>
            <a:ext cx="3427176" cy="349823"/>
          </a:xfrm>
          <a:prstGeom prst="rect">
            <a:avLst/>
          </a:prstGeom>
          <a:noFill/>
          <a:ln>
            <a:noFill/>
          </a:ln>
          <a:effectLst/>
        </p:spPr>
        <p:txBody>
          <a:bodyPr wrap="none" lIns="0" tIns="0" rIns="0" bIns="0" anchor="ctr">
            <a:spAutoFit/>
          </a:bodyPr>
          <a:lstStyle/>
          <a:p>
            <a:pPr algn="ctr">
              <a:buNone/>
            </a:pPr>
            <a:r>
              <a:rPr sz="1500" b="1">
                <a:solidFill>
                  <a:srgbClr val="0B3691"/>
                </a:solidFill>
                <a:latin typeface="IPAexGothic"/>
                <a:ea typeface="IPAexGothic"/>
                <a:cs typeface="IPAexGothic"/>
              </a:rPr>
              <a:t>OpenAI Agents SDK</a:t>
            </a:r>
          </a:p>
        </p:txBody>
      </p:sp>
      <p:sp>
        <p:nvSpPr>
          <p:cNvPr id="10" name="TextBox 9">
            <a:extLst>
              <a:ext uri="{FF2B5EF4-FFF2-40B4-BE49-F238E27FC236}">
                <a16:creationId xmlns:a16="http://schemas.microsoft.com/office/drawing/2014/main" id="{22543B57-E634-4FD6-83F8-7510DF34D37D}"/>
              </a:ext>
            </a:extLst>
          </p:cNvPr>
          <p:cNvSpPr>
            <a:spLocks noGrp="1"/>
          </p:cNvSpPr>
          <p:nvPr/>
        </p:nvSpPr>
        <p:spPr>
          <a:xfrm>
            <a:off x="7999176" y="1537766"/>
            <a:ext cx="3500095" cy="349823"/>
          </a:xfrm>
          <a:prstGeom prst="rect">
            <a:avLst/>
          </a:prstGeom>
          <a:noFill/>
          <a:ln>
            <a:noFill/>
          </a:ln>
          <a:effectLst/>
        </p:spPr>
        <p:txBody>
          <a:bodyPr wrap="none" lIns="0" tIns="0" rIns="0" bIns="0" anchor="ctr">
            <a:spAutoFit/>
          </a:bodyPr>
          <a:lstStyle/>
          <a:p>
            <a:pPr algn="ctr">
              <a:buNone/>
            </a:pPr>
            <a:r>
              <a:rPr sz="1500" b="1">
                <a:solidFill>
                  <a:srgbClr val="0B3691"/>
                </a:solidFill>
                <a:latin typeface="IPAexGothic"/>
                <a:ea typeface="IPAexGothic"/>
                <a:cs typeface="IPAexGothic"/>
              </a:rPr>
              <a:t>Claude Agent SDK</a:t>
            </a:r>
          </a:p>
        </p:txBody>
      </p:sp>
      <p:sp>
        <p:nvSpPr>
          <p:cNvPr id="11" name="Rectangle 10">
            <a:extLst>
              <a:ext uri="{FF2B5EF4-FFF2-40B4-BE49-F238E27FC236}">
                <a16:creationId xmlns:a16="http://schemas.microsoft.com/office/drawing/2014/main" id="{EF97EF9B-EE29-45D5-8790-910AF60EA574}"/>
              </a:ext>
            </a:extLst>
          </p:cNvPr>
          <p:cNvSpPr>
            <a:spLocks noGrp="1"/>
          </p:cNvSpPr>
          <p:nvPr/>
        </p:nvSpPr>
        <p:spPr>
          <a:xfrm>
            <a:off x="488555" y="1887589"/>
            <a:ext cx="4083444"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A260DB3E-FFAC-4EFD-9906-36DE68E78DA6}"/>
              </a:ext>
            </a:extLst>
          </p:cNvPr>
          <p:cNvSpPr>
            <a:spLocks noGrp="1"/>
          </p:cNvSpPr>
          <p:nvPr/>
        </p:nvSpPr>
        <p:spPr>
          <a:xfrm>
            <a:off x="4571999" y="1887589"/>
            <a:ext cx="3427176"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2BA74887-A958-4BB6-9686-6EF676A65480}"/>
              </a:ext>
            </a:extLst>
          </p:cNvPr>
          <p:cNvSpPr>
            <a:spLocks noGrp="1"/>
          </p:cNvSpPr>
          <p:nvPr/>
        </p:nvSpPr>
        <p:spPr>
          <a:xfrm>
            <a:off x="7999176" y="1887589"/>
            <a:ext cx="3500095"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5091C8EA-267F-4024-96C1-81799F2EB294}"/>
              </a:ext>
            </a:extLst>
          </p:cNvPr>
          <p:cNvSpPr>
            <a:spLocks noGrp="1"/>
          </p:cNvSpPr>
          <p:nvPr/>
        </p:nvSpPr>
        <p:spPr>
          <a:xfrm>
            <a:off x="634392" y="1924029"/>
            <a:ext cx="3828229" cy="298807"/>
          </a:xfrm>
          <a:prstGeom prst="rect">
            <a:avLst/>
          </a:prstGeom>
          <a:noFill/>
          <a:ln>
            <a:noFill/>
          </a:ln>
          <a:effectLst/>
        </p:spPr>
        <p:txBody>
          <a:bodyPr wrap="none" lIns="0" tIns="0" rIns="0" bIns="0" anchor="ctr">
            <a:spAutoFit/>
          </a:bodyPr>
          <a:lstStyle/>
          <a:p>
            <a:pPr algn="l">
              <a:buNone/>
            </a:pPr>
            <a:r>
              <a:rPr sz="1300" b="1">
                <a:solidFill>
                  <a:srgbClr val="0A1220"/>
                </a:solidFill>
                <a:latin typeface="IPAexGothic"/>
              </a:rPr>
              <a:t>Sandbox：Sandbox Agents（Beta）／SandboxSettings</a:t>
            </a:r>
          </a:p>
        </p:txBody>
      </p:sp>
      <p:sp>
        <p:nvSpPr>
          <p:cNvPr id="15" name="TextBox 14">
            <a:extLst>
              <a:ext uri="{FF2B5EF4-FFF2-40B4-BE49-F238E27FC236}">
                <a16:creationId xmlns:a16="http://schemas.microsoft.com/office/drawing/2014/main" id="{E7C8C05D-D5AD-4888-9F1E-11B36FD60784}"/>
              </a:ext>
            </a:extLst>
          </p:cNvPr>
          <p:cNvSpPr>
            <a:spLocks noGrp="1"/>
          </p:cNvSpPr>
          <p:nvPr/>
        </p:nvSpPr>
        <p:spPr>
          <a:xfrm>
            <a:off x="5024095" y="1924029"/>
            <a:ext cx="2916746"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Sandbox Agents</a:t>
            </a:r>
          </a:p>
        </p:txBody>
      </p:sp>
      <p:sp>
        <p:nvSpPr>
          <p:cNvPr id="16" name="TextBox 15">
            <a:extLst>
              <a:ext uri="{FF2B5EF4-FFF2-40B4-BE49-F238E27FC236}">
                <a16:creationId xmlns:a16="http://schemas.microsoft.com/office/drawing/2014/main" id="{807DCB97-9EB4-4A67-97C9-0795D5DD9F7A}"/>
              </a:ext>
            </a:extLst>
          </p:cNvPr>
          <p:cNvSpPr>
            <a:spLocks noGrp="1"/>
          </p:cNvSpPr>
          <p:nvPr/>
        </p:nvSpPr>
        <p:spPr>
          <a:xfrm>
            <a:off x="8451272" y="1924029"/>
            <a:ext cx="2989664"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SandboxSettings</a:t>
            </a:r>
          </a:p>
        </p:txBody>
      </p:sp>
      <p:sp>
        <p:nvSpPr>
          <p:cNvPr id="17" name="Rectangle 16">
            <a:extLst>
              <a:ext uri="{FF2B5EF4-FFF2-40B4-BE49-F238E27FC236}">
                <a16:creationId xmlns:a16="http://schemas.microsoft.com/office/drawing/2014/main" id="{89388779-C2E7-4730-888B-0FCAED513D46}"/>
              </a:ext>
            </a:extLst>
          </p:cNvPr>
          <p:cNvSpPr>
            <a:spLocks noGrp="1"/>
          </p:cNvSpPr>
          <p:nvPr/>
        </p:nvSpPr>
        <p:spPr>
          <a:xfrm>
            <a:off x="488555" y="2259277"/>
            <a:ext cx="4083444"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7D9A415E-E596-47D0-A193-C17A11DC266E}"/>
              </a:ext>
            </a:extLst>
          </p:cNvPr>
          <p:cNvSpPr>
            <a:spLocks noGrp="1"/>
          </p:cNvSpPr>
          <p:nvPr/>
        </p:nvSpPr>
        <p:spPr>
          <a:xfrm>
            <a:off x="4571999" y="2259277"/>
            <a:ext cx="3427176"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7A13D741-008F-4407-AEA2-FBCD284B91AF}"/>
              </a:ext>
            </a:extLst>
          </p:cNvPr>
          <p:cNvSpPr>
            <a:spLocks noGrp="1"/>
          </p:cNvSpPr>
          <p:nvPr/>
        </p:nvSpPr>
        <p:spPr>
          <a:xfrm>
            <a:off x="7999176" y="2259277"/>
            <a:ext cx="3500095"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AF66CB5-69BA-4184-A645-F81453156817}"/>
              </a:ext>
            </a:extLst>
          </p:cNvPr>
          <p:cNvSpPr>
            <a:spLocks noGrp="1"/>
          </p:cNvSpPr>
          <p:nvPr/>
        </p:nvSpPr>
        <p:spPr>
          <a:xfrm>
            <a:off x="634392" y="2295717"/>
            <a:ext cx="3828229" cy="298807"/>
          </a:xfrm>
          <a:prstGeom prst="rect">
            <a:avLst/>
          </a:prstGeom>
          <a:noFill/>
          <a:ln>
            <a:noFill/>
          </a:ln>
          <a:effectLst/>
        </p:spPr>
        <p:txBody>
          <a:bodyPr wrap="none" lIns="0" tIns="0" rIns="0" bIns="0" anchor="ctr">
            <a:spAutoFit/>
          </a:bodyPr>
          <a:lstStyle/>
          <a:p>
            <a:pPr algn="l">
              <a:buNone/>
            </a:pPr>
            <a:r>
              <a:rPr sz="1270" b="1">
                <a:solidFill>
                  <a:srgbClr val="0A1220"/>
                </a:solidFill>
                <a:latin typeface="IPAexGothic"/>
                <a:ea typeface="IPAexGothic"/>
                <a:cs typeface="IPAexGothic"/>
              </a:rPr>
              <a:t>Filesystem制御</a:t>
            </a:r>
          </a:p>
        </p:txBody>
      </p:sp>
      <p:sp>
        <p:nvSpPr>
          <p:cNvPr id="21" name="TextBox 20">
            <a:extLst>
              <a:ext uri="{FF2B5EF4-FFF2-40B4-BE49-F238E27FC236}">
                <a16:creationId xmlns:a16="http://schemas.microsoft.com/office/drawing/2014/main" id="{84D4643D-B7CA-4342-931E-AB66BDFF16D6}"/>
              </a:ext>
            </a:extLst>
          </p:cNvPr>
          <p:cNvSpPr>
            <a:spLocks noGrp="1"/>
          </p:cNvSpPr>
          <p:nvPr/>
        </p:nvSpPr>
        <p:spPr>
          <a:xfrm>
            <a:off x="5024095" y="2295717"/>
            <a:ext cx="2916746"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rPr>
              <a:t>Sandbox Agentsや実行環境側で制限</a:t>
            </a:r>
          </a:p>
        </p:txBody>
      </p:sp>
      <p:sp>
        <p:nvSpPr>
          <p:cNvPr id="22" name="TextBox 21">
            <a:extLst>
              <a:ext uri="{FF2B5EF4-FFF2-40B4-BE49-F238E27FC236}">
                <a16:creationId xmlns:a16="http://schemas.microsoft.com/office/drawing/2014/main" id="{AAEABE2C-1D71-44CD-B77B-B2247A20B44C}"/>
              </a:ext>
            </a:extLst>
          </p:cNvPr>
          <p:cNvSpPr>
            <a:spLocks noGrp="1"/>
          </p:cNvSpPr>
          <p:nvPr/>
        </p:nvSpPr>
        <p:spPr>
          <a:xfrm>
            <a:off x="8451272" y="2295717"/>
            <a:ext cx="2989664"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Sandbox，Permissionと併用</a:t>
            </a:r>
          </a:p>
        </p:txBody>
      </p:sp>
      <p:sp>
        <p:nvSpPr>
          <p:cNvPr id="23" name="Rectangle 22">
            <a:extLst>
              <a:ext uri="{FF2B5EF4-FFF2-40B4-BE49-F238E27FC236}">
                <a16:creationId xmlns:a16="http://schemas.microsoft.com/office/drawing/2014/main" id="{2127BB6D-2510-46E6-AC1B-96EC200BDFB1}"/>
              </a:ext>
            </a:extLst>
          </p:cNvPr>
          <p:cNvSpPr>
            <a:spLocks noGrp="1"/>
          </p:cNvSpPr>
          <p:nvPr/>
        </p:nvSpPr>
        <p:spPr>
          <a:xfrm>
            <a:off x="488555" y="2630964"/>
            <a:ext cx="4083444"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AC0DB6A7-E29B-4368-8AC6-FA5DDAAE00C7}"/>
              </a:ext>
            </a:extLst>
          </p:cNvPr>
          <p:cNvSpPr>
            <a:spLocks noGrp="1"/>
          </p:cNvSpPr>
          <p:nvPr/>
        </p:nvSpPr>
        <p:spPr>
          <a:xfrm>
            <a:off x="4571999" y="2630964"/>
            <a:ext cx="3427176"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D6A77DCB-07D6-47D2-A197-AE9A2D3C3039}"/>
              </a:ext>
            </a:extLst>
          </p:cNvPr>
          <p:cNvSpPr>
            <a:spLocks noGrp="1"/>
          </p:cNvSpPr>
          <p:nvPr/>
        </p:nvSpPr>
        <p:spPr>
          <a:xfrm>
            <a:off x="7999176" y="2630964"/>
            <a:ext cx="3500095"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0577A4B4-E043-4768-B535-9EDA85A349A0}"/>
              </a:ext>
            </a:extLst>
          </p:cNvPr>
          <p:cNvSpPr>
            <a:spLocks noGrp="1"/>
          </p:cNvSpPr>
          <p:nvPr/>
        </p:nvSpPr>
        <p:spPr>
          <a:xfrm>
            <a:off x="634392" y="2667404"/>
            <a:ext cx="3828229" cy="298807"/>
          </a:xfrm>
          <a:prstGeom prst="rect">
            <a:avLst/>
          </a:prstGeom>
          <a:noFill/>
          <a:ln>
            <a:noFill/>
          </a:ln>
          <a:effectLst/>
        </p:spPr>
        <p:txBody>
          <a:bodyPr wrap="none" lIns="0" tIns="0" rIns="0" bIns="0" anchor="ctr">
            <a:spAutoFit/>
          </a:bodyPr>
          <a:lstStyle/>
          <a:p>
            <a:pPr algn="l">
              <a:buNone/>
            </a:pPr>
            <a:r>
              <a:rPr sz="1270" b="1">
                <a:solidFill>
                  <a:srgbClr val="0A1220"/>
                </a:solidFill>
                <a:latin typeface="IPAexGothic"/>
                <a:ea typeface="IPAexGothic"/>
                <a:cs typeface="IPAexGothic"/>
              </a:rPr>
              <a:t>Network制御</a:t>
            </a:r>
          </a:p>
        </p:txBody>
      </p:sp>
      <p:sp>
        <p:nvSpPr>
          <p:cNvPr id="27" name="TextBox 26">
            <a:extLst>
              <a:ext uri="{FF2B5EF4-FFF2-40B4-BE49-F238E27FC236}">
                <a16:creationId xmlns:a16="http://schemas.microsoft.com/office/drawing/2014/main" id="{2B1E6EED-2FD4-4206-A440-F9C1D6E61202}"/>
              </a:ext>
            </a:extLst>
          </p:cNvPr>
          <p:cNvSpPr>
            <a:spLocks noGrp="1"/>
          </p:cNvSpPr>
          <p:nvPr/>
        </p:nvSpPr>
        <p:spPr>
          <a:xfrm>
            <a:off x="5024095" y="2667404"/>
            <a:ext cx="2916746"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rPr>
              <a:t>Sandbox Agents，Docker設定等</a:t>
            </a:r>
          </a:p>
        </p:txBody>
      </p:sp>
      <p:sp>
        <p:nvSpPr>
          <p:cNvPr id="28" name="TextBox 27">
            <a:extLst>
              <a:ext uri="{FF2B5EF4-FFF2-40B4-BE49-F238E27FC236}">
                <a16:creationId xmlns:a16="http://schemas.microsoft.com/office/drawing/2014/main" id="{99DAB100-E7B0-4286-B568-B7CF6B94E237}"/>
              </a:ext>
            </a:extLst>
          </p:cNvPr>
          <p:cNvSpPr>
            <a:spLocks noGrp="1"/>
          </p:cNvSpPr>
          <p:nvPr/>
        </p:nvSpPr>
        <p:spPr>
          <a:xfrm>
            <a:off x="8451272" y="2667404"/>
            <a:ext cx="2989664"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Sandbox Network Settings等</a:t>
            </a:r>
          </a:p>
        </p:txBody>
      </p:sp>
      <p:sp>
        <p:nvSpPr>
          <p:cNvPr id="29" name="Rectangle 28">
            <a:extLst>
              <a:ext uri="{FF2B5EF4-FFF2-40B4-BE49-F238E27FC236}">
                <a16:creationId xmlns:a16="http://schemas.microsoft.com/office/drawing/2014/main" id="{22A2782D-8A67-4B5C-96D6-C1735847FDD0}"/>
              </a:ext>
            </a:extLst>
          </p:cNvPr>
          <p:cNvSpPr>
            <a:spLocks noGrp="1"/>
          </p:cNvSpPr>
          <p:nvPr/>
        </p:nvSpPr>
        <p:spPr>
          <a:xfrm>
            <a:off x="488555" y="3002652"/>
            <a:ext cx="4083444"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2261757E-1164-48F8-9AB6-3134EF078ACF}"/>
              </a:ext>
            </a:extLst>
          </p:cNvPr>
          <p:cNvSpPr>
            <a:spLocks noGrp="1"/>
          </p:cNvSpPr>
          <p:nvPr/>
        </p:nvSpPr>
        <p:spPr>
          <a:xfrm>
            <a:off x="4571999" y="3002652"/>
            <a:ext cx="3427176"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BA91ECBA-5670-4004-8853-333E7E41537C}"/>
              </a:ext>
            </a:extLst>
          </p:cNvPr>
          <p:cNvSpPr>
            <a:spLocks noGrp="1"/>
          </p:cNvSpPr>
          <p:nvPr/>
        </p:nvSpPr>
        <p:spPr>
          <a:xfrm>
            <a:off x="7999176" y="3002652"/>
            <a:ext cx="3500095"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D33FA30-445C-44CD-8086-A500260B3913}"/>
              </a:ext>
            </a:extLst>
          </p:cNvPr>
          <p:cNvSpPr>
            <a:spLocks noGrp="1"/>
          </p:cNvSpPr>
          <p:nvPr/>
        </p:nvSpPr>
        <p:spPr>
          <a:xfrm>
            <a:off x="634392" y="3039092"/>
            <a:ext cx="3828229" cy="298807"/>
          </a:xfrm>
          <a:prstGeom prst="rect">
            <a:avLst/>
          </a:prstGeom>
          <a:noFill/>
          <a:ln>
            <a:noFill/>
          </a:ln>
          <a:effectLst/>
        </p:spPr>
        <p:txBody>
          <a:bodyPr wrap="none" lIns="0" tIns="0" rIns="0" bIns="0" anchor="ctr">
            <a:spAutoFit/>
          </a:bodyPr>
          <a:lstStyle/>
          <a:p>
            <a:pPr algn="l">
              <a:buNone/>
            </a:pPr>
            <a:r>
              <a:rPr sz="1270" b="1">
                <a:solidFill>
                  <a:srgbClr val="0A1220"/>
                </a:solidFill>
                <a:latin typeface="IPAexGothic"/>
                <a:ea typeface="IPAexGothic"/>
                <a:cs typeface="IPAexGothic"/>
              </a:rPr>
              <a:t>Runtime Policy</a:t>
            </a:r>
          </a:p>
        </p:txBody>
      </p:sp>
      <p:sp>
        <p:nvSpPr>
          <p:cNvPr id="33" name="TextBox 32">
            <a:extLst>
              <a:ext uri="{FF2B5EF4-FFF2-40B4-BE49-F238E27FC236}">
                <a16:creationId xmlns:a16="http://schemas.microsoft.com/office/drawing/2014/main" id="{8A7F0F7C-8404-4A35-8677-E244F64BE6BC}"/>
              </a:ext>
            </a:extLst>
          </p:cNvPr>
          <p:cNvSpPr>
            <a:spLocks noGrp="1"/>
          </p:cNvSpPr>
          <p:nvPr/>
        </p:nvSpPr>
        <p:spPr>
          <a:xfrm>
            <a:off x="5024095" y="3039092"/>
            <a:ext cx="2916746"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Guardrail，Approval</a:t>
            </a:r>
          </a:p>
        </p:txBody>
      </p:sp>
      <p:sp>
        <p:nvSpPr>
          <p:cNvPr id="34" name="TextBox 33">
            <a:extLst>
              <a:ext uri="{FF2B5EF4-FFF2-40B4-BE49-F238E27FC236}">
                <a16:creationId xmlns:a16="http://schemas.microsoft.com/office/drawing/2014/main" id="{1FC76261-F7AF-4758-A527-CBAAED007507}"/>
              </a:ext>
            </a:extLst>
          </p:cNvPr>
          <p:cNvSpPr>
            <a:spLocks noGrp="1"/>
          </p:cNvSpPr>
          <p:nvPr/>
        </p:nvSpPr>
        <p:spPr>
          <a:xfrm>
            <a:off x="8451272" y="3039092"/>
            <a:ext cx="2989664"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Permission，Hooks</a:t>
            </a:r>
          </a:p>
        </p:txBody>
      </p:sp>
      <p:sp>
        <p:nvSpPr>
          <p:cNvPr id="35" name="Rectangle 34">
            <a:extLst>
              <a:ext uri="{FF2B5EF4-FFF2-40B4-BE49-F238E27FC236}">
                <a16:creationId xmlns:a16="http://schemas.microsoft.com/office/drawing/2014/main" id="{52CA32A7-A4A3-422E-819A-E5DE466955B4}"/>
              </a:ext>
            </a:extLst>
          </p:cNvPr>
          <p:cNvSpPr>
            <a:spLocks noGrp="1"/>
          </p:cNvSpPr>
          <p:nvPr/>
        </p:nvSpPr>
        <p:spPr>
          <a:xfrm>
            <a:off x="488555" y="3374340"/>
            <a:ext cx="4083444"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ctangle 35">
            <a:extLst>
              <a:ext uri="{FF2B5EF4-FFF2-40B4-BE49-F238E27FC236}">
                <a16:creationId xmlns:a16="http://schemas.microsoft.com/office/drawing/2014/main" id="{3EDE7CE1-AA16-4DB0-8397-4CAA06E1BAC4}"/>
              </a:ext>
            </a:extLst>
          </p:cNvPr>
          <p:cNvSpPr>
            <a:spLocks noGrp="1"/>
          </p:cNvSpPr>
          <p:nvPr/>
        </p:nvSpPr>
        <p:spPr>
          <a:xfrm>
            <a:off x="4571999" y="3374340"/>
            <a:ext cx="3427176"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A683FCD4-87A7-493C-8BBA-751887CA9EA9}"/>
              </a:ext>
            </a:extLst>
          </p:cNvPr>
          <p:cNvSpPr>
            <a:spLocks noGrp="1"/>
          </p:cNvSpPr>
          <p:nvPr/>
        </p:nvSpPr>
        <p:spPr>
          <a:xfrm>
            <a:off x="7999176" y="3374340"/>
            <a:ext cx="3500095" cy="371687"/>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381B80E3-2B55-4A8C-B43C-283EC8725A70}"/>
              </a:ext>
            </a:extLst>
          </p:cNvPr>
          <p:cNvSpPr>
            <a:spLocks noGrp="1"/>
          </p:cNvSpPr>
          <p:nvPr/>
        </p:nvSpPr>
        <p:spPr>
          <a:xfrm>
            <a:off x="634392" y="3410780"/>
            <a:ext cx="3828229" cy="298807"/>
          </a:xfrm>
          <a:prstGeom prst="rect">
            <a:avLst/>
          </a:prstGeom>
          <a:noFill/>
          <a:ln>
            <a:noFill/>
          </a:ln>
          <a:effectLst/>
        </p:spPr>
        <p:txBody>
          <a:bodyPr wrap="none" lIns="0" tIns="0" rIns="0" bIns="0" anchor="ctr">
            <a:spAutoFit/>
          </a:bodyPr>
          <a:lstStyle/>
          <a:p>
            <a:pPr algn="l">
              <a:buNone/>
            </a:pPr>
            <a:r>
              <a:rPr sz="1270" b="1">
                <a:solidFill>
                  <a:srgbClr val="0A1220"/>
                </a:solidFill>
                <a:latin typeface="IPAexGothic"/>
                <a:ea typeface="IPAexGothic"/>
                <a:cs typeface="IPAexGothic"/>
              </a:rPr>
              <a:t>設定分離</a:t>
            </a:r>
          </a:p>
        </p:txBody>
      </p:sp>
      <p:sp>
        <p:nvSpPr>
          <p:cNvPr id="39" name="TextBox 38">
            <a:extLst>
              <a:ext uri="{FF2B5EF4-FFF2-40B4-BE49-F238E27FC236}">
                <a16:creationId xmlns:a16="http://schemas.microsoft.com/office/drawing/2014/main" id="{F76C3120-1A1E-49A5-B006-39AF2E7DADCB}"/>
              </a:ext>
            </a:extLst>
          </p:cNvPr>
          <p:cNvSpPr>
            <a:spLocks noGrp="1"/>
          </p:cNvSpPr>
          <p:nvPr/>
        </p:nvSpPr>
        <p:spPr>
          <a:xfrm>
            <a:off x="5024095" y="3410780"/>
            <a:ext cx="2916746"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Application構成で管理</a:t>
            </a:r>
          </a:p>
        </p:txBody>
      </p:sp>
      <p:sp>
        <p:nvSpPr>
          <p:cNvPr id="40" name="TextBox 39">
            <a:extLst>
              <a:ext uri="{FF2B5EF4-FFF2-40B4-BE49-F238E27FC236}">
                <a16:creationId xmlns:a16="http://schemas.microsoft.com/office/drawing/2014/main" id="{1F9158AB-1D26-4E11-A178-BCC11568219D}"/>
              </a:ext>
            </a:extLst>
          </p:cNvPr>
          <p:cNvSpPr>
            <a:spLocks noGrp="1"/>
          </p:cNvSpPr>
          <p:nvPr/>
        </p:nvSpPr>
        <p:spPr>
          <a:xfrm>
            <a:off x="8451272" y="3410780"/>
            <a:ext cx="2989664" cy="298807"/>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setting_sources</a:t>
            </a:r>
          </a:p>
        </p:txBody>
      </p:sp>
      <p:sp>
        <p:nvSpPr>
          <p:cNvPr id="41" name="Rectangle 40">
            <a:extLst>
              <a:ext uri="{FF2B5EF4-FFF2-40B4-BE49-F238E27FC236}">
                <a16:creationId xmlns:a16="http://schemas.microsoft.com/office/drawing/2014/main" id="{259FD469-4019-4450-85B3-BE661E9790A4}"/>
              </a:ext>
            </a:extLst>
          </p:cNvPr>
          <p:cNvSpPr>
            <a:spLocks noGrp="1"/>
          </p:cNvSpPr>
          <p:nvPr/>
        </p:nvSpPr>
        <p:spPr>
          <a:xfrm>
            <a:off x="488555" y="3746027"/>
            <a:ext cx="4083444" cy="386263"/>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27880096-8A6C-4565-8AAB-C97041B001B4}"/>
              </a:ext>
            </a:extLst>
          </p:cNvPr>
          <p:cNvSpPr>
            <a:spLocks noGrp="1"/>
          </p:cNvSpPr>
          <p:nvPr/>
        </p:nvSpPr>
        <p:spPr>
          <a:xfrm>
            <a:off x="4571999" y="3746027"/>
            <a:ext cx="3427176" cy="386263"/>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04FE1979-642C-47A2-BECC-E12BAA9E61E3}"/>
              </a:ext>
            </a:extLst>
          </p:cNvPr>
          <p:cNvSpPr>
            <a:spLocks noGrp="1"/>
          </p:cNvSpPr>
          <p:nvPr/>
        </p:nvSpPr>
        <p:spPr>
          <a:xfrm>
            <a:off x="7999176" y="3746027"/>
            <a:ext cx="3500095" cy="386263"/>
          </a:xfrm>
          <a:prstGeom prst="rect">
            <a:avLst/>
          </a:prstGeom>
          <a:solidFill>
            <a:srgbClr val="FFFFFF"/>
          </a:solidFill>
          <a:ln w="1016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C2DCED-B2F5-425F-9E59-873FCD85444B}"/>
              </a:ext>
            </a:extLst>
          </p:cNvPr>
          <p:cNvSpPr>
            <a:spLocks noGrp="1"/>
          </p:cNvSpPr>
          <p:nvPr/>
        </p:nvSpPr>
        <p:spPr>
          <a:xfrm>
            <a:off x="634392" y="3782467"/>
            <a:ext cx="3828229" cy="313383"/>
          </a:xfrm>
          <a:prstGeom prst="rect">
            <a:avLst/>
          </a:prstGeom>
          <a:noFill/>
          <a:ln>
            <a:noFill/>
          </a:ln>
          <a:effectLst/>
        </p:spPr>
        <p:txBody>
          <a:bodyPr wrap="none" lIns="0" tIns="0" rIns="0" bIns="0" anchor="ctr">
            <a:spAutoFit/>
          </a:bodyPr>
          <a:lstStyle/>
          <a:p>
            <a:pPr algn="l">
              <a:buNone/>
            </a:pPr>
            <a:r>
              <a:rPr sz="1270" b="1">
                <a:solidFill>
                  <a:srgbClr val="0A1220"/>
                </a:solidFill>
                <a:latin typeface="IPAexGothic"/>
                <a:ea typeface="IPAexGothic"/>
                <a:cs typeface="IPAexGothic"/>
              </a:rPr>
              <a:t>目的</a:t>
            </a:r>
          </a:p>
        </p:txBody>
      </p:sp>
      <p:sp>
        <p:nvSpPr>
          <p:cNvPr id="45" name="TextBox 44">
            <a:extLst>
              <a:ext uri="{FF2B5EF4-FFF2-40B4-BE49-F238E27FC236}">
                <a16:creationId xmlns:a16="http://schemas.microsoft.com/office/drawing/2014/main" id="{0250CB9C-C0EA-4A96-A3A6-D8C91ECC475E}"/>
              </a:ext>
            </a:extLst>
          </p:cNvPr>
          <p:cNvSpPr>
            <a:spLocks noGrp="1"/>
          </p:cNvSpPr>
          <p:nvPr/>
        </p:nvSpPr>
        <p:spPr>
          <a:xfrm>
            <a:off x="5024095" y="3782467"/>
            <a:ext cx="2916746" cy="313383"/>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実行可能範囲を狭める</a:t>
            </a:r>
          </a:p>
        </p:txBody>
      </p:sp>
      <p:sp>
        <p:nvSpPr>
          <p:cNvPr id="46" name="TextBox 45">
            <a:extLst>
              <a:ext uri="{FF2B5EF4-FFF2-40B4-BE49-F238E27FC236}">
                <a16:creationId xmlns:a16="http://schemas.microsoft.com/office/drawing/2014/main" id="{50B2758E-55B5-496F-AC96-5DD8BF5455E9}"/>
              </a:ext>
            </a:extLst>
          </p:cNvPr>
          <p:cNvSpPr>
            <a:spLocks noGrp="1"/>
          </p:cNvSpPr>
          <p:nvPr/>
        </p:nvSpPr>
        <p:spPr>
          <a:xfrm>
            <a:off x="8451272" y="3782467"/>
            <a:ext cx="2989664" cy="313383"/>
          </a:xfrm>
          <a:prstGeom prst="rect">
            <a:avLst/>
          </a:prstGeom>
          <a:noFill/>
          <a:ln>
            <a:noFill/>
          </a:ln>
          <a:effectLst/>
        </p:spPr>
        <p:txBody>
          <a:bodyPr wrap="none" lIns="0" tIns="0" rIns="0" bIns="0" anchor="ctr">
            <a:spAutoFit/>
          </a:bodyPr>
          <a:lstStyle/>
          <a:p>
            <a:pPr algn="l">
              <a:buNone/>
            </a:pPr>
            <a:r>
              <a:rPr sz="1320" b="0">
                <a:solidFill>
                  <a:srgbClr val="0A1220"/>
                </a:solidFill>
                <a:latin typeface="IPAexGothic"/>
                <a:ea typeface="IPAexGothic"/>
                <a:cs typeface="IPAexGothic"/>
              </a:rPr>
              <a:t>実行環境と設定読込範囲を制御</a:t>
            </a:r>
          </a:p>
        </p:txBody>
      </p:sp>
      <p:sp>
        <p:nvSpPr>
          <p:cNvPr id="47" name="Rounded Rectangle 46">
            <a:extLst>
              <a:ext uri="{FF2B5EF4-FFF2-40B4-BE49-F238E27FC236}">
                <a16:creationId xmlns:a16="http://schemas.microsoft.com/office/drawing/2014/main" id="{0E539F1E-195A-4AF7-B0CE-87DA5DC2A252}"/>
              </a:ext>
            </a:extLst>
          </p:cNvPr>
          <p:cNvSpPr>
            <a:spLocks noGrp="1"/>
          </p:cNvSpPr>
          <p:nvPr/>
        </p:nvSpPr>
        <p:spPr>
          <a:xfrm>
            <a:off x="473971" y="4248899"/>
            <a:ext cx="5242851" cy="1537766"/>
          </a:xfrm>
          <a:prstGeom prst="roundRect">
            <a:avLst>
              <a:gd name="adj" fmla="val 1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96EC939E-DE9F-4640-A6FF-3A4DF1EA5AF9}"/>
              </a:ext>
            </a:extLst>
          </p:cNvPr>
          <p:cNvSpPr>
            <a:spLocks noGrp="1"/>
          </p:cNvSpPr>
          <p:nvPr/>
        </p:nvSpPr>
        <p:spPr>
          <a:xfrm>
            <a:off x="473971" y="4350930"/>
            <a:ext cx="5242851" cy="233215"/>
          </a:xfrm>
          <a:prstGeom prst="rect">
            <a:avLst/>
          </a:prstGeom>
          <a:noFill/>
          <a:ln>
            <a:noFill/>
          </a:ln>
          <a:effectLst/>
        </p:spPr>
        <p:txBody>
          <a:bodyPr wrap="none" lIns="0" tIns="0" rIns="0" bIns="0" anchor="ctr">
            <a:spAutoFit/>
          </a:bodyPr>
          <a:lstStyle/>
          <a:p>
            <a:pPr algn="ctr">
              <a:buNone/>
            </a:pPr>
            <a:r>
              <a:rPr sz="1560" b="1">
                <a:solidFill>
                  <a:srgbClr val="052C7E"/>
                </a:solidFill>
                <a:latin typeface="IPAexGothic"/>
                <a:ea typeface="IPAexGothic"/>
                <a:cs typeface="IPAexGothic"/>
              </a:rPr>
              <a:t>概念比較</a:t>
            </a:r>
          </a:p>
        </p:txBody>
      </p:sp>
      <p:sp>
        <p:nvSpPr>
          <p:cNvPr id="49" name="TextBox 48">
            <a:extLst>
              <a:ext uri="{FF2B5EF4-FFF2-40B4-BE49-F238E27FC236}">
                <a16:creationId xmlns:a16="http://schemas.microsoft.com/office/drawing/2014/main" id="{13886472-5980-4B52-9ED6-00B420F7A544}"/>
              </a:ext>
            </a:extLst>
          </p:cNvPr>
          <p:cNvSpPr>
            <a:spLocks noGrp="1"/>
          </p:cNvSpPr>
          <p:nvPr/>
        </p:nvSpPr>
        <p:spPr>
          <a:xfrm>
            <a:off x="1093779" y="4722618"/>
            <a:ext cx="1822966" cy="218639"/>
          </a:xfrm>
          <a:prstGeom prst="rect">
            <a:avLst/>
          </a:prstGeom>
          <a:noFill/>
          <a:ln>
            <a:noFill/>
          </a:ln>
          <a:effectLst/>
        </p:spPr>
        <p:txBody>
          <a:bodyPr wrap="none" lIns="0" tIns="0" rIns="0" bIns="0" anchor="ctr">
            <a:spAutoFit/>
          </a:bodyPr>
          <a:lstStyle/>
          <a:p>
            <a:pPr algn="ctr">
              <a:buNone/>
            </a:pPr>
            <a:r>
              <a:rPr sz="1450" b="1">
                <a:solidFill>
                  <a:srgbClr val="052C7E"/>
                </a:solidFill>
                <a:latin typeface="IPAexGothic"/>
                <a:ea typeface="IPAexGothic"/>
                <a:cs typeface="IPAexGothic"/>
              </a:rPr>
              <a:t>Runtime Policy</a:t>
            </a:r>
          </a:p>
        </p:txBody>
      </p:sp>
      <p:sp>
        <p:nvSpPr>
          <p:cNvPr id="50" name="TextBox 49">
            <a:extLst>
              <a:ext uri="{FF2B5EF4-FFF2-40B4-BE49-F238E27FC236}">
                <a16:creationId xmlns:a16="http://schemas.microsoft.com/office/drawing/2014/main" id="{4AF53F1F-8692-4229-A7B3-85BB86089FF1}"/>
              </a:ext>
            </a:extLst>
          </p:cNvPr>
          <p:cNvSpPr>
            <a:spLocks noGrp="1"/>
          </p:cNvSpPr>
          <p:nvPr/>
        </p:nvSpPr>
        <p:spPr>
          <a:xfrm>
            <a:off x="831272" y="5057866"/>
            <a:ext cx="2260478" cy="349823"/>
          </a:xfrm>
          <a:prstGeom prst="rect">
            <a:avLst/>
          </a:prstGeom>
          <a:noFill/>
          <a:ln>
            <a:noFill/>
          </a:ln>
          <a:effectLst/>
        </p:spPr>
        <p:txBody>
          <a:bodyPr wrap="none" lIns="0" tIns="0" rIns="0" bIns="0" anchor="ctr">
            <a:spAutoFit/>
          </a:bodyPr>
          <a:lstStyle/>
          <a:p>
            <a:pPr algn="ctr">
              <a:buNone/>
            </a:pPr>
            <a:r>
              <a:rPr sz="1300" b="0">
                <a:solidFill>
                  <a:srgbClr val="0A1220"/>
                </a:solidFill>
                <a:latin typeface="IPAexGothic"/>
                <a:ea typeface="IPAexGothic"/>
                <a:cs typeface="IPAexGothic"/>
              </a:rPr>
              <a:t>delete_file(important.txt)を</a:t>
            </a:r>
          </a:p>
          <a:p>
            <a:pPr algn="ctr">
              <a:buNone/>
            </a:pPr>
            <a:r>
              <a:rPr sz="1300" b="0">
                <a:solidFill>
                  <a:srgbClr val="0A1220"/>
                </a:solidFill>
                <a:latin typeface="IPAexGothic"/>
                <a:ea typeface="IPAexGothic"/>
                <a:cs typeface="IPAexGothic"/>
              </a:rPr>
              <a:t>許可するか</a:t>
            </a:r>
          </a:p>
        </p:txBody>
      </p:sp>
      <p:sp>
        <p:nvSpPr>
          <p:cNvPr id="51" name="Rectangle 50">
            <a:extLst>
              <a:ext uri="{FF2B5EF4-FFF2-40B4-BE49-F238E27FC236}">
                <a16:creationId xmlns:a16="http://schemas.microsoft.com/office/drawing/2014/main" id="{FDE1BF9C-BED8-49FA-AAEE-98DA72360396}"/>
              </a:ext>
            </a:extLst>
          </p:cNvPr>
          <p:cNvSpPr>
            <a:spLocks noGrp="1"/>
          </p:cNvSpPr>
          <p:nvPr/>
        </p:nvSpPr>
        <p:spPr>
          <a:xfrm>
            <a:off x="3106334" y="4715330"/>
            <a:ext cx="14583" cy="954726"/>
          </a:xfrm>
          <a:prstGeom prst="rect">
            <a:avLst/>
          </a:prstGeom>
          <a:solidFill>
            <a:srgbClr val="4869AA"/>
          </a:solidFill>
          <a:ln>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2D590ABC-D101-4086-96A2-3A582D20C65C}"/>
              </a:ext>
            </a:extLst>
          </p:cNvPr>
          <p:cNvSpPr>
            <a:spLocks noGrp="1"/>
          </p:cNvSpPr>
          <p:nvPr/>
        </p:nvSpPr>
        <p:spPr>
          <a:xfrm>
            <a:off x="3769894" y="4722618"/>
            <a:ext cx="1385454" cy="218639"/>
          </a:xfrm>
          <a:prstGeom prst="rect">
            <a:avLst/>
          </a:prstGeom>
          <a:noFill/>
          <a:ln>
            <a:noFill/>
          </a:ln>
          <a:effectLst/>
        </p:spPr>
        <p:txBody>
          <a:bodyPr wrap="none" lIns="0" tIns="0" rIns="0" bIns="0" anchor="ctr">
            <a:spAutoFit/>
          </a:bodyPr>
          <a:lstStyle/>
          <a:p>
            <a:pPr algn="ctr">
              <a:buNone/>
            </a:pPr>
            <a:r>
              <a:rPr sz="1450" b="1">
                <a:solidFill>
                  <a:srgbClr val="052C7E"/>
                </a:solidFill>
                <a:latin typeface="IPAexGothic"/>
                <a:ea typeface="IPAexGothic"/>
                <a:cs typeface="IPAexGothic"/>
              </a:rPr>
              <a:t>Sandbox</a:t>
            </a:r>
          </a:p>
        </p:txBody>
      </p:sp>
      <p:sp>
        <p:nvSpPr>
          <p:cNvPr id="53" name="TextBox 52">
            <a:extLst>
              <a:ext uri="{FF2B5EF4-FFF2-40B4-BE49-F238E27FC236}">
                <a16:creationId xmlns:a16="http://schemas.microsoft.com/office/drawing/2014/main" id="{114302CD-0632-431F-B619-DC357139EA08}"/>
              </a:ext>
            </a:extLst>
          </p:cNvPr>
          <p:cNvSpPr>
            <a:spLocks noGrp="1"/>
          </p:cNvSpPr>
          <p:nvPr/>
        </p:nvSpPr>
        <p:spPr>
          <a:xfrm>
            <a:off x="3427176" y="5057866"/>
            <a:ext cx="1968803" cy="349823"/>
          </a:xfrm>
          <a:prstGeom prst="rect">
            <a:avLst/>
          </a:prstGeom>
          <a:noFill/>
          <a:ln>
            <a:noFill/>
          </a:ln>
          <a:effectLst/>
        </p:spPr>
        <p:txBody>
          <a:bodyPr wrap="none" lIns="0" tIns="0" rIns="0" bIns="0" anchor="ctr">
            <a:spAutoFit/>
          </a:bodyPr>
          <a:lstStyle/>
          <a:p>
            <a:pPr algn="ctr">
              <a:buNone/>
            </a:pPr>
            <a:r>
              <a:rPr sz="1300" b="0">
                <a:solidFill>
                  <a:srgbClr val="0A1220"/>
                </a:solidFill>
                <a:latin typeface="IPAexGothic"/>
                <a:ea typeface="IPAexGothic"/>
                <a:cs typeface="IPAexGothic"/>
              </a:rPr>
              <a:t>important.txtへそもそも</a:t>
            </a:r>
          </a:p>
          <a:p>
            <a:pPr algn="ctr">
              <a:buNone/>
            </a:pPr>
            <a:r>
              <a:rPr sz="1300" b="0">
                <a:solidFill>
                  <a:srgbClr val="0A1220"/>
                </a:solidFill>
                <a:latin typeface="IPAexGothic"/>
                <a:ea typeface="IPAexGothic"/>
                <a:cs typeface="IPAexGothic"/>
              </a:rPr>
              <a:t>到達可能か</a:t>
            </a:r>
          </a:p>
        </p:txBody>
      </p:sp>
      <p:sp>
        <p:nvSpPr>
          <p:cNvPr id="54" name="Rounded Rectangle 53">
            <a:extLst>
              <a:ext uri="{FF2B5EF4-FFF2-40B4-BE49-F238E27FC236}">
                <a16:creationId xmlns:a16="http://schemas.microsoft.com/office/drawing/2014/main" id="{54460A92-8F5C-4840-ADC4-8B27C391CD3C}"/>
              </a:ext>
            </a:extLst>
          </p:cNvPr>
          <p:cNvSpPr>
            <a:spLocks noGrp="1"/>
          </p:cNvSpPr>
          <p:nvPr/>
        </p:nvSpPr>
        <p:spPr>
          <a:xfrm>
            <a:off x="6023081" y="4248899"/>
            <a:ext cx="5461607" cy="1537766"/>
          </a:xfrm>
          <a:prstGeom prst="roundRect">
            <a:avLst>
              <a:gd name="adj" fmla="val 1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4657C338-9E06-4374-824A-5D213D23B19C}"/>
              </a:ext>
            </a:extLst>
          </p:cNvPr>
          <p:cNvSpPr>
            <a:spLocks noGrp="1"/>
          </p:cNvSpPr>
          <p:nvPr/>
        </p:nvSpPr>
        <p:spPr>
          <a:xfrm>
            <a:off x="6023081" y="4350930"/>
            <a:ext cx="5461607" cy="233215"/>
          </a:xfrm>
          <a:prstGeom prst="rect">
            <a:avLst/>
          </a:prstGeom>
          <a:noFill/>
          <a:ln>
            <a:noFill/>
          </a:ln>
          <a:effectLst/>
        </p:spPr>
        <p:txBody>
          <a:bodyPr wrap="none" lIns="0" tIns="0" rIns="0" bIns="0" anchor="ctr">
            <a:spAutoFit/>
          </a:bodyPr>
          <a:lstStyle/>
          <a:p>
            <a:pPr algn="ctr">
              <a:buNone/>
            </a:pPr>
            <a:r>
              <a:rPr sz="1560" b="1">
                <a:solidFill>
                  <a:srgbClr val="052C7E"/>
                </a:solidFill>
                <a:latin typeface="IPAexGothic"/>
                <a:ea typeface="IPAexGothic"/>
                <a:cs typeface="IPAexGothic"/>
              </a:rPr>
              <a:t>注意点</a:t>
            </a:r>
          </a:p>
        </p:txBody>
      </p:sp>
      <p:sp>
        <p:nvSpPr>
          <p:cNvPr id="56" name="TextBox 55">
            <a:extLst>
              <a:ext uri="{FF2B5EF4-FFF2-40B4-BE49-F238E27FC236}">
                <a16:creationId xmlns:a16="http://schemas.microsoft.com/office/drawing/2014/main" id="{9546F0BC-BAFC-48AC-A0C8-73106A0E5093}"/>
              </a:ext>
            </a:extLst>
          </p:cNvPr>
          <p:cNvSpPr>
            <a:spLocks noGrp="1"/>
          </p:cNvSpPr>
          <p:nvPr/>
        </p:nvSpPr>
        <p:spPr>
          <a:xfrm>
            <a:off x="6271004" y="4649738"/>
            <a:ext cx="4812631" cy="255079"/>
          </a:xfrm>
          <a:prstGeom prst="rect">
            <a:avLst/>
          </a:prstGeom>
          <a:noFill/>
          <a:ln>
            <a:noFill/>
          </a:ln>
          <a:effectLst/>
        </p:spPr>
        <p:txBody>
          <a:bodyPr wrap="square" lIns="0" tIns="0" rIns="0" bIns="0" anchor="ctr">
            <a:spAutoFit/>
          </a:bodyPr>
          <a:lstStyle/>
          <a:p>
            <a:pPr algn="l">
              <a:buNone/>
            </a:pPr>
            <a:r>
              <a:rPr sz="1270" b="0">
                <a:solidFill>
                  <a:srgbClr val="0A1220"/>
                </a:solidFill>
                <a:latin typeface="IPAexGothic"/>
                <a:ea typeface="IPAexGothic"/>
                <a:cs typeface="IPAexGothic"/>
              </a:rPr>
              <a:t>・  SandboxはRuntime Authorizationの代替ではない</a:t>
            </a:r>
          </a:p>
        </p:txBody>
      </p:sp>
      <p:sp>
        <p:nvSpPr>
          <p:cNvPr id="57" name="TextBox 56">
            <a:extLst>
              <a:ext uri="{FF2B5EF4-FFF2-40B4-BE49-F238E27FC236}">
                <a16:creationId xmlns:a16="http://schemas.microsoft.com/office/drawing/2014/main" id="{6E65CFB8-C75A-43A5-8529-0C4ABF49695E}"/>
              </a:ext>
            </a:extLst>
          </p:cNvPr>
          <p:cNvSpPr>
            <a:spLocks noGrp="1"/>
          </p:cNvSpPr>
          <p:nvPr/>
        </p:nvSpPr>
        <p:spPr>
          <a:xfrm>
            <a:off x="6271004" y="4941258"/>
            <a:ext cx="4812631" cy="255079"/>
          </a:xfrm>
          <a:prstGeom prst="rect">
            <a:avLst/>
          </a:prstGeom>
          <a:noFill/>
          <a:ln>
            <a:noFill/>
          </a:ln>
          <a:effectLst/>
        </p:spPr>
        <p:txBody>
          <a:bodyPr wrap="square" lIns="0" tIns="0" rIns="0" bIns="0" anchor="ctr">
            <a:spAutoFit/>
          </a:bodyPr>
          <a:lstStyle/>
          <a:p>
            <a:pPr algn="l">
              <a:buNone/>
            </a:pPr>
            <a:r>
              <a:rPr sz="1270" b="0">
                <a:solidFill>
                  <a:srgbClr val="0A1220"/>
                </a:solidFill>
                <a:latin typeface="IPAexGothic"/>
                <a:ea typeface="IPAexGothic"/>
                <a:cs typeface="IPAexGothic"/>
              </a:rPr>
              <a:t>・  Filesystem PermissionとTool Approvalは別概念</a:t>
            </a:r>
          </a:p>
        </p:txBody>
      </p:sp>
      <p:sp>
        <p:nvSpPr>
          <p:cNvPr id="58" name="TextBox 57">
            <a:extLst>
              <a:ext uri="{FF2B5EF4-FFF2-40B4-BE49-F238E27FC236}">
                <a16:creationId xmlns:a16="http://schemas.microsoft.com/office/drawing/2014/main" id="{83B5BBFD-A81E-4E0C-95FA-6889EF553260}"/>
              </a:ext>
            </a:extLst>
          </p:cNvPr>
          <p:cNvSpPr>
            <a:spLocks noGrp="1"/>
          </p:cNvSpPr>
          <p:nvPr/>
        </p:nvSpPr>
        <p:spPr>
          <a:xfrm>
            <a:off x="6271004" y="5232777"/>
            <a:ext cx="4812631" cy="255079"/>
          </a:xfrm>
          <a:prstGeom prst="rect">
            <a:avLst/>
          </a:prstGeom>
          <a:noFill/>
          <a:ln>
            <a:noFill/>
          </a:ln>
          <a:effectLst/>
        </p:spPr>
        <p:txBody>
          <a:bodyPr wrap="square" lIns="0" tIns="0" rIns="0" bIns="0" anchor="ctr">
            <a:spAutoFit/>
          </a:bodyPr>
          <a:lstStyle/>
          <a:p>
            <a:pPr algn="l">
              <a:buNone/>
            </a:pPr>
            <a:r>
              <a:rPr sz="1270" b="0">
                <a:solidFill>
                  <a:srgbClr val="0A1220"/>
                </a:solidFill>
                <a:latin typeface="IPAexGothic"/>
                <a:ea typeface="IPAexGothic"/>
                <a:cs typeface="IPAexGothic"/>
              </a:rPr>
              <a:t>・  ローカル設定やMCP設定が実行に影響しないよう</a:t>
            </a:r>
          </a:p>
          <a:p>
            <a:pPr algn="l">
              <a:buNone/>
            </a:pPr>
            <a:r>
              <a:rPr sz="1270" b="0">
                <a:solidFill>
                  <a:srgbClr val="0A1220"/>
                </a:solidFill>
                <a:latin typeface="IPAexGothic"/>
                <a:ea typeface="IPAexGothic"/>
                <a:cs typeface="IPAexGothic"/>
              </a:rPr>
              <a:t>設定sourceを意識する</a:t>
            </a:r>
          </a:p>
        </p:txBody>
      </p:sp>
      <p:sp>
        <p:nvSpPr>
          <p:cNvPr id="59" name="Rounded Rectangle 58">
            <a:extLst>
              <a:ext uri="{FF2B5EF4-FFF2-40B4-BE49-F238E27FC236}">
                <a16:creationId xmlns:a16="http://schemas.microsoft.com/office/drawing/2014/main" id="{C89351FA-EBCF-46BF-B47C-77D8E9C67D7A}"/>
              </a:ext>
            </a:extLst>
          </p:cNvPr>
          <p:cNvSpPr>
            <a:spLocks noGrp="1"/>
          </p:cNvSpPr>
          <p:nvPr/>
        </p:nvSpPr>
        <p:spPr>
          <a:xfrm>
            <a:off x="481263" y="5954289"/>
            <a:ext cx="11018009" cy="641343"/>
          </a:xfrm>
          <a:prstGeom prst="roundRect">
            <a:avLst>
              <a:gd name="adj" fmla="val 1000"/>
            </a:avLst>
          </a:prstGeom>
          <a:solidFill>
            <a:srgbClr val="FFFFFF"/>
          </a:solidFill>
          <a:ln w="12700">
            <a:solidFill>
              <a:srgbClr val="4869AA"/>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0" name="Rounded Rectangle 59">
            <a:extLst>
              <a:ext uri="{FF2B5EF4-FFF2-40B4-BE49-F238E27FC236}">
                <a16:creationId xmlns:a16="http://schemas.microsoft.com/office/drawing/2014/main" id="{8BD527F7-6F34-4146-8060-9758823B7671}"/>
              </a:ext>
            </a:extLst>
          </p:cNvPr>
          <p:cNvSpPr>
            <a:spLocks noGrp="1"/>
          </p:cNvSpPr>
          <p:nvPr/>
        </p:nvSpPr>
        <p:spPr>
          <a:xfrm>
            <a:off x="481263" y="5954289"/>
            <a:ext cx="1822966" cy="641343"/>
          </a:xfrm>
          <a:prstGeom prst="roundRect">
            <a:avLst>
              <a:gd name="adj" fmla="val 1000"/>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B3FCA70D-0293-4C5F-A86E-2A34B02B9FEF}"/>
              </a:ext>
            </a:extLst>
          </p:cNvPr>
          <p:cNvSpPr>
            <a:spLocks noGrp="1"/>
          </p:cNvSpPr>
          <p:nvPr/>
        </p:nvSpPr>
        <p:spPr>
          <a:xfrm>
            <a:off x="685435" y="6172928"/>
            <a:ext cx="1385454" cy="228600"/>
          </a:xfrm>
          <a:prstGeom prst="rect">
            <a:avLst/>
          </a:prstGeom>
          <a:noFill/>
          <a:ln>
            <a:noFill/>
          </a:ln>
          <a:effectLst/>
        </p:spPr>
        <p:txBody>
          <a:bodyPr wrap="none" lIns="0" tIns="0" rIns="0" bIns="0" anchor="ctr">
            <a:spAutoFit/>
          </a:bodyPr>
          <a:lstStyle/>
          <a:p>
            <a:pPr algn="ctr">
              <a:buNone/>
            </a:pPr>
            <a:r>
              <a:rPr sz="1500" b="1">
                <a:solidFill>
                  <a:srgbClr val="0B3691"/>
                </a:solidFill>
                <a:latin typeface="IPAexGothic"/>
                <a:ea typeface="IPAexGothic"/>
                <a:cs typeface="IPAexGothic"/>
              </a:rPr>
              <a:t>違いのまとめ</a:t>
            </a:r>
          </a:p>
        </p:txBody>
      </p:sp>
      <p:sp>
        <p:nvSpPr>
          <p:cNvPr id="62" name="TextBox 61">
            <a:extLst>
              <a:ext uri="{FF2B5EF4-FFF2-40B4-BE49-F238E27FC236}">
                <a16:creationId xmlns:a16="http://schemas.microsoft.com/office/drawing/2014/main" id="{C0C399F5-77FA-4C41-B582-23EFD83D6F90}"/>
              </a:ext>
            </a:extLst>
          </p:cNvPr>
          <p:cNvSpPr>
            <a:spLocks noGrp="1"/>
          </p:cNvSpPr>
          <p:nvPr/>
        </p:nvSpPr>
        <p:spPr>
          <a:xfrm>
            <a:off x="2654239" y="6165640"/>
            <a:ext cx="8239808" cy="240503"/>
          </a:xfrm>
          <a:prstGeom prst="rect">
            <a:avLst/>
          </a:prstGeom>
          <a:noFill/>
          <a:ln>
            <a:noFill/>
          </a:ln>
          <a:effectLst/>
        </p:spPr>
        <p:txBody>
          <a:bodyPr wrap="none" lIns="0" tIns="0" rIns="0" bIns="0" anchor="ctr">
            <a:spAutoFit/>
          </a:bodyPr>
          <a:lstStyle/>
          <a:p>
            <a:pPr algn="l">
              <a:buNone/>
            </a:pPr>
            <a:r>
              <a:rPr sz="1340" b="0">
                <a:solidFill>
                  <a:srgbClr val="0A1220"/>
                </a:solidFill>
                <a:latin typeface="IPAexGothic"/>
                <a:ea typeface="IPAexGothic"/>
                <a:cs typeface="IPAexGothic"/>
              </a:rPr>
              <a:t>Runtime Policyで判断を制御し，SandboxとSettings分離で実行可能範囲と設定影響を制御する．</a:t>
            </a:r>
          </a:p>
        </p:txBody>
      </p:sp>
      <p:sp>
        <p:nvSpPr>
          <p:cNvPr id="63" name="TextBox 62">
            <a:extLst>
              <a:ext uri="{FF2B5EF4-FFF2-40B4-BE49-F238E27FC236}">
                <a16:creationId xmlns:a16="http://schemas.microsoft.com/office/drawing/2014/main" id="{3F181AA4-75C1-4BE8-BC21-9C0BEB576666}"/>
              </a:ext>
            </a:extLst>
          </p:cNvPr>
          <p:cNvSpPr>
            <a:spLocks noGrp="1"/>
          </p:cNvSpPr>
          <p:nvPr/>
        </p:nvSpPr>
        <p:spPr>
          <a:xfrm>
            <a:off x="11506564" y="6493600"/>
            <a:ext cx="525014" cy="189487"/>
          </a:xfrm>
          <a:prstGeom prst="rect">
            <a:avLst/>
          </a:prstGeom>
          <a:noFill/>
          <a:ln>
            <a:noFill/>
          </a:ln>
          <a:effectLst/>
        </p:spPr>
        <p:txBody>
          <a:bodyPr wrap="none" lIns="0" tIns="0" rIns="0" bIns="0" anchor="ctr">
            <a:spAutoFit/>
          </a:bodyPr>
          <a:lstStyle/>
          <a:p>
            <a:pPr algn="ctr">
              <a:buNone/>
            </a:pPr>
            <a:r>
              <a:rPr sz="1420" b="1">
                <a:solidFill>
                  <a:srgbClr val="052C7E"/>
                </a:solidFill>
                <a:latin typeface="IPAexGothic"/>
                <a:ea typeface="IPAexGothic"/>
                <a:cs typeface="IPAexGothic"/>
              </a:rPr>
              <a:t>A11</a:t>
            </a:r>
          </a:p>
        </p:txBody>
      </p:sp>
    </p:spTree>
    <p:extLst>
      <p:ext uri="{BB962C8B-B14F-4D97-AF65-F5344CB8AC3E}">
        <p14:creationId xmlns:p14="http://schemas.microsoft.com/office/powerpoint/2010/main" val="91069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713DB-24AF-4980-96E8-B5C711373B12}"/>
              </a:ext>
            </a:extLst>
          </p:cNvPr>
          <p:cNvSpPr>
            <a:spLocks noGrp="1"/>
          </p:cNvSpPr>
          <p:nvPr/>
        </p:nvSpPr>
        <p:spPr>
          <a:xfrm>
            <a:off x="379177" y="145759"/>
            <a:ext cx="5541818" cy="422703"/>
          </a:xfrm>
          <a:prstGeom prst="rect">
            <a:avLst/>
          </a:prstGeom>
          <a:noFill/>
          <a:ln>
            <a:noFill/>
          </a:ln>
          <a:effectLst/>
        </p:spPr>
        <p:txBody>
          <a:bodyPr wrap="none" lIns="0" tIns="0" rIns="0" bIns="0" anchor="ctr">
            <a:spAutoFit/>
          </a:bodyPr>
          <a:lstStyle/>
          <a:p>
            <a:pPr algn="l">
              <a:buNone/>
            </a:pPr>
            <a:r>
              <a:rPr sz="2580" b="1">
                <a:solidFill>
                  <a:srgbClr val="052C7E"/>
                </a:solidFill>
                <a:latin typeface="IPAexGothic"/>
                <a:ea typeface="IPAexGothic"/>
                <a:cs typeface="IPAexGothic"/>
              </a:rPr>
              <a:t>Appendix A12． Observability</a:t>
            </a:r>
          </a:p>
        </p:txBody>
      </p:sp>
      <p:sp>
        <p:nvSpPr>
          <p:cNvPr id="4" name="TextBox 3">
            <a:extLst>
              <a:ext uri="{FF2B5EF4-FFF2-40B4-BE49-F238E27FC236}">
                <a16:creationId xmlns:a16="http://schemas.microsoft.com/office/drawing/2014/main" id="{AFD0E4E0-9C45-40E9-9780-BAB4C22A3EE1}"/>
              </a:ext>
            </a:extLst>
          </p:cNvPr>
          <p:cNvSpPr>
            <a:spLocks noGrp="1"/>
          </p:cNvSpPr>
          <p:nvPr/>
        </p:nvSpPr>
        <p:spPr>
          <a:xfrm>
            <a:off x="11010717" y="174911"/>
            <a:ext cx="656267" cy="218639"/>
          </a:xfrm>
          <a:prstGeom prst="rect">
            <a:avLst/>
          </a:prstGeom>
          <a:noFill/>
          <a:ln>
            <a:noFill/>
          </a:ln>
          <a:effectLst/>
        </p:spPr>
        <p:txBody>
          <a:bodyPr wrap="none" lIns="0" tIns="0" rIns="0" bIns="0" anchor="ctr">
            <a:spAutoFit/>
          </a:bodyPr>
          <a:lstStyle/>
          <a:p>
            <a:pPr algn="ctr">
              <a:buNone/>
            </a:pPr>
            <a:r>
              <a:rPr sz="1600" b="1">
                <a:solidFill>
                  <a:srgbClr val="052C7E"/>
                </a:solidFill>
                <a:latin typeface="IPAexGothic"/>
                <a:ea typeface="IPAexGothic"/>
                <a:cs typeface="IPAexGothic"/>
              </a:rPr>
              <a:t>記録</a:t>
            </a:r>
          </a:p>
        </p:txBody>
      </p:sp>
      <p:sp>
        <p:nvSpPr>
          <p:cNvPr id="5" name="Rectangle 4">
            <a:extLst>
              <a:ext uri="{FF2B5EF4-FFF2-40B4-BE49-F238E27FC236}">
                <a16:creationId xmlns:a16="http://schemas.microsoft.com/office/drawing/2014/main" id="{7E5BDE0D-87BB-43E4-A3D4-4719194C2177}"/>
              </a:ext>
            </a:extLst>
          </p:cNvPr>
          <p:cNvSpPr>
            <a:spLocks noGrp="1"/>
          </p:cNvSpPr>
          <p:nvPr/>
        </p:nvSpPr>
        <p:spPr>
          <a:xfrm>
            <a:off x="328133" y="743375"/>
            <a:ext cx="568765" cy="51015"/>
          </a:xfrm>
          <a:prstGeom prst="rect">
            <a:avLst/>
          </a:prstGeom>
          <a:solidFill>
            <a:srgbClr val="285BDD"/>
          </a:solidFill>
          <a:ln>
            <a:solidFill>
              <a:srgbClr val="285BDD"/>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87EBEF6-7F18-496E-8145-A6C318D97CF0}"/>
              </a:ext>
            </a:extLst>
          </p:cNvPr>
          <p:cNvSpPr>
            <a:spLocks noGrp="1"/>
          </p:cNvSpPr>
          <p:nvPr/>
        </p:nvSpPr>
        <p:spPr>
          <a:xfrm>
            <a:off x="393760" y="983878"/>
            <a:ext cx="11375310" cy="218639"/>
          </a:xfrm>
          <a:prstGeom prst="rect">
            <a:avLst/>
          </a:prstGeom>
          <a:noFill/>
          <a:ln>
            <a:noFill/>
          </a:ln>
          <a:effectLst/>
        </p:spPr>
        <p:txBody>
          <a:bodyPr wrap="none" lIns="0" tIns="0" rIns="0" bIns="0" anchor="ctr">
            <a:spAutoFit/>
          </a:bodyPr>
          <a:lstStyle/>
          <a:p>
            <a:pPr algn="l">
              <a:buNone/>
            </a:pPr>
            <a:r>
              <a:rPr sz="1190" b="0">
                <a:solidFill>
                  <a:srgbClr val="141414"/>
                </a:solidFill>
                <a:latin typeface="IPAexGothic"/>
                <a:ea typeface="IPAexGothic"/>
                <a:cs typeface="IPAexGothic"/>
              </a:rPr>
              <a:t>PolicyをRuntimeで強制するだけでなく，どのActionが要求され，どの判断で許可または拒否されたかを後から確認できることも重要である．</a:t>
            </a:r>
          </a:p>
        </p:txBody>
      </p:sp>
      <p:sp>
        <p:nvSpPr>
          <p:cNvPr id="7" name="Rectangle 6">
            <a:extLst>
              <a:ext uri="{FF2B5EF4-FFF2-40B4-BE49-F238E27FC236}">
                <a16:creationId xmlns:a16="http://schemas.microsoft.com/office/drawing/2014/main" id="{E345E577-1EBE-49C5-9597-97C9C6CD56E4}"/>
              </a:ext>
            </a:extLst>
          </p:cNvPr>
          <p:cNvSpPr>
            <a:spLocks noGrp="1"/>
          </p:cNvSpPr>
          <p:nvPr/>
        </p:nvSpPr>
        <p:spPr>
          <a:xfrm>
            <a:off x="379177" y="1340990"/>
            <a:ext cx="11251349" cy="342535"/>
          </a:xfrm>
          <a:prstGeom prst="rect">
            <a:avLst/>
          </a:prstGeom>
          <a:solidFill>
            <a:srgbClr val="EEF2F7"/>
          </a:solidFill>
          <a:ln w="1143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5196C4BB-E64C-4459-9240-7F127D55ED7D}"/>
              </a:ext>
            </a:extLst>
          </p:cNvPr>
          <p:cNvSpPr>
            <a:spLocks noGrp="1"/>
          </p:cNvSpPr>
          <p:nvPr/>
        </p:nvSpPr>
        <p:spPr>
          <a:xfrm>
            <a:off x="379177" y="1340990"/>
            <a:ext cx="4593875" cy="342535"/>
          </a:xfrm>
          <a:prstGeom prst="rect">
            <a:avLst/>
          </a:prstGeom>
          <a:noFill/>
          <a:ln>
            <a:noFill/>
          </a:ln>
          <a:effectLst/>
        </p:spPr>
        <p:txBody>
          <a:bodyPr wrap="none" lIns="0" tIns="0" rIns="0" bIns="0" anchor="ctr">
            <a:spAutoFit/>
          </a:bodyPr>
          <a:lstStyle/>
          <a:p>
            <a:pPr algn="ctr">
              <a:buNone/>
            </a:pPr>
            <a:r>
              <a:rPr sz="1320" b="1">
                <a:solidFill>
                  <a:srgbClr val="0B3691"/>
                </a:solidFill>
                <a:latin typeface="IPAexGothic"/>
                <a:ea typeface="IPAexGothic"/>
                <a:cs typeface="IPAexGothic"/>
              </a:rPr>
              <a:t>記録対象</a:t>
            </a:r>
          </a:p>
        </p:txBody>
      </p:sp>
      <p:sp>
        <p:nvSpPr>
          <p:cNvPr id="9" name="TextBox 8">
            <a:extLst>
              <a:ext uri="{FF2B5EF4-FFF2-40B4-BE49-F238E27FC236}">
                <a16:creationId xmlns:a16="http://schemas.microsoft.com/office/drawing/2014/main" id="{392ACBDE-97DA-4F53-B330-953C088BEA7C}"/>
              </a:ext>
            </a:extLst>
          </p:cNvPr>
          <p:cNvSpPr>
            <a:spLocks noGrp="1"/>
          </p:cNvSpPr>
          <p:nvPr/>
        </p:nvSpPr>
        <p:spPr>
          <a:xfrm>
            <a:off x="4973052" y="1340990"/>
            <a:ext cx="3419885" cy="342535"/>
          </a:xfrm>
          <a:prstGeom prst="rect">
            <a:avLst/>
          </a:prstGeom>
          <a:noFill/>
          <a:ln>
            <a:noFill/>
          </a:ln>
          <a:effectLst/>
        </p:spPr>
        <p:txBody>
          <a:bodyPr wrap="none" lIns="0" tIns="0" rIns="0" bIns="0" anchor="ctr">
            <a:spAutoFit/>
          </a:bodyPr>
          <a:lstStyle/>
          <a:p>
            <a:pPr algn="ctr">
              <a:buNone/>
            </a:pPr>
            <a:r>
              <a:rPr sz="1320" b="1">
                <a:solidFill>
                  <a:srgbClr val="0B3691"/>
                </a:solidFill>
                <a:latin typeface="IPAexGothic"/>
                <a:ea typeface="IPAexGothic"/>
                <a:cs typeface="IPAexGothic"/>
              </a:rPr>
              <a:t>OpenAI Agents SDK</a:t>
            </a:r>
          </a:p>
        </p:txBody>
      </p:sp>
      <p:sp>
        <p:nvSpPr>
          <p:cNvPr id="10" name="TextBox 9">
            <a:extLst>
              <a:ext uri="{FF2B5EF4-FFF2-40B4-BE49-F238E27FC236}">
                <a16:creationId xmlns:a16="http://schemas.microsoft.com/office/drawing/2014/main" id="{C3410614-E503-42A9-BCF8-DD931D415AD0}"/>
              </a:ext>
            </a:extLst>
          </p:cNvPr>
          <p:cNvSpPr>
            <a:spLocks noGrp="1"/>
          </p:cNvSpPr>
          <p:nvPr/>
        </p:nvSpPr>
        <p:spPr>
          <a:xfrm>
            <a:off x="8392937" y="1340990"/>
            <a:ext cx="3237588" cy="342535"/>
          </a:xfrm>
          <a:prstGeom prst="rect">
            <a:avLst/>
          </a:prstGeom>
          <a:noFill/>
          <a:ln>
            <a:noFill/>
          </a:ln>
          <a:effectLst/>
        </p:spPr>
        <p:txBody>
          <a:bodyPr wrap="none" lIns="0" tIns="0" rIns="0" bIns="0" anchor="ctr">
            <a:spAutoFit/>
          </a:bodyPr>
          <a:lstStyle/>
          <a:p>
            <a:pPr algn="ctr">
              <a:buNone/>
            </a:pPr>
            <a:r>
              <a:rPr sz="1320" b="1">
                <a:solidFill>
                  <a:srgbClr val="0B3691"/>
                </a:solidFill>
                <a:latin typeface="IPAexGothic"/>
                <a:ea typeface="IPAexGothic"/>
                <a:cs typeface="IPAexGothic"/>
              </a:rPr>
              <a:t>Claude Agent SDK</a:t>
            </a:r>
          </a:p>
        </p:txBody>
      </p:sp>
      <p:sp>
        <p:nvSpPr>
          <p:cNvPr id="11" name="Rectangle 10">
            <a:extLst>
              <a:ext uri="{FF2B5EF4-FFF2-40B4-BE49-F238E27FC236}">
                <a16:creationId xmlns:a16="http://schemas.microsoft.com/office/drawing/2014/main" id="{13057DF0-5760-4496-A88B-9345CD13DFB3}"/>
              </a:ext>
            </a:extLst>
          </p:cNvPr>
          <p:cNvSpPr>
            <a:spLocks noGrp="1"/>
          </p:cNvSpPr>
          <p:nvPr/>
        </p:nvSpPr>
        <p:spPr>
          <a:xfrm>
            <a:off x="379177" y="1683526"/>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812EC176-7528-4C8C-BFC5-79BC1947F89F}"/>
              </a:ext>
            </a:extLst>
          </p:cNvPr>
          <p:cNvSpPr>
            <a:spLocks noGrp="1"/>
          </p:cNvSpPr>
          <p:nvPr/>
        </p:nvSpPr>
        <p:spPr>
          <a:xfrm>
            <a:off x="4973052" y="1683526"/>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09AA51FC-B325-4DAA-8BDF-1F24FA3CFEF5}"/>
              </a:ext>
            </a:extLst>
          </p:cNvPr>
          <p:cNvSpPr>
            <a:spLocks noGrp="1"/>
          </p:cNvSpPr>
          <p:nvPr/>
        </p:nvSpPr>
        <p:spPr>
          <a:xfrm>
            <a:off x="8392937" y="1683526"/>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512A7E6-DBF9-4052-BC46-33D5686FB4D3}"/>
              </a:ext>
            </a:extLst>
          </p:cNvPr>
          <p:cNvSpPr>
            <a:spLocks noGrp="1"/>
          </p:cNvSpPr>
          <p:nvPr/>
        </p:nvSpPr>
        <p:spPr>
          <a:xfrm>
            <a:off x="627100" y="1719965"/>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rPr>
              <a:t>主な仕組み：Built-in Tracing／Hooks，OpenTelemetry</a:t>
            </a:r>
          </a:p>
        </p:txBody>
      </p:sp>
      <p:sp>
        <p:nvSpPr>
          <p:cNvPr id="15" name="TextBox 14">
            <a:extLst>
              <a:ext uri="{FF2B5EF4-FFF2-40B4-BE49-F238E27FC236}">
                <a16:creationId xmlns:a16="http://schemas.microsoft.com/office/drawing/2014/main" id="{6C9F9300-95AC-42FF-9E91-0B9A174036A5}"/>
              </a:ext>
            </a:extLst>
          </p:cNvPr>
          <p:cNvSpPr>
            <a:spLocks noGrp="1"/>
          </p:cNvSpPr>
          <p:nvPr/>
        </p:nvSpPr>
        <p:spPr>
          <a:xfrm>
            <a:off x="4973052" y="1719965"/>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Built-in Tracing</a:t>
            </a:r>
          </a:p>
        </p:txBody>
      </p:sp>
      <p:sp>
        <p:nvSpPr>
          <p:cNvPr id="16" name="TextBox 15">
            <a:extLst>
              <a:ext uri="{FF2B5EF4-FFF2-40B4-BE49-F238E27FC236}">
                <a16:creationId xmlns:a16="http://schemas.microsoft.com/office/drawing/2014/main" id="{28D69057-00D6-421D-8A59-DE65D2204FCA}"/>
              </a:ext>
            </a:extLst>
          </p:cNvPr>
          <p:cNvSpPr>
            <a:spLocks noGrp="1"/>
          </p:cNvSpPr>
          <p:nvPr/>
        </p:nvSpPr>
        <p:spPr>
          <a:xfrm>
            <a:off x="8392937" y="1719965"/>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Hooks，OpenTelemetry</a:t>
            </a:r>
          </a:p>
        </p:txBody>
      </p:sp>
      <p:sp>
        <p:nvSpPr>
          <p:cNvPr id="17" name="Rectangle 16">
            <a:extLst>
              <a:ext uri="{FF2B5EF4-FFF2-40B4-BE49-F238E27FC236}">
                <a16:creationId xmlns:a16="http://schemas.microsoft.com/office/drawing/2014/main" id="{12A457E9-69CC-4EA8-8751-4F88D67C742A}"/>
              </a:ext>
            </a:extLst>
          </p:cNvPr>
          <p:cNvSpPr>
            <a:spLocks noGrp="1"/>
          </p:cNvSpPr>
          <p:nvPr/>
        </p:nvSpPr>
        <p:spPr>
          <a:xfrm>
            <a:off x="379177" y="2062501"/>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E420864A-EA7D-4571-B4F6-F703CB8DFFCF}"/>
              </a:ext>
            </a:extLst>
          </p:cNvPr>
          <p:cNvSpPr>
            <a:spLocks noGrp="1"/>
          </p:cNvSpPr>
          <p:nvPr/>
        </p:nvSpPr>
        <p:spPr>
          <a:xfrm>
            <a:off x="4973052" y="2062501"/>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7B9CD98D-3C2D-40B0-85C7-E6A3D39768F5}"/>
              </a:ext>
            </a:extLst>
          </p:cNvPr>
          <p:cNvSpPr>
            <a:spLocks noGrp="1"/>
          </p:cNvSpPr>
          <p:nvPr/>
        </p:nvSpPr>
        <p:spPr>
          <a:xfrm>
            <a:off x="8392937" y="2062501"/>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9A7407A-63BB-41E1-B5FE-209883F0F27D}"/>
              </a:ext>
            </a:extLst>
          </p:cNvPr>
          <p:cNvSpPr>
            <a:spLocks noGrp="1"/>
          </p:cNvSpPr>
          <p:nvPr/>
        </p:nvSpPr>
        <p:spPr>
          <a:xfrm>
            <a:off x="627100" y="2098941"/>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ea typeface="IPAexGothic"/>
                <a:cs typeface="IPAexGothic"/>
              </a:rPr>
              <a:t>LLM Call：Generation Span等／Telemetry</a:t>
            </a:r>
          </a:p>
        </p:txBody>
      </p:sp>
      <p:sp>
        <p:nvSpPr>
          <p:cNvPr id="21" name="TextBox 20">
            <a:extLst>
              <a:ext uri="{FF2B5EF4-FFF2-40B4-BE49-F238E27FC236}">
                <a16:creationId xmlns:a16="http://schemas.microsoft.com/office/drawing/2014/main" id="{9FA53628-F12C-4630-8BE8-3E34F054E804}"/>
              </a:ext>
            </a:extLst>
          </p:cNvPr>
          <p:cNvSpPr>
            <a:spLocks noGrp="1"/>
          </p:cNvSpPr>
          <p:nvPr/>
        </p:nvSpPr>
        <p:spPr>
          <a:xfrm>
            <a:off x="4973052" y="2098941"/>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Generation Span等</a:t>
            </a:r>
          </a:p>
        </p:txBody>
      </p:sp>
      <p:sp>
        <p:nvSpPr>
          <p:cNvPr id="22" name="TextBox 21">
            <a:extLst>
              <a:ext uri="{FF2B5EF4-FFF2-40B4-BE49-F238E27FC236}">
                <a16:creationId xmlns:a16="http://schemas.microsoft.com/office/drawing/2014/main" id="{7524F76B-C675-482E-89F6-59537126D519}"/>
              </a:ext>
            </a:extLst>
          </p:cNvPr>
          <p:cNvSpPr>
            <a:spLocks noGrp="1"/>
          </p:cNvSpPr>
          <p:nvPr/>
        </p:nvSpPr>
        <p:spPr>
          <a:xfrm>
            <a:off x="8392937" y="2098941"/>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Telemetry</a:t>
            </a:r>
          </a:p>
        </p:txBody>
      </p:sp>
      <p:sp>
        <p:nvSpPr>
          <p:cNvPr id="23" name="Rectangle 22">
            <a:extLst>
              <a:ext uri="{FF2B5EF4-FFF2-40B4-BE49-F238E27FC236}">
                <a16:creationId xmlns:a16="http://schemas.microsoft.com/office/drawing/2014/main" id="{6F8B56B8-2A8D-4130-B0EC-35145B0ED79D}"/>
              </a:ext>
            </a:extLst>
          </p:cNvPr>
          <p:cNvSpPr>
            <a:spLocks noGrp="1"/>
          </p:cNvSpPr>
          <p:nvPr/>
        </p:nvSpPr>
        <p:spPr>
          <a:xfrm>
            <a:off x="379177" y="2441477"/>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BFAB20F9-77DB-4185-9826-14264B27248A}"/>
              </a:ext>
            </a:extLst>
          </p:cNvPr>
          <p:cNvSpPr>
            <a:spLocks noGrp="1"/>
          </p:cNvSpPr>
          <p:nvPr/>
        </p:nvSpPr>
        <p:spPr>
          <a:xfrm>
            <a:off x="4973052" y="2441477"/>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128DE542-437D-4749-96C1-75472EC4E967}"/>
              </a:ext>
            </a:extLst>
          </p:cNvPr>
          <p:cNvSpPr>
            <a:spLocks noGrp="1"/>
          </p:cNvSpPr>
          <p:nvPr/>
        </p:nvSpPr>
        <p:spPr>
          <a:xfrm>
            <a:off x="8392937" y="2441477"/>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1FFC44-3A58-4887-AD22-46D561CFD50D}"/>
              </a:ext>
            </a:extLst>
          </p:cNvPr>
          <p:cNvSpPr>
            <a:spLocks noGrp="1"/>
          </p:cNvSpPr>
          <p:nvPr/>
        </p:nvSpPr>
        <p:spPr>
          <a:xfrm>
            <a:off x="627100" y="2477917"/>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ea typeface="IPAexGothic"/>
                <a:cs typeface="IPAexGothic"/>
              </a:rPr>
              <a:t>Tool Call：Function Span等／Hook，Telemetry</a:t>
            </a:r>
          </a:p>
        </p:txBody>
      </p:sp>
      <p:sp>
        <p:nvSpPr>
          <p:cNvPr id="27" name="TextBox 26">
            <a:extLst>
              <a:ext uri="{FF2B5EF4-FFF2-40B4-BE49-F238E27FC236}">
                <a16:creationId xmlns:a16="http://schemas.microsoft.com/office/drawing/2014/main" id="{76A06DC6-F8D8-4283-ADA4-D57BC02A3F26}"/>
              </a:ext>
            </a:extLst>
          </p:cNvPr>
          <p:cNvSpPr>
            <a:spLocks noGrp="1"/>
          </p:cNvSpPr>
          <p:nvPr/>
        </p:nvSpPr>
        <p:spPr>
          <a:xfrm>
            <a:off x="4973052" y="2477917"/>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Function Span等</a:t>
            </a:r>
          </a:p>
        </p:txBody>
      </p:sp>
      <p:sp>
        <p:nvSpPr>
          <p:cNvPr id="28" name="TextBox 27">
            <a:extLst>
              <a:ext uri="{FF2B5EF4-FFF2-40B4-BE49-F238E27FC236}">
                <a16:creationId xmlns:a16="http://schemas.microsoft.com/office/drawing/2014/main" id="{CDB2AAF2-68FC-4E8B-8512-7AF1F8798C96}"/>
              </a:ext>
            </a:extLst>
          </p:cNvPr>
          <p:cNvSpPr>
            <a:spLocks noGrp="1"/>
          </p:cNvSpPr>
          <p:nvPr/>
        </p:nvSpPr>
        <p:spPr>
          <a:xfrm>
            <a:off x="8392937" y="2477917"/>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Hook，Telemetry</a:t>
            </a:r>
          </a:p>
        </p:txBody>
      </p:sp>
      <p:sp>
        <p:nvSpPr>
          <p:cNvPr id="29" name="Rectangle 28">
            <a:extLst>
              <a:ext uri="{FF2B5EF4-FFF2-40B4-BE49-F238E27FC236}">
                <a16:creationId xmlns:a16="http://schemas.microsoft.com/office/drawing/2014/main" id="{4997F135-506A-4CAF-8D4B-7C67C6CB1144}"/>
              </a:ext>
            </a:extLst>
          </p:cNvPr>
          <p:cNvSpPr>
            <a:spLocks noGrp="1"/>
          </p:cNvSpPr>
          <p:nvPr/>
        </p:nvSpPr>
        <p:spPr>
          <a:xfrm>
            <a:off x="379177" y="2820452"/>
            <a:ext cx="4593875" cy="546599"/>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0098F596-73C4-4D44-9173-A4241D1128F2}"/>
              </a:ext>
            </a:extLst>
          </p:cNvPr>
          <p:cNvSpPr>
            <a:spLocks noGrp="1"/>
          </p:cNvSpPr>
          <p:nvPr/>
        </p:nvSpPr>
        <p:spPr>
          <a:xfrm>
            <a:off x="4973052" y="2820452"/>
            <a:ext cx="3419885" cy="546599"/>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EEB29898-E7D0-4668-B878-1F291D87D4B5}"/>
              </a:ext>
            </a:extLst>
          </p:cNvPr>
          <p:cNvSpPr>
            <a:spLocks noGrp="1"/>
          </p:cNvSpPr>
          <p:nvPr/>
        </p:nvSpPr>
        <p:spPr>
          <a:xfrm>
            <a:off x="8392937" y="2820452"/>
            <a:ext cx="3237588" cy="546599"/>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7E73774C-F56B-4144-8888-63580D451676}"/>
              </a:ext>
            </a:extLst>
          </p:cNvPr>
          <p:cNvSpPr>
            <a:spLocks noGrp="1"/>
          </p:cNvSpPr>
          <p:nvPr/>
        </p:nvSpPr>
        <p:spPr>
          <a:xfrm>
            <a:off x="627100" y="2856892"/>
            <a:ext cx="4192822" cy="473719"/>
          </a:xfrm>
          <a:prstGeom prst="rect">
            <a:avLst/>
          </a:prstGeom>
          <a:noFill/>
          <a:ln>
            <a:noFill/>
          </a:ln>
          <a:effectLst/>
        </p:spPr>
        <p:txBody>
          <a:bodyPr wrap="square" lIns="0" tIns="0" rIns="0" bIns="0" anchor="ctr">
            <a:spAutoFit/>
          </a:bodyPr>
          <a:lstStyle/>
          <a:p>
            <a:pPr algn="l">
              <a:buNone/>
            </a:pPr>
            <a:r>
              <a:rPr sz="1130" b="0">
                <a:solidFill>
                  <a:srgbClr val="141414"/>
                </a:solidFill>
                <a:latin typeface="IPAexGothic"/>
                <a:ea typeface="IPAexGothic"/>
                <a:cs typeface="IPAexGothic"/>
              </a:rPr>
              <a:t>GuardrailまたはPermission判断：Guardrail Span等／</a:t>
            </a:r>
          </a:p>
          <a:p>
            <a:pPr algn="l">
              <a:buNone/>
            </a:pPr>
            <a:r>
              <a:rPr sz="1130" b="0">
                <a:solidFill>
                  <a:srgbClr val="141414"/>
                </a:solidFill>
                <a:latin typeface="IPAexGothic"/>
                <a:ea typeface="IPAexGothic"/>
                <a:cs typeface="IPAexGothic"/>
              </a:rPr>
              <a:t>Permission，Tool decision 等</a:t>
            </a:r>
          </a:p>
        </p:txBody>
      </p:sp>
      <p:sp>
        <p:nvSpPr>
          <p:cNvPr id="33" name="TextBox 32">
            <a:extLst>
              <a:ext uri="{FF2B5EF4-FFF2-40B4-BE49-F238E27FC236}">
                <a16:creationId xmlns:a16="http://schemas.microsoft.com/office/drawing/2014/main" id="{13721FEE-2EFE-4F6E-91F6-985AA6AB5141}"/>
              </a:ext>
            </a:extLst>
          </p:cNvPr>
          <p:cNvSpPr>
            <a:spLocks noGrp="1"/>
          </p:cNvSpPr>
          <p:nvPr/>
        </p:nvSpPr>
        <p:spPr>
          <a:xfrm>
            <a:off x="4973052" y="2856892"/>
            <a:ext cx="3419885" cy="473719"/>
          </a:xfrm>
          <a:prstGeom prst="rect">
            <a:avLst/>
          </a:prstGeom>
          <a:noFill/>
          <a:ln>
            <a:noFill/>
          </a:ln>
          <a:effectLst/>
        </p:spPr>
        <p:txBody>
          <a:bodyPr wrap="square" lIns="0" tIns="0" rIns="0" bIns="0" anchor="ctr">
            <a:spAutoFit/>
          </a:bodyPr>
          <a:lstStyle/>
          <a:p>
            <a:pPr algn="ctr">
              <a:buNone/>
            </a:pPr>
            <a:r>
              <a:rPr sz="1130" b="0">
                <a:solidFill>
                  <a:srgbClr val="141414"/>
                </a:solidFill>
                <a:latin typeface="IPAexGothic"/>
                <a:ea typeface="IPAexGothic"/>
                <a:cs typeface="IPAexGothic"/>
              </a:rPr>
              <a:t>Guardrail Span等</a:t>
            </a:r>
          </a:p>
        </p:txBody>
      </p:sp>
      <p:sp>
        <p:nvSpPr>
          <p:cNvPr id="34" name="TextBox 33">
            <a:extLst>
              <a:ext uri="{FF2B5EF4-FFF2-40B4-BE49-F238E27FC236}">
                <a16:creationId xmlns:a16="http://schemas.microsoft.com/office/drawing/2014/main" id="{F1D7365F-2FDD-4B04-935D-78A37134F6E4}"/>
              </a:ext>
            </a:extLst>
          </p:cNvPr>
          <p:cNvSpPr>
            <a:spLocks noGrp="1"/>
          </p:cNvSpPr>
          <p:nvPr/>
        </p:nvSpPr>
        <p:spPr>
          <a:xfrm>
            <a:off x="8392937" y="2856892"/>
            <a:ext cx="3237588" cy="473719"/>
          </a:xfrm>
          <a:prstGeom prst="rect">
            <a:avLst/>
          </a:prstGeom>
          <a:noFill/>
          <a:ln>
            <a:noFill/>
          </a:ln>
          <a:effectLst/>
        </p:spPr>
        <p:txBody>
          <a:bodyPr wrap="square" lIns="0" tIns="0" rIns="0" bIns="0" anchor="ctr">
            <a:spAutoFit/>
          </a:bodyPr>
          <a:lstStyle/>
          <a:p>
            <a:pPr algn="ctr">
              <a:buNone/>
            </a:pPr>
            <a:r>
              <a:rPr sz="1130" b="0">
                <a:solidFill>
                  <a:srgbClr val="141414"/>
                </a:solidFill>
                <a:latin typeface="IPAexGothic"/>
                <a:ea typeface="IPAexGothic"/>
                <a:cs typeface="IPAexGothic"/>
              </a:rPr>
              <a:t>Permission，Tool decision等</a:t>
            </a:r>
          </a:p>
        </p:txBody>
      </p:sp>
      <p:sp>
        <p:nvSpPr>
          <p:cNvPr id="35" name="Rectangle 34">
            <a:extLst>
              <a:ext uri="{FF2B5EF4-FFF2-40B4-BE49-F238E27FC236}">
                <a16:creationId xmlns:a16="http://schemas.microsoft.com/office/drawing/2014/main" id="{2C70F34F-134B-4582-9040-A4B7A990B91F}"/>
              </a:ext>
            </a:extLst>
          </p:cNvPr>
          <p:cNvSpPr>
            <a:spLocks noGrp="1"/>
          </p:cNvSpPr>
          <p:nvPr/>
        </p:nvSpPr>
        <p:spPr>
          <a:xfrm>
            <a:off x="379177" y="3367052"/>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ctangle 35">
            <a:extLst>
              <a:ext uri="{FF2B5EF4-FFF2-40B4-BE49-F238E27FC236}">
                <a16:creationId xmlns:a16="http://schemas.microsoft.com/office/drawing/2014/main" id="{8BBF3C1C-51E5-487A-93F7-1BDB51CCF8D2}"/>
              </a:ext>
            </a:extLst>
          </p:cNvPr>
          <p:cNvSpPr>
            <a:spLocks noGrp="1"/>
          </p:cNvSpPr>
          <p:nvPr/>
        </p:nvSpPr>
        <p:spPr>
          <a:xfrm>
            <a:off x="4973052" y="3367052"/>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265D63A6-D1DC-443F-8FEF-2E7E2969015E}"/>
              </a:ext>
            </a:extLst>
          </p:cNvPr>
          <p:cNvSpPr>
            <a:spLocks noGrp="1"/>
          </p:cNvSpPr>
          <p:nvPr/>
        </p:nvSpPr>
        <p:spPr>
          <a:xfrm>
            <a:off x="8392937" y="3367052"/>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2B4A2C41-AB83-4BB7-84E8-675C54E42DBC}"/>
              </a:ext>
            </a:extLst>
          </p:cNvPr>
          <p:cNvSpPr>
            <a:spLocks noGrp="1"/>
          </p:cNvSpPr>
          <p:nvPr/>
        </p:nvSpPr>
        <p:spPr>
          <a:xfrm>
            <a:off x="627100" y="3403492"/>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ea typeface="IPAexGothic"/>
                <a:cs typeface="IPAexGothic"/>
              </a:rPr>
              <a:t>Lifecycle：RunHooks，AgentHooks</a:t>
            </a:r>
          </a:p>
        </p:txBody>
      </p:sp>
      <p:sp>
        <p:nvSpPr>
          <p:cNvPr id="39" name="TextBox 38">
            <a:extLst>
              <a:ext uri="{FF2B5EF4-FFF2-40B4-BE49-F238E27FC236}">
                <a16:creationId xmlns:a16="http://schemas.microsoft.com/office/drawing/2014/main" id="{E7A4161E-4781-4D41-B167-438C703884A6}"/>
              </a:ext>
            </a:extLst>
          </p:cNvPr>
          <p:cNvSpPr>
            <a:spLocks noGrp="1"/>
          </p:cNvSpPr>
          <p:nvPr/>
        </p:nvSpPr>
        <p:spPr>
          <a:xfrm>
            <a:off x="4973052" y="3403492"/>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RunHooks，AgentHooks</a:t>
            </a:r>
          </a:p>
        </p:txBody>
      </p:sp>
      <p:sp>
        <p:nvSpPr>
          <p:cNvPr id="40" name="TextBox 39">
            <a:extLst>
              <a:ext uri="{FF2B5EF4-FFF2-40B4-BE49-F238E27FC236}">
                <a16:creationId xmlns:a16="http://schemas.microsoft.com/office/drawing/2014/main" id="{3CEF4C0F-E047-45A7-87E5-FBA9006947B2}"/>
              </a:ext>
            </a:extLst>
          </p:cNvPr>
          <p:cNvSpPr>
            <a:spLocks noGrp="1"/>
          </p:cNvSpPr>
          <p:nvPr/>
        </p:nvSpPr>
        <p:spPr>
          <a:xfrm>
            <a:off x="8392937" y="3403492"/>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各種Hooks</a:t>
            </a:r>
          </a:p>
        </p:txBody>
      </p:sp>
      <p:sp>
        <p:nvSpPr>
          <p:cNvPr id="41" name="Rectangle 40">
            <a:extLst>
              <a:ext uri="{FF2B5EF4-FFF2-40B4-BE49-F238E27FC236}">
                <a16:creationId xmlns:a16="http://schemas.microsoft.com/office/drawing/2014/main" id="{FCA4A7D4-D4C9-45D2-8FF1-78EC498C734D}"/>
              </a:ext>
            </a:extLst>
          </p:cNvPr>
          <p:cNvSpPr>
            <a:spLocks noGrp="1"/>
          </p:cNvSpPr>
          <p:nvPr/>
        </p:nvSpPr>
        <p:spPr>
          <a:xfrm>
            <a:off x="379177" y="3746027"/>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1DE19E69-CFAA-482A-8155-5A31C2BAFC3B}"/>
              </a:ext>
            </a:extLst>
          </p:cNvPr>
          <p:cNvSpPr>
            <a:spLocks noGrp="1"/>
          </p:cNvSpPr>
          <p:nvPr/>
        </p:nvSpPr>
        <p:spPr>
          <a:xfrm>
            <a:off x="4973052" y="3746027"/>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FB907B56-465E-4F7C-AB96-EB2BBF495530}"/>
              </a:ext>
            </a:extLst>
          </p:cNvPr>
          <p:cNvSpPr>
            <a:spLocks noGrp="1"/>
          </p:cNvSpPr>
          <p:nvPr/>
        </p:nvSpPr>
        <p:spPr>
          <a:xfrm>
            <a:off x="8392937" y="3746027"/>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437404BD-0501-4C7C-9C65-A310450EFFF0}"/>
              </a:ext>
            </a:extLst>
          </p:cNvPr>
          <p:cNvSpPr>
            <a:spLocks noGrp="1"/>
          </p:cNvSpPr>
          <p:nvPr/>
        </p:nvSpPr>
        <p:spPr>
          <a:xfrm>
            <a:off x="627100" y="3782467"/>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ea typeface="IPAexGothic"/>
                <a:cs typeface="IPAexGothic"/>
              </a:rPr>
              <a:t>Token，Cost：Usage，Traceと併用</a:t>
            </a:r>
          </a:p>
        </p:txBody>
      </p:sp>
      <p:sp>
        <p:nvSpPr>
          <p:cNvPr id="45" name="TextBox 44">
            <a:extLst>
              <a:ext uri="{FF2B5EF4-FFF2-40B4-BE49-F238E27FC236}">
                <a16:creationId xmlns:a16="http://schemas.microsoft.com/office/drawing/2014/main" id="{6BCCF618-DDB8-4453-94DC-CA3098C6B281}"/>
              </a:ext>
            </a:extLst>
          </p:cNvPr>
          <p:cNvSpPr>
            <a:spLocks noGrp="1"/>
          </p:cNvSpPr>
          <p:nvPr/>
        </p:nvSpPr>
        <p:spPr>
          <a:xfrm>
            <a:off x="4973052" y="3782467"/>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Usage，Traceと併用</a:t>
            </a:r>
          </a:p>
        </p:txBody>
      </p:sp>
      <p:sp>
        <p:nvSpPr>
          <p:cNvPr id="46" name="TextBox 45">
            <a:extLst>
              <a:ext uri="{FF2B5EF4-FFF2-40B4-BE49-F238E27FC236}">
                <a16:creationId xmlns:a16="http://schemas.microsoft.com/office/drawing/2014/main" id="{96BD794D-7181-464A-9527-2046C5DE56EB}"/>
              </a:ext>
            </a:extLst>
          </p:cNvPr>
          <p:cNvSpPr>
            <a:spLocks noGrp="1"/>
          </p:cNvSpPr>
          <p:nvPr/>
        </p:nvSpPr>
        <p:spPr>
          <a:xfrm>
            <a:off x="8392937" y="3782467"/>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Usage，Metrics，Events</a:t>
            </a:r>
          </a:p>
        </p:txBody>
      </p:sp>
      <p:sp>
        <p:nvSpPr>
          <p:cNvPr id="47" name="Rectangle 46">
            <a:extLst>
              <a:ext uri="{FF2B5EF4-FFF2-40B4-BE49-F238E27FC236}">
                <a16:creationId xmlns:a16="http://schemas.microsoft.com/office/drawing/2014/main" id="{FF0E05E1-C563-4EEA-B04A-1072F36D575F}"/>
              </a:ext>
            </a:extLst>
          </p:cNvPr>
          <p:cNvSpPr>
            <a:spLocks noGrp="1"/>
          </p:cNvSpPr>
          <p:nvPr/>
        </p:nvSpPr>
        <p:spPr>
          <a:xfrm>
            <a:off x="379177" y="4125003"/>
            <a:ext cx="459387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7DDE4898-BCC4-4CEA-9A71-876FA95E9081}"/>
              </a:ext>
            </a:extLst>
          </p:cNvPr>
          <p:cNvSpPr>
            <a:spLocks noGrp="1"/>
          </p:cNvSpPr>
          <p:nvPr/>
        </p:nvSpPr>
        <p:spPr>
          <a:xfrm>
            <a:off x="4973052" y="4125003"/>
            <a:ext cx="3419885"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Rectangle 48">
            <a:extLst>
              <a:ext uri="{FF2B5EF4-FFF2-40B4-BE49-F238E27FC236}">
                <a16:creationId xmlns:a16="http://schemas.microsoft.com/office/drawing/2014/main" id="{DE7734B2-65F9-44E8-BFCF-531F8CA99177}"/>
              </a:ext>
            </a:extLst>
          </p:cNvPr>
          <p:cNvSpPr>
            <a:spLocks noGrp="1"/>
          </p:cNvSpPr>
          <p:nvPr/>
        </p:nvSpPr>
        <p:spPr>
          <a:xfrm>
            <a:off x="8392937" y="4125003"/>
            <a:ext cx="3237588" cy="378975"/>
          </a:xfrm>
          <a:prstGeom prst="rect">
            <a:avLst/>
          </a:prstGeom>
          <a:solidFill>
            <a:srgbClr val="FFFFFF"/>
          </a:solidFill>
          <a:ln w="1016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80504C58-82C0-4A27-87A9-8833677F86EE}"/>
              </a:ext>
            </a:extLst>
          </p:cNvPr>
          <p:cNvSpPr>
            <a:spLocks noGrp="1"/>
          </p:cNvSpPr>
          <p:nvPr/>
        </p:nvSpPr>
        <p:spPr>
          <a:xfrm>
            <a:off x="627100" y="4161443"/>
            <a:ext cx="4192822" cy="306095"/>
          </a:xfrm>
          <a:prstGeom prst="rect">
            <a:avLst/>
          </a:prstGeom>
          <a:noFill/>
          <a:ln>
            <a:noFill/>
          </a:ln>
          <a:effectLst/>
        </p:spPr>
        <p:txBody>
          <a:bodyPr wrap="square" lIns="0" tIns="0" rIns="0" bIns="0" anchor="ctr">
            <a:spAutoFit/>
          </a:bodyPr>
          <a:lstStyle/>
          <a:p>
            <a:pPr algn="l">
              <a:buNone/>
            </a:pPr>
            <a:r>
              <a:rPr sz="1180" b="0">
                <a:solidFill>
                  <a:srgbClr val="141414"/>
                </a:solidFill>
                <a:latin typeface="IPAexGothic"/>
              </a:rPr>
              <a:t>機密情報への注意：trace_include_sensitive_data等</a:t>
            </a:r>
          </a:p>
        </p:txBody>
      </p:sp>
      <p:sp>
        <p:nvSpPr>
          <p:cNvPr id="51" name="TextBox 50">
            <a:extLst>
              <a:ext uri="{FF2B5EF4-FFF2-40B4-BE49-F238E27FC236}">
                <a16:creationId xmlns:a16="http://schemas.microsoft.com/office/drawing/2014/main" id="{004E916D-A3C5-47CE-BB11-1A330DEE34D2}"/>
              </a:ext>
            </a:extLst>
          </p:cNvPr>
          <p:cNvSpPr>
            <a:spLocks noGrp="1"/>
          </p:cNvSpPr>
          <p:nvPr/>
        </p:nvSpPr>
        <p:spPr>
          <a:xfrm>
            <a:off x="4973052" y="4161443"/>
            <a:ext cx="3419885"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trace_include_sensitive_data等</a:t>
            </a:r>
          </a:p>
        </p:txBody>
      </p:sp>
      <p:sp>
        <p:nvSpPr>
          <p:cNvPr id="52" name="TextBox 51">
            <a:extLst>
              <a:ext uri="{FF2B5EF4-FFF2-40B4-BE49-F238E27FC236}">
                <a16:creationId xmlns:a16="http://schemas.microsoft.com/office/drawing/2014/main" id="{0F8E0262-B0FF-4E11-B91E-1B771D81CA25}"/>
              </a:ext>
            </a:extLst>
          </p:cNvPr>
          <p:cNvSpPr>
            <a:spLocks noGrp="1"/>
          </p:cNvSpPr>
          <p:nvPr/>
        </p:nvSpPr>
        <p:spPr>
          <a:xfrm>
            <a:off x="8392937" y="4161443"/>
            <a:ext cx="3237588" cy="306095"/>
          </a:xfrm>
          <a:prstGeom prst="rect">
            <a:avLst/>
          </a:prstGeom>
          <a:noFill/>
          <a:ln>
            <a:noFill/>
          </a:ln>
          <a:effectLst/>
        </p:spPr>
        <p:txBody>
          <a:bodyPr wrap="square" lIns="0" tIns="0" rIns="0" bIns="0" anchor="ctr">
            <a:spAutoFit/>
          </a:bodyPr>
          <a:lstStyle/>
          <a:p>
            <a:pPr algn="ctr">
              <a:buNone/>
            </a:pPr>
            <a:r>
              <a:rPr sz="1180" b="0">
                <a:solidFill>
                  <a:srgbClr val="141414"/>
                </a:solidFill>
                <a:latin typeface="IPAexGothic"/>
                <a:ea typeface="IPAexGothic"/>
                <a:cs typeface="IPAexGothic"/>
              </a:rPr>
              <a:t>content logging設定等</a:t>
            </a:r>
          </a:p>
        </p:txBody>
      </p:sp>
      <p:sp>
        <p:nvSpPr>
          <p:cNvPr id="53" name="TextBox 52">
            <a:extLst>
              <a:ext uri="{FF2B5EF4-FFF2-40B4-BE49-F238E27FC236}">
                <a16:creationId xmlns:a16="http://schemas.microsoft.com/office/drawing/2014/main" id="{4475973D-12F0-4FEC-93CC-89B2A6F1C01D}"/>
              </a:ext>
            </a:extLst>
          </p:cNvPr>
          <p:cNvSpPr>
            <a:spLocks noGrp="1"/>
          </p:cNvSpPr>
          <p:nvPr/>
        </p:nvSpPr>
        <p:spPr>
          <a:xfrm>
            <a:off x="422928" y="4700754"/>
            <a:ext cx="1093779" cy="204063"/>
          </a:xfrm>
          <a:prstGeom prst="rect">
            <a:avLst/>
          </a:prstGeom>
          <a:noFill/>
          <a:ln>
            <a:noFill/>
          </a:ln>
          <a:effectLst/>
        </p:spPr>
        <p:txBody>
          <a:bodyPr wrap="none" lIns="0" tIns="0" rIns="0" bIns="0" anchor="ctr">
            <a:spAutoFit/>
          </a:bodyPr>
          <a:lstStyle/>
          <a:p>
            <a:pPr algn="l">
              <a:buNone/>
            </a:pPr>
            <a:r>
              <a:rPr sz="1380" b="1">
                <a:solidFill>
                  <a:srgbClr val="052C7E"/>
                </a:solidFill>
                <a:latin typeface="IPAexGothic"/>
                <a:ea typeface="IPAexGothic"/>
                <a:cs typeface="IPAexGothic"/>
              </a:rPr>
              <a:t>小さな流れ</a:t>
            </a:r>
          </a:p>
        </p:txBody>
      </p:sp>
      <p:sp>
        <p:nvSpPr>
          <p:cNvPr id="54" name="Rectangle 53">
            <a:extLst>
              <a:ext uri="{FF2B5EF4-FFF2-40B4-BE49-F238E27FC236}">
                <a16:creationId xmlns:a16="http://schemas.microsoft.com/office/drawing/2014/main" id="{3DEDB7F6-B623-4D6C-B393-C916339340D1}"/>
              </a:ext>
            </a:extLst>
          </p:cNvPr>
          <p:cNvSpPr>
            <a:spLocks noGrp="1"/>
          </p:cNvSpPr>
          <p:nvPr/>
        </p:nvSpPr>
        <p:spPr>
          <a:xfrm>
            <a:off x="386468" y="4963122"/>
            <a:ext cx="1086488" cy="677783"/>
          </a:xfrm>
          <a:prstGeom prst="rect">
            <a:avLst/>
          </a:prstGeom>
          <a:solidFill>
            <a:srgbClr val="FFFFFF"/>
          </a:solidFill>
          <a:ln w="1270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4F065D9B-E9FF-4144-AEB3-B5499B057506}"/>
              </a:ext>
            </a:extLst>
          </p:cNvPr>
          <p:cNvSpPr>
            <a:spLocks noGrp="1"/>
          </p:cNvSpPr>
          <p:nvPr/>
        </p:nvSpPr>
        <p:spPr>
          <a:xfrm>
            <a:off x="386468" y="5108882"/>
            <a:ext cx="1086488" cy="364399"/>
          </a:xfrm>
          <a:prstGeom prst="rect">
            <a:avLst/>
          </a:prstGeom>
          <a:noFill/>
          <a:ln>
            <a:noFill/>
          </a:ln>
          <a:effectLst/>
        </p:spPr>
        <p:txBody>
          <a:bodyPr wrap="none" lIns="0" tIns="0" rIns="0" bIns="0" anchor="ctr">
            <a:spAutoFit/>
          </a:bodyPr>
          <a:lstStyle/>
          <a:p>
            <a:pPr algn="ctr">
              <a:buNone/>
            </a:pPr>
            <a:r>
              <a:rPr sz="1300" b="0">
                <a:solidFill>
                  <a:srgbClr val="141414"/>
                </a:solidFill>
                <a:latin typeface="IPAexGothic"/>
                <a:ea typeface="IPAexGothic"/>
                <a:cs typeface="IPAexGothic"/>
              </a:rPr>
              <a:t>Action</a:t>
            </a:r>
          </a:p>
          <a:p>
            <a:pPr algn="ctr">
              <a:buNone/>
            </a:pPr>
            <a:r>
              <a:rPr sz="1300" b="0">
                <a:solidFill>
                  <a:srgbClr val="141414"/>
                </a:solidFill>
                <a:latin typeface="IPAexGothic"/>
                <a:ea typeface="IPAexGothic"/>
                <a:cs typeface="IPAexGothic"/>
              </a:rPr>
              <a:t>Request</a:t>
            </a:r>
          </a:p>
        </p:txBody>
      </p:sp>
      <p:sp>
        <p:nvSpPr>
          <p:cNvPr id="56" name="Rectangle 55">
            <a:extLst>
              <a:ext uri="{FF2B5EF4-FFF2-40B4-BE49-F238E27FC236}">
                <a16:creationId xmlns:a16="http://schemas.microsoft.com/office/drawing/2014/main" id="{7C3B2120-8F9D-4902-98C6-11502A444747}"/>
              </a:ext>
            </a:extLst>
          </p:cNvPr>
          <p:cNvSpPr>
            <a:spLocks noGrp="1"/>
          </p:cNvSpPr>
          <p:nvPr/>
        </p:nvSpPr>
        <p:spPr>
          <a:xfrm>
            <a:off x="1888593" y="4963122"/>
            <a:ext cx="1086488" cy="677783"/>
          </a:xfrm>
          <a:prstGeom prst="rect">
            <a:avLst/>
          </a:prstGeom>
          <a:solidFill>
            <a:srgbClr val="FFFFFF"/>
          </a:solidFill>
          <a:ln w="1270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92F70B61-30EA-4EF8-BBC0-BE8CF23F963E}"/>
              </a:ext>
            </a:extLst>
          </p:cNvPr>
          <p:cNvSpPr>
            <a:spLocks noGrp="1"/>
          </p:cNvSpPr>
          <p:nvPr/>
        </p:nvSpPr>
        <p:spPr>
          <a:xfrm>
            <a:off x="1888593" y="5108882"/>
            <a:ext cx="1086488" cy="364399"/>
          </a:xfrm>
          <a:prstGeom prst="rect">
            <a:avLst/>
          </a:prstGeom>
          <a:noFill/>
          <a:ln>
            <a:noFill/>
          </a:ln>
          <a:effectLst/>
        </p:spPr>
        <p:txBody>
          <a:bodyPr wrap="none" lIns="0" tIns="0" rIns="0" bIns="0" anchor="ctr">
            <a:spAutoFit/>
          </a:bodyPr>
          <a:lstStyle/>
          <a:p>
            <a:pPr algn="ctr">
              <a:buNone/>
            </a:pPr>
            <a:r>
              <a:rPr sz="1300" b="0">
                <a:solidFill>
                  <a:srgbClr val="141414"/>
                </a:solidFill>
                <a:latin typeface="IPAexGothic"/>
                <a:ea typeface="IPAexGothic"/>
                <a:cs typeface="IPAexGothic"/>
              </a:rPr>
              <a:t>Policy</a:t>
            </a:r>
          </a:p>
          <a:p>
            <a:pPr algn="ctr">
              <a:buNone/>
            </a:pPr>
            <a:r>
              <a:rPr sz="1300" b="0">
                <a:solidFill>
                  <a:srgbClr val="141414"/>
                </a:solidFill>
                <a:latin typeface="IPAexGothic"/>
                <a:ea typeface="IPAexGothic"/>
                <a:cs typeface="IPAexGothic"/>
              </a:rPr>
              <a:t>Decision</a:t>
            </a:r>
          </a:p>
        </p:txBody>
      </p:sp>
      <p:sp>
        <p:nvSpPr>
          <p:cNvPr id="58" name="Rectangle 57">
            <a:extLst>
              <a:ext uri="{FF2B5EF4-FFF2-40B4-BE49-F238E27FC236}">
                <a16:creationId xmlns:a16="http://schemas.microsoft.com/office/drawing/2014/main" id="{3B64E432-7D94-4FF4-BB37-9507D89A3909}"/>
              </a:ext>
            </a:extLst>
          </p:cNvPr>
          <p:cNvSpPr>
            <a:spLocks noGrp="1"/>
          </p:cNvSpPr>
          <p:nvPr/>
        </p:nvSpPr>
        <p:spPr>
          <a:xfrm>
            <a:off x="3405301" y="4963122"/>
            <a:ext cx="1086488" cy="677783"/>
          </a:xfrm>
          <a:prstGeom prst="rect">
            <a:avLst/>
          </a:prstGeom>
          <a:solidFill>
            <a:srgbClr val="FFFFFF"/>
          </a:solidFill>
          <a:ln w="1270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2C8AC493-A566-4D94-84CF-6A84EA568442}"/>
              </a:ext>
            </a:extLst>
          </p:cNvPr>
          <p:cNvSpPr>
            <a:spLocks noGrp="1"/>
          </p:cNvSpPr>
          <p:nvPr/>
        </p:nvSpPr>
        <p:spPr>
          <a:xfrm>
            <a:off x="3405301" y="5108882"/>
            <a:ext cx="1086488" cy="364399"/>
          </a:xfrm>
          <a:prstGeom prst="rect">
            <a:avLst/>
          </a:prstGeom>
          <a:noFill/>
          <a:ln>
            <a:noFill/>
          </a:ln>
          <a:effectLst/>
        </p:spPr>
        <p:txBody>
          <a:bodyPr wrap="none" lIns="0" tIns="0" rIns="0" bIns="0" anchor="ctr">
            <a:spAutoFit/>
          </a:bodyPr>
          <a:lstStyle/>
          <a:p>
            <a:pPr algn="ctr">
              <a:buNone/>
            </a:pPr>
            <a:r>
              <a:rPr sz="1300" b="0">
                <a:solidFill>
                  <a:srgbClr val="141414"/>
                </a:solidFill>
                <a:latin typeface="IPAexGothic"/>
                <a:ea typeface="IPAexGothic"/>
                <a:cs typeface="IPAexGothic"/>
              </a:rPr>
              <a:t>Tool</a:t>
            </a:r>
          </a:p>
          <a:p>
            <a:pPr algn="ctr">
              <a:buNone/>
            </a:pPr>
            <a:r>
              <a:rPr sz="1300" b="0">
                <a:solidFill>
                  <a:srgbClr val="141414"/>
                </a:solidFill>
                <a:latin typeface="IPAexGothic"/>
                <a:ea typeface="IPAexGothic"/>
                <a:cs typeface="IPAexGothic"/>
              </a:rPr>
              <a:t>Execution</a:t>
            </a:r>
          </a:p>
        </p:txBody>
      </p:sp>
      <p:sp>
        <p:nvSpPr>
          <p:cNvPr id="60" name="Rectangle 59">
            <a:extLst>
              <a:ext uri="{FF2B5EF4-FFF2-40B4-BE49-F238E27FC236}">
                <a16:creationId xmlns:a16="http://schemas.microsoft.com/office/drawing/2014/main" id="{B06D0E77-69F0-43F0-BDDF-CEC36BB84C47}"/>
              </a:ext>
            </a:extLst>
          </p:cNvPr>
          <p:cNvSpPr>
            <a:spLocks noGrp="1"/>
          </p:cNvSpPr>
          <p:nvPr/>
        </p:nvSpPr>
        <p:spPr>
          <a:xfrm>
            <a:off x="4929301" y="4963122"/>
            <a:ext cx="1086488" cy="677783"/>
          </a:xfrm>
          <a:prstGeom prst="rect">
            <a:avLst/>
          </a:prstGeom>
          <a:solidFill>
            <a:srgbClr val="FFFFFF"/>
          </a:solidFill>
          <a:ln w="1270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701F4F01-88C1-4558-8213-E491D5AD3E03}"/>
              </a:ext>
            </a:extLst>
          </p:cNvPr>
          <p:cNvSpPr>
            <a:spLocks noGrp="1"/>
          </p:cNvSpPr>
          <p:nvPr/>
        </p:nvSpPr>
        <p:spPr>
          <a:xfrm>
            <a:off x="4929301" y="5108882"/>
            <a:ext cx="1086488" cy="364399"/>
          </a:xfrm>
          <a:prstGeom prst="rect">
            <a:avLst/>
          </a:prstGeom>
          <a:noFill/>
          <a:ln>
            <a:noFill/>
          </a:ln>
          <a:effectLst/>
        </p:spPr>
        <p:txBody>
          <a:bodyPr wrap="none" lIns="0" tIns="0" rIns="0" bIns="0" anchor="ctr">
            <a:spAutoFit/>
          </a:bodyPr>
          <a:lstStyle/>
          <a:p>
            <a:pPr algn="ctr">
              <a:buNone/>
            </a:pPr>
            <a:r>
              <a:rPr sz="1300" b="0">
                <a:solidFill>
                  <a:srgbClr val="141414"/>
                </a:solidFill>
                <a:latin typeface="IPAexGothic"/>
                <a:ea typeface="IPAexGothic"/>
                <a:cs typeface="IPAexGothic"/>
              </a:rPr>
              <a:t>Trace／Log</a:t>
            </a:r>
          </a:p>
        </p:txBody>
      </p:sp>
      <p:sp>
        <p:nvSpPr>
          <p:cNvPr id="62" name="Right Arrow 61">
            <a:extLst>
              <a:ext uri="{FF2B5EF4-FFF2-40B4-BE49-F238E27FC236}">
                <a16:creationId xmlns:a16="http://schemas.microsoft.com/office/drawing/2014/main" id="{F65D9734-8C15-492D-B4C7-0DDAD7D8AFC0}"/>
              </a:ext>
            </a:extLst>
          </p:cNvPr>
          <p:cNvSpPr>
            <a:spLocks noGrp="1"/>
          </p:cNvSpPr>
          <p:nvPr/>
        </p:nvSpPr>
        <p:spPr>
          <a:xfrm>
            <a:off x="1494832" y="5196337"/>
            <a:ext cx="328133" cy="196775"/>
          </a:xfrm>
          <a:prstGeom prst="rightArrow">
            <a:avLst/>
          </a:prstGeom>
          <a:solidFill>
            <a:srgbClr val="052C7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Right Arrow 62">
            <a:extLst>
              <a:ext uri="{FF2B5EF4-FFF2-40B4-BE49-F238E27FC236}">
                <a16:creationId xmlns:a16="http://schemas.microsoft.com/office/drawing/2014/main" id="{63A502DE-97BA-4C36-BF82-70B3463812B1}"/>
              </a:ext>
            </a:extLst>
          </p:cNvPr>
          <p:cNvSpPr>
            <a:spLocks noGrp="1"/>
          </p:cNvSpPr>
          <p:nvPr/>
        </p:nvSpPr>
        <p:spPr>
          <a:xfrm>
            <a:off x="3004248" y="5196337"/>
            <a:ext cx="328133" cy="196775"/>
          </a:xfrm>
          <a:prstGeom prst="rightArrow">
            <a:avLst/>
          </a:prstGeom>
          <a:solidFill>
            <a:srgbClr val="052C7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Right Arrow 63">
            <a:extLst>
              <a:ext uri="{FF2B5EF4-FFF2-40B4-BE49-F238E27FC236}">
                <a16:creationId xmlns:a16="http://schemas.microsoft.com/office/drawing/2014/main" id="{B6F2DC47-942A-445A-8A42-E313FF8AF466}"/>
              </a:ext>
            </a:extLst>
          </p:cNvPr>
          <p:cNvSpPr>
            <a:spLocks noGrp="1"/>
          </p:cNvSpPr>
          <p:nvPr/>
        </p:nvSpPr>
        <p:spPr>
          <a:xfrm>
            <a:off x="4520956" y="5196337"/>
            <a:ext cx="328133" cy="196775"/>
          </a:xfrm>
          <a:prstGeom prst="rightArrow">
            <a:avLst/>
          </a:prstGeom>
          <a:solidFill>
            <a:srgbClr val="052C7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39A4F7D-B627-47D3-8363-7F49C1936D64}"/>
              </a:ext>
            </a:extLst>
          </p:cNvPr>
          <p:cNvSpPr>
            <a:spLocks noGrp="1"/>
          </p:cNvSpPr>
          <p:nvPr/>
        </p:nvSpPr>
        <p:spPr>
          <a:xfrm>
            <a:off x="6708516" y="4678890"/>
            <a:ext cx="947942" cy="204063"/>
          </a:xfrm>
          <a:prstGeom prst="rect">
            <a:avLst/>
          </a:prstGeom>
          <a:noFill/>
          <a:ln>
            <a:noFill/>
          </a:ln>
          <a:effectLst/>
        </p:spPr>
        <p:txBody>
          <a:bodyPr wrap="none" lIns="0" tIns="0" rIns="0" bIns="0" anchor="ctr">
            <a:spAutoFit/>
          </a:bodyPr>
          <a:lstStyle/>
          <a:p>
            <a:pPr algn="l">
              <a:buNone/>
            </a:pPr>
            <a:r>
              <a:rPr sz="1500" b="1">
                <a:solidFill>
                  <a:srgbClr val="052C7E"/>
                </a:solidFill>
                <a:latin typeface="IPAexGothic"/>
                <a:ea typeface="IPAexGothic"/>
                <a:cs typeface="IPAexGothic"/>
              </a:rPr>
              <a:t>注意点</a:t>
            </a:r>
          </a:p>
        </p:txBody>
      </p:sp>
      <p:sp>
        <p:nvSpPr>
          <p:cNvPr id="66" name="TextBox 65">
            <a:extLst>
              <a:ext uri="{FF2B5EF4-FFF2-40B4-BE49-F238E27FC236}">
                <a16:creationId xmlns:a16="http://schemas.microsoft.com/office/drawing/2014/main" id="{EAEF17DB-AAA3-4104-8820-7123012D69DB}"/>
              </a:ext>
            </a:extLst>
          </p:cNvPr>
          <p:cNvSpPr>
            <a:spLocks noGrp="1"/>
          </p:cNvSpPr>
          <p:nvPr/>
        </p:nvSpPr>
        <p:spPr>
          <a:xfrm>
            <a:off x="6599138" y="4941258"/>
            <a:ext cx="5250143" cy="196775"/>
          </a:xfrm>
          <a:prstGeom prst="rect">
            <a:avLst/>
          </a:prstGeom>
          <a:noFill/>
          <a:ln>
            <a:noFill/>
          </a:ln>
          <a:effectLst/>
        </p:spPr>
        <p:txBody>
          <a:bodyPr wrap="none" lIns="0" tIns="0" rIns="0" bIns="0" anchor="ctr">
            <a:spAutoFit/>
          </a:bodyPr>
          <a:lstStyle/>
          <a:p>
            <a:pPr algn="l">
              <a:buNone/>
            </a:pPr>
            <a:r>
              <a:rPr sz="1150" b="0">
                <a:solidFill>
                  <a:srgbClr val="141414"/>
                </a:solidFill>
                <a:latin typeface="IPAexGothic"/>
                <a:ea typeface="IPAexGothic"/>
                <a:cs typeface="IPAexGothic"/>
              </a:rPr>
              <a:t>・ 記録はPolicy改善や監査に有用</a:t>
            </a:r>
          </a:p>
        </p:txBody>
      </p:sp>
      <p:sp>
        <p:nvSpPr>
          <p:cNvPr id="67" name="TextBox 66">
            <a:extLst>
              <a:ext uri="{FF2B5EF4-FFF2-40B4-BE49-F238E27FC236}">
                <a16:creationId xmlns:a16="http://schemas.microsoft.com/office/drawing/2014/main" id="{16AC8D3F-02AB-408D-9702-2A2FB915E9C3}"/>
              </a:ext>
            </a:extLst>
          </p:cNvPr>
          <p:cNvSpPr>
            <a:spLocks noGrp="1"/>
          </p:cNvSpPr>
          <p:nvPr/>
        </p:nvSpPr>
        <p:spPr>
          <a:xfrm>
            <a:off x="6599138" y="5189049"/>
            <a:ext cx="5250143" cy="196775"/>
          </a:xfrm>
          <a:prstGeom prst="rect">
            <a:avLst/>
          </a:prstGeom>
          <a:noFill/>
          <a:ln>
            <a:noFill/>
          </a:ln>
          <a:effectLst/>
        </p:spPr>
        <p:txBody>
          <a:bodyPr wrap="none" lIns="0" tIns="0" rIns="0" bIns="0" anchor="ctr">
            <a:spAutoFit/>
          </a:bodyPr>
          <a:lstStyle/>
          <a:p>
            <a:pPr algn="l">
              <a:buNone/>
            </a:pPr>
            <a:r>
              <a:rPr sz="1150" b="0">
                <a:solidFill>
                  <a:srgbClr val="141414"/>
                </a:solidFill>
                <a:latin typeface="IPAexGothic"/>
                <a:ea typeface="IPAexGothic"/>
                <a:cs typeface="IPAexGothic"/>
              </a:rPr>
              <a:t>・ PromptやTool Resultには機密情報が含まれる可能性がある</a:t>
            </a:r>
          </a:p>
        </p:txBody>
      </p:sp>
      <p:sp>
        <p:nvSpPr>
          <p:cNvPr id="68" name="TextBox 67">
            <a:extLst>
              <a:ext uri="{FF2B5EF4-FFF2-40B4-BE49-F238E27FC236}">
                <a16:creationId xmlns:a16="http://schemas.microsoft.com/office/drawing/2014/main" id="{A47656BE-BF19-4BA1-835D-D182B071CA32}"/>
              </a:ext>
            </a:extLst>
          </p:cNvPr>
          <p:cNvSpPr>
            <a:spLocks noGrp="1"/>
          </p:cNvSpPr>
          <p:nvPr/>
        </p:nvSpPr>
        <p:spPr>
          <a:xfrm>
            <a:off x="6599138" y="5436841"/>
            <a:ext cx="5250143" cy="196775"/>
          </a:xfrm>
          <a:prstGeom prst="rect">
            <a:avLst/>
          </a:prstGeom>
          <a:noFill/>
          <a:ln>
            <a:noFill/>
          </a:ln>
          <a:effectLst/>
        </p:spPr>
        <p:txBody>
          <a:bodyPr wrap="none" lIns="0" tIns="0" rIns="0" bIns="0" anchor="ctr">
            <a:spAutoFit/>
          </a:bodyPr>
          <a:lstStyle/>
          <a:p>
            <a:pPr algn="l">
              <a:buNone/>
            </a:pPr>
            <a:r>
              <a:rPr sz="1150" b="0">
                <a:solidFill>
                  <a:srgbClr val="141414"/>
                </a:solidFill>
                <a:latin typeface="IPAexGothic"/>
                <a:ea typeface="IPAexGothic"/>
                <a:cs typeface="IPAexGothic"/>
              </a:rPr>
              <a:t>・ 記録量を増やせば安全とは限らない</a:t>
            </a:r>
          </a:p>
        </p:txBody>
      </p:sp>
      <p:sp>
        <p:nvSpPr>
          <p:cNvPr id="69" name="TextBox 68">
            <a:extLst>
              <a:ext uri="{FF2B5EF4-FFF2-40B4-BE49-F238E27FC236}">
                <a16:creationId xmlns:a16="http://schemas.microsoft.com/office/drawing/2014/main" id="{AC6F974B-2146-4B62-86FA-F4995EC7BC3A}"/>
              </a:ext>
            </a:extLst>
          </p:cNvPr>
          <p:cNvSpPr>
            <a:spLocks noGrp="1"/>
          </p:cNvSpPr>
          <p:nvPr/>
        </p:nvSpPr>
        <p:spPr>
          <a:xfrm>
            <a:off x="6599138" y="5684633"/>
            <a:ext cx="5250143" cy="196775"/>
          </a:xfrm>
          <a:prstGeom prst="rect">
            <a:avLst/>
          </a:prstGeom>
          <a:noFill/>
          <a:ln>
            <a:noFill/>
          </a:ln>
          <a:effectLst/>
        </p:spPr>
        <p:txBody>
          <a:bodyPr wrap="none" lIns="0" tIns="0" rIns="0" bIns="0" anchor="ctr">
            <a:spAutoFit/>
          </a:bodyPr>
          <a:lstStyle/>
          <a:p>
            <a:pPr algn="l">
              <a:buNone/>
            </a:pPr>
            <a:r>
              <a:rPr sz="1150" b="0">
                <a:solidFill>
                  <a:srgbClr val="141414"/>
                </a:solidFill>
                <a:latin typeface="IPAexGothic"/>
                <a:ea typeface="IPAexGothic"/>
                <a:cs typeface="IPAexGothic"/>
              </a:rPr>
              <a:t>・ 本編ではPolicy中心とし，Audit詳細へ接続する補足として扱う</a:t>
            </a:r>
          </a:p>
        </p:txBody>
      </p:sp>
      <p:sp>
        <p:nvSpPr>
          <p:cNvPr id="70" name="Rectangle 69">
            <a:extLst>
              <a:ext uri="{FF2B5EF4-FFF2-40B4-BE49-F238E27FC236}">
                <a16:creationId xmlns:a16="http://schemas.microsoft.com/office/drawing/2014/main" id="{CF6FE2F3-8F94-46C6-AAC6-D1035C77E48A}"/>
              </a:ext>
            </a:extLst>
          </p:cNvPr>
          <p:cNvSpPr>
            <a:spLocks noGrp="1"/>
          </p:cNvSpPr>
          <p:nvPr/>
        </p:nvSpPr>
        <p:spPr>
          <a:xfrm>
            <a:off x="357301" y="5968865"/>
            <a:ext cx="11338851" cy="495583"/>
          </a:xfrm>
          <a:prstGeom prst="rect">
            <a:avLst/>
          </a:prstGeom>
          <a:solidFill>
            <a:srgbClr val="FFFFFF"/>
          </a:solidFill>
          <a:ln w="12700">
            <a:solidFill>
              <a:srgbClr val="29488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Rectangle 70">
            <a:extLst>
              <a:ext uri="{FF2B5EF4-FFF2-40B4-BE49-F238E27FC236}">
                <a16:creationId xmlns:a16="http://schemas.microsoft.com/office/drawing/2014/main" id="{A27EEF20-DFD1-4F92-8BBB-48A849F5DB04}"/>
              </a:ext>
            </a:extLst>
          </p:cNvPr>
          <p:cNvSpPr>
            <a:spLocks noGrp="1"/>
          </p:cNvSpPr>
          <p:nvPr/>
        </p:nvSpPr>
        <p:spPr>
          <a:xfrm>
            <a:off x="364593" y="5976153"/>
            <a:ext cx="1531291" cy="481007"/>
          </a:xfrm>
          <a:prstGeom prst="rect">
            <a:avLst/>
          </a:prstGeom>
          <a:solidFill>
            <a:srgbClr val="EEF2F7"/>
          </a:solidFill>
          <a:ln>
            <a:solidFill>
              <a:srgbClr val="052C7E"/>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TextBox 71">
            <a:extLst>
              <a:ext uri="{FF2B5EF4-FFF2-40B4-BE49-F238E27FC236}">
                <a16:creationId xmlns:a16="http://schemas.microsoft.com/office/drawing/2014/main" id="{55A9D461-59EE-41A2-B969-4F7EE99A1BB0}"/>
              </a:ext>
            </a:extLst>
          </p:cNvPr>
          <p:cNvSpPr>
            <a:spLocks noGrp="1"/>
          </p:cNvSpPr>
          <p:nvPr/>
        </p:nvSpPr>
        <p:spPr>
          <a:xfrm>
            <a:off x="583349" y="6121912"/>
            <a:ext cx="1093779" cy="213360"/>
          </a:xfrm>
          <a:prstGeom prst="rect">
            <a:avLst/>
          </a:prstGeom>
          <a:noFill/>
          <a:ln>
            <a:noFill/>
          </a:ln>
          <a:effectLst/>
        </p:spPr>
        <p:txBody>
          <a:bodyPr wrap="none" lIns="0" tIns="0" rIns="0" bIns="0" anchor="ctr">
            <a:spAutoFit/>
          </a:bodyPr>
          <a:lstStyle/>
          <a:p>
            <a:pPr algn="ctr">
              <a:buNone/>
            </a:pPr>
            <a:r>
              <a:rPr sz="1400" b="1">
                <a:solidFill>
                  <a:srgbClr val="0B3691"/>
                </a:solidFill>
                <a:latin typeface="IPAexGothic"/>
                <a:ea typeface="IPAexGothic"/>
                <a:cs typeface="IPAexGothic"/>
              </a:rPr>
              <a:t>違いのまとめ</a:t>
            </a:r>
          </a:p>
        </p:txBody>
      </p:sp>
      <p:sp>
        <p:nvSpPr>
          <p:cNvPr id="73" name="TextBox 72">
            <a:extLst>
              <a:ext uri="{FF2B5EF4-FFF2-40B4-BE49-F238E27FC236}">
                <a16:creationId xmlns:a16="http://schemas.microsoft.com/office/drawing/2014/main" id="{7F293F03-5C51-4B07-8EC1-CBDE53F89047}"/>
              </a:ext>
            </a:extLst>
          </p:cNvPr>
          <p:cNvSpPr>
            <a:spLocks noGrp="1"/>
          </p:cNvSpPr>
          <p:nvPr/>
        </p:nvSpPr>
        <p:spPr>
          <a:xfrm>
            <a:off x="2114641" y="6129200"/>
            <a:ext cx="8896076" cy="218639"/>
          </a:xfrm>
          <a:prstGeom prst="rect">
            <a:avLst/>
          </a:prstGeom>
          <a:noFill/>
          <a:ln>
            <a:noFill/>
          </a:ln>
          <a:effectLst/>
        </p:spPr>
        <p:txBody>
          <a:bodyPr wrap="none" lIns="0" tIns="0" rIns="0" bIns="0" anchor="ctr">
            <a:spAutoFit/>
          </a:bodyPr>
          <a:lstStyle/>
          <a:p>
            <a:pPr algn="l">
              <a:buNone/>
            </a:pPr>
            <a:r>
              <a:rPr sz="1250" b="0">
                <a:solidFill>
                  <a:srgbClr val="141414"/>
                </a:solidFill>
                <a:latin typeface="IPAexGothic"/>
                <a:ea typeface="IPAexGothic"/>
                <a:cs typeface="IPAexGothic"/>
              </a:rPr>
              <a:t>OpenAIはBuilt-in Tracing，ClaudeはHooksとOpenTelemetryを中心に，Policy判断と実行情報を後から追跡できる．</a:t>
            </a:r>
          </a:p>
        </p:txBody>
      </p:sp>
      <p:sp>
        <p:nvSpPr>
          <p:cNvPr id="74" name="TextBox 73">
            <a:extLst>
              <a:ext uri="{FF2B5EF4-FFF2-40B4-BE49-F238E27FC236}">
                <a16:creationId xmlns:a16="http://schemas.microsoft.com/office/drawing/2014/main" id="{75B2EF48-ACE7-4661-B564-70FBE2E41B91}"/>
              </a:ext>
            </a:extLst>
          </p:cNvPr>
          <p:cNvSpPr>
            <a:spLocks noGrp="1"/>
          </p:cNvSpPr>
          <p:nvPr/>
        </p:nvSpPr>
        <p:spPr>
          <a:xfrm>
            <a:off x="11287808" y="6508176"/>
            <a:ext cx="437511" cy="204063"/>
          </a:xfrm>
          <a:prstGeom prst="rect">
            <a:avLst/>
          </a:prstGeom>
          <a:noFill/>
          <a:ln>
            <a:noFill/>
          </a:ln>
          <a:effectLst/>
        </p:spPr>
        <p:txBody>
          <a:bodyPr wrap="none" lIns="0" tIns="0" rIns="0" bIns="0" anchor="ctr">
            <a:spAutoFit/>
          </a:bodyPr>
          <a:lstStyle/>
          <a:p>
            <a:pPr algn="ctr">
              <a:buNone/>
            </a:pPr>
            <a:r>
              <a:rPr sz="1400" b="1">
                <a:solidFill>
                  <a:srgbClr val="052C7E"/>
                </a:solidFill>
                <a:latin typeface="IPAexGothic"/>
                <a:ea typeface="IPAexGothic"/>
                <a:cs typeface="IPAexGothic"/>
              </a:rPr>
              <a:t>A12</a:t>
            </a:r>
          </a:p>
        </p:txBody>
      </p:sp>
    </p:spTree>
    <p:extLst>
      <p:ext uri="{BB962C8B-B14F-4D97-AF65-F5344CB8AC3E}">
        <p14:creationId xmlns:p14="http://schemas.microsoft.com/office/powerpoint/2010/main" val="444494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2555</Words>
  <Application>Microsoft Macintosh PowerPoint</Application>
  <DocSecurity>0</DocSecurity>
  <PresentationFormat>Widescreen</PresentationFormat>
  <Paragraphs>646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IPAexGothic</vt:lpstr>
      <vt:lpstr>Meiryo</vt:lpstr>
      <vt:lpstr>Noto Sans CJK JP</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ccwa4782</cp:lastModifiedBy>
  <cp:revision>2</cp:revision>
  <dcterms:created xsi:type="dcterms:W3CDTF">2026-09-02T16:57:34Z</dcterms:created>
  <dcterms:modified xsi:type="dcterms:W3CDTF">2026-09-02T17:59:13Z</dcterms:modified>
</cp:coreProperties>
</file>