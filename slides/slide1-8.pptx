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66" r:id="rId4"/>
    <p:sldId id="260" r:id="rId5"/>
    <p:sldId id="258" r:id="rId6"/>
    <p:sldId id="257" r:id="rId7"/>
    <p:sldId id="259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32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448"/>
      </p:cViewPr>
      <p:guideLst>
        <p:guide orient="horz" pos="2160"/>
        <p:guide pos="2880"/>
      </p:guideLst>
    </p:cSldViewPr>
  </p:slideViewPr>
  <p:notesTextViewPr>
    <p:cViewPr>
      <p:scale>
        <a:sx n="95" d="100"/>
        <a:sy n="9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05566-D045-2049-9E06-2C2A0C4BC1C2}" type="datetimeFigureOut">
              <a:t>2026/08/31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3E57E5-AC2A-2244-A9BB-09846D5FB4E8}" type="slidenum"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7262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E57E5-AC2A-2244-A9BB-09846D5FB4E8}" type="slidenum">
              <a:t>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31827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D36AC-A67C-7859-20FD-F63DC7AC8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F7058-752A-2478-F8C8-325842783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12152-FFAA-858E-5E91-1CFB388F3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D3EED-9ABD-2886-18A0-682C76D240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39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70550-38BC-5AEE-662F-FEA319EF0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24B47-C261-92EB-18A6-DB8C06548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36812-FD80-1366-35AF-F02190CB7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807EF-AA92-4D0F-1ED5-84DD86301B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6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Agent運用時のガバナンス要件について説明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180F1-B262-B048-87E8-7A6F6EDA4334}" type="slidenum">
              <a:t>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3873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100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6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4593" y="204631"/>
            <a:ext cx="6915355" cy="3924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AI Agent の実運用でなぜガバナンスが必要か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26047" y="743375"/>
            <a:ext cx="11375311" cy="0"/>
          </a:xfrm>
          <a:prstGeom prst="line">
            <a:avLst/>
          </a:prstGeom>
          <a:ln w="19050">
            <a:solidFill>
              <a:srgbClr val="0A2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22928" y="969302"/>
            <a:ext cx="5447023" cy="3869923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81416" y="969302"/>
            <a:ext cx="5425148" cy="3869923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99415" y="1030206"/>
            <a:ext cx="3145092" cy="31547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AI Agent の特性とリスク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4181" y="1392006"/>
            <a:ext cx="5191809" cy="0"/>
          </a:xfrm>
          <a:prstGeom prst="line">
            <a:avLst/>
          </a:prstGeom>
          <a:ln w="12700">
            <a:solidFill>
              <a:srgbClr val="D3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75900" y="1034053"/>
            <a:ext cx="3658053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法規制等によるガバナンス要求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0794" y="1392006"/>
            <a:ext cx="5184516" cy="0"/>
          </a:xfrm>
          <a:prstGeom prst="line">
            <a:avLst/>
          </a:prstGeom>
          <a:ln w="12700">
            <a:solidFill>
              <a:srgbClr val="D3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7932" y="1592602"/>
            <a:ext cx="3324628" cy="26930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ツール・社内データへアクセス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932" y="2000729"/>
            <a:ext cx="1978106" cy="26930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実システムの操作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932" y="2416145"/>
            <a:ext cx="3093796" cy="26930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複数ACTIONを自律的に実行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19" y="3041779"/>
            <a:ext cx="5232202" cy="2569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7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プロンプトだけでは実行時の振る舞いを保証できない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808" y="3556539"/>
            <a:ext cx="4980344" cy="845407"/>
          </a:xfrm>
          <a:prstGeom prst="roundRect">
            <a:avLst>
              <a:gd name="adj" fmla="val 1000"/>
            </a:avLst>
          </a:prstGeom>
          <a:noFill/>
          <a:ln w="12700">
            <a:solidFill>
              <a:srgbClr val="EE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80037" y="3651575"/>
            <a:ext cx="2452594" cy="3200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80" b="1">
                <a:solidFill>
                  <a:srgbClr val="EE3E3E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生じ得る主なリスク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03" y="4018413"/>
            <a:ext cx="4839466" cy="227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8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誤操作  /  権限逸脱  /  情報漏洩  /  Prompt Injection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794" y="1574206"/>
            <a:ext cx="2056306" cy="12025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14755" y="1668950"/>
            <a:ext cx="473971" cy="233215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75772" y="1653054"/>
            <a:ext cx="344646" cy="2431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8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例1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4989" y="2018339"/>
            <a:ext cx="2040623" cy="2923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California SB 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7463" y="2306694"/>
            <a:ext cx="1822966" cy="35702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60" b="0">
                <a:solidFill>
                  <a:srgbClr val="565656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Transparency in Frontier
Artificial Intelligence 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478" y="1699294"/>
            <a:ext cx="323325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安全性フレームワークの策定・運用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478" y="2107421"/>
            <a:ext cx="284853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重大な安全インシデントの報告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478" y="2515549"/>
            <a:ext cx="2271456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透明性・説明責任の強化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39751" y="2937060"/>
            <a:ext cx="5235559" cy="0"/>
          </a:xfrm>
          <a:prstGeom prst="line">
            <a:avLst/>
          </a:prstGeom>
          <a:ln w="12700">
            <a:solidFill>
              <a:srgbClr val="D3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190794" y="3119260"/>
            <a:ext cx="2056306" cy="12025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14755" y="3214004"/>
            <a:ext cx="473971" cy="233215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75772" y="3198108"/>
            <a:ext cx="344646" cy="2431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8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例2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172" y="3606714"/>
            <a:ext cx="1275990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EU AI 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6478" y="3222484"/>
            <a:ext cx="1117294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リスク管理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6478" y="3528579"/>
            <a:ext cx="1309654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人による監督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6478" y="3834675"/>
            <a:ext cx="2656176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ログ記録・追跡可能性の確保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6478" y="4140771"/>
            <a:ext cx="2079095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サイバーセキュリティ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3511" y="4530924"/>
            <a:ext cx="4533292" cy="1938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60" b="0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※求められる義務は，AIの分類や事業者の立場によって異なる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9220" y="5111119"/>
            <a:ext cx="10191894" cy="30162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6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AI Agent のリスクと法規制等の要求を，実運用上のガバナンスへ落とし込むことが重要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435" y="5517009"/>
            <a:ext cx="5024095" cy="743375"/>
          </a:xfrm>
          <a:prstGeom prst="roundRect">
            <a:avLst>
              <a:gd name="adj" fmla="val 1000"/>
            </a:avLst>
          </a:prstGeom>
          <a:solidFill>
            <a:srgbClr val="F5F8FC"/>
          </a:solidFill>
          <a:ln w="12700">
            <a:solidFill>
              <a:srgbClr val="507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9630" y="5720959"/>
            <a:ext cx="839974" cy="3354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8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Policy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961511" y="5677345"/>
            <a:ext cx="0" cy="429991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275062" y="5767894"/>
            <a:ext cx="3077766" cy="2416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7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ポリシーに基づく行動・権限制御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1416" y="5517009"/>
            <a:ext cx="5024095" cy="743375"/>
          </a:xfrm>
          <a:prstGeom prst="roundRect">
            <a:avLst>
              <a:gd name="adj" fmla="val 1000"/>
            </a:avLst>
          </a:pr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18106" y="5720959"/>
            <a:ext cx="766235" cy="3354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8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Audit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379368" y="5677345"/>
            <a:ext cx="0" cy="429991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692918" y="5767894"/>
            <a:ext cx="3077766" cy="2416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7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操作や判断の監査（記録・追跡）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88833" y="6477588"/>
            <a:ext cx="392735" cy="192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50" b="0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507AF-3974-DFDE-6DFC-11D662FCE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57EACF-7B10-7267-010C-077704B8AE91}"/>
              </a:ext>
            </a:extLst>
          </p:cNvPr>
          <p:cNvSpPr/>
          <p:nvPr/>
        </p:nvSpPr>
        <p:spPr>
          <a:xfrm>
            <a:off x="365760" y="174570"/>
            <a:ext cx="11430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17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AI Agent の実運用でなぜガバナンスが必要か</a:t>
            </a:r>
            <a:endParaRPr lang="en-US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D423A2-270F-6621-9DCA-5807C1FEA62F}"/>
              </a:ext>
            </a:extLst>
          </p:cNvPr>
          <p:cNvSpPr/>
          <p:nvPr/>
        </p:nvSpPr>
        <p:spPr>
          <a:xfrm>
            <a:off x="210312" y="713232"/>
            <a:ext cx="11740896" cy="0"/>
          </a:xfrm>
          <a:prstGeom prst="line">
            <a:avLst/>
          </a:prstGeom>
          <a:noFill/>
          <a:ln w="17780">
            <a:solidFill>
              <a:srgbClr val="062B67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37284AC-E0FB-6E7F-4B25-1D9930C54C95}"/>
              </a:ext>
            </a:extLst>
          </p:cNvPr>
          <p:cNvSpPr/>
          <p:nvPr/>
        </p:nvSpPr>
        <p:spPr>
          <a:xfrm>
            <a:off x="8503920" y="5175504"/>
            <a:ext cx="0" cy="0"/>
          </a:xfrm>
          <a:prstGeom prst="line">
            <a:avLst/>
          </a:prstGeom>
          <a:noFill/>
          <a:ln w="19050">
            <a:solidFill>
              <a:srgbClr val="7A8491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C653C12-B694-380D-1161-051207A0584D}"/>
              </a:ext>
            </a:extLst>
          </p:cNvPr>
          <p:cNvSpPr/>
          <p:nvPr/>
        </p:nvSpPr>
        <p:spPr>
          <a:xfrm>
            <a:off x="833628" y="4837176"/>
            <a:ext cx="105247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AI Agent </a:t>
            </a:r>
            <a:r>
              <a:rPr lang="en-US" sz="2000" b="1" dirty="0" err="1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のリスクと法規制等の要求を，実運用上のガバナンスへ落とし込むことが重要</a:t>
            </a:r>
            <a:endParaRPr lang="en-US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A89C5D2-CE1C-5D29-706E-FF01748D2846}"/>
              </a:ext>
            </a:extLst>
          </p:cNvPr>
          <p:cNvSpPr/>
          <p:nvPr/>
        </p:nvSpPr>
        <p:spPr>
          <a:xfrm>
            <a:off x="658368" y="5833872"/>
            <a:ext cx="5166360" cy="804672"/>
          </a:xfrm>
          <a:prstGeom prst="roundRect">
            <a:avLst>
              <a:gd name="adj" fmla="val 3409"/>
            </a:avLst>
          </a:prstGeom>
          <a:solidFill>
            <a:srgbClr val="F8FBFF"/>
          </a:solidFill>
          <a:ln w="12700">
            <a:solidFill>
              <a:srgbClr val="AFC8EA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FC94B870-3E92-892F-1184-AF21DF279D4A}"/>
              </a:ext>
            </a:extLst>
          </p:cNvPr>
          <p:cNvSpPr/>
          <p:nvPr/>
        </p:nvSpPr>
        <p:spPr>
          <a:xfrm>
            <a:off x="658368" y="5833872"/>
            <a:ext cx="1188720" cy="804672"/>
          </a:xfrm>
          <a:prstGeom prst="roundRect">
            <a:avLst>
              <a:gd name="adj" fmla="val 2273"/>
            </a:avLst>
          </a:prstGeom>
          <a:solidFill>
            <a:srgbClr val="062B67"/>
          </a:solidFill>
          <a:ln w="12700">
            <a:solidFill>
              <a:srgbClr val="062B67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D4F44E15-0F34-EB8B-F332-D3CAACF91707}"/>
              </a:ext>
            </a:extLst>
          </p:cNvPr>
          <p:cNvSpPr/>
          <p:nvPr/>
        </p:nvSpPr>
        <p:spPr>
          <a:xfrm>
            <a:off x="713232" y="6118074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Policy</a:t>
            </a:r>
            <a:endParaRPr lang="en-US" sz="17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69411FD-86B1-4170-4522-7DF092FC1046}"/>
              </a:ext>
            </a:extLst>
          </p:cNvPr>
          <p:cNvSpPr/>
          <p:nvPr/>
        </p:nvSpPr>
        <p:spPr>
          <a:xfrm>
            <a:off x="1993392" y="594360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60" b="1" dirty="0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ポリシーに基づく行動・権限制御</a:t>
            </a:r>
            <a:endParaRPr lang="en-US" sz="156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FCD08AD1-7F4B-E05F-0DC6-F150212CFF70}"/>
              </a:ext>
            </a:extLst>
          </p:cNvPr>
          <p:cNvSpPr/>
          <p:nvPr/>
        </p:nvSpPr>
        <p:spPr>
          <a:xfrm>
            <a:off x="1993392" y="6199632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（高リスク操作の承認・停止）</a:t>
            </a:r>
            <a:endParaRPr lang="en-US" sz="12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4856092-98D3-F805-3360-B19F94ADFD3C}"/>
              </a:ext>
            </a:extLst>
          </p:cNvPr>
          <p:cNvSpPr/>
          <p:nvPr/>
        </p:nvSpPr>
        <p:spPr>
          <a:xfrm>
            <a:off x="1993392" y="64282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何を許可し，何を制限・禁止するかを定義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B78F79A8-0000-9B35-6636-05F6582858EC}"/>
              </a:ext>
            </a:extLst>
          </p:cNvPr>
          <p:cNvSpPr/>
          <p:nvPr/>
        </p:nvSpPr>
        <p:spPr>
          <a:xfrm>
            <a:off x="5989320" y="5833872"/>
            <a:ext cx="5166360" cy="804672"/>
          </a:xfrm>
          <a:prstGeom prst="roundRect">
            <a:avLst>
              <a:gd name="adj" fmla="val 3409"/>
            </a:avLst>
          </a:prstGeom>
          <a:solidFill>
            <a:srgbClr val="F8FBFF"/>
          </a:solidFill>
          <a:ln w="12700">
            <a:solidFill>
              <a:srgbClr val="AFC8EA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F20FC080-0824-F1D7-67F0-9EDB63DEA461}"/>
              </a:ext>
            </a:extLst>
          </p:cNvPr>
          <p:cNvSpPr/>
          <p:nvPr/>
        </p:nvSpPr>
        <p:spPr>
          <a:xfrm>
            <a:off x="5989320" y="5833872"/>
            <a:ext cx="1188720" cy="804672"/>
          </a:xfrm>
          <a:prstGeom prst="roundRect">
            <a:avLst>
              <a:gd name="adj" fmla="val 2273"/>
            </a:avLst>
          </a:prstGeom>
          <a:solidFill>
            <a:srgbClr val="062B67"/>
          </a:solidFill>
          <a:ln w="12700">
            <a:solidFill>
              <a:srgbClr val="062B67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257B96D-E2E5-678A-65AB-DA9F75BBEB01}"/>
              </a:ext>
            </a:extLst>
          </p:cNvPr>
          <p:cNvSpPr/>
          <p:nvPr/>
        </p:nvSpPr>
        <p:spPr>
          <a:xfrm>
            <a:off x="6053328" y="611807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Audit</a:t>
            </a:r>
            <a:endParaRPr lang="en-US" sz="17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8ECC061B-7221-F3B7-AB86-7613C96FA292}"/>
              </a:ext>
            </a:extLst>
          </p:cNvPr>
          <p:cNvSpPr/>
          <p:nvPr/>
        </p:nvSpPr>
        <p:spPr>
          <a:xfrm>
            <a:off x="7333488" y="5943600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60" b="1" dirty="0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操作や判断の記録・追跡</a:t>
            </a:r>
            <a:endParaRPr lang="en-US" sz="156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85F2BA2D-0171-A519-3894-7E0A3366D621}"/>
              </a:ext>
            </a:extLst>
          </p:cNvPr>
          <p:cNvSpPr/>
          <p:nvPr/>
        </p:nvSpPr>
        <p:spPr>
          <a:xfrm>
            <a:off x="7333488" y="6199632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（事後確認・監査）</a:t>
            </a:r>
            <a:endParaRPr lang="en-US" sz="12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26CC4568-CC83-8D5F-E888-674975A49DA6}"/>
              </a:ext>
            </a:extLst>
          </p:cNvPr>
          <p:cNvSpPr/>
          <p:nvPr/>
        </p:nvSpPr>
        <p:spPr>
          <a:xfrm>
            <a:off x="7333488" y="642823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誰が・いつ・何を・どの判断で実行したかを記録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" name="Slide Number Placeholder 0">
            <a:extLst>
              <a:ext uri="{FF2B5EF4-FFF2-40B4-BE49-F238E27FC236}">
                <a16:creationId xmlns:a16="http://schemas.microsoft.com/office/drawing/2014/main" id="{16F2E295-37C4-4BD3-66AA-2566E7AA199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Meiryo" panose="020B0604030504040204" pitchFamily="34" charset="-128"/>
                <a:ea typeface="Meiryo" panose="020B0604030504040204" pitchFamily="34" charset="-128"/>
              </a:rPr>
              <a:t>2</a:t>
            </a:fld>
            <a:endParaRPr 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A05589A5-DB83-65EE-2891-5EF3FEC5D0E4}"/>
              </a:ext>
            </a:extLst>
          </p:cNvPr>
          <p:cNvSpPr/>
          <p:nvPr/>
        </p:nvSpPr>
        <p:spPr>
          <a:xfrm>
            <a:off x="6217920" y="868680"/>
            <a:ext cx="5522976" cy="429768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法規制等によるガバナンス要求</a:t>
            </a:r>
            <a:endParaRPr lang="en-US" sz="1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487987EA-139B-4C60-9625-A246E53A053C}"/>
              </a:ext>
            </a:extLst>
          </p:cNvPr>
          <p:cNvSpPr/>
          <p:nvPr/>
        </p:nvSpPr>
        <p:spPr>
          <a:xfrm>
            <a:off x="6217920" y="1298448"/>
            <a:ext cx="5522976" cy="322783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41BC3392-BBFB-608C-E9F3-7C9FB9330B5A}"/>
              </a:ext>
            </a:extLst>
          </p:cNvPr>
          <p:cNvSpPr/>
          <p:nvPr/>
        </p:nvSpPr>
        <p:spPr>
          <a:xfrm>
            <a:off x="6309360" y="1370524"/>
            <a:ext cx="1957310" cy="1261872"/>
          </a:xfrm>
          <a:prstGeom prst="rect">
            <a:avLst/>
          </a:prstGeom>
          <a:solidFill>
            <a:srgbClr val="F0F6FF"/>
          </a:solidFill>
          <a:ln w="12700">
            <a:solidFill>
              <a:srgbClr val="F0F6FF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0573B4ED-526F-EDAE-F06F-747C42077F5A}"/>
              </a:ext>
            </a:extLst>
          </p:cNvPr>
          <p:cNvSpPr/>
          <p:nvPr/>
        </p:nvSpPr>
        <p:spPr>
          <a:xfrm>
            <a:off x="6348711" y="1633301"/>
            <a:ext cx="210706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05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 California SB 53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3154439A-A043-4A8F-A645-6135E1108232}"/>
              </a:ext>
            </a:extLst>
          </p:cNvPr>
          <p:cNvSpPr/>
          <p:nvPr/>
        </p:nvSpPr>
        <p:spPr>
          <a:xfrm>
            <a:off x="6227998" y="2003019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Transparency in Frontier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en-US" sz="104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Artificial Intelligence Act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98514A76-64ED-6F8D-0515-5E6C82F8DECE}"/>
              </a:ext>
            </a:extLst>
          </p:cNvPr>
          <p:cNvSpPr/>
          <p:nvPr/>
        </p:nvSpPr>
        <p:spPr>
          <a:xfrm>
            <a:off x="8348032" y="1507555"/>
            <a:ext cx="3141585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安全性フレームワークの策定・運用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重大な安全インシデントの報告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透明性・説明責任の強化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51AE52A1-5032-9E41-2C84-EAEFFED745BA}"/>
              </a:ext>
            </a:extLst>
          </p:cNvPr>
          <p:cNvSpPr/>
          <p:nvPr/>
        </p:nvSpPr>
        <p:spPr>
          <a:xfrm>
            <a:off x="6291072" y="2727801"/>
            <a:ext cx="5376672" cy="0"/>
          </a:xfrm>
          <a:prstGeom prst="line">
            <a:avLst/>
          </a:prstGeom>
          <a:noFill/>
          <a:ln w="889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7" name="Shape 20">
            <a:extLst>
              <a:ext uri="{FF2B5EF4-FFF2-40B4-BE49-F238E27FC236}">
                <a16:creationId xmlns:a16="http://schemas.microsoft.com/office/drawing/2014/main" id="{0B31E998-AAE3-B14B-DCB3-98363D106E5C}"/>
              </a:ext>
            </a:extLst>
          </p:cNvPr>
          <p:cNvSpPr/>
          <p:nvPr/>
        </p:nvSpPr>
        <p:spPr>
          <a:xfrm>
            <a:off x="6309360" y="2883249"/>
            <a:ext cx="1957310" cy="1115568"/>
          </a:xfrm>
          <a:prstGeom prst="rect">
            <a:avLst/>
          </a:prstGeom>
          <a:solidFill>
            <a:srgbClr val="F0F6FF"/>
          </a:solidFill>
          <a:ln w="12700">
            <a:solidFill>
              <a:srgbClr val="F0F6FF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6DBCDC3D-E79B-5336-BADA-A1BF02133EB6}"/>
              </a:ext>
            </a:extLst>
          </p:cNvPr>
          <p:cNvSpPr/>
          <p:nvPr/>
        </p:nvSpPr>
        <p:spPr>
          <a:xfrm>
            <a:off x="6436360" y="3158535"/>
            <a:ext cx="1850138" cy="49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05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EU AI Act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78629518-DBA0-3EDD-0524-A0DB10423B24}"/>
              </a:ext>
            </a:extLst>
          </p:cNvPr>
          <p:cNvSpPr/>
          <p:nvPr/>
        </p:nvSpPr>
        <p:spPr>
          <a:xfrm>
            <a:off x="8348032" y="2920787"/>
            <a:ext cx="3141585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リスク管理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人による監督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ログ記録・追跡可能性の確保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サイバーセキュリティ</a:t>
            </a: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ー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F482BA80-C719-AB00-E562-C91C773FA288}"/>
              </a:ext>
            </a:extLst>
          </p:cNvPr>
          <p:cNvSpPr/>
          <p:nvPr/>
        </p:nvSpPr>
        <p:spPr>
          <a:xfrm>
            <a:off x="6373368" y="41605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6C6C6C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※求められる義務は，AIの分類や事業者の立場によって異なる</a:t>
            </a:r>
            <a:endParaRPr lang="en-US" sz="11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1" name="Text 2">
            <a:extLst>
              <a:ext uri="{FF2B5EF4-FFF2-40B4-BE49-F238E27FC236}">
                <a16:creationId xmlns:a16="http://schemas.microsoft.com/office/drawing/2014/main" id="{4B2DFE22-757E-DBA7-866F-4C3A3C4B4AE0}"/>
              </a:ext>
            </a:extLst>
          </p:cNvPr>
          <p:cNvSpPr/>
          <p:nvPr/>
        </p:nvSpPr>
        <p:spPr>
          <a:xfrm>
            <a:off x="420624" y="868680"/>
            <a:ext cx="5577840" cy="429768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AI Agent の特性とリスク</a:t>
            </a:r>
            <a:endParaRPr lang="en-US" sz="1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654AF3FB-B798-D82A-4F26-DED9E5AB09EF}"/>
              </a:ext>
            </a:extLst>
          </p:cNvPr>
          <p:cNvSpPr/>
          <p:nvPr/>
        </p:nvSpPr>
        <p:spPr>
          <a:xfrm>
            <a:off x="420624" y="1298448"/>
            <a:ext cx="5577840" cy="322783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3" name="Text 4">
            <a:extLst>
              <a:ext uri="{FF2B5EF4-FFF2-40B4-BE49-F238E27FC236}">
                <a16:creationId xmlns:a16="http://schemas.microsoft.com/office/drawing/2014/main" id="{F9781670-DC1F-6DAF-6210-160B4BE7206C}"/>
              </a:ext>
            </a:extLst>
          </p:cNvPr>
          <p:cNvSpPr/>
          <p:nvPr/>
        </p:nvSpPr>
        <p:spPr>
          <a:xfrm>
            <a:off x="605028" y="1336038"/>
            <a:ext cx="4165884" cy="11693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</a:t>
            </a:r>
            <a:r>
              <a:rPr lang="en-US" sz="1600" dirty="0" err="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ツール・社内データへアクセス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</a:t>
            </a:r>
            <a:r>
              <a:rPr lang="en-US" sz="1600" dirty="0" err="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実システムの操作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</a:t>
            </a:r>
            <a:r>
              <a:rPr lang="en-US" sz="1600" dirty="0" err="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複数ACTIONを自律的に実行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5" name="Text 6">
            <a:extLst>
              <a:ext uri="{FF2B5EF4-FFF2-40B4-BE49-F238E27FC236}">
                <a16:creationId xmlns:a16="http://schemas.microsoft.com/office/drawing/2014/main" id="{A020F538-87CD-2646-0842-B9BD455D45BD}"/>
              </a:ext>
            </a:extLst>
          </p:cNvPr>
          <p:cNvSpPr/>
          <p:nvPr/>
        </p:nvSpPr>
        <p:spPr>
          <a:xfrm>
            <a:off x="347472" y="2783471"/>
            <a:ext cx="547725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5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プロンプトだけでは実行時の振る舞いを保証できない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6D0F7AE-D619-B29C-86BB-BC0F3AB4447D}"/>
              </a:ext>
            </a:extLst>
          </p:cNvPr>
          <p:cNvGrpSpPr/>
          <p:nvPr/>
        </p:nvGrpSpPr>
        <p:grpSpPr>
          <a:xfrm>
            <a:off x="580643" y="3284219"/>
            <a:ext cx="5047489" cy="749808"/>
            <a:chOff x="795526" y="3312160"/>
            <a:chExt cx="5047489" cy="749808"/>
          </a:xfrm>
        </p:grpSpPr>
        <p:sp>
          <p:nvSpPr>
            <p:cNvPr id="72" name="Shape 16">
              <a:extLst>
                <a:ext uri="{FF2B5EF4-FFF2-40B4-BE49-F238E27FC236}">
                  <a16:creationId xmlns:a16="http://schemas.microsoft.com/office/drawing/2014/main" id="{462F73E7-B814-64AA-1244-B1DFB5383C26}"/>
                </a:ext>
              </a:extLst>
            </p:cNvPr>
            <p:cNvSpPr/>
            <p:nvPr/>
          </p:nvSpPr>
          <p:spPr>
            <a:xfrm>
              <a:off x="795526" y="3312160"/>
              <a:ext cx="5047489" cy="749808"/>
            </a:xfrm>
            <a:prstGeom prst="roundRect">
              <a:avLst>
                <a:gd name="adj" fmla="val 4878"/>
              </a:avLst>
            </a:prstGeom>
            <a:solidFill>
              <a:srgbClr val="FFF5F5"/>
            </a:solidFill>
            <a:ln w="12700">
              <a:solidFill>
                <a:srgbClr val="D85B5B"/>
              </a:solidFill>
              <a:prstDash val="solid"/>
            </a:ln>
          </p:spPr>
          <p:txBody>
            <a:bodyPr/>
            <a:lstStyle/>
            <a:p>
              <a:endParaRPr lang="en-JP" sz="1400">
                <a:latin typeface="Hiragino Kaku Gothic Pro W3" panose="020B0300000000000000" pitchFamily="34" charset="-128"/>
                <a:ea typeface="Hiragino Kaku Gothic Pro W3" panose="020B0300000000000000" pitchFamily="34" charset="-128"/>
              </a:endParaRPr>
            </a:p>
          </p:txBody>
        </p:sp>
        <p:sp>
          <p:nvSpPr>
            <p:cNvPr id="73" name="Text 17">
              <a:extLst>
                <a:ext uri="{FF2B5EF4-FFF2-40B4-BE49-F238E27FC236}">
                  <a16:creationId xmlns:a16="http://schemas.microsoft.com/office/drawing/2014/main" id="{2DE8BE21-87E5-FCD2-8885-3106D132C3DB}"/>
                </a:ext>
              </a:extLst>
            </p:cNvPr>
            <p:cNvSpPr/>
            <p:nvPr/>
          </p:nvSpPr>
          <p:spPr>
            <a:xfrm>
              <a:off x="813815" y="3385312"/>
              <a:ext cx="4986399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B51E23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Yu Gothic" pitchFamily="34" charset="-120"/>
                </a:rPr>
                <a:t>生じ得る主なリスク</a:t>
              </a:r>
              <a:endParaRPr lang="en-US" dirty="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Text 18">
              <a:extLst>
                <a:ext uri="{FF2B5EF4-FFF2-40B4-BE49-F238E27FC236}">
                  <a16:creationId xmlns:a16="http://schemas.microsoft.com/office/drawing/2014/main" id="{889F974E-A4F3-195A-1597-53B3069A68FB}"/>
                </a:ext>
              </a:extLst>
            </p:cNvPr>
            <p:cNvSpPr/>
            <p:nvPr/>
          </p:nvSpPr>
          <p:spPr>
            <a:xfrm>
              <a:off x="795527" y="3696208"/>
              <a:ext cx="5029201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A1733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Yu Gothic" pitchFamily="34" charset="-120"/>
                </a:rPr>
                <a:t>誤操作  /  権限逸脱  /  情報漏洩  /  Prompt Injection</a:t>
              </a:r>
              <a:endParaRPr lang="en-US" sz="1400" dirty="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8121CE3-43BE-B995-FE0E-72283FE9430C}"/>
              </a:ext>
            </a:extLst>
          </p:cNvPr>
          <p:cNvGrpSpPr/>
          <p:nvPr/>
        </p:nvGrpSpPr>
        <p:grpSpPr>
          <a:xfrm>
            <a:off x="6391919" y="1429093"/>
            <a:ext cx="543739" cy="307777"/>
            <a:chOff x="6391919" y="1517676"/>
            <a:chExt cx="543739" cy="30777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96738EE-C75F-AD9D-32BD-0238E23BDD88}"/>
                </a:ext>
              </a:extLst>
            </p:cNvPr>
            <p:cNvSpPr/>
            <p:nvPr/>
          </p:nvSpPr>
          <p:spPr>
            <a:xfrm>
              <a:off x="6411468" y="1541728"/>
              <a:ext cx="472833" cy="228470"/>
            </a:xfrm>
            <a:prstGeom prst="rect">
              <a:avLst/>
            </a:prstGeom>
            <a:solidFill>
              <a:srgbClr val="001F5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 b="1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51CE53-0A65-ADD4-4932-8E1789909D4F}"/>
                </a:ext>
              </a:extLst>
            </p:cNvPr>
            <p:cNvSpPr txBox="1"/>
            <p:nvPr/>
          </p:nvSpPr>
          <p:spPr>
            <a:xfrm>
              <a:off x="6391919" y="151767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400" b="1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例１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07A78F-E739-32B5-3908-C4C3A69D4F71}"/>
              </a:ext>
            </a:extLst>
          </p:cNvPr>
          <p:cNvGrpSpPr/>
          <p:nvPr/>
        </p:nvGrpSpPr>
        <p:grpSpPr>
          <a:xfrm>
            <a:off x="6391919" y="2943299"/>
            <a:ext cx="543739" cy="307777"/>
            <a:chOff x="6391919" y="1517676"/>
            <a:chExt cx="543739" cy="3077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E3D43A4-6463-E96A-A6EF-248DED88076B}"/>
                </a:ext>
              </a:extLst>
            </p:cNvPr>
            <p:cNvSpPr/>
            <p:nvPr/>
          </p:nvSpPr>
          <p:spPr>
            <a:xfrm>
              <a:off x="6411468" y="1541728"/>
              <a:ext cx="472833" cy="228470"/>
            </a:xfrm>
            <a:prstGeom prst="rect">
              <a:avLst/>
            </a:prstGeom>
            <a:solidFill>
              <a:srgbClr val="001F5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 b="1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5A3BFCA-0D4B-ADBE-2500-17BD8F4D3598}"/>
                </a:ext>
              </a:extLst>
            </p:cNvPr>
            <p:cNvSpPr txBox="1"/>
            <p:nvPr/>
          </p:nvSpPr>
          <p:spPr>
            <a:xfrm>
              <a:off x="6391919" y="151767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400" b="1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例２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4870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A045D-C1D7-1270-AA8B-35C714190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9A75BA-71F5-8D0E-F913-9E30B7F4546E}"/>
              </a:ext>
            </a:extLst>
          </p:cNvPr>
          <p:cNvSpPr/>
          <p:nvPr/>
        </p:nvSpPr>
        <p:spPr>
          <a:xfrm>
            <a:off x="365760" y="174570"/>
            <a:ext cx="11430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17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AI Agent の実運用でなぜガバナンスが必要か</a:t>
            </a:r>
            <a:endParaRPr lang="en-US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A700FB-2BC4-5442-7383-2F1A5CAE8007}"/>
              </a:ext>
            </a:extLst>
          </p:cNvPr>
          <p:cNvSpPr/>
          <p:nvPr/>
        </p:nvSpPr>
        <p:spPr>
          <a:xfrm>
            <a:off x="210312" y="713232"/>
            <a:ext cx="11740896" cy="0"/>
          </a:xfrm>
          <a:prstGeom prst="line">
            <a:avLst/>
          </a:prstGeom>
          <a:noFill/>
          <a:ln w="17780">
            <a:solidFill>
              <a:srgbClr val="062B67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362D793-EF08-7756-A44F-31CE30676692}"/>
              </a:ext>
            </a:extLst>
          </p:cNvPr>
          <p:cNvSpPr/>
          <p:nvPr/>
        </p:nvSpPr>
        <p:spPr>
          <a:xfrm>
            <a:off x="8503920" y="5426024"/>
            <a:ext cx="0" cy="0"/>
          </a:xfrm>
          <a:prstGeom prst="line">
            <a:avLst/>
          </a:prstGeom>
          <a:noFill/>
          <a:ln w="19050">
            <a:solidFill>
              <a:srgbClr val="7A8491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7BF8BC6-8D04-049F-0BB1-E3D8DC324B0B}"/>
              </a:ext>
            </a:extLst>
          </p:cNvPr>
          <p:cNvSpPr/>
          <p:nvPr/>
        </p:nvSpPr>
        <p:spPr>
          <a:xfrm>
            <a:off x="833628" y="5087696"/>
            <a:ext cx="105247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AI Agent </a:t>
            </a:r>
            <a:r>
              <a:rPr lang="en-US" sz="2000" b="1" dirty="0" err="1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のリスクと法規制等の要求を，実運用上のガバナンスへ落とし込むことが重要</a:t>
            </a:r>
            <a:endParaRPr lang="en-US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2C4F741-EAFF-CFDF-2135-F1D8F7AC76CA}"/>
              </a:ext>
            </a:extLst>
          </p:cNvPr>
          <p:cNvSpPr/>
          <p:nvPr/>
        </p:nvSpPr>
        <p:spPr>
          <a:xfrm>
            <a:off x="420624" y="5833872"/>
            <a:ext cx="5577840" cy="804672"/>
          </a:xfrm>
          <a:prstGeom prst="roundRect">
            <a:avLst>
              <a:gd name="adj" fmla="val 3409"/>
            </a:avLst>
          </a:prstGeom>
          <a:solidFill>
            <a:srgbClr val="F8FBFF"/>
          </a:solidFill>
          <a:ln w="12700">
            <a:solidFill>
              <a:srgbClr val="AFC8EA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31A6E65-C0E6-1534-1598-310A70D72DEA}"/>
              </a:ext>
            </a:extLst>
          </p:cNvPr>
          <p:cNvSpPr/>
          <p:nvPr/>
        </p:nvSpPr>
        <p:spPr>
          <a:xfrm>
            <a:off x="713232" y="6118074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50" b="1" dirty="0"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Policy</a:t>
            </a:r>
            <a:endParaRPr lang="en-US" sz="17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FB15A16-0FE1-2ACD-4DEF-44BDFC03BAF6}"/>
              </a:ext>
            </a:extLst>
          </p:cNvPr>
          <p:cNvSpPr/>
          <p:nvPr/>
        </p:nvSpPr>
        <p:spPr>
          <a:xfrm>
            <a:off x="2002536" y="6031524"/>
            <a:ext cx="4050792" cy="418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ポリシーに基づく行動・権限制御</a:t>
            </a:r>
            <a:endParaRPr lang="en-US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A456A21D-139F-05C3-787C-5E77F01A7B1D}"/>
              </a:ext>
            </a:extLst>
          </p:cNvPr>
          <p:cNvSpPr/>
          <p:nvPr/>
        </p:nvSpPr>
        <p:spPr>
          <a:xfrm>
            <a:off x="6217920" y="5833872"/>
            <a:ext cx="5522976" cy="804672"/>
          </a:xfrm>
          <a:prstGeom prst="roundRect">
            <a:avLst>
              <a:gd name="adj" fmla="val 3409"/>
            </a:avLst>
          </a:prstGeom>
          <a:solidFill>
            <a:srgbClr val="F8FBFF"/>
          </a:solidFill>
          <a:ln w="12700">
            <a:solidFill>
              <a:srgbClr val="AFC8EA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8BCED985-A0CA-CB5F-C882-2A1ACF21E9F9}"/>
              </a:ext>
            </a:extLst>
          </p:cNvPr>
          <p:cNvSpPr/>
          <p:nvPr/>
        </p:nvSpPr>
        <p:spPr>
          <a:xfrm>
            <a:off x="6053328" y="611807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50" b="1" dirty="0"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Audit</a:t>
            </a:r>
            <a:endParaRPr lang="en-US" sz="17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F99881FF-78F3-92D7-9F09-CD92515D9F32}"/>
              </a:ext>
            </a:extLst>
          </p:cNvPr>
          <p:cNvSpPr/>
          <p:nvPr/>
        </p:nvSpPr>
        <p:spPr>
          <a:xfrm>
            <a:off x="7342632" y="6048639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操作や判断の監査（記録・追跡）</a:t>
            </a:r>
            <a:endParaRPr lang="en-US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" name="Slide Number Placeholder 0">
            <a:extLst>
              <a:ext uri="{FF2B5EF4-FFF2-40B4-BE49-F238E27FC236}">
                <a16:creationId xmlns:a16="http://schemas.microsoft.com/office/drawing/2014/main" id="{4AFBD1BB-B8EA-1D5E-D3FE-48E65A570D0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Meiryo" panose="020B0604030504040204" pitchFamily="34" charset="-128"/>
                <a:ea typeface="Meiryo" panose="020B0604030504040204" pitchFamily="34" charset="-128"/>
              </a:rPr>
              <a:t>3</a:t>
            </a:fld>
            <a:endParaRPr 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36E69B26-71B6-462F-C10B-63E357AACE5B}"/>
              </a:ext>
            </a:extLst>
          </p:cNvPr>
          <p:cNvSpPr/>
          <p:nvPr/>
        </p:nvSpPr>
        <p:spPr>
          <a:xfrm>
            <a:off x="6217920" y="1075361"/>
            <a:ext cx="5522976" cy="3701439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CA12D2C3-2FB5-A575-9F4F-87874832F26D}"/>
              </a:ext>
            </a:extLst>
          </p:cNvPr>
          <p:cNvSpPr/>
          <p:nvPr/>
        </p:nvSpPr>
        <p:spPr>
          <a:xfrm>
            <a:off x="6309360" y="1621044"/>
            <a:ext cx="1957310" cy="1261872"/>
          </a:xfrm>
          <a:prstGeom prst="rect">
            <a:avLst/>
          </a:prstGeom>
          <a:solidFill>
            <a:srgbClr val="F0F6FF"/>
          </a:solidFill>
          <a:ln w="12700">
            <a:solidFill>
              <a:srgbClr val="F0F6FF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28FA578C-66D3-837A-E4D0-F4A5F2D76530}"/>
              </a:ext>
            </a:extLst>
          </p:cNvPr>
          <p:cNvSpPr/>
          <p:nvPr/>
        </p:nvSpPr>
        <p:spPr>
          <a:xfrm>
            <a:off x="6348711" y="1883821"/>
            <a:ext cx="210706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05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 California SB 53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BA55B72E-502D-DDE0-CD12-778C651E2095}"/>
              </a:ext>
            </a:extLst>
          </p:cNvPr>
          <p:cNvSpPr/>
          <p:nvPr/>
        </p:nvSpPr>
        <p:spPr>
          <a:xfrm>
            <a:off x="6227998" y="2253539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Transparency in Frontier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en-US" sz="104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Artificial Intelligence Act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AAF048C9-9F63-D19B-8B89-16BBB1413C3A}"/>
              </a:ext>
            </a:extLst>
          </p:cNvPr>
          <p:cNvSpPr/>
          <p:nvPr/>
        </p:nvSpPr>
        <p:spPr>
          <a:xfrm>
            <a:off x="8348032" y="1758075"/>
            <a:ext cx="3141585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安全性フレームワークの策定・運用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重大な安全インシデントの報告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透明性・説明責任の強化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7" name="Shape 20">
            <a:extLst>
              <a:ext uri="{FF2B5EF4-FFF2-40B4-BE49-F238E27FC236}">
                <a16:creationId xmlns:a16="http://schemas.microsoft.com/office/drawing/2014/main" id="{8E126295-4715-C1DC-5385-D4057A5E4EE3}"/>
              </a:ext>
            </a:extLst>
          </p:cNvPr>
          <p:cNvSpPr/>
          <p:nvPr/>
        </p:nvSpPr>
        <p:spPr>
          <a:xfrm>
            <a:off x="6309360" y="3133769"/>
            <a:ext cx="1957310" cy="1115568"/>
          </a:xfrm>
          <a:prstGeom prst="rect">
            <a:avLst/>
          </a:prstGeom>
          <a:solidFill>
            <a:srgbClr val="F0F6FF"/>
          </a:solidFill>
          <a:ln w="12700">
            <a:solidFill>
              <a:srgbClr val="F0F6FF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548BD71F-3A61-C779-F57F-6FD7A9734351}"/>
              </a:ext>
            </a:extLst>
          </p:cNvPr>
          <p:cNvSpPr/>
          <p:nvPr/>
        </p:nvSpPr>
        <p:spPr>
          <a:xfrm>
            <a:off x="6436360" y="3409055"/>
            <a:ext cx="1850138" cy="49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05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EU AI Act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09B14A4E-00AE-59AA-3549-6C4166FB489C}"/>
              </a:ext>
            </a:extLst>
          </p:cNvPr>
          <p:cNvSpPr/>
          <p:nvPr/>
        </p:nvSpPr>
        <p:spPr>
          <a:xfrm>
            <a:off x="8348032" y="3171307"/>
            <a:ext cx="3141585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リスク管理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人による監督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ログ記録・追跡可能性の確保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サイバーセキュリティ</a:t>
            </a: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ー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7B4D07F2-1436-148B-E670-CB85DF4824D6}"/>
              </a:ext>
            </a:extLst>
          </p:cNvPr>
          <p:cNvSpPr/>
          <p:nvPr/>
        </p:nvSpPr>
        <p:spPr>
          <a:xfrm>
            <a:off x="6373368" y="4497665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6C6C6C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※求められる義務は，AIの分類や事業者の立場によって異なる</a:t>
            </a:r>
            <a:endParaRPr lang="en-US" sz="11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1B36C826-E8D1-30F8-BBBB-1B4ADF13EEE0}"/>
              </a:ext>
            </a:extLst>
          </p:cNvPr>
          <p:cNvSpPr/>
          <p:nvPr/>
        </p:nvSpPr>
        <p:spPr>
          <a:xfrm>
            <a:off x="420624" y="1075361"/>
            <a:ext cx="5577840" cy="3701439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3" name="Text 4">
            <a:extLst>
              <a:ext uri="{FF2B5EF4-FFF2-40B4-BE49-F238E27FC236}">
                <a16:creationId xmlns:a16="http://schemas.microsoft.com/office/drawing/2014/main" id="{B1DEEF76-3230-3870-54DA-87FDA159F916}"/>
              </a:ext>
            </a:extLst>
          </p:cNvPr>
          <p:cNvSpPr/>
          <p:nvPr/>
        </p:nvSpPr>
        <p:spPr>
          <a:xfrm>
            <a:off x="605028" y="1586558"/>
            <a:ext cx="4165884" cy="11693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</a:t>
            </a:r>
            <a:r>
              <a:rPr lang="en-US" sz="1600" dirty="0" err="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ツール・社内データへアクセス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</a:t>
            </a:r>
            <a:r>
              <a:rPr lang="en-US" sz="1600" dirty="0" err="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実システムの操作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</a:t>
            </a:r>
            <a:r>
              <a:rPr lang="en-US" sz="1600" dirty="0" err="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複数ACTIONを自律的に実行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5" name="Text 6">
            <a:extLst>
              <a:ext uri="{FF2B5EF4-FFF2-40B4-BE49-F238E27FC236}">
                <a16:creationId xmlns:a16="http://schemas.microsoft.com/office/drawing/2014/main" id="{561B5EB1-BEB7-9B24-5F4D-7D9EC51BDAF7}"/>
              </a:ext>
            </a:extLst>
          </p:cNvPr>
          <p:cNvSpPr/>
          <p:nvPr/>
        </p:nvSpPr>
        <p:spPr>
          <a:xfrm>
            <a:off x="347472" y="3033991"/>
            <a:ext cx="547725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5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プロンプトだけでは実行時の振る舞いを保証できない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D5ACDF8-7982-596B-A6CD-9F4FB926EF45}"/>
              </a:ext>
            </a:extLst>
          </p:cNvPr>
          <p:cNvGrpSpPr/>
          <p:nvPr/>
        </p:nvGrpSpPr>
        <p:grpSpPr>
          <a:xfrm>
            <a:off x="580643" y="3534739"/>
            <a:ext cx="5047489" cy="749808"/>
            <a:chOff x="795526" y="3312160"/>
            <a:chExt cx="5047489" cy="749808"/>
          </a:xfrm>
        </p:grpSpPr>
        <p:sp>
          <p:nvSpPr>
            <p:cNvPr id="72" name="Shape 16">
              <a:extLst>
                <a:ext uri="{FF2B5EF4-FFF2-40B4-BE49-F238E27FC236}">
                  <a16:creationId xmlns:a16="http://schemas.microsoft.com/office/drawing/2014/main" id="{31A9F044-4DE4-AFDE-1DD2-5681AB3A49B9}"/>
                </a:ext>
              </a:extLst>
            </p:cNvPr>
            <p:cNvSpPr/>
            <p:nvPr/>
          </p:nvSpPr>
          <p:spPr>
            <a:xfrm>
              <a:off x="795526" y="3312160"/>
              <a:ext cx="5047489" cy="749808"/>
            </a:xfrm>
            <a:prstGeom prst="roundRect">
              <a:avLst>
                <a:gd name="adj" fmla="val 4878"/>
              </a:avLst>
            </a:prstGeom>
            <a:solidFill>
              <a:srgbClr val="FFF5F5"/>
            </a:solidFill>
            <a:ln w="12700">
              <a:solidFill>
                <a:srgbClr val="D85B5B"/>
              </a:solidFill>
              <a:prstDash val="solid"/>
            </a:ln>
          </p:spPr>
          <p:txBody>
            <a:bodyPr/>
            <a:lstStyle/>
            <a:p>
              <a:endParaRPr lang="en-JP" sz="1400">
                <a:latin typeface="Hiragino Kaku Gothic Pro W3" panose="020B0300000000000000" pitchFamily="34" charset="-128"/>
                <a:ea typeface="Hiragino Kaku Gothic Pro W3" panose="020B0300000000000000" pitchFamily="34" charset="-128"/>
              </a:endParaRPr>
            </a:p>
          </p:txBody>
        </p:sp>
        <p:sp>
          <p:nvSpPr>
            <p:cNvPr id="73" name="Text 17">
              <a:extLst>
                <a:ext uri="{FF2B5EF4-FFF2-40B4-BE49-F238E27FC236}">
                  <a16:creationId xmlns:a16="http://schemas.microsoft.com/office/drawing/2014/main" id="{8E5D0283-7930-9C59-17F2-2F4052CD1534}"/>
                </a:ext>
              </a:extLst>
            </p:cNvPr>
            <p:cNvSpPr/>
            <p:nvPr/>
          </p:nvSpPr>
          <p:spPr>
            <a:xfrm>
              <a:off x="813815" y="3385312"/>
              <a:ext cx="4986399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B51E23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Yu Gothic" pitchFamily="34" charset="-120"/>
                </a:rPr>
                <a:t>生じ得る主なリスク</a:t>
              </a:r>
              <a:endParaRPr lang="en-US" dirty="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Text 18">
              <a:extLst>
                <a:ext uri="{FF2B5EF4-FFF2-40B4-BE49-F238E27FC236}">
                  <a16:creationId xmlns:a16="http://schemas.microsoft.com/office/drawing/2014/main" id="{5C9FC5EB-6B1B-6DE9-F52E-F3679FE2298A}"/>
                </a:ext>
              </a:extLst>
            </p:cNvPr>
            <p:cNvSpPr/>
            <p:nvPr/>
          </p:nvSpPr>
          <p:spPr>
            <a:xfrm>
              <a:off x="795527" y="3696208"/>
              <a:ext cx="5029201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A1733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Yu Gothic" pitchFamily="34" charset="-120"/>
                </a:rPr>
                <a:t>誤操作  /  権限逸脱  /  情報漏洩  /  Prompt Injection</a:t>
              </a:r>
              <a:endParaRPr lang="en-US" sz="1400" dirty="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0035004-8CD8-C976-6B49-0FADAAB71AEA}"/>
              </a:ext>
            </a:extLst>
          </p:cNvPr>
          <p:cNvGrpSpPr/>
          <p:nvPr/>
        </p:nvGrpSpPr>
        <p:grpSpPr>
          <a:xfrm>
            <a:off x="6391919" y="1679613"/>
            <a:ext cx="543739" cy="307777"/>
            <a:chOff x="6391919" y="1517676"/>
            <a:chExt cx="543739" cy="30777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078248F-9B6F-38C5-B6C5-B37DBBAA3F6E}"/>
                </a:ext>
              </a:extLst>
            </p:cNvPr>
            <p:cNvSpPr/>
            <p:nvPr/>
          </p:nvSpPr>
          <p:spPr>
            <a:xfrm>
              <a:off x="6411468" y="1541728"/>
              <a:ext cx="472833" cy="228470"/>
            </a:xfrm>
            <a:prstGeom prst="rect">
              <a:avLst/>
            </a:prstGeom>
            <a:solidFill>
              <a:srgbClr val="001F5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 b="1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716A06-8821-7D76-2D78-32B0B6E44B17}"/>
                </a:ext>
              </a:extLst>
            </p:cNvPr>
            <p:cNvSpPr txBox="1"/>
            <p:nvPr/>
          </p:nvSpPr>
          <p:spPr>
            <a:xfrm>
              <a:off x="6391919" y="151767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400" b="1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例１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5F01DD-8E92-8E39-960A-B49FACA56D4A}"/>
              </a:ext>
            </a:extLst>
          </p:cNvPr>
          <p:cNvGrpSpPr/>
          <p:nvPr/>
        </p:nvGrpSpPr>
        <p:grpSpPr>
          <a:xfrm>
            <a:off x="6391919" y="3193819"/>
            <a:ext cx="543739" cy="307777"/>
            <a:chOff x="6391919" y="1517676"/>
            <a:chExt cx="543739" cy="3077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BE8E350-6077-0C7D-3576-5A9FED8847C4}"/>
                </a:ext>
              </a:extLst>
            </p:cNvPr>
            <p:cNvSpPr/>
            <p:nvPr/>
          </p:nvSpPr>
          <p:spPr>
            <a:xfrm>
              <a:off x="6411468" y="1541728"/>
              <a:ext cx="472833" cy="228470"/>
            </a:xfrm>
            <a:prstGeom prst="rect">
              <a:avLst/>
            </a:prstGeom>
            <a:solidFill>
              <a:srgbClr val="001F5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 b="1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0DE7B6-BF93-699A-0823-FC467AC13B16}"/>
                </a:ext>
              </a:extLst>
            </p:cNvPr>
            <p:cNvSpPr txBox="1"/>
            <p:nvPr/>
          </p:nvSpPr>
          <p:spPr>
            <a:xfrm>
              <a:off x="6391919" y="151767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400" b="1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例２</a:t>
              </a:r>
            </a:p>
          </p:txBody>
        </p:sp>
      </p:grpSp>
      <p:sp>
        <p:nvSpPr>
          <p:cNvPr id="61" name="Text 2">
            <a:extLst>
              <a:ext uri="{FF2B5EF4-FFF2-40B4-BE49-F238E27FC236}">
                <a16:creationId xmlns:a16="http://schemas.microsoft.com/office/drawing/2014/main" id="{BF436D73-17A7-8AF7-66DA-BC465DD60C21}"/>
              </a:ext>
            </a:extLst>
          </p:cNvPr>
          <p:cNvSpPr/>
          <p:nvPr/>
        </p:nvSpPr>
        <p:spPr>
          <a:xfrm>
            <a:off x="420624" y="1119200"/>
            <a:ext cx="5577840" cy="42976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001F5A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AI Agent の特性とリスク</a:t>
            </a:r>
            <a:endParaRPr lang="en-US" sz="1900" dirty="0">
              <a:solidFill>
                <a:srgbClr val="001F5A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9D38C441-2EB2-E77D-AFF1-DD381F127558}"/>
              </a:ext>
            </a:extLst>
          </p:cNvPr>
          <p:cNvSpPr/>
          <p:nvPr/>
        </p:nvSpPr>
        <p:spPr>
          <a:xfrm>
            <a:off x="6217920" y="1119200"/>
            <a:ext cx="5522976" cy="42976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01F5A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法規制等によるガバナンス要求</a:t>
            </a:r>
            <a:endParaRPr lang="en-US" sz="2000" dirty="0">
              <a:solidFill>
                <a:srgbClr val="001F5A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19">
            <a:extLst>
              <a:ext uri="{FF2B5EF4-FFF2-40B4-BE49-F238E27FC236}">
                <a16:creationId xmlns:a16="http://schemas.microsoft.com/office/drawing/2014/main" id="{16F8FD56-A6AC-D913-D3DD-AE422A6ED50F}"/>
              </a:ext>
            </a:extLst>
          </p:cNvPr>
          <p:cNvSpPr/>
          <p:nvPr/>
        </p:nvSpPr>
        <p:spPr>
          <a:xfrm>
            <a:off x="6443472" y="3130721"/>
            <a:ext cx="5376672" cy="0"/>
          </a:xfrm>
          <a:prstGeom prst="line">
            <a:avLst/>
          </a:prstGeom>
          <a:noFill/>
          <a:ln w="889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81865126-B5A3-16FE-AD91-F41BDCC72AAB}"/>
              </a:ext>
            </a:extLst>
          </p:cNvPr>
          <p:cNvSpPr/>
          <p:nvPr/>
        </p:nvSpPr>
        <p:spPr>
          <a:xfrm>
            <a:off x="713232" y="1508528"/>
            <a:ext cx="4887884" cy="0"/>
          </a:xfrm>
          <a:prstGeom prst="line">
            <a:avLst/>
          </a:prstGeom>
          <a:noFill/>
          <a:ln w="254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1534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1350" y="514350"/>
            <a:ext cx="12000230" cy="4635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2300" b="1" kern="0" spc="25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Agent の実運用でなぜガバナンスが必要か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1350" y="1041400"/>
            <a:ext cx="10909300" cy="19050"/>
          </a:xfrm>
          <a:prstGeom prst="rect">
            <a:avLst/>
          </a:prstGeom>
          <a:solidFill>
            <a:srgbClr val="15305E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5" name="Shape 3"/>
          <p:cNvSpPr/>
          <p:nvPr/>
        </p:nvSpPr>
        <p:spPr>
          <a:xfrm>
            <a:off x="641350" y="1238251"/>
            <a:ext cx="4813300" cy="3336131"/>
          </a:xfrm>
          <a:prstGeom prst="roundRect">
            <a:avLst>
              <a:gd name="adj" fmla="val 1523"/>
            </a:avLst>
          </a:prstGeom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JP" sz="1200"/>
          </a:p>
        </p:txBody>
      </p:sp>
      <p:sp>
        <p:nvSpPr>
          <p:cNvPr id="6" name="Shape 4"/>
          <p:cNvSpPr/>
          <p:nvPr/>
        </p:nvSpPr>
        <p:spPr>
          <a:xfrm>
            <a:off x="838200" y="1746250"/>
            <a:ext cx="4419600" cy="6350"/>
          </a:xfrm>
          <a:prstGeom prst="rect">
            <a:avLst/>
          </a:prstGeom>
          <a:solidFill>
            <a:srgbClr val="9A9A9A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7" name="Text 5"/>
          <p:cNvSpPr/>
          <p:nvPr/>
        </p:nvSpPr>
        <p:spPr>
          <a:xfrm>
            <a:off x="771906" y="1409700"/>
            <a:ext cx="4552188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/>
            <a:r>
              <a:rPr lang="en-US" sz="160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Agent の特性とリスク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4556" y="1866900"/>
            <a:ext cx="4424045" cy="86538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marL="93349" indent="-93349">
              <a:lnSpc>
                <a:spcPct val="140000"/>
              </a:lnSpc>
              <a:buSzPct val="100000"/>
              <a:buChar char="•"/>
              <a:tabLst>
                <a:tab pos="93349" algn="l"/>
              </a:tabLst>
            </a:pPr>
            <a:r>
              <a:rPr lang="en-US" sz="1333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ツール・社内データへアクセス</a:t>
            </a:r>
            <a:endParaRPr lang="en-US" sz="1333" dirty="0"/>
          </a:p>
          <a:p>
            <a:pPr marL="93349" indent="-93349">
              <a:lnSpc>
                <a:spcPct val="140000"/>
              </a:lnSpc>
              <a:buSzPct val="100000"/>
              <a:buChar char="•"/>
              <a:tabLst>
                <a:tab pos="93349" algn="l"/>
              </a:tabLst>
            </a:pPr>
            <a:r>
              <a:rPr lang="en-US" sz="1333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実システムの操作</a:t>
            </a:r>
            <a:endParaRPr lang="en-US" sz="1333" dirty="0"/>
          </a:p>
          <a:p>
            <a:pPr marL="93349" indent="-93349">
              <a:lnSpc>
                <a:spcPct val="140000"/>
              </a:lnSpc>
              <a:buSzPct val="100000"/>
              <a:buChar char="•"/>
              <a:tabLst>
                <a:tab pos="93349" algn="l"/>
              </a:tabLst>
            </a:pPr>
            <a:r>
              <a:rPr lang="en-US" sz="1333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複数ACTIONを自律的に実行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838200" y="2992301"/>
            <a:ext cx="4419600" cy="6350"/>
          </a:xfrm>
          <a:prstGeom prst="rect">
            <a:avLst/>
          </a:prstGeom>
          <a:solidFill>
            <a:srgbClr val="D5D5D5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10" name="Text 8"/>
          <p:cNvSpPr/>
          <p:nvPr/>
        </p:nvSpPr>
        <p:spPr>
          <a:xfrm>
            <a:off x="838200" y="3078862"/>
            <a:ext cx="4552188" cy="2776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333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プロンプトだけでは実行時の振る舞いを保証できない</a:t>
            </a:r>
          </a:p>
        </p:txBody>
      </p:sp>
      <p:sp>
        <p:nvSpPr>
          <p:cNvPr id="11" name="Shape 9"/>
          <p:cNvSpPr/>
          <p:nvPr/>
        </p:nvSpPr>
        <p:spPr>
          <a:xfrm>
            <a:off x="838200" y="3688557"/>
            <a:ext cx="4419600" cy="714375"/>
          </a:xfrm>
          <a:prstGeom prst="roundRect">
            <a:avLst>
              <a:gd name="adj" fmla="val 5333"/>
            </a:avLst>
          </a:prstGeom>
          <a:solidFill>
            <a:srgbClr val="FDECEC"/>
          </a:solidFill>
          <a:ln w="1905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JP" sz="1200"/>
          </a:p>
        </p:txBody>
      </p:sp>
      <p:sp>
        <p:nvSpPr>
          <p:cNvPr id="12" name="Text 10"/>
          <p:cNvSpPr/>
          <p:nvPr/>
        </p:nvSpPr>
        <p:spPr>
          <a:xfrm>
            <a:off x="742950" y="3815557"/>
            <a:ext cx="4610100" cy="2444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E13C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生じ得る主なリスク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2950" y="4085431"/>
            <a:ext cx="4610100" cy="215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/>
            <a:r>
              <a:rPr lang="en-US" sz="1000" b="1" dirty="0">
                <a:solidFill>
                  <a:srgbClr val="8F232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誤操作 / 権限逸脱 / 情報漏洩 / Prompt Injection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32450" y="1238251"/>
            <a:ext cx="5918200" cy="3336131"/>
          </a:xfrm>
          <a:prstGeom prst="roundRect">
            <a:avLst>
              <a:gd name="adj" fmla="val 1523"/>
            </a:avLst>
          </a:prstGeom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JP" sz="1200"/>
          </a:p>
        </p:txBody>
      </p:sp>
      <p:sp>
        <p:nvSpPr>
          <p:cNvPr id="15" name="Shape 13"/>
          <p:cNvSpPr/>
          <p:nvPr/>
        </p:nvSpPr>
        <p:spPr>
          <a:xfrm>
            <a:off x="5829300" y="1746250"/>
            <a:ext cx="5524500" cy="6350"/>
          </a:xfrm>
          <a:prstGeom prst="rect">
            <a:avLst/>
          </a:prstGeom>
          <a:solidFill>
            <a:srgbClr val="9A9A9A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16" name="Text 14"/>
          <p:cNvSpPr/>
          <p:nvPr/>
        </p:nvSpPr>
        <p:spPr>
          <a:xfrm>
            <a:off x="5746433" y="1409700"/>
            <a:ext cx="5690235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/>
            <a:r>
              <a:rPr lang="en-US" sz="160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法規制等によるガバナンス要求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29300" y="2990850"/>
            <a:ext cx="5524500" cy="6350"/>
          </a:xfrm>
          <a:prstGeom prst="rect">
            <a:avLst/>
          </a:prstGeom>
          <a:solidFill>
            <a:srgbClr val="D5D5D5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18" name="Shape 16"/>
          <p:cNvSpPr/>
          <p:nvPr/>
        </p:nvSpPr>
        <p:spPr>
          <a:xfrm>
            <a:off x="5829300" y="1955800"/>
            <a:ext cx="1905000" cy="933450"/>
          </a:xfrm>
          <a:prstGeom prst="roundRect">
            <a:avLst>
              <a:gd name="adj" fmla="val 2721"/>
            </a:avLst>
          </a:prstGeom>
          <a:solidFill>
            <a:srgbClr val="EAF1FC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19" name="Shape 17"/>
          <p:cNvSpPr/>
          <p:nvPr/>
        </p:nvSpPr>
        <p:spPr>
          <a:xfrm>
            <a:off x="5930901" y="2044701"/>
            <a:ext cx="302815" cy="180975"/>
          </a:xfrm>
          <a:prstGeom prst="roundRect">
            <a:avLst>
              <a:gd name="adj" fmla="val 10526"/>
            </a:avLst>
          </a:prstGeom>
          <a:ln w="9525">
            <a:solidFill>
              <a:srgbClr val="15305E"/>
            </a:solidFill>
            <a:prstDash val="solid"/>
          </a:ln>
        </p:spPr>
        <p:txBody>
          <a:bodyPr/>
          <a:lstStyle/>
          <a:p>
            <a:endParaRPr lang="en-JP" sz="1200"/>
          </a:p>
        </p:txBody>
      </p:sp>
      <p:sp>
        <p:nvSpPr>
          <p:cNvPr id="20" name="Text 18"/>
          <p:cNvSpPr/>
          <p:nvPr/>
        </p:nvSpPr>
        <p:spPr>
          <a:xfrm>
            <a:off x="6000751" y="2063751"/>
            <a:ext cx="213915" cy="1682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75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例1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30900" y="2289176"/>
            <a:ext cx="1871980" cy="231775"/>
          </a:xfrm>
          <a:prstGeom prst="rect">
            <a:avLst/>
          </a:prstGeom>
          <a:noFill/>
          <a:ln/>
        </p:spPr>
        <p:txBody>
          <a:bodyPr wrap="none" lIns="16933" tIns="16933" rIns="16933" bIns="16933" rtlCol="0" anchor="t">
            <a:normAutofit/>
          </a:bodyPr>
          <a:lstStyle/>
          <a:p>
            <a:pPr>
              <a:lnSpc>
                <a:spcPct val="86667"/>
              </a:lnSpc>
            </a:pPr>
            <a:r>
              <a:rPr lang="en-US" sz="125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California SB 53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30900" y="2533650"/>
            <a:ext cx="1752854" cy="2921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3333"/>
              </a:lnSpc>
            </a:pPr>
            <a:r>
              <a:rPr lang="en-US" sz="750" dirty="0">
                <a:solidFill>
                  <a:srgbClr val="5555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Transparency in Frontier Artificial Intelligence Act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903846" y="1993900"/>
            <a:ext cx="3500755" cy="71298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marL="84460" indent="-84460">
              <a:lnSpc>
                <a:spcPct val="126667"/>
              </a:lnSpc>
              <a:buSzPct val="100000"/>
              <a:buChar char="•"/>
              <a:tabLst>
                <a:tab pos="84460" algn="l"/>
              </a:tabLst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安全性フレームワークの策定・運用</a:t>
            </a:r>
            <a:endParaRPr lang="en-US" sz="1200" dirty="0"/>
          </a:p>
          <a:p>
            <a:pPr marL="84460" indent="-84460">
              <a:lnSpc>
                <a:spcPct val="126667"/>
              </a:lnSpc>
              <a:buSzPct val="100000"/>
              <a:buChar char="•"/>
              <a:tabLst>
                <a:tab pos="84460" algn="l"/>
              </a:tabLst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重大な安全インシデントの報告</a:t>
            </a:r>
            <a:endParaRPr lang="en-US" sz="1200" dirty="0"/>
          </a:p>
          <a:p>
            <a:pPr marL="84460" indent="-84460">
              <a:lnSpc>
                <a:spcPct val="126667"/>
              </a:lnSpc>
              <a:buSzPct val="100000"/>
              <a:buChar char="•"/>
              <a:tabLst>
                <a:tab pos="84460" algn="l"/>
              </a:tabLst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透明性・説明責任の強化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29300" y="4155282"/>
            <a:ext cx="5524500" cy="6350"/>
          </a:xfrm>
          <a:prstGeom prst="rect">
            <a:avLst/>
          </a:prstGeom>
          <a:solidFill>
            <a:srgbClr val="D5D5D5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25" name="Shape 23"/>
          <p:cNvSpPr/>
          <p:nvPr/>
        </p:nvSpPr>
        <p:spPr>
          <a:xfrm>
            <a:off x="5829300" y="3098800"/>
            <a:ext cx="1905000" cy="954881"/>
          </a:xfrm>
          <a:prstGeom prst="roundRect">
            <a:avLst>
              <a:gd name="adj" fmla="val 2660"/>
            </a:avLst>
          </a:prstGeom>
          <a:solidFill>
            <a:srgbClr val="EAF1FC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26" name="Shape 24"/>
          <p:cNvSpPr/>
          <p:nvPr/>
        </p:nvSpPr>
        <p:spPr>
          <a:xfrm>
            <a:off x="5930901" y="3187701"/>
            <a:ext cx="302815" cy="180975"/>
          </a:xfrm>
          <a:prstGeom prst="roundRect">
            <a:avLst>
              <a:gd name="adj" fmla="val 10526"/>
            </a:avLst>
          </a:prstGeom>
          <a:ln w="9525">
            <a:solidFill>
              <a:srgbClr val="15305E"/>
            </a:solidFill>
            <a:prstDash val="solid"/>
          </a:ln>
        </p:spPr>
        <p:txBody>
          <a:bodyPr/>
          <a:lstStyle/>
          <a:p>
            <a:endParaRPr lang="en-JP" sz="1200"/>
          </a:p>
        </p:txBody>
      </p:sp>
      <p:sp>
        <p:nvSpPr>
          <p:cNvPr id="27" name="Text 25"/>
          <p:cNvSpPr/>
          <p:nvPr/>
        </p:nvSpPr>
        <p:spPr>
          <a:xfrm>
            <a:off x="6000751" y="3206751"/>
            <a:ext cx="213915" cy="1682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75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930900" y="3432176"/>
            <a:ext cx="1871980" cy="2400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6667"/>
              </a:lnSpc>
            </a:pPr>
            <a:r>
              <a:rPr lang="en-US" sz="130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EU AI Act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03846" y="3136900"/>
            <a:ext cx="3500755" cy="9421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marL="84460" indent="-84460">
              <a:lnSpc>
                <a:spcPct val="126667"/>
              </a:lnSpc>
              <a:buSzPct val="100000"/>
              <a:buChar char="•"/>
              <a:tabLst>
                <a:tab pos="84460" algn="l"/>
              </a:tabLst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リスク管理</a:t>
            </a:r>
            <a:endParaRPr lang="en-US" sz="1200" dirty="0"/>
          </a:p>
          <a:p>
            <a:pPr marL="84460" indent="-84460">
              <a:lnSpc>
                <a:spcPct val="126667"/>
              </a:lnSpc>
              <a:buSzPct val="100000"/>
              <a:buChar char="•"/>
              <a:tabLst>
                <a:tab pos="84460" algn="l"/>
              </a:tabLst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人による監督</a:t>
            </a:r>
            <a:endParaRPr lang="en-US" sz="1200" dirty="0"/>
          </a:p>
          <a:p>
            <a:pPr marL="84460" indent="-84460">
              <a:lnSpc>
                <a:spcPct val="126667"/>
              </a:lnSpc>
              <a:buSzPct val="100000"/>
              <a:buChar char="•"/>
              <a:tabLst>
                <a:tab pos="84460" algn="l"/>
              </a:tabLst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ログ記録・追跡可能性の確保</a:t>
            </a:r>
            <a:endParaRPr lang="en-US" sz="1200" dirty="0"/>
          </a:p>
          <a:p>
            <a:pPr marL="84460" indent="-84460">
              <a:lnSpc>
                <a:spcPct val="126667"/>
              </a:lnSpc>
              <a:buSzPct val="100000"/>
              <a:buChar char="•"/>
              <a:tabLst>
                <a:tab pos="84460" algn="l"/>
              </a:tabLst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サイバーセキュリティ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29300" y="4250531"/>
            <a:ext cx="6076950" cy="1778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800" dirty="0">
                <a:solidFill>
                  <a:srgbClr val="66666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※求められる義務は，AIの分類や事業者の立場によって異なる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1350" y="4764882"/>
            <a:ext cx="12000230" cy="3016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45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Agent のリスクと法規制等の要求を，実運用上のガバナンスへ落とし込むことが重要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41350" y="5180806"/>
            <a:ext cx="5365750" cy="349250"/>
          </a:xfrm>
          <a:prstGeom prst="roundRect">
            <a:avLst>
              <a:gd name="adj" fmla="val 10909"/>
            </a:avLst>
          </a:prstGeom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JP" sz="1200"/>
          </a:p>
        </p:txBody>
      </p:sp>
      <p:sp>
        <p:nvSpPr>
          <p:cNvPr id="33" name="Shape 31"/>
          <p:cNvSpPr/>
          <p:nvPr/>
        </p:nvSpPr>
        <p:spPr>
          <a:xfrm>
            <a:off x="647700" y="5187156"/>
            <a:ext cx="1333500" cy="336550"/>
          </a:xfrm>
          <a:prstGeom prst="rect">
            <a:avLst/>
          </a:prstGeom>
          <a:solidFill>
            <a:srgbClr val="DCE8FB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34" name="Shape 32"/>
          <p:cNvSpPr/>
          <p:nvPr/>
        </p:nvSpPr>
        <p:spPr>
          <a:xfrm>
            <a:off x="1974850" y="5187156"/>
            <a:ext cx="6350" cy="3365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35" name="Text 33"/>
          <p:cNvSpPr/>
          <p:nvPr/>
        </p:nvSpPr>
        <p:spPr>
          <a:xfrm>
            <a:off x="622300" y="5187156"/>
            <a:ext cx="1377950" cy="3619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Policy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984407" y="5250656"/>
            <a:ext cx="4013137" cy="2349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1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ポリシーに基づく行動・権限制御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84900" y="5180806"/>
            <a:ext cx="5365750" cy="349250"/>
          </a:xfrm>
          <a:prstGeom prst="roundRect">
            <a:avLst>
              <a:gd name="adj" fmla="val 10909"/>
            </a:avLst>
          </a:prstGeom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JP" sz="1200"/>
          </a:p>
        </p:txBody>
      </p:sp>
      <p:sp>
        <p:nvSpPr>
          <p:cNvPr id="38" name="Shape 36"/>
          <p:cNvSpPr/>
          <p:nvPr/>
        </p:nvSpPr>
        <p:spPr>
          <a:xfrm>
            <a:off x="6191250" y="5187156"/>
            <a:ext cx="1333500" cy="336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39" name="Shape 37"/>
          <p:cNvSpPr/>
          <p:nvPr/>
        </p:nvSpPr>
        <p:spPr>
          <a:xfrm>
            <a:off x="7518400" y="5187156"/>
            <a:ext cx="6350" cy="3365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40" name="Text 38"/>
          <p:cNvSpPr/>
          <p:nvPr/>
        </p:nvSpPr>
        <p:spPr>
          <a:xfrm>
            <a:off x="6165850" y="5187156"/>
            <a:ext cx="1377950" cy="3619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Audit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27957" y="5250656"/>
            <a:ext cx="4013137" cy="2349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1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操作や判断の監査（記録・追跡）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511409" y="6362700"/>
            <a:ext cx="331341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900" dirty="0">
                <a:solidFill>
                  <a:srgbClr val="9A9A9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5837" y="320671"/>
            <a:ext cx="473971" cy="2550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878F9A"/>
                </a:solidFill>
                <a:latin typeface="Noto Sans CJK JP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5645" y="204063"/>
            <a:ext cx="10573205" cy="378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04225E"/>
                </a:solidFill>
                <a:latin typeface="Noto Sans CJK JP"/>
              </a:rPr>
              <a:t>AI AgentのActionはどのように実行されるか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1464" y="736087"/>
            <a:ext cx="11433645" cy="0"/>
          </a:xfrm>
          <a:prstGeom prst="line">
            <a:avLst/>
          </a:prstGeom>
          <a:ln w="20320">
            <a:solidFill>
              <a:srgbClr val="042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91731" y="2558085"/>
            <a:ext cx="692727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646974"/>
                </a:solidFill>
                <a:latin typeface="Noto Sans CJK JP"/>
              </a:rPr>
              <a:t>Prompt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57358" y="2842316"/>
            <a:ext cx="510430" cy="131183"/>
          </a:xfrm>
          <a:prstGeom prst="rightArrow">
            <a:avLst/>
          </a:prstGeom>
          <a:solidFill>
            <a:srgbClr val="646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1186" y="2543509"/>
            <a:ext cx="765645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0046B4"/>
                </a:solidFill>
                <a:latin typeface="Noto Sans CJK JP"/>
              </a:rPr>
              <a:t>Tool Call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61607" y="2842316"/>
            <a:ext cx="525014" cy="131183"/>
          </a:xfrm>
          <a:prstGeom prst="rightArrow">
            <a:avLst/>
          </a:prstGeom>
          <a:solidFill>
            <a:srgbClr val="00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4602" y="2565373"/>
            <a:ext cx="692727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646974"/>
                </a:solidFill>
                <a:latin typeface="Noto Sans CJK JP"/>
              </a:rPr>
              <a:t>実行要求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465856" y="2842316"/>
            <a:ext cx="510430" cy="131183"/>
          </a:xfrm>
          <a:prstGeom prst="rightArrow">
            <a:avLst/>
          </a:prstGeom>
          <a:solidFill>
            <a:srgbClr val="646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10463827" y="3709587"/>
            <a:ext cx="0" cy="677783"/>
          </a:xfrm>
          <a:prstGeom prst="line">
            <a:avLst/>
          </a:prstGeom>
          <a:ln w="12700">
            <a:solidFill>
              <a:srgbClr val="64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229282" y="4387370"/>
            <a:ext cx="6234545" cy="0"/>
          </a:xfrm>
          <a:prstGeom prst="line">
            <a:avLst/>
          </a:prstGeom>
          <a:ln w="12700">
            <a:solidFill>
              <a:srgbClr val="64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229282" y="4059411"/>
            <a:ext cx="0" cy="327959"/>
          </a:xfrm>
          <a:prstGeom prst="line">
            <a:avLst/>
          </a:prstGeom>
          <a:ln w="12700">
            <a:solidFill>
              <a:srgbClr val="64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Up Arrow 13"/>
          <p:cNvSpPr/>
          <p:nvPr/>
        </p:nvSpPr>
        <p:spPr>
          <a:xfrm>
            <a:off x="4156363" y="3950091"/>
            <a:ext cx="145837" cy="131183"/>
          </a:xfrm>
          <a:prstGeom prst="upArrow">
            <a:avLst/>
          </a:prstGeom>
          <a:solidFill>
            <a:srgbClr val="646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91865" y="3935515"/>
            <a:ext cx="4375119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646974"/>
                </a:solidFill>
                <a:latin typeface="Noto Sans CJK JP"/>
              </a:rPr>
              <a:t>Toolの実行から先で，実システムへの副作用が発生する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3062" y="4606010"/>
            <a:ext cx="3427176" cy="2040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646974"/>
                </a:solidFill>
                <a:latin typeface="Noto Sans CJK JP"/>
              </a:rPr>
              <a:t>実行結果を踏まえて次のActionを判断する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1052" y="1989621"/>
            <a:ext cx="1808382" cy="1727253"/>
          </a:xfrm>
          <a:prstGeom prst="rect">
            <a:avLst/>
          </a:prstGeom>
          <a:noFill/>
          <a:ln w="11430">
            <a:solidFill>
              <a:srgbClr val="BEC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64" y="2740284"/>
            <a:ext cx="1093779" cy="2477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04225E"/>
                </a:solidFill>
                <a:latin typeface="Noto Sans CJK JP"/>
              </a:rPr>
              <a:t>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8420" y="1989621"/>
            <a:ext cx="2005263" cy="1727253"/>
          </a:xfrm>
          <a:prstGeom prst="rect">
            <a:avLst/>
          </a:prstGeom>
          <a:noFill/>
          <a:ln w="11430">
            <a:solidFill>
              <a:srgbClr val="BEC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45932" y="2390461"/>
            <a:ext cx="1166698" cy="2477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04225E"/>
                </a:solidFill>
                <a:latin typeface="Noto Sans CJK JP"/>
              </a:rPr>
              <a:t>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9473" y="2784012"/>
            <a:ext cx="1239617" cy="451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141414"/>
                </a:solidFill>
                <a:latin typeface="Noto Sans CJK JP"/>
              </a:rPr>
              <a:t>次の処理を判断
Toolを選択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2669" y="1989621"/>
            <a:ext cx="2027138" cy="1727253"/>
          </a:xfrm>
          <a:prstGeom prst="rect">
            <a:avLst/>
          </a:prstGeom>
          <a:noFill/>
          <a:ln w="11430">
            <a:solidFill>
              <a:srgbClr val="BEC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6841" y="2390461"/>
            <a:ext cx="1604210" cy="451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04225E"/>
                </a:solidFill>
                <a:latin typeface="Noto Sans CJK JP"/>
              </a:rPr>
              <a:t>Agent SDK
／ 実行基盤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6841" y="3090108"/>
            <a:ext cx="1677129" cy="2477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141414"/>
                </a:solidFill>
                <a:latin typeface="Noto Sans CJK JP"/>
              </a:rPr>
              <a:t>Tool Callを処理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73167" y="1989621"/>
            <a:ext cx="2406315" cy="1727253"/>
          </a:xfrm>
          <a:prstGeom prst="rect">
            <a:avLst/>
          </a:prstGeom>
          <a:noFill/>
          <a:ln w="11430">
            <a:solidFill>
              <a:srgbClr val="BEC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46085" y="2601812"/>
            <a:ext cx="2296937" cy="2769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04225E"/>
                </a:solidFill>
                <a:latin typeface="Noto Sans CJK JP"/>
              </a:rPr>
              <a:t>Tool／外部システム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0669" y="3017228"/>
            <a:ext cx="2224019" cy="2477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Liberation Mono"/>
              </a:rPr>
              <a:t>File / DB / API / Shell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1052" y="6129200"/>
            <a:ext cx="6854353" cy="26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4225E"/>
                </a:solidFill>
                <a:latin typeface="Noto Sans CJK JP"/>
              </a:rPr>
              <a:t>LLMの判断は，Tool Callを通じて実システムのActionにつながる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8344" y="5866833"/>
            <a:ext cx="11302392" cy="0"/>
          </a:xfrm>
          <a:prstGeom prst="line">
            <a:avLst/>
          </a:prstGeom>
          <a:ln w="10160">
            <a:solidFill>
              <a:srgbClr val="BEC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025301" y="6282248"/>
            <a:ext cx="583349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400" b="0">
                <a:solidFill>
                  <a:srgbClr val="878F9A"/>
                </a:solidFill>
                <a:latin typeface="Noto Sans CJK JP"/>
              </a:rPr>
              <a:t>2  / 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183" y="291897"/>
            <a:ext cx="294953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0440" y="161310"/>
            <a:ext cx="5988819" cy="37702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Promptによる指示と実行時のPolicy制御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6047" y="757951"/>
            <a:ext cx="11382603" cy="0"/>
          </a:xfrm>
          <a:prstGeom prst="line">
            <a:avLst/>
          </a:prstGeom>
          <a:ln w="19050">
            <a:solidFill>
              <a:srgbClr val="0A28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22928" y="1107774"/>
            <a:ext cx="3893856" cy="779815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3349" y="1262014"/>
            <a:ext cx="423673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Promptの例（Userが入力する自然言語の指示）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143" y="1559602"/>
            <a:ext cx="4385816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「重要なファイルは変更・削除しないで」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220" y="2135381"/>
            <a:ext cx="1414621" cy="1333702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4798" y="2688021"/>
            <a:ext cx="649217" cy="3231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4239" y="2135381"/>
            <a:ext cx="1655253" cy="1333702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0948" y="2411484"/>
            <a:ext cx="567463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2533" y="2796761"/>
            <a:ext cx="1324080" cy="45550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8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次の処理を判断</a:t>
            </a:r>
          </a:p>
          <a:p>
            <a:pPr algn="ctr"/>
            <a:r>
              <a:rPr sz="148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Toolを選択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91808" y="2135381"/>
            <a:ext cx="1793798" cy="1333702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73154" y="2405795"/>
            <a:ext cx="1231107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Agent SDK</a:t>
            </a:r>
          </a:p>
          <a:p>
            <a:pPr algn="ctr"/>
            <a:r>
              <a:rPr sz="17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／ 実行基盤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1820" y="3078262"/>
            <a:ext cx="1373774" cy="227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8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Tool Callを処理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1463" y="2128093"/>
            <a:ext cx="1669837" cy="1340990"/>
          </a:xfrm>
          <a:prstGeom prst="rect">
            <a:avLst/>
          </a:prstGeom>
          <a:solidFill>
            <a:srgbClr val="F5F8FC"/>
          </a:solidFill>
          <a:ln w="15240">
            <a:solidFill>
              <a:srgbClr val="2A6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66071" y="2425654"/>
            <a:ext cx="807913" cy="3231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0528" y="2825913"/>
            <a:ext cx="1551708" cy="45550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8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Tool実行前に</a:t>
            </a:r>
          </a:p>
          <a:p>
            <a:pPr algn="ctr"/>
            <a:r>
              <a:rPr sz="148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Actionを評価する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17990" y="2142669"/>
            <a:ext cx="1370870" cy="1326414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97492" y="2578701"/>
            <a:ext cx="593111" cy="3231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64881" y="2963556"/>
            <a:ext cx="1484381" cy="23852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／ 外部システム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049014" y="2842316"/>
            <a:ext cx="466679" cy="116607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49163" y="2544700"/>
            <a:ext cx="710131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Prompt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513664" y="2842316"/>
            <a:ext cx="473971" cy="116607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51219" y="2544700"/>
            <a:ext cx="820738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Tool Call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67904" y="2842316"/>
            <a:ext cx="473971" cy="116607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31106" y="2544700"/>
            <a:ext cx="769442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実行要求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516" y="3623323"/>
            <a:ext cx="14234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Policy Decision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91808" y="4044835"/>
            <a:ext cx="1429205" cy="852695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01117" y="4175991"/>
            <a:ext cx="625171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88847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Allow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71447" y="4520152"/>
            <a:ext cx="1077219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そのまま実行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37684" y="4044835"/>
            <a:ext cx="1895885" cy="852695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82282" y="4183686"/>
            <a:ext cx="1006687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B07A1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6036" y="4532826"/>
            <a:ext cx="1699183" cy="20467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JP" sz="133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人による承認</a:t>
            </a:r>
            <a:r>
              <a:rPr sz="133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後に実行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50239" y="4044835"/>
            <a:ext cx="1502124" cy="852695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208029" y="4175991"/>
            <a:ext cx="60112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E2A27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Deny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76852" y="4521691"/>
            <a:ext cx="1234313" cy="2123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8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実行せず</a:t>
            </a:r>
            <a:r>
              <a:rPr lang="en-JP" sz="138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に</a:t>
            </a:r>
            <a:r>
              <a:rPr sz="138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停止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662736" y="3469083"/>
            <a:ext cx="0" cy="335248"/>
          </a:xfrm>
          <a:prstGeom prst="line">
            <a:avLst/>
          </a:prstGeom>
          <a:ln w="1397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00210" y="3804331"/>
            <a:ext cx="1735464" cy="0"/>
          </a:xfrm>
          <a:prstGeom prst="line">
            <a:avLst/>
          </a:prstGeom>
          <a:ln w="1397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700210" y="3804331"/>
            <a:ext cx="0" cy="160336"/>
          </a:xfrm>
          <a:prstGeom prst="line">
            <a:avLst/>
          </a:prstGeom>
          <a:ln w="1397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own Arrow 40"/>
          <p:cNvSpPr/>
          <p:nvPr/>
        </p:nvSpPr>
        <p:spPr>
          <a:xfrm>
            <a:off x="7634583" y="3957379"/>
            <a:ext cx="131253" cy="87455"/>
          </a:xfrm>
          <a:prstGeom prst="down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9435674" y="3804331"/>
            <a:ext cx="0" cy="160336"/>
          </a:xfrm>
          <a:prstGeom prst="line">
            <a:avLst/>
          </a:prstGeom>
          <a:ln w="1397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own Arrow 43"/>
          <p:cNvSpPr/>
          <p:nvPr/>
        </p:nvSpPr>
        <p:spPr>
          <a:xfrm>
            <a:off x="9370047" y="3957379"/>
            <a:ext cx="131253" cy="87455"/>
          </a:xfrm>
          <a:prstGeom prst="down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5906411" y="4897530"/>
            <a:ext cx="0" cy="306095"/>
          </a:xfrm>
          <a:prstGeom prst="line">
            <a:avLst/>
          </a:prstGeom>
          <a:ln w="1397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685626" y="4897530"/>
            <a:ext cx="0" cy="306095"/>
          </a:xfrm>
          <a:prstGeom prst="line">
            <a:avLst/>
          </a:prstGeom>
          <a:ln w="1397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906411" y="5203625"/>
            <a:ext cx="5075138" cy="0"/>
          </a:xfrm>
          <a:prstGeom prst="line">
            <a:avLst/>
          </a:prstGeom>
          <a:ln w="1397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981549" y="3527387"/>
            <a:ext cx="0" cy="1676238"/>
          </a:xfrm>
          <a:prstGeom prst="line">
            <a:avLst/>
          </a:prstGeom>
          <a:ln w="1397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Up Arrow 48"/>
          <p:cNvSpPr/>
          <p:nvPr/>
        </p:nvSpPr>
        <p:spPr>
          <a:xfrm>
            <a:off x="10915923" y="3469083"/>
            <a:ext cx="131253" cy="87455"/>
          </a:xfrm>
          <a:prstGeom prst="up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85664" y="5314137"/>
            <a:ext cx="1962076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許可されたActionのみ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22928" y="5866833"/>
            <a:ext cx="11076344" cy="0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15636" y="6147596"/>
            <a:ext cx="10071668" cy="26930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PromptはAgentに期待する行動を指示し，Policyは生成されたActionを実行してよいか判断する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15757" y="6437707"/>
            <a:ext cx="378309" cy="1846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3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3089" y="295542"/>
            <a:ext cx="296556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3770" y="175479"/>
            <a:ext cx="6161943" cy="39241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Agent SDK固有の制御と共通Policy適用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1464" y="736087"/>
            <a:ext cx="11404478" cy="0"/>
          </a:xfrm>
          <a:prstGeom prst="line">
            <a:avLst/>
          </a:prstGeom>
          <a:ln w="19050">
            <a:solidFill>
              <a:srgbClr val="0A28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426162" y="918286"/>
            <a:ext cx="0" cy="4875667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1885" y="922512"/>
            <a:ext cx="1546898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SDK固有の制御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9923" y="922512"/>
            <a:ext cx="4350550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複数Agent／SDKを横断する共通Policy適用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1885" y="1289974"/>
            <a:ext cx="3645933" cy="0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1885" y="1541992"/>
            <a:ext cx="2184893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OpenAI Agents 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85" y="1834324"/>
            <a:ext cx="1952458" cy="2231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Guardrails／Approval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1885" y="2237413"/>
            <a:ext cx="3645933" cy="0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1885" y="2460279"/>
            <a:ext cx="2014975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Claude Agent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885" y="2767187"/>
            <a:ext cx="1877117" cy="2231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Permissions／Hooks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1885" y="3119260"/>
            <a:ext cx="3645933" cy="0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885" y="3312351"/>
            <a:ext cx="3887283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単一Agent／SDKでは，SDK固有機能でActionを</a:t>
            </a:r>
          </a:p>
          <a:p>
            <a:pPr algn="l"/>
            <a:r>
              <a:rPr sz="135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制御できる場合がある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593" y="4015683"/>
            <a:ext cx="3645932" cy="932862"/>
          </a:xfrm>
          <a:prstGeom prst="rect">
            <a:avLst/>
          </a:prstGeom>
          <a:solidFill>
            <a:srgbClr val="F5F8FC"/>
          </a:solidFill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0430" y="4255492"/>
            <a:ext cx="3767057" cy="4678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2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複数SDKへ展開すると，</a:t>
            </a:r>
          </a:p>
          <a:p>
            <a:pPr algn="l"/>
            <a:r>
              <a:rPr sz="152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同じ業務Policyが各実装へ分散する可能性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177" y="5196396"/>
            <a:ext cx="3693319" cy="21852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2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→ 共通Policy適用層という選択肢を検討する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9090" y="1304550"/>
            <a:ext cx="2143808" cy="743375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27976" y="1444214"/>
            <a:ext cx="807913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Agent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1879" y="1729257"/>
            <a:ext cx="1665521" cy="2000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OpenAI Agents SDK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82487" y="1304550"/>
            <a:ext cx="2143808" cy="743375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4579" y="1444214"/>
            <a:ext cx="801501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Agent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9397" y="1729257"/>
            <a:ext cx="1537280" cy="2000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Claude Agent SDK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66927" y="1304550"/>
            <a:ext cx="2143808" cy="743375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5011" y="1444214"/>
            <a:ext cx="80951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Agent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00048" y="1729257"/>
            <a:ext cx="884858" cy="2000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Other SDK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20995" y="2047925"/>
            <a:ext cx="0" cy="189488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20995" y="2237413"/>
            <a:ext cx="4688669" cy="0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47100" y="2047925"/>
            <a:ext cx="0" cy="408128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own Arrow 30"/>
          <p:cNvSpPr/>
          <p:nvPr/>
        </p:nvSpPr>
        <p:spPr>
          <a:xfrm>
            <a:off x="8188765" y="2390461"/>
            <a:ext cx="116669" cy="87455"/>
          </a:xfrm>
          <a:prstGeom prst="down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49090" y="2492493"/>
            <a:ext cx="6788727" cy="1071334"/>
          </a:xfrm>
          <a:prstGeom prst="rect">
            <a:avLst/>
          </a:prstGeom>
          <a:solidFill>
            <a:srgbClr val="F5F8FC"/>
          </a:solidFill>
          <a:ln w="15240">
            <a:solidFill>
              <a:srgbClr val="2A6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59247" y="2752204"/>
            <a:ext cx="3161123" cy="23852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50" b="0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共通Policy適用層（選択肢の一つ）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3150" y="2991679"/>
            <a:ext cx="766235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7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AGT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47100" y="3563827"/>
            <a:ext cx="0" cy="255080"/>
          </a:xfrm>
          <a:prstGeom prst="line">
            <a:avLst/>
          </a:prstGeom>
          <a:ln w="1270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own Arrow 35"/>
          <p:cNvSpPr/>
          <p:nvPr/>
        </p:nvSpPr>
        <p:spPr>
          <a:xfrm>
            <a:off x="8188765" y="3753315"/>
            <a:ext cx="116669" cy="87455"/>
          </a:xfrm>
          <a:prstGeom prst="down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56382" y="3922131"/>
            <a:ext cx="14234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Policy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6494" y="3910589"/>
            <a:ext cx="572273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78847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Allow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13594" y="3921724"/>
            <a:ext cx="205184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46934" y="3910589"/>
            <a:ext cx="974626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AF7A1B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Approval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7399" y="3921724"/>
            <a:ext cx="205184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84490" y="3910589"/>
            <a:ext cx="549831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BC2926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Deny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67839" y="3922131"/>
            <a:ext cx="2188100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（Slide 3の判断と同じ）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01243" y="4205171"/>
            <a:ext cx="0" cy="109319"/>
          </a:xfrm>
          <a:prstGeom prst="line">
            <a:avLst/>
          </a:prstGeom>
          <a:ln w="1270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Down Arrow 44"/>
          <p:cNvSpPr/>
          <p:nvPr/>
        </p:nvSpPr>
        <p:spPr>
          <a:xfrm>
            <a:off x="7342908" y="4270763"/>
            <a:ext cx="116669" cy="87455"/>
          </a:xfrm>
          <a:prstGeom prst="down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532497" y="4203328"/>
            <a:ext cx="1766509" cy="20774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許可されたActionのみ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63674" y="4474826"/>
            <a:ext cx="6774143" cy="451855"/>
          </a:xfrm>
          <a:prstGeom prst="rect">
            <a:avLst/>
          </a:prstGeom>
          <a:noFill/>
          <a:ln w="12700">
            <a:solidFill>
              <a:srgbClr val="2A6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210270" y="4559220"/>
            <a:ext cx="2131994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Tool ／ 外部システム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70966" y="5181414"/>
            <a:ext cx="1580561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2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Policyの一元管理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82468" y="5186800"/>
            <a:ext cx="189154" cy="2231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4353" y="5181414"/>
            <a:ext cx="1391407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2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判断基準の統一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1894" y="5186800"/>
            <a:ext cx="189154" cy="2231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320" y="5181414"/>
            <a:ext cx="2622513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2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Agent・Tool追加時の再利用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85550" y="5511725"/>
            <a:ext cx="4025141" cy="2000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※共通化できる範囲とSDK差異の吸収方法は検討対象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71885" y="5990729"/>
            <a:ext cx="11018009" cy="0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82296" y="6218980"/>
            <a:ext cx="11091178" cy="2431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8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SDK固有の制御を置き換えるのではなく，複数Agent／SDK／Toolにまたがる共通Policy管理層としてAGTを検討する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90988" y="6444588"/>
            <a:ext cx="410369" cy="2000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300" b="0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4 / 8</a:t>
            </a:r>
          </a:p>
        </p:txBody>
      </p:sp>
      <p:cxnSp>
        <p:nvCxnSpPr>
          <p:cNvPr id="58" name="Connector 27">
            <a:extLst>
              <a:ext uri="{FF2B5EF4-FFF2-40B4-BE49-F238E27FC236}">
                <a16:creationId xmlns:a16="http://schemas.microsoft.com/office/drawing/2014/main" id="{3FFA8E3F-0DA7-8987-3678-FEDF318B8700}"/>
              </a:ext>
            </a:extLst>
          </p:cNvPr>
          <p:cNvCxnSpPr/>
          <p:nvPr/>
        </p:nvCxnSpPr>
        <p:spPr>
          <a:xfrm>
            <a:off x="10612728" y="2037035"/>
            <a:ext cx="0" cy="189488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0220" y="335247"/>
            <a:ext cx="102086" cy="510159"/>
          </a:xfrm>
          <a:prstGeom prst="rect">
            <a:avLst/>
          </a:prstGeom>
          <a:solidFill>
            <a:srgbClr val="006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8143" y="291519"/>
            <a:ext cx="5833492" cy="437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850" b="1">
                <a:solidFill>
                  <a:srgbClr val="181D26"/>
                </a:solidFill>
                <a:latin typeface="Noto Sans CJK JP"/>
              </a:rPr>
              <a:t>5．Policyは何を見て判断するか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602" y="1100486"/>
            <a:ext cx="7656459" cy="2040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81D26"/>
                </a:solidFill>
                <a:latin typeface="Noto Sans CJK JP"/>
              </a:rPr>
              <a:t>Tool名だけでなく，「誰が・何を・何に・どの状況で」実行するかを判断材料にする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310" y="1559630"/>
            <a:ext cx="4200114" cy="5028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9607" y="1683526"/>
            <a:ext cx="1385454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06896"/>
                </a:solidFill>
                <a:latin typeface="Noto Sans CJK JP"/>
              </a:rPr>
              <a:t>誰が？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0277" y="1683526"/>
            <a:ext cx="2041722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181D26"/>
                </a:solidFill>
                <a:latin typeface="Noto Sans CJK JP"/>
              </a:rPr>
              <a:t>User / Agent / 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7310" y="2208261"/>
            <a:ext cx="4200114" cy="5028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9607" y="2332157"/>
            <a:ext cx="1385454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06896"/>
                </a:solidFill>
                <a:latin typeface="Noto Sans CJK JP"/>
              </a:rPr>
              <a:t>何を？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0277" y="2332157"/>
            <a:ext cx="2041722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181D26"/>
                </a:solidFill>
                <a:latin typeface="Noto Sans CJK JP"/>
              </a:rPr>
              <a:t>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7310" y="2856892"/>
            <a:ext cx="4200114" cy="5028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9607" y="2980788"/>
            <a:ext cx="1385454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06896"/>
                </a:solidFill>
                <a:latin typeface="Noto Sans CJK JP"/>
              </a:rPr>
              <a:t>何に？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0277" y="2980788"/>
            <a:ext cx="2041722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181D26"/>
                </a:solidFill>
                <a:latin typeface="Noto Sans CJK JP"/>
              </a:rPr>
              <a:t>Resource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7310" y="3498235"/>
            <a:ext cx="4200114" cy="5028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9607" y="3622131"/>
            <a:ext cx="1385454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06896"/>
                </a:solidFill>
                <a:latin typeface="Noto Sans CJK JP"/>
              </a:rPr>
              <a:t>どの状況で？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0277" y="3622131"/>
            <a:ext cx="2041722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181D26"/>
                </a:solidFill>
                <a:latin typeface="Noto Sans CJK JP"/>
              </a:rPr>
              <a:t>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7310" y="4139579"/>
            <a:ext cx="4200114" cy="5028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9607" y="4263475"/>
            <a:ext cx="1385454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06896"/>
                </a:solidFill>
                <a:latin typeface="Noto Sans CJK JP"/>
              </a:rPr>
              <a:t>どの内容で？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0277" y="4263475"/>
            <a:ext cx="2041722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181D26"/>
                </a:solidFill>
                <a:latin typeface="Noto Sans CJK JP"/>
              </a:rPr>
              <a:t>Argument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2468" y="2346733"/>
            <a:ext cx="3820937" cy="1428446"/>
          </a:xfrm>
          <a:prstGeom prst="roundRect">
            <a:avLst>
              <a:gd name="adj" fmla="val 8000"/>
            </a:avLst>
          </a:prstGeom>
          <a:solidFill>
            <a:srgbClr val="F5FCFF"/>
          </a:solidFill>
          <a:ln w="12700">
            <a:solidFill>
              <a:srgbClr val="92D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89760" y="2346733"/>
            <a:ext cx="72918" cy="1428446"/>
          </a:xfrm>
          <a:prstGeom prst="rect">
            <a:avLst/>
          </a:prstGeom>
          <a:solidFill>
            <a:srgbClr val="006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39770" y="2747572"/>
            <a:ext cx="2479234" cy="2477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50" b="1">
                <a:solidFill>
                  <a:srgbClr val="181D26"/>
                </a:solidFill>
                <a:latin typeface="Noto Sans CJK JP"/>
              </a:rPr>
              <a:t>Policy Decision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03310" y="3184852"/>
            <a:ext cx="984401" cy="291519"/>
          </a:xfrm>
          <a:prstGeom prst="roundRect">
            <a:avLst>
              <a:gd name="adj" fmla="val 50000"/>
            </a:avLst>
          </a:prstGeom>
          <a:solidFill>
            <a:srgbClr val="0BA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03310" y="3214004"/>
            <a:ext cx="984401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Allow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62717" y="3184852"/>
            <a:ext cx="1042736" cy="291519"/>
          </a:xfrm>
          <a:prstGeom prst="roundRect">
            <a:avLst>
              <a:gd name="adj" fmla="val 50000"/>
            </a:avLst>
          </a:prstGeom>
          <a:solidFill>
            <a:srgbClr val="D79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62717" y="3214004"/>
            <a:ext cx="1042736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Approval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02334" y="3184852"/>
            <a:ext cx="947942" cy="291519"/>
          </a:xfrm>
          <a:prstGeom prst="roundRect">
            <a:avLst>
              <a:gd name="adj" fmla="val 50000"/>
            </a:avLst>
          </a:prstGeom>
          <a:solidFill>
            <a:srgbClr val="D14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02334" y="3214004"/>
            <a:ext cx="947942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Deny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14717" y="1807421"/>
            <a:ext cx="1458373" cy="1209807"/>
          </a:xfrm>
          <a:prstGeom prst="line">
            <a:avLst/>
          </a:prstGeom>
          <a:ln w="13970">
            <a:solidFill>
              <a:srgbClr val="B1C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14717" y="2456053"/>
            <a:ext cx="1458373" cy="626767"/>
          </a:xfrm>
          <a:prstGeom prst="line">
            <a:avLst/>
          </a:prstGeom>
          <a:ln w="13970">
            <a:solidFill>
              <a:srgbClr val="B1C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14717" y="3104684"/>
            <a:ext cx="1458373" cy="43728"/>
          </a:xfrm>
          <a:prstGeom prst="line">
            <a:avLst/>
          </a:prstGeom>
          <a:ln w="13970">
            <a:solidFill>
              <a:srgbClr val="B1C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914717" y="3214004"/>
            <a:ext cx="1458373" cy="532023"/>
          </a:xfrm>
          <a:prstGeom prst="line">
            <a:avLst/>
          </a:prstGeom>
          <a:ln w="13970">
            <a:solidFill>
              <a:srgbClr val="B1C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914717" y="3279596"/>
            <a:ext cx="1458373" cy="1115062"/>
          </a:xfrm>
          <a:prstGeom prst="line">
            <a:avLst/>
          </a:prstGeom>
          <a:ln w="13970">
            <a:solidFill>
              <a:srgbClr val="B1C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256420" y="4183307"/>
            <a:ext cx="5075138" cy="13774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2468" y="4460250"/>
            <a:ext cx="2843827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20" b="1">
                <a:solidFill>
                  <a:srgbClr val="181D26"/>
                </a:solidFill>
                <a:latin typeface="Noto Sans CJK JP"/>
              </a:rPr>
              <a:t>例：ファイル削除の判断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2468" y="4780922"/>
            <a:ext cx="838564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006896"/>
                </a:solidFill>
                <a:latin typeface="Noto Sans CJK JP"/>
              </a:rPr>
              <a:t>User: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2698" y="4780922"/>
            <a:ext cx="2333397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37404D"/>
                </a:solidFill>
                <a:latin typeface="Noto Sans CJK JP"/>
              </a:rPr>
              <a:t>employee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2468" y="5014138"/>
            <a:ext cx="838564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006896"/>
                </a:solidFill>
                <a:latin typeface="Noto Sans CJK JP"/>
              </a:rPr>
              <a:t>Action: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2698" y="5014138"/>
            <a:ext cx="2333397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37404D"/>
                </a:solidFill>
                <a:latin typeface="Noto Sans CJK JP"/>
              </a:rPr>
              <a:t>delete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2468" y="5240065"/>
            <a:ext cx="838564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006896"/>
                </a:solidFill>
                <a:latin typeface="Noto Sans CJK JP"/>
              </a:rPr>
              <a:t>Resource: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2698" y="5240065"/>
            <a:ext cx="2333397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37404D"/>
                </a:solidFill>
                <a:latin typeface="Noto Sans CJK JP"/>
              </a:rPr>
              <a:t>/shared/important.csv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82468" y="5473281"/>
            <a:ext cx="838564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006896"/>
                </a:solidFill>
                <a:latin typeface="Noto Sans CJK JP"/>
              </a:rPr>
              <a:t>Context: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2698" y="5473281"/>
            <a:ext cx="2333397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37404D"/>
                </a:solidFill>
                <a:latin typeface="Noto Sans CJK JP"/>
              </a:rPr>
              <a:t>production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73186" y="4759058"/>
            <a:ext cx="1006277" cy="306095"/>
          </a:xfrm>
          <a:prstGeom prst="roundRect">
            <a:avLst>
              <a:gd name="adj" fmla="val 50000"/>
            </a:avLst>
          </a:prstGeom>
          <a:solidFill>
            <a:srgbClr val="D14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73186" y="4788210"/>
            <a:ext cx="1006277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Noto Sans CJK JP"/>
              </a:rPr>
              <a:t>Deny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7310" y="5721073"/>
            <a:ext cx="10631540" cy="3060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1483" y="5793953"/>
            <a:ext cx="9479425" cy="174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37404D"/>
                </a:solidFill>
                <a:latin typeface="Noto Sans CJK JP"/>
              </a:rPr>
              <a:t>別軸の制御：Token / Cost / Rate / Budget などの利用量もPolicy対象になり得る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5014" y="6158352"/>
            <a:ext cx="10806545" cy="342535"/>
          </a:xfrm>
          <a:prstGeom prst="roundRect">
            <a:avLst>
              <a:gd name="adj" fmla="val 8000"/>
            </a:avLst>
          </a:prstGeom>
          <a:solidFill>
            <a:srgbClr val="EFF9FD"/>
          </a:solidFill>
          <a:ln w="12700">
            <a:solidFill>
              <a:srgbClr val="B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3770" y="6231232"/>
            <a:ext cx="9916937" cy="196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30" b="1">
                <a:solidFill>
                  <a:srgbClr val="006896"/>
                </a:solidFill>
                <a:latin typeface="Noto Sans CJK JP"/>
              </a:rPr>
              <a:t>共通Policyとして利用する情報を，SDK差異を吸収できる形式へ揃えることが論点になる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3349" y="393551"/>
            <a:ext cx="87502" cy="437279"/>
          </a:xfrm>
          <a:prstGeom prst="rect">
            <a:avLst/>
          </a:prstGeom>
          <a:solidFill>
            <a:srgbClr val="006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9397" y="306095"/>
            <a:ext cx="7146028" cy="451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850" b="1">
                <a:solidFill>
                  <a:srgbClr val="171D26"/>
                </a:solidFill>
                <a:latin typeface="Noto Sans CJK JP"/>
              </a:rPr>
              <a:t>6．Policyをどのように表現・評価するか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7932" y="1093198"/>
            <a:ext cx="8021052" cy="2040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71D26"/>
                </a:solidFill>
                <a:latin typeface="Noto Sans CJK JP"/>
              </a:rPr>
              <a:t>PolicyをAgent実装から分離し，外部で管理・評価する構成を検討する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153" y="2281141"/>
            <a:ext cx="1596918" cy="17782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574" y="2572660"/>
            <a:ext cx="947942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71D26"/>
                </a:solidFill>
                <a:latin typeface="Noto Sans CJK JP"/>
              </a:rPr>
              <a:t>候補技術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574" y="2893332"/>
            <a:ext cx="1020861" cy="189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006896"/>
                </a:solidFill>
                <a:latin typeface="Noto Sans CJK JP"/>
              </a:rPr>
              <a:t>OPA / Rego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574" y="3133836"/>
            <a:ext cx="1276076" cy="174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80" b="0">
                <a:solidFill>
                  <a:srgbClr val="495262"/>
                </a:solidFill>
                <a:latin typeface="Noto Sans CJK JP"/>
              </a:rPr>
              <a:t>汎用Policy-as-Code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574" y="3534675"/>
            <a:ext cx="729186" cy="189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006896"/>
                </a:solidFill>
                <a:latin typeface="Noto Sans CJK JP"/>
              </a:rPr>
              <a:t>Cedar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574" y="3775179"/>
            <a:ext cx="1276076" cy="174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80" b="0">
                <a:solidFill>
                  <a:srgbClr val="495262"/>
                </a:solidFill>
                <a:latin typeface="Noto Sans CJK JP"/>
              </a:rPr>
              <a:t>Authorization向け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7827" y="1537766"/>
            <a:ext cx="3157377" cy="43727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7827" y="1647086"/>
            <a:ext cx="3157377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50" b="1">
                <a:solidFill>
                  <a:srgbClr val="171D26"/>
                </a:solidFill>
                <a:latin typeface="Noto Sans CJK JP"/>
              </a:rPr>
              <a:t>Agent / Agent SDK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2870" y="1975045"/>
            <a:ext cx="0" cy="378976"/>
          </a:xfrm>
          <a:prstGeom prst="line">
            <a:avLst/>
          </a:prstGeom>
          <a:ln w="15240">
            <a:solidFill>
              <a:srgbClr val="006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93875" y="2077077"/>
            <a:ext cx="1057320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171D26"/>
                </a:solidFill>
                <a:latin typeface="Noto Sans CJK JP"/>
              </a:rPr>
              <a:t>Action取得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7827" y="2368597"/>
            <a:ext cx="3157377" cy="4299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7827" y="2470629"/>
            <a:ext cx="3157377" cy="2113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71D26"/>
                </a:solidFill>
                <a:latin typeface="Noto Sans CJK JP"/>
              </a:rPr>
              <a:t>AGT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2870" y="2798588"/>
            <a:ext cx="0" cy="386264"/>
          </a:xfrm>
          <a:prstGeom prst="line">
            <a:avLst/>
          </a:prstGeom>
          <a:ln w="15240">
            <a:solidFill>
              <a:srgbClr val="006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93875" y="2951636"/>
            <a:ext cx="1057320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171D26"/>
                </a:solidFill>
                <a:latin typeface="Noto Sans CJK JP"/>
              </a:rPr>
              <a:t>共通形式化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7827" y="3199428"/>
            <a:ext cx="3157377" cy="743375"/>
          </a:xfrm>
          <a:prstGeom prst="roundRect">
            <a:avLst>
              <a:gd name="adj" fmla="val 8000"/>
            </a:avLst>
          </a:prstGeom>
          <a:solidFill>
            <a:srgbClr val="F1FAFE"/>
          </a:solidFill>
          <a:ln w="12700">
            <a:solidFill>
              <a:srgbClr val="A5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67827" y="3206716"/>
            <a:ext cx="87502" cy="728799"/>
          </a:xfrm>
          <a:prstGeom prst="rect">
            <a:avLst/>
          </a:prstGeom>
          <a:solidFill>
            <a:srgbClr val="006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42851" y="3483659"/>
            <a:ext cx="1531291" cy="26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171D26"/>
                </a:solidFill>
                <a:latin typeface="Noto Sans CJK JP"/>
              </a:rPr>
              <a:t>Policy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00229" y="3046380"/>
            <a:ext cx="2566736" cy="123895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28363" y="3374340"/>
            <a:ext cx="1822966" cy="2040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71D26"/>
                </a:solidFill>
                <a:latin typeface="Noto Sans CJK JP"/>
              </a:rPr>
              <a:t>Policy definitions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3990" y="3709587"/>
            <a:ext cx="1713588" cy="437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20" b="0">
                <a:solidFill>
                  <a:srgbClr val="495262"/>
                </a:solidFill>
                <a:latin typeface="Noto Sans CJK JP"/>
              </a:rPr>
              <a:t>User / Action / Resource /</a:t>
            </a:r>
          </a:p>
          <a:p>
            <a:pPr algn="ctr"/>
            <a:r>
              <a:rPr sz="1520" b="0">
                <a:solidFill>
                  <a:srgbClr val="495262"/>
                </a:solidFill>
                <a:latin typeface="Noto Sans CJK JP"/>
              </a:rPr>
              <a:t>Context / Argument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7539789" y="3585691"/>
            <a:ext cx="860440" cy="0"/>
          </a:xfrm>
          <a:prstGeom prst="line">
            <a:avLst/>
          </a:prstGeom>
          <a:ln w="15240">
            <a:solidFill>
              <a:srgbClr val="006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42870" y="3950091"/>
            <a:ext cx="0" cy="466431"/>
          </a:xfrm>
          <a:prstGeom prst="line">
            <a:avLst/>
          </a:prstGeom>
          <a:ln w="15240">
            <a:solidFill>
              <a:srgbClr val="006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93875" y="4052123"/>
            <a:ext cx="984401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171D26"/>
                </a:solidFill>
                <a:latin typeface="Noto Sans CJK JP"/>
              </a:rPr>
              <a:t>Policy評価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7827" y="4416522"/>
            <a:ext cx="3157377" cy="45185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67827" y="4525842"/>
            <a:ext cx="3157377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50" b="1">
                <a:solidFill>
                  <a:srgbClr val="171D26"/>
                </a:solidFill>
                <a:latin typeface="Noto Sans CJK JP"/>
              </a:rPr>
              <a:t>Allow / Approval / Deny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2870" y="4875666"/>
            <a:ext cx="0" cy="561175"/>
          </a:xfrm>
          <a:prstGeom prst="line">
            <a:avLst/>
          </a:prstGeom>
          <a:ln w="15240">
            <a:solidFill>
              <a:srgbClr val="006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66794" y="4963122"/>
            <a:ext cx="838564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171D26"/>
                </a:solidFill>
                <a:latin typeface="Noto Sans CJK JP"/>
              </a:rPr>
              <a:t>Decision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29224" y="5444129"/>
            <a:ext cx="1939636" cy="3789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29224" y="5546161"/>
            <a:ext cx="1939636" cy="174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109E6A"/>
                </a:solidFill>
                <a:latin typeface="Noto Sans CJK JP"/>
              </a:rPr>
              <a:t>Allow → Tool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9291" y="5444129"/>
            <a:ext cx="2770909" cy="3789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9291" y="5546161"/>
            <a:ext cx="2770909" cy="174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D18D04"/>
                </a:solidFill>
                <a:latin typeface="Noto Sans CJK JP"/>
              </a:rPr>
              <a:t>Approval → Human → Tool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6880" y="5444129"/>
            <a:ext cx="1968803" cy="3789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16880" y="5546161"/>
            <a:ext cx="1968803" cy="174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D0423B"/>
                </a:solidFill>
                <a:latin typeface="Noto Sans CJK JP"/>
              </a:rPr>
              <a:t>Deny → Stop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3099042" y="5043290"/>
            <a:ext cx="2843828" cy="400839"/>
          </a:xfrm>
          <a:prstGeom prst="line">
            <a:avLst/>
          </a:prstGeom>
          <a:ln w="15240">
            <a:solidFill>
              <a:srgbClr val="006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942870" y="5050578"/>
            <a:ext cx="0" cy="393551"/>
          </a:xfrm>
          <a:prstGeom prst="line">
            <a:avLst/>
          </a:prstGeom>
          <a:ln w="15240">
            <a:solidFill>
              <a:srgbClr val="006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42870" y="5043290"/>
            <a:ext cx="2887579" cy="400839"/>
          </a:xfrm>
          <a:prstGeom prst="line">
            <a:avLst/>
          </a:prstGeom>
          <a:ln w="15240">
            <a:solidFill>
              <a:srgbClr val="006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66679" y="6070896"/>
            <a:ext cx="10879463" cy="400839"/>
          </a:xfrm>
          <a:prstGeom prst="roundRect">
            <a:avLst>
              <a:gd name="adj" fmla="val 6000"/>
            </a:avLst>
          </a:prstGeom>
          <a:solidFill>
            <a:srgbClr val="EFF8FC"/>
          </a:solidFill>
          <a:ln w="12700">
            <a:solidFill>
              <a:srgbClr val="B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435" y="6194792"/>
            <a:ext cx="9479425" cy="2040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50" b="1">
                <a:solidFill>
                  <a:srgbClr val="006896"/>
                </a:solidFill>
                <a:latin typeface="Noto Sans CJK JP"/>
              </a:rPr>
              <a:t>PolicyをAgent実装から分離し，共通のPolicy Engineで評価できる構成を検討する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516" y="451855"/>
            <a:ext cx="87502" cy="437279"/>
          </a:xfrm>
          <a:prstGeom prst="rect">
            <a:avLst/>
          </a:prstGeom>
          <a:solidFill>
            <a:srgbClr val="006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3980" y="422703"/>
            <a:ext cx="8166889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50" b="1">
                <a:solidFill>
                  <a:srgbClr val="171D26"/>
                </a:solidFill>
                <a:latin typeface="Noto Sans CJK JP"/>
              </a:rPr>
              <a:t>7．今回の検証：ファイル操作へのPolicy適用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641" y="1100486"/>
            <a:ext cx="8604401" cy="18948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71D26"/>
                </a:solidFill>
                <a:latin typeface="Noto Sans CJK JP"/>
              </a:rPr>
              <a:t>単純なファイル操作で，Action取得 → 共通Policy評価 → 実行フロー制御の基本動作を確認する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2526" y="1545054"/>
            <a:ext cx="1750047" cy="5611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2526" y="1676238"/>
            <a:ext cx="1750047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20" b="1">
                <a:solidFill>
                  <a:srgbClr val="171D26"/>
                </a:solidFill>
                <a:latin typeface="Noto Sans CJK JP"/>
              </a:rPr>
              <a:t>Agent / Agent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526" y="2149957"/>
            <a:ext cx="1750047" cy="1457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20" b="0">
                <a:solidFill>
                  <a:srgbClr val="4C5565"/>
                </a:solidFill>
                <a:latin typeface="Noto Sans CJK JP"/>
              </a:rPr>
              <a:t>Action取得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71961" y="1545054"/>
            <a:ext cx="1582334" cy="5611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71961" y="1676238"/>
            <a:ext cx="1582334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20" b="1">
                <a:solidFill>
                  <a:srgbClr val="171D26"/>
                </a:solidFill>
                <a:latin typeface="Noto Sans CJK JP"/>
              </a:rPr>
              <a:t>AGT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1961" y="2149957"/>
            <a:ext cx="1582334" cy="1457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20" b="0">
                <a:solidFill>
                  <a:srgbClr val="4C5565"/>
                </a:solidFill>
                <a:latin typeface="Noto Sans CJK JP"/>
              </a:rPr>
              <a:t>共通形式化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99100" y="1545054"/>
            <a:ext cx="1647961" cy="561175"/>
          </a:xfrm>
          <a:prstGeom prst="roundRect">
            <a:avLst>
              <a:gd name="adj" fmla="val 8000"/>
            </a:avLst>
          </a:prstGeom>
          <a:solidFill>
            <a:srgbClr val="F1FAFE"/>
          </a:solidFill>
          <a:ln w="12700">
            <a:solidFill>
              <a:srgbClr val="A7D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99100" y="1676238"/>
            <a:ext cx="1647961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20" b="1">
                <a:solidFill>
                  <a:srgbClr val="171D26"/>
                </a:solidFill>
                <a:latin typeface="Noto Sans CJK JP"/>
              </a:rPr>
              <a:t>Policy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9100" y="2149957"/>
            <a:ext cx="1647961" cy="1457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20" b="0">
                <a:solidFill>
                  <a:srgbClr val="4C5565"/>
                </a:solidFill>
                <a:latin typeface="Noto Sans CJK JP"/>
              </a:rPr>
              <a:t>Policy評価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1865" y="1545054"/>
            <a:ext cx="1655253" cy="5611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91865" y="1676238"/>
            <a:ext cx="1655253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20" b="1">
                <a:solidFill>
                  <a:srgbClr val="171D26"/>
                </a:solidFill>
                <a:latin typeface="Noto Sans CJK JP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1865" y="2149957"/>
            <a:ext cx="1655253" cy="1457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20" b="0">
                <a:solidFill>
                  <a:srgbClr val="4C5565"/>
                </a:solidFill>
                <a:latin typeface="Noto Sans CJK JP"/>
              </a:rPr>
              <a:t>Allow / Approval / Deny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1923" y="1545054"/>
            <a:ext cx="1669837" cy="5611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91923" y="1676238"/>
            <a:ext cx="1669837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20" b="1">
                <a:solidFill>
                  <a:srgbClr val="171D26"/>
                </a:solidFill>
                <a:latin typeface="Noto Sans CJK JP"/>
              </a:rPr>
              <a:t>File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1923" y="2149957"/>
            <a:ext cx="1669837" cy="1457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20" b="0">
                <a:solidFill>
                  <a:srgbClr val="4C5565"/>
                </a:solidFill>
                <a:latin typeface="Noto Sans CJK JP"/>
              </a:rPr>
              <a:t>実行 / 停止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70909" y="1821997"/>
            <a:ext cx="386468" cy="0"/>
          </a:xfrm>
          <a:prstGeom prst="line">
            <a:avLst/>
          </a:prstGeom>
          <a:ln w="15240">
            <a:solidFill>
              <a:srgbClr val="0068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76172" y="1821997"/>
            <a:ext cx="401052" cy="0"/>
          </a:xfrm>
          <a:prstGeom prst="line">
            <a:avLst/>
          </a:prstGeom>
          <a:ln w="15240">
            <a:solidFill>
              <a:srgbClr val="0068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61645" y="1821997"/>
            <a:ext cx="415637" cy="0"/>
          </a:xfrm>
          <a:prstGeom prst="line">
            <a:avLst/>
          </a:prstGeom>
          <a:ln w="15240">
            <a:solidFill>
              <a:srgbClr val="0068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968994" y="1821997"/>
            <a:ext cx="393761" cy="0"/>
          </a:xfrm>
          <a:prstGeom prst="line">
            <a:avLst/>
          </a:prstGeom>
          <a:ln w="15240">
            <a:solidFill>
              <a:srgbClr val="0068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2526" y="2660116"/>
            <a:ext cx="2333397" cy="21863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3つのテストケース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61492" y="2944348"/>
            <a:ext cx="9333588" cy="5247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60459" y="3053668"/>
            <a:ext cx="1677129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171D26"/>
                </a:solidFill>
                <a:latin typeface="Noto Sans CJK JP"/>
              </a:rPr>
              <a:t>read_file()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435" y="3075532"/>
            <a:ext cx="1392746" cy="291519"/>
          </a:xfrm>
          <a:prstGeom prst="roundRect">
            <a:avLst>
              <a:gd name="adj" fmla="val 50000"/>
            </a:avLst>
          </a:prstGeom>
          <a:solidFill>
            <a:srgbClr val="0BA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57435" y="3104684"/>
            <a:ext cx="1392746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CJK JP"/>
              </a:rPr>
              <a:t>Allow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1865" y="3060956"/>
            <a:ext cx="233339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4C5565"/>
                </a:solidFill>
                <a:latin typeface="Noto Sans CJK JP"/>
              </a:rPr>
              <a:t>→ 実行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1492" y="3643995"/>
            <a:ext cx="9333588" cy="5247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60459" y="3753315"/>
            <a:ext cx="1677129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171D26"/>
                </a:solidFill>
                <a:latin typeface="Noto Sans CJK JP"/>
              </a:rPr>
              <a:t>write_file()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57435" y="3775179"/>
            <a:ext cx="1392746" cy="291519"/>
          </a:xfrm>
          <a:prstGeom prst="roundRect">
            <a:avLst>
              <a:gd name="adj" fmla="val 50000"/>
            </a:avLst>
          </a:prstGeom>
          <a:solidFill>
            <a:srgbClr val="D696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57435" y="3804331"/>
            <a:ext cx="1392746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CJK JP"/>
              </a:rPr>
              <a:t>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91865" y="3760603"/>
            <a:ext cx="233339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4C5565"/>
                </a:solidFill>
                <a:latin typeface="Noto Sans CJK JP"/>
              </a:rPr>
              <a:t>→ 人が承認後に実行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61492" y="4343642"/>
            <a:ext cx="9333588" cy="5247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60459" y="4452962"/>
            <a:ext cx="1677129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171D26"/>
                </a:solidFill>
                <a:latin typeface="Noto Sans CJK JP"/>
              </a:rPr>
              <a:t>delete_file()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57435" y="4474826"/>
            <a:ext cx="1392746" cy="291519"/>
          </a:xfrm>
          <a:prstGeom prst="roundRect">
            <a:avLst>
              <a:gd name="adj" fmla="val 50000"/>
            </a:avLst>
          </a:prstGeom>
          <a:solidFill>
            <a:srgbClr val="CE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57435" y="4503978"/>
            <a:ext cx="1392746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CJK JP"/>
              </a:rPr>
              <a:t>Deny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91865" y="4460250"/>
            <a:ext cx="233339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4C5565"/>
                </a:solidFill>
                <a:latin typeface="Noto Sans CJK JP"/>
              </a:rPr>
              <a:t>→ 実行しない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61492" y="5087018"/>
            <a:ext cx="9333588" cy="34253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36497" y="5174473"/>
            <a:ext cx="692727" cy="1749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4C5565"/>
                </a:solidFill>
                <a:latin typeface="Noto Sans CJK JP"/>
              </a:rPr>
              <a:t>確認項目：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31310" y="5174473"/>
            <a:ext cx="8166889" cy="1749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90" b="1">
                <a:solidFill>
                  <a:srgbClr val="4C5565"/>
                </a:solidFill>
                <a:latin typeface="Noto Sans CJK JP"/>
              </a:rPr>
              <a:t>①Actionを実行前に取得  ② 共通形式でPolicy Engineへ入力  ③ Allow / Approval / Denyを評価  ④Decisionを実行フローへ反映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61492" y="5524297"/>
            <a:ext cx="9333588" cy="34253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51081" y="5611753"/>
            <a:ext cx="9114832" cy="1749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4C5565"/>
                </a:solidFill>
                <a:latin typeface="Noto Sans CJK JP"/>
              </a:rPr>
              <a:t>Next：同一Policyを異なるAgent SDKへ適用可能か確認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6679" y="6092760"/>
            <a:ext cx="10872171" cy="364399"/>
          </a:xfrm>
          <a:prstGeom prst="roundRect">
            <a:avLst>
              <a:gd name="adj" fmla="val 6000"/>
            </a:avLst>
          </a:prstGeom>
          <a:solidFill>
            <a:srgbClr val="F1FAFE"/>
          </a:solidFill>
          <a:ln w="12700">
            <a:solidFill>
              <a:srgbClr val="B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3559" y="6180216"/>
            <a:ext cx="10062774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80" b="1">
                <a:solidFill>
                  <a:srgbClr val="006896"/>
                </a:solidFill>
                <a:latin typeface="Noto Sans CJK JP"/>
              </a:rPr>
              <a:t>まず単純なファイル操作で，共通Policy適用の基本構造が実現できるかを検証する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516" y="327959"/>
            <a:ext cx="87502" cy="481007"/>
          </a:xfrm>
          <a:prstGeom prst="rect">
            <a:avLst/>
          </a:prstGeom>
          <a:solidFill>
            <a:srgbClr val="006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1272" y="313383"/>
            <a:ext cx="7146028" cy="42270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71D26"/>
                </a:solidFill>
                <a:latin typeface="Noto Sans CJK JP"/>
              </a:rPr>
              <a:t>8．実務適用に向けた論点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928" y="1056758"/>
            <a:ext cx="8604401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0" b="1">
                <a:solidFill>
                  <a:srgbClr val="171D26"/>
                </a:solidFill>
                <a:latin typeface="Noto Sans CJK JP"/>
              </a:rPr>
              <a:t>基本検証を業務へ広げるには，事業側と4つの意思決定事項を具体化する必要がある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4392" y="1508614"/>
            <a:ext cx="2530277" cy="3651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4392" y="1508614"/>
            <a:ext cx="2530277" cy="43727"/>
          </a:xfrm>
          <a:prstGeom prst="rect">
            <a:avLst/>
          </a:prstGeom>
          <a:solidFill>
            <a:srgbClr val="006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3148" y="1792845"/>
            <a:ext cx="1859425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71D26"/>
                </a:solidFill>
                <a:latin typeface="Noto Sans CJK JP"/>
              </a:rPr>
              <a:t>何を制御する？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397" y="2157245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3148" y="2332157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File / DB /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148" y="2660116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業務で扱う主要なリソース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397" y="3119260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3148" y="3294172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Mail / Shell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48" y="3622131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送信や実行系の操作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397" y="4081275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3148" y="4256187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Usage /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48" y="4584146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Token，Cost，Rate，Budget</a:t>
            </a:r>
          </a:p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などの利用量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425" y="1508614"/>
            <a:ext cx="2530277" cy="3651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425" y="1508614"/>
            <a:ext cx="2530277" cy="43727"/>
          </a:xfrm>
          <a:prstGeom prst="rect">
            <a:avLst/>
          </a:prstGeom>
          <a:solidFill>
            <a:srgbClr val="006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02181" y="1792845"/>
            <a:ext cx="1859425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71D26"/>
                </a:solidFill>
                <a:latin typeface="Noto Sans CJK JP"/>
              </a:rPr>
              <a:t>どの粒度で？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58430" y="2157245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02181" y="2332157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Tool /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181" y="2660116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ツール単位か，個別操作単位か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58430" y="3119260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02181" y="3294172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Resource / Argument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2181" y="3622131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対象や引数条件まで見るか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58430" y="4081275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02181" y="4256187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User /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2181" y="4584146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利用者属性や状況まで含めるか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4334" y="1508614"/>
            <a:ext cx="2530277" cy="3651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54334" y="1508614"/>
            <a:ext cx="2530277" cy="43727"/>
          </a:xfrm>
          <a:prstGeom prst="rect">
            <a:avLst/>
          </a:prstGeom>
          <a:solidFill>
            <a:srgbClr val="006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73090" y="1792845"/>
            <a:ext cx="1859425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71D26"/>
                </a:solidFill>
                <a:latin typeface="Noto Sans CJK JP"/>
              </a:rPr>
              <a:t>誰が管理する？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9339" y="2157245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73090" y="2332157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Policy定義者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090" y="2660116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ルールを定義する担当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9339" y="3119260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73090" y="3294172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変更承認者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090" y="3622131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ルール変更を承認する担当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9339" y="4081275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73090" y="4256187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Approval担当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090" y="4584146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都度承認を行う担当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10660" y="1508614"/>
            <a:ext cx="2530277" cy="3651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910660" y="1508614"/>
            <a:ext cx="2530277" cy="43727"/>
          </a:xfrm>
          <a:prstGeom prst="rect">
            <a:avLst/>
          </a:prstGeom>
          <a:solidFill>
            <a:srgbClr val="006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29416" y="1792845"/>
            <a:ext cx="1859425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71D26"/>
                </a:solidFill>
                <a:latin typeface="Noto Sans CJK JP"/>
              </a:rPr>
              <a:t>どこまで共通化？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85664" y="2157245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29416" y="2332157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全Agent共通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29416" y="2660116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最低限の共通ルール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85664" y="3119260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29416" y="3294172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業務・部門別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29416" y="3622131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業務特性に応じた差分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85664" y="4081275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29416" y="4256187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Agent / Tool固有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29416" y="4584146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個別要件への対応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4392" y="5378537"/>
            <a:ext cx="10777377" cy="4008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89607" y="5546161"/>
            <a:ext cx="9625262" cy="18948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4E5766"/>
                </a:solidFill>
                <a:latin typeface="Noto Sans CJK JP"/>
              </a:rPr>
              <a:t>注：Token使用量，累積Cost，Rate，Budgetなど，Action以外の利用量もPolicy対象になり得る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1684" y="5983441"/>
            <a:ext cx="10770085" cy="466431"/>
          </a:xfrm>
          <a:prstGeom prst="roundRect">
            <a:avLst>
              <a:gd name="adj" fmla="val 6000"/>
            </a:avLst>
          </a:prstGeom>
          <a:solidFill>
            <a:srgbClr val="F0F9FD"/>
          </a:solidFill>
          <a:ln w="12700">
            <a:solidFill>
              <a:srgbClr val="BC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907872" y="6130711"/>
            <a:ext cx="8580426" cy="27392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80" b="1">
                <a:solidFill>
                  <a:srgbClr val="006896"/>
                </a:solidFill>
                <a:latin typeface="Noto Sans CJK JP"/>
              </a:rPr>
              <a:t>「何を・どの粒度で・誰が・どこまで共通化して」Policy管理するかを具体化する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1013</Words>
  <Application>Microsoft Macintosh PowerPoint</Application>
  <PresentationFormat>Widescreen</PresentationFormat>
  <Paragraphs>316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Hiragino Kaku Gothic Pro W3</vt:lpstr>
      <vt:lpstr>Hiragino Sans</vt:lpstr>
      <vt:lpstr>Liberation Mono</vt:lpstr>
      <vt:lpstr>Meiryo</vt:lpstr>
      <vt:lpstr>Noto Sans CJK JP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ccwa4782</cp:lastModifiedBy>
  <cp:revision>3</cp:revision>
  <dcterms:created xsi:type="dcterms:W3CDTF">2013-01-27T09:14:16Z</dcterms:created>
  <dcterms:modified xsi:type="dcterms:W3CDTF">2026-08-30T16:49:00Z</dcterms:modified>
  <cp:category/>
</cp:coreProperties>
</file>